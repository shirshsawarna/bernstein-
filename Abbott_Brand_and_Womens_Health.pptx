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9fb87135640fe" /><Relationship Type="http://schemas.openxmlformats.org/officeDocument/2006/relationships/extended-properties" Target="/docProps/app.xml" Id="R3d248358af5a4f0a" /><Relationship Type="http://schemas.openxmlformats.org/officeDocument/2006/relationships/officeDocument" Target="/ppt/presentation.xml" Id="R7180b8c662004c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5b23d2f7f64424"/>
  </p:sldMasterIdLst>
  <p:notesMasterIdLst>
    <p:notesMasterId xmlns:r="http://schemas.openxmlformats.org/officeDocument/2006/relationships" r:id="Rfbf282d8a36d476a"/>
  </p:notesMasterIdLst>
  <p:sldIdLst>
    <p:sldId xmlns:r="http://schemas.openxmlformats.org/officeDocument/2006/relationships" id="256" r:id="Rd9d0db8a1fa54897"/>
    <p:sldId xmlns:r="http://schemas.openxmlformats.org/officeDocument/2006/relationships" id="257" r:id="Rc6c799f8ecf3434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d63bc6f7a249ff" /><Relationship Type="http://schemas.openxmlformats.org/officeDocument/2006/relationships/slideMaster" Target="/ppt/slideMasters/slideMaster1.xml" Id="Rb65b23d2f7f64424" /><Relationship Type="http://schemas.openxmlformats.org/officeDocument/2006/relationships/notesMaster" Target="/ppt/notesMasters/notesMaster1.xml" Id="Rfbf282d8a36d476a" /><Relationship Type="http://schemas.openxmlformats.org/officeDocument/2006/relationships/presProps" Target="/ppt/presProps.xml" Id="R2dc06deb9e3e4a11" /><Relationship Type="http://schemas.openxmlformats.org/officeDocument/2006/relationships/tableStyles" Target="/ppt/tableStyles.xml" Id="Rff719148bc2f4e63" /><Relationship Type="http://schemas.openxmlformats.org/officeDocument/2006/relationships/slide" Target="/ppt/slides/slide1.xml" Id="Rd9d0db8a1fa54897" /><Relationship Type="http://schemas.openxmlformats.org/officeDocument/2006/relationships/slide" Target="/ppt/slides/slide2.xml" Id="Rc6c799f8ecf343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5129b0706943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f10fddc2541be" /><Relationship Type="http://schemas.openxmlformats.org/officeDocument/2006/relationships/notesMaster" Target="/ppt/notesMasters/notesMaster1.xml" Id="R9fd2774ed3ad42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4794d8dd954be6" /><Relationship Type="http://schemas.openxmlformats.org/officeDocument/2006/relationships/notesMaster" Target="/ppt/notesMasters/notesMaster1.xml" Id="R087c8008412c4e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Analytical purpose: update the old three-product risk slide without recycling 2019 catalysts. {"model":"Abbott_Revenue_Model.xlsx v2, saved27Sep26","selected":[{"name":"Thyronorm","fy26":7952.8,"fy27":8764.78088,"fy28":9614.526386316,"fy29":10497.13990857981,"row":16},{"name":"Udiliv","fy26":7100,"fy27":7788.344999999999,"fy28":8503.315071,"fy29":9240.12732190215,"row":6},{"name":"Duphaston and Femoston","fy26":7000,"fy27":7318.499999999999,"fy28":7688.816099999999,"fy29":8117.083156769998,"row":21}],"aggregateCAGR":0.08096035254620593,"companyCAGR":0.09353080565782945,"revenueShare":0.31826585174013755}</a:t>
            </a:r>
          </a:p>
          <a:p xmlns:a="http://schemas.openxmlformats.org/drawingml/2006/main">
            <a:r>
              <a:t>Abbott key brands</a:t>
            </a:r>
          </a:p>
          <a:p xmlns:a="http://schemas.openxmlformats.org/drawingml/2006/main">
            <a:r>
              <a:t>FY26 model base and FY27–FY29 estimates</a:t>
            </a:r>
          </a:p>
          <a:p xmlns:a="http://schemas.openxmlformats.org/drawingml/2006/main">
            <a:r>
              <a:t>Abbott_Revenue_Model.xlsx v2, saved 27 Sep 2026. Revenue Model rows 6,16,21. FY26 H, FY27 M, FY28 R, FY29 S.</a:t>
            </a:r>
          </a:p>
          <a:p xmlns:a="http://schemas.openxmlformats.org/drawingml/2006/main">
            <a:r>
              <a:t>User model</a:t>
            </a:r>
          </a:p>
          <a:p xmlns:a="http://schemas.openxmlformats.org/drawingml/2006/main">
            <a:r>
              <a:t>All brand allocations are model estimates. Thyronorm uses TTM Aug-26 mapped to FY26. Duphaston and Femoston remain combined.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Udiliv scale</a:t>
            </a:r>
          </a:p>
          <a:p xmlns:a="http://schemas.openxmlformats.org/drawingml/2006/main">
            <a:r>
              <a:t>Above INR7,000mn annual sales</a:t>
            </a:r>
          </a:p>
          <a:p xmlns:a="http://schemas.openxmlformats.org/drawingml/2006/main">
            <a:r>
              <a:t>https://www.abbott.co.in/content/dam/corp/abbott/en-ind/pdf/financials/2025-26-Annual-Report.pdf [printed pp20–21]</a:t>
            </a:r>
          </a:p>
          <a:p xmlns:a="http://schemas.openxmlformats.org/drawingml/2006/main">
            <a:r>
              <a:t>Company disclosure</a:t>
            </a:r>
          </a:p>
          <a:p xmlns:a="http://schemas.openxmlformats.org/drawingml/2006/main">
            <a:r>
              <a:t>The model uses INR7,100mn. Company disclosure is a threshold, not that exact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Thyronorm</a:t>
            </a:r>
          </a:p>
          <a:p xmlns:a="http://schemas.openxmlformats.org/drawingml/2006/main">
            <a:r>
              <a:t>Sustained thyroid leadership</a:t>
            </a:r>
          </a:p>
          <a:p xmlns:a="http://schemas.openxmlformats.org/drawingml/2006/main">
            <a:r>
              <a:t>https://www.abbott.co.in/content/dam/corp/abbott/en-ind/pdf/financials/2025-26-Annual-Report.pdf [printed pp22–23]</a:t>
            </a:r>
          </a:p>
          <a:p xmlns:a="http://schemas.openxmlformats.org/drawingml/2006/main">
            <a:r>
              <a:t>Company disclosure</a:t>
            </a:r>
          </a:p>
          <a:p xmlns:a="http://schemas.openxmlformats.org/drawingml/2006/main">
            <a:r>
              <a:t>No primary evidence of impending collapse. Diagnosis and adherence are growth drivers.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Dydrogesterone</a:t>
            </a:r>
          </a:p>
          <a:p xmlns:a="http://schemas.openxmlformats.org/drawingml/2006/main">
            <a:r>
              <a:t>Slow growth, lower-priced generics, pricing pressure and fragmentation</a:t>
            </a:r>
          </a:p>
          <a:p xmlns:a="http://schemas.openxmlformats.org/drawingml/2006/main">
            <a:r>
              <a:t>https://www.abbott.co.in/content/dam/corp/abbott/en-ind/pdf/financials/2025-26-Annual-Report.pdf [printed pp24–25,38]</a:t>
            </a:r>
          </a:p>
          <a:p xmlns:a="http://schemas.openxmlformats.org/drawingml/2006/main">
            <a:r>
              <a:t>Company disclosure</a:t>
            </a:r>
          </a:p>
          <a:p xmlns:a="http://schemas.openxmlformats.org/drawingml/2006/main">
            <a:r>
              <a:t>Abbott says it sustained leadership. Loss of leadership is a risk scenario, not an observed 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UDCA / MASH</a:t>
            </a:r>
          </a:p>
          <a:p xmlns:a="http://schemas.openxmlformats.org/drawingml/2006/main">
            <a:r>
              <a:t>No proof of histological efficacy</a:t>
            </a:r>
          </a:p>
          <a:p xmlns:a="http://schemas.openxmlformats.org/drawingml/2006/main">
            <a:r>
              <a:t>https://karger.com/ofa/article/17/4/374/908875/EASL-EASD-EASO-Clinical-Practice-Guidelines-on-the [section Ursodeoxycholic Acid]</a:t>
            </a:r>
          </a:p>
          <a:p xmlns:a="http://schemas.openxmlformats.org/drawingml/2006/main">
            <a:r>
              <a:t>Clinical guideline</a:t>
            </a:r>
          </a:p>
          <a:p xmlns:a="http://schemas.openxmlformats.org/drawingml/2006/main">
            <a:r>
              <a:t>Applies to MASH. Do not generalise to all Udiliv indications or assume instant displacement.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Selection</a:t>
            </a:r>
          </a:p>
          <a:p xmlns:a="http://schemas.openxmlformats.org/drawingml/2006/main">
            <a:r>
              <a:t>Three strategically important franchises, not an audited top-three product ranking</a:t>
            </a:r>
          </a:p>
          <a:p xmlns:a="http://schemas.openxmlformats.org/drawingml/2006/main">
            <a:r>
              <a:t>User model and company annual report</a:t>
            </a:r>
          </a:p>
          <a:p xmlns:a="http://schemas.openxmlformats.org/drawingml/2006/main">
            <a:r>
              <a:t>Analyst selection</a:t>
            </a:r>
          </a:p>
          <a:p xmlns:a="http://schemas.openxmlformats.org/drawingml/2006/main">
            <a:r>
              <a:t>A combined Duphaston/Femoston row cannot establish the standalone brand ranking. Cremaffin franchise is also shown for context.</a:t>
            </a:r>
          </a:p>
          <a:p xmlns:a="http://schemas.openxmlformats.org/drawingml/2006/main">
            <a:r>
              <a:t>No consensus dataset was provided. The deck does not assert verified underperformance versus consensus. No acute-heavy classification is made. Thyronorm and Udiliv remain healthy growth anchors in the saved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Chart1 uses listed MRP divided by pack tablet count for immediate-release10mg dydrogesterone. It includes Abbott variants to avoid treating standard 10s as the portfolio-wide ASP. IVF 30s and Pro 4s were listed out of stock. No efficacy or automatic substitution conclusion is drawn. Sources:</a:t>
            </a:r>
          </a:p>
          <a:p xmlns:a="http://schemas.openxmlformats.org/drawingml/2006/main">
            <a:r>
              <a:t>Abbott / Duphaston standard / 10 / 901.82 / https://pharmeasy.in/online-medicine-order/duphaston-10mg-tab-10-s-723 / Standard 10-tablet presentation</a:t>
            </a:r>
          </a:p>
          <a:p xmlns:a="http://schemas.openxmlformats.org/drawingml/2006/main">
            <a:r>
              <a:t>Zydus / Dydrogest / 10 / 817.32 / https://pharmeasy.in/online-medicine-order/dydrogest-strip-of-10-tablets-3562231 / Competing immediate-release 10mg brand</a:t>
            </a:r>
          </a:p>
          <a:p xmlns:a="http://schemas.openxmlformats.org/drawingml/2006/main">
            <a:r>
              <a:t>Abbott / Duphaston IVF / 30 / 2333.86 / https://pharmeasy.in/online-medicine-order/duphaston-ivf-10mg-strip-of-30-tablets-4261536 / Listed out of stock on retrieval</a:t>
            </a:r>
          </a:p>
          <a:p xmlns:a="http://schemas.openxmlformats.org/drawingml/2006/main">
            <a:r>
              <a:t>Mankind / Dydroboon / 10 / 735.27 / https://pharmeasy.in/online-medicine-order/dydroboon-strip-of-10-tablets-233408 / Competing immediate-release 10mg brand</a:t>
            </a:r>
          </a:p>
          <a:p xmlns:a="http://schemas.openxmlformats.org/drawingml/2006/main">
            <a:r>
              <a:t>Emcure / Dydrofem / 10 / 721.15 / https://pharmeasy.in/online-medicine-order/dydrofem-10mg-strip-of-10-tablets-3030045 / Competing immediate-release 10mg brand</a:t>
            </a:r>
          </a:p>
          <a:p xmlns:a="http://schemas.openxmlformats.org/drawingml/2006/main">
            <a:r>
              <a:t>Abbott / Duphaston Pro / 4 / 274.32 / https://pharmeasy.in/online-medicine-order/duphaston-pro-10mg-strip-of-4-tablets-2932757 / Listed out of stock on retrieval</a:t>
            </a:r>
          </a:p>
          <a:p xmlns:a="http://schemas.openxmlformats.org/drawingml/2006/main">
            <a:r>
              <a:t>Cipla / Dydrolady / 10 / 487.78 / https://pharmeasy.in/online-medicine-order/dydrolady-10mg-strip-of-10-tablets-3822033 / Competing immediate-release 10mg brand</a:t>
            </a:r>
          </a:p>
          <a:p xmlns:a="http://schemas.openxmlformats.org/drawingml/2006/main">
            <a:r>
              <a:t>Chart2: BSV-context reach33,000 to37,000 is+4,000,+12.1212%. Source management Q1FY27 call transcript p17(PDFp18): https://nsearchives.nseindia.com/corporate/MANKIND1_04082026131209_EarningCallFinal.pdf</a:t>
            </a:r>
          </a:p>
          <a:p xmlns:a="http://schemas.openxmlformats.org/drawingml/2006/main">
            <a:r>
              <a:t>Brand growth source call p4(PDFp5), with Foligraf/Humog corroborated in press release: https://nsearchives.nseindia.com/corporate/MANKIND1_30072026155320_CoveringPR.pdf</a:t>
            </a:r>
          </a:p>
          <a:p xmlns:a="http://schemas.openxmlformats.org/drawingml/2006/main">
            <a:r>
              <a:t>Reach and growth are concurrent observations, not a causal attribution. No combined unique doctor counts are inferred. Dydroboon20% is stated at 1.5x market; Mankind overall gynaecology12.7% versus IPM12.1%, only0.6pp ahead. The slide supports stronger competition, not proven loss of Abbott leadership. Emcure planned dedicated division: FY26AR printedp33/PDFp35 https://www.emcure.com/wp-content/uploads/2026/08/Annual-Report-FY-2025-26.pdf</a:t>
            </a:r>
          </a:p>
          <a:p xmlns:a="http://schemas.openxmlformats.org/drawingml/2006/main">
            <a:r>
              <a:t>Sun–Organon: https://www.organon.com/news/sun-pharma-signs-definitive-agreement-to-acquire-organon/ and https://sunpharma.com/wp-content/uploads/2026/07/PRforOrganonShareholderapproval.pdf; expected early2027 close remains conditional. The slide does not treat global deal revenue as Indian women’s-health sales.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0aa39a8f743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7755ad17149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d07d595f144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dfc719d1a4b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7ec8028fc44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1830eeffb4d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CEA56C-1E95-44C6-AA13-0D74936D0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A31917-133F-4F96-A29F-91BDF8E8CC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4206BD-D067-4B5E-AFF7-BCE204520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FC8DF7-AB2C-4027-9876-94B622D71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F8F791-0307-46EA-918B-871BD84F2A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FCFFD2-3DCF-4814-8B45-2CE8784599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E89682-2F1D-4C32-A164-B7F82180F9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8C06DB-237C-4E31-871A-9642977FBA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923A59-0D49-4EE6-888E-360CB82A5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C3DFFE-9A2B-4BB4-8DC5-15F2D61AF7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4b7966483542b0" /><Relationship Type="http://schemas.openxmlformats.org/officeDocument/2006/relationships/slideLayout" Target="/ppt/slideLayouts/slideLayout1.xml" Id="Rb7942ff906b84fe7" /><Relationship Type="http://schemas.openxmlformats.org/officeDocument/2006/relationships/slideLayout" Target="/ppt/slideLayouts/slideLayout2.xml" Id="R3d835fb2307b4e92" /><Relationship Type="http://schemas.openxmlformats.org/officeDocument/2006/relationships/slideLayout" Target="/ppt/slideLayouts/slideLayout3.xml" Id="R038e2f7808024c6b" /><Relationship Type="http://schemas.openxmlformats.org/officeDocument/2006/relationships/slideLayout" Target="/ppt/slideLayouts/slideLayout4.xml" Id="Rbe9078df11614e6f" /><Relationship Type="http://schemas.openxmlformats.org/officeDocument/2006/relationships/slideLayout" Target="/ppt/slideLayouts/slideLayout5.xml" Id="R163a92ff1c694457" /><Relationship Type="http://schemas.openxmlformats.org/officeDocument/2006/relationships/slideLayout" Target="/ppt/slideLayouts/slideLayout6.xml" Id="R74c953a4531a49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942ff906b84fe7"/>
    <p:sldLayoutId xmlns:r="http://schemas.openxmlformats.org/officeDocument/2006/relationships" id="2147483650" r:id="R3d835fb2307b4e92"/>
    <p:sldLayoutId xmlns:r="http://schemas.openxmlformats.org/officeDocument/2006/relationships" id="2147483651" r:id="R038e2f7808024c6b"/>
    <p:sldLayoutId xmlns:r="http://schemas.openxmlformats.org/officeDocument/2006/relationships" id="2147483652" r:id="Rbe9078df11614e6f"/>
    <p:sldLayoutId xmlns:r="http://schemas.openxmlformats.org/officeDocument/2006/relationships" id="2147483653" r:id="R163a92ff1c694457"/>
    <p:sldLayoutId xmlns:r="http://schemas.openxmlformats.org/officeDocument/2006/relationships" id="2147483654" r:id="R74c953a4531a49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86357152340ce" /><Relationship Type="http://schemas.openxmlformats.org/officeDocument/2006/relationships/notesSlide" Target="/ppt/notesSlides/notesSlide1.xml" Id="Rf3af571a10384c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e885d4d974047" /><Relationship Type="http://schemas.openxmlformats.org/officeDocument/2006/relationships/chart" Target="/ppt/slides/charts/chart1.xml" Id="Rcf4bf2228d55479a" /><Relationship Type="http://schemas.openxmlformats.org/officeDocument/2006/relationships/chart" Target="/ppt/slides/charts/chart2.xml" Id="Re549748e1ff44046" /><Relationship Type="http://schemas.openxmlformats.org/officeDocument/2006/relationships/notesSlide" Target="/ppt/notesSlides/notesSlide2.xml" Id="R94c875fa307148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MRP per tablet</c:v>
          </c:tx>
          <c:spPr>
            <a:solidFill xmlns:a="http://schemas.openxmlformats.org/drawingml/2006/main">
              <a:srgbClr val="0067A6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Cipla: Dydrolady</c:v>
                </c:pt>
                <c:pt idx="1">
                  <c:v>Abbott: Pro 4s*</c:v>
                </c:pt>
                <c:pt idx="2">
                  <c:v>Emcure: Dydrofem</c:v>
                </c:pt>
                <c:pt idx="3">
                  <c:v>Mankind: Dydroboon</c:v>
                </c:pt>
                <c:pt idx="4">
                  <c:v>Abbott: IVF 30s*</c:v>
                </c:pt>
                <c:pt idx="5">
                  <c:v>Zydus: Dydrogest</c:v>
                </c:pt>
                <c:pt idx="6">
                  <c:v>Abbott: standard 10s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48.778</c:v>
                </c:pt>
                <c:pt idx="1">
                  <c:v>68.58</c:v>
                </c:pt>
                <c:pt idx="2">
                  <c:v>72.115</c:v>
                </c:pt>
                <c:pt idx="3">
                  <c:v>73.527</c:v>
                </c:pt>
                <c:pt idx="4">
                  <c:v>77.79533333</c:v>
                </c:pt>
                <c:pt idx="5">
                  <c:v>81.732</c:v>
                </c:pt>
                <c:pt idx="6">
                  <c:v>90.182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43746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2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6668">
              <a:solidFill>
                <a:srgbClr val="D8E2E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Gynaecologist coverage</c:v>
          </c:tx>
          <c:spPr>
            <a:solidFill xmlns:a="http://schemas.openxmlformats.org/drawingml/2006/main">
              <a:srgbClr val="0067A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FY25</c:v>
                </c:pt>
                <c:pt idx="1">
                  <c:v>By July-26 call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33</c:v>
                </c:pt>
                <c:pt idx="1">
                  <c:v>37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43746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2E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  <c:max val="45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8E2E9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75791521-D4B1-4081-81DC-8D54CC8A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02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Mature anchor franchises constrain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Abbott’s growth acceleration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3DEFDF-0AB0-46F2-B6EA-B9AA6EB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Three key franchises are 31.8% of the FY26 model base and grow at 8.1% through FY29E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4ED321E-CD5A-40DB-87D0-6F8BD604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 0">
            <a:extLst xmlns:a="http://schemas.openxmlformats.org/drawingml/2006/main">
              <a:ext uri="{FF2B5EF4-FFF2-40B4-BE49-F238E27FC236}">
                <a16:creationId xmlns:a16="http://schemas.microsoft.com/office/drawing/2014/main" id="{8713B488-2F4B-4225-913C-BFD43E13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7622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and name 0">
            <a:extLst xmlns:a="http://schemas.openxmlformats.org/drawingml/2006/main">
              <a:ext uri="{FF2B5EF4-FFF2-40B4-BE49-F238E27FC236}">
                <a16:creationId xmlns:a16="http://schemas.microsoft.com/office/drawing/2014/main" id="{347A0E66-7D57-4439-A9CB-36CC05AA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288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Thyronorm</a:t>
            </a:r>
          </a:p>
        </p:txBody>
      </p:sp>
      <p:sp>
        <p:nvSpPr>
          <p:cNvPr id="6" name="Base 0">
            <a:extLst xmlns:a="http://schemas.openxmlformats.org/drawingml/2006/main">
              <a:ext uri="{FF2B5EF4-FFF2-40B4-BE49-F238E27FC236}">
                <a16:creationId xmlns:a16="http://schemas.microsoft.com/office/drawing/2014/main" id="{5E7D8B20-8DAA-4670-8B83-D10300F0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527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INR7,953mn base</a:t>
            </a:r>
          </a:p>
        </p:txBody>
      </p:sp>
      <p:sp>
        <p:nvSpPr>
          <p:cNvPr id="7" name="Forecast 0">
            <a:extLst xmlns:a="http://schemas.openxmlformats.org/drawingml/2006/main">
              <a:ext uri="{FF2B5EF4-FFF2-40B4-BE49-F238E27FC236}">
                <a16:creationId xmlns:a16="http://schemas.microsoft.com/office/drawing/2014/main" id="{0A25DB4E-AF49-45BE-9B71-B5D2A32F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575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9.7% FY26–29E CAGR</a:t>
            </a:r>
          </a:p>
        </p:txBody>
      </p:sp>
      <p:sp>
        <p:nvSpPr>
          <p:cNvPr id="8" name="Driver 0">
            <a:extLst xmlns:a="http://schemas.openxmlformats.org/drawingml/2006/main">
              <a:ext uri="{FF2B5EF4-FFF2-40B4-BE49-F238E27FC236}">
                <a16:creationId xmlns:a16="http://schemas.microsoft.com/office/drawing/2014/main" id="{D48A3036-8944-471A-9EED-7AFBB72B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Stable thyroid demand, limited evidence of a new growth step-up</a:t>
            </a:r>
          </a:p>
        </p:txBody>
      </p:sp>
      <p:sp>
        <p:nvSpPr>
          <p:cNvPr id="9" name="Evidence 0">
            <a:extLst xmlns:a="http://schemas.openxmlformats.org/drawingml/2006/main">
              <a:ext uri="{FF2B5EF4-FFF2-40B4-BE49-F238E27FC236}">
                <a16:creationId xmlns:a16="http://schemas.microsoft.com/office/drawing/2014/main" id="{09F150F9-0E8B-4426-9F9F-F74B3E65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24125"/>
            <a:ext cx="10934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Repeat prescriptions support the base. Incremental growth depends 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diagnosis and adherence, rather than a new molecule or a new indication.</a:t>
            </a:r>
          </a:p>
        </p:txBody>
      </p:sp>
      <p:sp>
        <p:nvSpPr>
          <p:cNvPr id="10" name="Implication 0">
            <a:extLst xmlns:a="http://schemas.openxmlformats.org/drawingml/2006/main">
              <a:ext uri="{FF2B5EF4-FFF2-40B4-BE49-F238E27FC236}">
                <a16:creationId xmlns:a16="http://schemas.microsoft.com/office/drawing/2014/main" id="{AE880C23-EA4D-400E-8C06-C9F0C4E7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337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Model: 9.7% CAGR. Monitor unit growth and net realisation.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Current evidence supports a steady anchor rather than a sharp slowdown.</a:t>
            </a:r>
          </a:p>
        </p:txBody>
      </p:sp>
      <p:sp>
        <p:nvSpPr>
          <p:cNvPr id="11" name="Separator 0">
            <a:extLst xmlns:a="http://schemas.openxmlformats.org/drawingml/2006/main">
              <a:ext uri="{FF2B5EF4-FFF2-40B4-BE49-F238E27FC236}">
                <a16:creationId xmlns:a16="http://schemas.microsoft.com/office/drawing/2014/main" id="{4CEEF1C4-96BA-496A-935C-D8D7CDBF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528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rand 1">
            <a:extLst xmlns:a="http://schemas.openxmlformats.org/drawingml/2006/main">
              <a:ext uri="{FF2B5EF4-FFF2-40B4-BE49-F238E27FC236}">
                <a16:creationId xmlns:a16="http://schemas.microsoft.com/office/drawing/2014/main" id="{A6CEA3ED-4334-4E7E-911A-7E42E82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7622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rand name 1">
            <a:extLst xmlns:a="http://schemas.openxmlformats.org/drawingml/2006/main">
              <a:ext uri="{FF2B5EF4-FFF2-40B4-BE49-F238E27FC236}">
                <a16:creationId xmlns:a16="http://schemas.microsoft.com/office/drawing/2014/main" id="{4B1BD66D-70C1-40B8-8107-2BAE6CA6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814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Udiliv</a:t>
            </a:r>
          </a:p>
        </p:txBody>
      </p:sp>
      <p:sp>
        <p:nvSpPr>
          <p:cNvPr id="14" name="Base 1">
            <a:extLst xmlns:a="http://schemas.openxmlformats.org/drawingml/2006/main">
              <a:ext uri="{FF2B5EF4-FFF2-40B4-BE49-F238E27FC236}">
                <a16:creationId xmlns:a16="http://schemas.microsoft.com/office/drawing/2014/main" id="{D2455951-2781-4478-8AA0-6F96B379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INR7,100mn base</a:t>
            </a:r>
          </a:p>
        </p:txBody>
      </p:sp>
      <p:sp>
        <p:nvSpPr>
          <p:cNvPr id="15" name="Forecast 1">
            <a:extLst xmlns:a="http://schemas.openxmlformats.org/drawingml/2006/main">
              <a:ext uri="{FF2B5EF4-FFF2-40B4-BE49-F238E27FC236}">
                <a16:creationId xmlns:a16="http://schemas.microsoft.com/office/drawing/2014/main" id="{81C55972-E34E-4A07-982E-57364591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9.2% FY26–29E CAGR</a:t>
            </a:r>
          </a:p>
        </p:txBody>
      </p:sp>
      <p:sp>
        <p:nvSpPr>
          <p:cNvPr id="16" name="Driver 1">
            <a:extLst xmlns:a="http://schemas.openxmlformats.org/drawingml/2006/main">
              <a:ext uri="{FF2B5EF4-FFF2-40B4-BE49-F238E27FC236}">
                <a16:creationId xmlns:a16="http://schemas.microsoft.com/office/drawing/2014/main" id="{3A610448-5263-417F-B0B9-E9C353B0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The fatty-liver population overstates the evidence-backed opportunity</a:t>
            </a:r>
          </a:p>
        </p:txBody>
      </p:sp>
      <p:sp>
        <p:nvSpPr>
          <p:cNvPr id="17" name="Evidence 1">
            <a:extLst xmlns:a="http://schemas.openxmlformats.org/drawingml/2006/main">
              <a:ext uri="{FF2B5EF4-FFF2-40B4-BE49-F238E27FC236}">
                <a16:creationId xmlns:a16="http://schemas.microsoft.com/office/drawing/2014/main" id="{88107EB8-7746-4CF2-9970-BA5DE3C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0934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FY26 brand sales exceeded INR7,000mn. But EASL found no proven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histological efficacy for UDCA in MASH, limiting a simple prevalence thesis.</a:t>
            </a:r>
          </a:p>
        </p:txBody>
      </p:sp>
      <p:sp>
        <p:nvSpPr>
          <p:cNvPr id="18" name="Implication 1">
            <a:extLst xmlns:a="http://schemas.openxmlformats.org/drawingml/2006/main">
              <a:ext uri="{FF2B5EF4-FFF2-40B4-BE49-F238E27FC236}">
                <a16:creationId xmlns:a16="http://schemas.microsoft.com/office/drawing/2014/main" id="{F43E73E6-4306-4094-AD4A-5D653B80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863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Model: 9.2% CAGR. Growth can normalise from a large base.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The MASH evidence does not negate UDCA’s role in cholestatic disease.</a:t>
            </a:r>
          </a:p>
        </p:txBody>
      </p:sp>
      <p:sp>
        <p:nvSpPr>
          <p:cNvPr id="19" name="Separator 1">
            <a:extLst xmlns:a="http://schemas.openxmlformats.org/drawingml/2006/main">
              <a:ext uri="{FF2B5EF4-FFF2-40B4-BE49-F238E27FC236}">
                <a16:creationId xmlns:a16="http://schemas.microsoft.com/office/drawing/2014/main" id="{8D22920C-E92A-4AB8-9DFD-27F78BB2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05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rand 2">
            <a:extLst xmlns:a="http://schemas.openxmlformats.org/drawingml/2006/main">
              <a:ext uri="{FF2B5EF4-FFF2-40B4-BE49-F238E27FC236}">
                <a16:creationId xmlns:a16="http://schemas.microsoft.com/office/drawing/2014/main" id="{57B705EC-C170-4A9E-8175-00A5BB54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7622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rand name 2">
            <a:extLst xmlns:a="http://schemas.openxmlformats.org/drawingml/2006/main">
              <a:ext uri="{FF2B5EF4-FFF2-40B4-BE49-F238E27FC236}">
                <a16:creationId xmlns:a16="http://schemas.microsoft.com/office/drawing/2014/main" id="{891DFEFD-7AEB-404C-9ACF-A2F3243A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340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Duphaston 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Femoston</a:t>
            </a:r>
          </a:p>
        </p:txBody>
      </p:sp>
      <p:sp>
        <p:nvSpPr>
          <p:cNvPr id="22" name="Base 2">
            <a:extLst xmlns:a="http://schemas.openxmlformats.org/drawingml/2006/main">
              <a:ext uri="{FF2B5EF4-FFF2-40B4-BE49-F238E27FC236}">
                <a16:creationId xmlns:a16="http://schemas.microsoft.com/office/drawing/2014/main" id="{CA41B9F1-14AA-4BDB-BED7-94B04537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45795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INR7,000mn base</a:t>
            </a:r>
          </a:p>
        </p:txBody>
      </p:sp>
      <p:sp>
        <p:nvSpPr>
          <p:cNvPr id="23" name="Forecast 2">
            <a:extLst xmlns:a="http://schemas.openxmlformats.org/drawingml/2006/main">
              <a:ext uri="{FF2B5EF4-FFF2-40B4-BE49-F238E27FC236}">
                <a16:creationId xmlns:a16="http://schemas.microsoft.com/office/drawing/2014/main" id="{5F92E0CB-FFFA-4982-A379-6DA84722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7627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5.1% FY26–29E CAGR</a:t>
            </a:r>
          </a:p>
        </p:txBody>
      </p:sp>
      <p:sp>
        <p:nvSpPr>
          <p:cNvPr id="24" name="Driver 2">
            <a:extLst xmlns:a="http://schemas.openxmlformats.org/drawingml/2006/main">
              <a:ext uri="{FF2B5EF4-FFF2-40B4-BE49-F238E27FC236}">
                <a16:creationId xmlns:a16="http://schemas.microsoft.com/office/drawing/2014/main" id="{FB430D36-DD9A-4997-A869-88E94096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0070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Generic pressure makes Duphaston the clearest competitive risk</a:t>
            </a:r>
          </a:p>
        </p:txBody>
      </p:sp>
      <p:sp>
        <p:nvSpPr>
          <p:cNvPr id="25" name="Evidence 2">
            <a:extLst xmlns:a="http://schemas.openxmlformats.org/drawingml/2006/main">
              <a:ext uri="{FF2B5EF4-FFF2-40B4-BE49-F238E27FC236}">
                <a16:creationId xmlns:a16="http://schemas.microsoft.com/office/drawing/2014/main" id="{E2D63847-2FB3-4D07-84CA-8D2917B0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29325"/>
            <a:ext cx="10934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Abbott reports slow category growth, lower-priced generics and pricing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pressure. Mankind’s Dydroboon grew 20% in Q1FY27, at 1.5x market growth.</a:t>
            </a:r>
          </a:p>
        </p:txBody>
      </p:sp>
      <p:sp>
        <p:nvSpPr>
          <p:cNvPr id="26" name="Implication 2">
            <a:extLst xmlns:a="http://schemas.openxmlformats.org/drawingml/2006/main">
              <a:ext uri="{FF2B5EF4-FFF2-40B4-BE49-F238E27FC236}">
                <a16:creationId xmlns:a16="http://schemas.microsoft.com/office/drawing/2014/main" id="{CB01114D-FE34-4C27-B1F8-86DB8E43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63892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Model: 5.1% CAGR for the combined franchise. OD and menopause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expansion offer offsets, while defending the premium requires investment.</a:t>
            </a:r>
          </a:p>
        </p:txBody>
      </p:sp>
      <p:sp>
        <p:nvSpPr>
          <p:cNvPr id="27" name="Conclusion rule">
            <a:extLst xmlns:a="http://schemas.openxmlformats.org/drawingml/2006/main">
              <a:ext uri="{FF2B5EF4-FFF2-40B4-BE49-F238E27FC236}">
                <a16:creationId xmlns:a16="http://schemas.microsoft.com/office/drawing/2014/main" id="{92624599-835C-429E-828B-81C20E3E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1402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nclusion">
            <a:extLst xmlns:a="http://schemas.openxmlformats.org/drawingml/2006/main">
              <a:ext uri="{FF2B5EF4-FFF2-40B4-BE49-F238E27FC236}">
                <a16:creationId xmlns:a16="http://schemas.microsoft.com/office/drawing/2014/main" id="{AB5B9820-7B82-4C68-BD09-3572EC4F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The three franchises grow 8.1% versus 9.4% for Abbott. Acceleration depends on launches and the wider portfolio.</a:t>
            </a:r>
          </a:p>
        </p:txBody>
      </p:sp>
      <p:sp>
        <p:nvSpPr>
          <p:cNvPr id="29" name="Source">
            <a:extLst xmlns:a="http://schemas.openxmlformats.org/drawingml/2006/main">
              <a:ext uri="{FF2B5EF4-FFF2-40B4-BE49-F238E27FC236}">
                <a16:creationId xmlns:a16="http://schemas.microsoft.com/office/drawing/2014/main" id="{201238D1-AF91-481A-BAFF-08698944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67675"/>
            <a:ext cx="1402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Source: saved Abbott model v2, 27 Sep 26; Abbott FY26 AR,pp20–25, 38; Mankind Q1FY27 call, p4; EASL–EASD–EASO 2024.</a:t>
            </a:r>
          </a:p>
        </p:txBody>
      </p:sp>
      <p:sp>
        <p:nvSpPr>
          <p:cNvPr id="30" name="Scope">
            <a:extLst xmlns:a="http://schemas.openxmlformats.org/drawingml/2006/main">
              <a:ext uri="{FF2B5EF4-FFF2-40B4-BE49-F238E27FC236}">
                <a16:creationId xmlns:a16="http://schemas.microsoft.com/office/drawing/2014/main" id="{047072DA-08B8-4833-9AC7-51AFA003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0"/>
            <a:ext cx="14020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Brand sales are model estimates. Duphaston and Femoston remain combined. These are three strategic franchises, not an audited standalone brand ranking.</a:t>
            </a:r>
          </a:p>
        </p:txBody>
      </p:sp>
    </p:spTree>
    <p:extLst>
      <p:ext uri="{BB962C8B-B14F-4D97-AF65-F5344CB8AC3E}">
        <p14:creationId xmlns:p14="http://schemas.microsoft.com/office/powerpoint/2010/main" val="1652486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81C9534-8201-4306-9A36-C716FD23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02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Women’s health competition attacks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30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both pricing and specialist access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4BA42E-D1B7-42B0-9D44-6A8690E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02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The direct risk is a harder defence of Duphaston’s premium and prescription share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E01D511-5CED-445A-A1F1-D7B09D56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ice title">
            <a:extLst xmlns:a="http://schemas.openxmlformats.org/drawingml/2006/main">
              <a:ext uri="{FF2B5EF4-FFF2-40B4-BE49-F238E27FC236}">
                <a16:creationId xmlns:a16="http://schemas.microsoft.com/office/drawing/2014/main" id="{D30FF6F9-5A84-436B-8A68-6B3357F9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19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Rivals undercut the standard pack,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while Abbott also offers cheaper SKUs</a:t>
            </a:r>
          </a:p>
        </p:txBody>
      </p:sp>
      <p:sp>
        <p:nvSpPr>
          <p:cNvPr id="5" name="Price unit">
            <a:extLst xmlns:a="http://schemas.openxmlformats.org/drawingml/2006/main">
              <a:ext uri="{FF2B5EF4-FFF2-40B4-BE49-F238E27FC236}">
                <a16:creationId xmlns:a16="http://schemas.microsoft.com/office/drawing/2014/main" id="{2ED5B0B6-F12B-45A5-A652-A32984E1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681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Listed MRP, INR per 10mg dydrogesterone tablet</a:t>
            </a:r>
          </a:p>
        </p:txBody>
      </p:sp>
      <p:sp>
        <p:nvSpPr>
          <p:cNvPr id="6" name="Reach title">
            <a:extLst xmlns:a="http://schemas.openxmlformats.org/drawingml/2006/main">
              <a:ext uri="{FF2B5EF4-FFF2-40B4-BE49-F238E27FC236}">
                <a16:creationId xmlns:a16="http://schemas.microsoft.com/office/drawing/2014/main" id="{EFC04908-A383-443A-85C1-3E67F3D6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653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BSV’s specialist reach expanded 12%,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with key IVF brands growing 39%</a:t>
            </a:r>
          </a:p>
        </p:txBody>
      </p:sp>
      <p:sp>
        <p:nvSpPr>
          <p:cNvPr id="7" name="Reach unit">
            <a:extLst xmlns:a="http://schemas.openxmlformats.org/drawingml/2006/main">
              <a:ext uri="{FF2B5EF4-FFF2-40B4-BE49-F238E27FC236}">
                <a16:creationId xmlns:a16="http://schemas.microsoft.com/office/drawing/2014/main" id="{0E34B959-BBDB-4A96-8354-E47BBDF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653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Gynaecologists covered, thousands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969C9FEC-6A66-47AD-B0C0-25A3D338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85975"/>
            <a:ext cx="952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9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E2510383-0DB1-43C3-BD12-B96767D62FFB}"/>
              </a:ext>
            </a:extLst>
          </p:cNvPr>
          <p:cNvGraphicFramePr/>
          <p:nvPr/>
        </p:nvGraphicFramePr>
        <p:xfrm>
          <a:off xmlns:a="http://schemas.openxmlformats.org/drawingml/2006/main" x="514350" y="3257550"/>
          <a:ext xmlns:a="http://schemas.openxmlformats.org/drawingml/2006/main" cx="70008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4bf2228d55479a"/>
          </a:graphicData>
        </a:graphic>
      </p:graphicFrame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477A227-B8E0-43AB-A948-2E89B75E1C29}"/>
              </a:ext>
            </a:extLst>
          </p:cNvPr>
          <p:cNvGraphicFramePr/>
          <p:nvPr/>
        </p:nvGraphicFramePr>
        <p:xfrm>
          <a:off xmlns:a="http://schemas.openxmlformats.org/drawingml/2006/main" x="8029575" y="3257550"/>
          <a:ext xmlns:a="http://schemas.openxmlformats.org/drawingml/2006/main" cx="6705600" cy="2495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49748e1ff44046"/>
          </a:graphicData>
        </a:graphic>
      </p:graphicFrame>
      <p:sp>
        <p:nvSpPr>
          <p:cNvPr id="11" name="Growth label">
            <a:extLst xmlns:a="http://schemas.openxmlformats.org/drawingml/2006/main">
              <a:ext uri="{FF2B5EF4-FFF2-40B4-BE49-F238E27FC236}">
                <a16:creationId xmlns:a16="http://schemas.microsoft.com/office/drawing/2014/main" id="{4F7361A7-5C60-4423-9A23-52C4B07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76925"/>
            <a:ext cx="653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Q1FY27 brand growth, YoY</a:t>
            </a:r>
          </a:p>
        </p:txBody>
      </p:sp>
      <p:sp>
        <p:nvSpPr>
          <p:cNvPr id="12" name="Growth 0">
            <a:extLst xmlns:a="http://schemas.openxmlformats.org/drawingml/2006/main">
              <a:ext uri="{FF2B5EF4-FFF2-40B4-BE49-F238E27FC236}">
                <a16:creationId xmlns:a16="http://schemas.microsoft.com/office/drawing/2014/main" id="{0F447164-0DBD-4FFA-9A1E-E3848A9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007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20%</a:t>
            </a:r>
          </a:p>
        </p:txBody>
      </p:sp>
      <p:sp>
        <p:nvSpPr>
          <p:cNvPr id="13" name="Name 0">
            <a:extLst xmlns:a="http://schemas.openxmlformats.org/drawingml/2006/main">
              <a:ext uri="{FF2B5EF4-FFF2-40B4-BE49-F238E27FC236}">
                <a16:creationId xmlns:a16="http://schemas.microsoft.com/office/drawing/2014/main" id="{AA335CCE-94F9-405F-BF19-11FBF201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19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Dydroboon</a:t>
            </a:r>
          </a:p>
        </p:txBody>
      </p:sp>
      <p:sp>
        <p:nvSpPr>
          <p:cNvPr id="14" name="Growth 1">
            <a:extLst xmlns:a="http://schemas.openxmlformats.org/drawingml/2006/main">
              <a:ext uri="{FF2B5EF4-FFF2-40B4-BE49-F238E27FC236}">
                <a16:creationId xmlns:a16="http://schemas.microsoft.com/office/drawing/2014/main" id="{90CB935C-9911-44A9-9238-12DA255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62007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39%</a:t>
            </a:r>
          </a:p>
        </p:txBody>
      </p:sp>
      <p:sp>
        <p:nvSpPr>
          <p:cNvPr id="15" name="Name 1">
            <a:extLst xmlns:a="http://schemas.openxmlformats.org/drawingml/2006/main">
              <a:ext uri="{FF2B5EF4-FFF2-40B4-BE49-F238E27FC236}">
                <a16:creationId xmlns:a16="http://schemas.microsoft.com/office/drawing/2014/main" id="{C2281CF7-C0A7-4CBB-9044-2D303FE1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6619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Foligraf</a:t>
            </a:r>
          </a:p>
        </p:txBody>
      </p:sp>
      <p:sp>
        <p:nvSpPr>
          <p:cNvPr id="16" name="Growth 2">
            <a:extLst xmlns:a="http://schemas.openxmlformats.org/drawingml/2006/main">
              <a:ext uri="{FF2B5EF4-FFF2-40B4-BE49-F238E27FC236}">
                <a16:creationId xmlns:a16="http://schemas.microsoft.com/office/drawing/2014/main" id="{0478036C-D4CC-496B-9150-FBE1087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2007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39%</a:t>
            </a:r>
          </a:p>
        </p:txBody>
      </p:sp>
      <p:sp>
        <p:nvSpPr>
          <p:cNvPr id="17" name="Name 2">
            <a:extLst xmlns:a="http://schemas.openxmlformats.org/drawingml/2006/main">
              <a:ext uri="{FF2B5EF4-FFF2-40B4-BE49-F238E27FC236}">
                <a16:creationId xmlns:a16="http://schemas.microsoft.com/office/drawing/2014/main" id="{200722AA-9A00-40F4-B5F4-F4098FC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619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243746"/>
                </a:solidFill>
                <a:latin typeface="Nimbus Sans"/>
                <a:ea typeface="Nimbus Sans"/>
                <a:cs typeface="Nimbus Sans"/>
              </a:rPr>
              <a:t>Humog</a:t>
            </a:r>
          </a:p>
        </p:txBody>
      </p:sp>
      <p:sp>
        <p:nvSpPr>
          <p:cNvPr id="18" name="Price inference">
            <a:extLst xmlns:a="http://schemas.openxmlformats.org/drawingml/2006/main">
              <a:ext uri="{FF2B5EF4-FFF2-40B4-BE49-F238E27FC236}">
                <a16:creationId xmlns:a16="http://schemas.microsoft.com/office/drawing/2014/main" id="{E2ED0844-4870-4263-9D1B-D72DFE8E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91325"/>
            <a:ext cx="681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Cipla is 46% below Abbott’s standard SKU and 29%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below Pro. The premium is presentation-specific.</a:t>
            </a:r>
          </a:p>
        </p:txBody>
      </p:sp>
      <p:sp>
        <p:nvSpPr>
          <p:cNvPr id="19" name="Reach inference">
            <a:extLst xmlns:a="http://schemas.openxmlformats.org/drawingml/2006/main">
              <a:ext uri="{FF2B5EF4-FFF2-40B4-BE49-F238E27FC236}">
                <a16:creationId xmlns:a16="http://schemas.microsoft.com/office/drawing/2014/main" id="{1D18E5DD-7D1C-46E0-A07F-A60DDD5B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000875"/>
            <a:ext cx="6534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A wider fertility basket can raise the return on each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0067A6"/>
                </a:solidFill>
                <a:latin typeface="Nimbus Sans"/>
                <a:ea typeface="Nimbus Sans"/>
                <a:cs typeface="Nimbus Sans"/>
              </a:rPr>
              <a:t>specialist call and support Dydroboon cross-selling.</a:t>
            </a:r>
          </a:p>
        </p:txBody>
      </p:sp>
      <p:sp>
        <p:nvSpPr>
          <p:cNvPr id="20" name="Peer rule">
            <a:extLst xmlns:a="http://schemas.openxmlformats.org/drawingml/2006/main">
              <a:ext uri="{FF2B5EF4-FFF2-40B4-BE49-F238E27FC236}">
                <a16:creationId xmlns:a16="http://schemas.microsoft.com/office/drawing/2014/main" id="{B82AC868-A66B-450A-831E-1311E7A7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ther peers">
            <a:extLst xmlns:a="http://schemas.openxmlformats.org/drawingml/2006/main">
              <a:ext uri="{FF2B5EF4-FFF2-40B4-BE49-F238E27FC236}">
                <a16:creationId xmlns:a16="http://schemas.microsoft.com/office/drawing/2014/main" id="{93CBADCB-9182-4550-A00B-F912607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247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00446C"/>
                </a:solidFill>
                <a:latin typeface="Nimbus Sans"/>
                <a:ea typeface="Nimbus Sans"/>
                <a:cs typeface="Nimbus Sans"/>
              </a:rPr>
              <a:t>Emcure plans another dedicated gynae division. Sun–Organon adds a future specialist platform, subject to closing.</a:t>
            </a:r>
          </a:p>
        </p:txBody>
      </p:sp>
      <p:sp>
        <p:nvSpPr>
          <p:cNvPr id="22" name="Sources">
            <a:extLst xmlns:a="http://schemas.openxmlformats.org/drawingml/2006/main">
              <a:ext uri="{FF2B5EF4-FFF2-40B4-BE49-F238E27FC236}">
                <a16:creationId xmlns:a16="http://schemas.microsoft.com/office/drawing/2014/main" id="{47257D56-492B-46CC-8F9A-CEF87D1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05775"/>
            <a:ext cx="1402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Source: PharmEasy product listings,retrieved 21 Oct 26; Mankind Q1FY27 call, pp4, 17; Emcure FY26 AR, p33; Sun/Organon,Apr/Jul26.</a:t>
            </a:r>
          </a:p>
        </p:txBody>
      </p:sp>
      <p:sp>
        <p:nvSpPr>
          <p:cNvPr id="23" name="Chart limits">
            <a:extLst xmlns:a="http://schemas.openxmlformats.org/drawingml/2006/main">
              <a:ext uri="{FF2B5EF4-FFF2-40B4-BE49-F238E27FC236}">
                <a16:creationId xmlns:a16="http://schemas.microsoft.com/office/drawing/2014/main" id="{8BA38B1C-8E3D-4B63-ADF6-9328004D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15325"/>
            <a:ext cx="14020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defPPr>
            <a:lvl1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1pPr>
            <a:lvl2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2pPr>
            <a:lvl3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3pPr>
            <a:lvl4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4pPr>
            <a:lvl5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5pPr>
            <a:lvl6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6pPr>
            <a:lvl7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7pPr>
            <a:lvl8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8pPr>
            <a:lvl9pPr algn="l"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defRPr>
            </a:pPr>
            <a:r>
              <a:rPr sz="975" b="0">
                <a:solidFill>
                  <a:srgbClr val="657682"/>
                </a:solidFill>
                <a:latin typeface="Nimbus Sans"/>
                <a:ea typeface="Nimbus Sans"/>
                <a:cs typeface="Nimbus Sans"/>
              </a:rPr>
              <a:t>*IVF 30s and Pro 4s listed out of stock. MRPs vary by batch and exclude retail discounts. Reach is BSV-context management data. Abbott reports retained leadership.</a:t>
            </a:r>
          </a:p>
        </p:txBody>
      </p:sp>
    </p:spTree>
    <p:extLst>
      <p:ext uri="{BB962C8B-B14F-4D97-AF65-F5344CB8AC3E}">
        <p14:creationId xmlns:p14="http://schemas.microsoft.com/office/powerpoint/2010/main" val="1005788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2026-10-21T19:58:44.0670000Z</dcterms:created>
  <dcterms:modified xsi:type="dcterms:W3CDTF">2026-10-21T19:58:44.0670000Z</dcterms:modified>
</coreProperties>
</file>