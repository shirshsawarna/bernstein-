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b9c03e45c14d47" /><Relationship Type="http://schemas.openxmlformats.org/officeDocument/2006/relationships/extended-properties" Target="/docProps/app.xml" Id="Rb2e5c8bd7aa84c67" /><Relationship Type="http://schemas.openxmlformats.org/officeDocument/2006/relationships/officeDocument" Target="/ppt/presentation.xml" Id="R686cbb010eaa4e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571ba1a6984e36"/>
  </p:sldMasterIdLst>
  <p:notesMasterIdLst>
    <p:notesMasterId xmlns:r="http://schemas.openxmlformats.org/officeDocument/2006/relationships" r:id="R31577ae821974de1"/>
  </p:notesMasterIdLst>
  <p:sldIdLst>
    <p:sldId xmlns:r="http://schemas.openxmlformats.org/officeDocument/2006/relationships" id="256" r:id="Ra16deb7253c64d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5a4f0d90d04e5c" /><Relationship Type="http://schemas.openxmlformats.org/officeDocument/2006/relationships/slideMaster" Target="/ppt/slideMasters/slideMaster1.xml" Id="Rd5571ba1a6984e36" /><Relationship Type="http://schemas.openxmlformats.org/officeDocument/2006/relationships/notesMaster" Target="/ppt/notesMasters/notesMaster1.xml" Id="R31577ae821974de1" /><Relationship Type="http://schemas.openxmlformats.org/officeDocument/2006/relationships/presProps" Target="/ppt/presProps.xml" Id="Rb02ac214c23e480a" /><Relationship Type="http://schemas.openxmlformats.org/officeDocument/2006/relationships/tableStyles" Target="/ppt/tableStyles.xml" Id="R8b911e55d3314007" /><Relationship Type="http://schemas.openxmlformats.org/officeDocument/2006/relationships/slide" Target="/ppt/slides/slide1.xml" Id="Ra16deb7253c64d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7ccec07c3046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b808da3c704a49" /><Relationship Type="http://schemas.openxmlformats.org/officeDocument/2006/relationships/notesMaster" Target="/ppt/notesMasters/notesMaster1.xml" Id="R96850884fb0446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Merck, large-scale biocatalytic synthesis of enlicitide decanoate, May 7, 2026: https://www.merck.com/news/merck-scientists-publish-landmark-paper-on-novel-method-for-large-scale-biocatalytic-synthesis-of-investigational-oral-pcsk9-inhibitor-enlicitide-decanoate/</a:t>
            </a:r>
          </a:p>
          <a:p xmlns:a="http://schemas.openxmlformats.org/drawingml/2006/main">
            <a:r>
              <a:t>DailyMed, NUBEQA prescribing information, sections 11 and 12.1: https://dailymed.nlm.nih.gov/dailymed/drugInfo.cfm?setid=1a7cb212-56e4-4b9d-a73d-bfee7fe4735e</a:t>
            </a:r>
          </a:p>
          <a:p xmlns:a="http://schemas.openxmlformats.org/drawingml/2006/main">
            <a:r>
              <a:t>Chemical &amp; Engineering News, enlicitide process chemistry and structure image, May 7, 2026: https://cen.acs.org/pharmaceuticals/process-chemistry/biocatalysts-build-big-molecule/104/web/2026/05</a:t>
            </a:r>
          </a:p>
          <a:p xmlns:a="http://schemas.openxmlformats.org/drawingml/2006/main">
            <a:r>
              <a:t>Podgorsek et al., Clinical Pharmacokinetics and Pharmacodynamics of Darolutamide, 2023: https://pmc.ncbi.nlm.nih.gov/articles/PMC10386912/</a:t>
            </a:r>
          </a:p>
          <a:p xmlns:a="http://schemas.openxmlformats.org/drawingml/2006/main">
            <a:r>
              <a:t>Enlicitide structural image credit: C&amp;EN / Merck &amp; Co. Darolutamide structural formula: DailyMed / FDA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54d85171441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ad21627364f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4fb1bcc6d4a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73571c0784d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0db41500e44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b7e3189bc46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23E42D-A22E-48EB-85AE-72F2D54D9D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C64013-6673-4C60-8040-BF3B69756B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32FF6C-F773-4C4B-8804-E7A8016B74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7ADE55-CDFF-47AF-9CB8-802B5407E8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B54B91-D306-4AA0-8973-8C16609C70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25A8D9-5707-4AB8-BF4D-3225A09A87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FCE63D-C889-4C82-BEE3-99DFABE1EA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58C877-69D8-46AD-A6A0-2AC10E8BE5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2EE136-1BB0-4706-91F5-D92598AD95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F4D4DC-4A12-4CF2-BC53-14AAED233F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734a03cc94c19" /><Relationship Type="http://schemas.openxmlformats.org/officeDocument/2006/relationships/slideLayout" Target="/ppt/slideLayouts/slideLayout1.xml" Id="R366e5f6978ae488f" /><Relationship Type="http://schemas.openxmlformats.org/officeDocument/2006/relationships/slideLayout" Target="/ppt/slideLayouts/slideLayout2.xml" Id="Raff5c5cbca1b419d" /><Relationship Type="http://schemas.openxmlformats.org/officeDocument/2006/relationships/slideLayout" Target="/ppt/slideLayouts/slideLayout3.xml" Id="Rae0d5831d942467c" /><Relationship Type="http://schemas.openxmlformats.org/officeDocument/2006/relationships/slideLayout" Target="/ppt/slideLayouts/slideLayout4.xml" Id="R273b2b0f013242e8" /><Relationship Type="http://schemas.openxmlformats.org/officeDocument/2006/relationships/slideLayout" Target="/ppt/slideLayouts/slideLayout5.xml" Id="R89f00cc83a134b2e" /><Relationship Type="http://schemas.openxmlformats.org/officeDocument/2006/relationships/slideLayout" Target="/ppt/slideLayouts/slideLayout6.xml" Id="R7c623d9cf16945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6e5f6978ae488f"/>
    <p:sldLayoutId xmlns:r="http://schemas.openxmlformats.org/officeDocument/2006/relationships" id="2147483650" r:id="Raff5c5cbca1b419d"/>
    <p:sldLayoutId xmlns:r="http://schemas.openxmlformats.org/officeDocument/2006/relationships" id="2147483651" r:id="Rae0d5831d942467c"/>
    <p:sldLayoutId xmlns:r="http://schemas.openxmlformats.org/officeDocument/2006/relationships" id="2147483652" r:id="R273b2b0f013242e8"/>
    <p:sldLayoutId xmlns:r="http://schemas.openxmlformats.org/officeDocument/2006/relationships" id="2147483653" r:id="R89f00cc83a134b2e"/>
    <p:sldLayoutId xmlns:r="http://schemas.openxmlformats.org/officeDocument/2006/relationships" id="2147483654" r:id="R7c623d9cf16945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edc0ebdb0a4cf9" /><Relationship Type="http://schemas.openxmlformats.org/officeDocument/2006/relationships/image" Target="/ppt/media/image.jpeg" Id="R09eb154e19534d03" /><Relationship Type="http://schemas.openxmlformats.org/officeDocument/2006/relationships/image" Target="/ppt/media/image2.jpeg" Id="R9bba41c44e3e4376" /><Relationship Type="http://schemas.openxmlformats.org/officeDocument/2006/relationships/notesSlide" Target="/ppt/notesSlides/notesSlide1.xml" Id="R41ac1e34e94f41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title">
            <a:extLst xmlns:a="http://schemas.openxmlformats.org/drawingml/2006/main">
              <a:ext uri="{FF2B5EF4-FFF2-40B4-BE49-F238E27FC236}">
                <a16:creationId xmlns:a16="http://schemas.microsoft.com/office/drawing/2014/main" id="{D0484681-DFB0-4859-AF69-75DD0160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2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13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2213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2213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Complex APIs: India CRDMO opportunity shifts to chemistry and process control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2A9B3E-5EF6-4ED9-9E00-873DAC9A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1A8"/>
          </a:solidFill>
          <a:ln xmlns:a="http://schemas.openxmlformats.org/drawingml/2006/main" w="0">
            <a:solidFill>
              <a:srgbClr val="0D91A8"/>
            </a:solidFill>
            <a:prstDash val="solid"/>
          </a:ln>
        </p:spPr>
      </p:sp>
      <p:sp>
        <p:nvSpPr>
          <p:cNvPr id="3" name="main-frame">
            <a:extLst xmlns:a="http://schemas.openxmlformats.org/drawingml/2006/main">
              <a:ext uri="{FF2B5EF4-FFF2-40B4-BE49-F238E27FC236}">
                <a16:creationId xmlns:a16="http://schemas.microsoft.com/office/drawing/2014/main" id="{881645BF-FF77-49D0-BC39-C33C10DF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D91A8"/>
            </a:solidFill>
            <a:prstDash val="solid"/>
          </a:ln>
        </p:spPr>
      </p:sp>
      <p:sp>
        <p:nvSpPr>
          <p:cNvPr id="4" name="mid-divider">
            <a:extLst xmlns:a="http://schemas.openxmlformats.org/drawingml/2006/main">
              <a:ext uri="{FF2B5EF4-FFF2-40B4-BE49-F238E27FC236}">
                <a16:creationId xmlns:a16="http://schemas.microsoft.com/office/drawing/2014/main" id="{E354919F-36AF-4BCE-9F17-AAFC03AE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192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5" name="enlicitide-heading">
            <a:extLst xmlns:a="http://schemas.openxmlformats.org/drawingml/2006/main">
              <a:ext uri="{FF2B5EF4-FFF2-40B4-BE49-F238E27FC236}">
                <a16:creationId xmlns:a16="http://schemas.microsoft.com/office/drawing/2014/main" id="{553B109A-A813-4036-BFD9-F4268624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0D91A8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D91A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0D91A8"/>
                </a:solidFill>
                <a:latin typeface="Nimbus Sans"/>
                <a:ea typeface="Nimbus Sans"/>
                <a:cs typeface="Nimbus Sans"/>
              </a:rPr>
              <a:t>ENLICITIDE</a:t>
            </a:r>
          </a:p>
        </p:txBody>
      </p:sp>
      <p:sp>
        <p:nvSpPr>
          <p:cNvPr id="6" name="enlicitide-subheading">
            <a:extLst xmlns:a="http://schemas.openxmlformats.org/drawingml/2006/main">
              <a:ext uri="{FF2B5EF4-FFF2-40B4-BE49-F238E27FC236}">
                <a16:creationId xmlns:a16="http://schemas.microsoft.com/office/drawing/2014/main" id="{E57A5C7C-3EC2-474E-AE00-6CBA2E35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Oral macrocyclic PCSK9 inhibitor</a:t>
            </a:r>
          </a:p>
        </p:txBody>
      </p:sp>
      <p:sp>
        <p:nvSpPr>
          <p:cNvPr id="7" name="nubeqa-heading">
            <a:extLst xmlns:a="http://schemas.openxmlformats.org/drawingml/2006/main">
              <a:ext uri="{FF2B5EF4-FFF2-40B4-BE49-F238E27FC236}">
                <a16:creationId xmlns:a16="http://schemas.microsoft.com/office/drawing/2014/main" id="{3D9D4C79-B411-4C44-8B61-62E8BF02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81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A8463A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A8463A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A8463A"/>
                </a:solidFill>
                <a:latin typeface="Nimbus Sans"/>
                <a:ea typeface="Nimbus Sans"/>
                <a:cs typeface="Nimbus Sans"/>
              </a:rPr>
              <a:t>NUBEQA (DAROLUTAMIDE)</a:t>
            </a:r>
          </a:p>
        </p:txBody>
      </p:sp>
      <p:sp>
        <p:nvSpPr>
          <p:cNvPr id="8" name="nubeqa-subheading">
            <a:extLst xmlns:a="http://schemas.openxmlformats.org/drawingml/2006/main">
              <a:ext uri="{FF2B5EF4-FFF2-40B4-BE49-F238E27FC236}">
                <a16:creationId xmlns:a16="http://schemas.microsoft.com/office/drawing/2014/main" id="{E8F81C2B-F811-4DF2-9026-CD9EC4D5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970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Chiral small-molecule androgen-receptor inhibitor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78F93-4ED5-4E61-83AF-A616B156D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b154e19534d03"/>
          <a:stretch xmlns:a="http://schemas.openxmlformats.org/drawingml/2006/main"/>
        </p:blipFill>
        <p:spPr>
          <a:xfrm xmlns:a="http://schemas.openxmlformats.org/drawingml/2006/main">
            <a:off x="746157" y="1733550"/>
            <a:ext cx="3041586" cy="2266950"/>
          </a:xfrm>
          <a:prstGeom xmlns:a="http://schemas.openxmlformats.org/drawingml/2006/main" prst="rect">
            <a:avLst/>
          </a:prstGeom>
        </p:spPr>
      </p:pic>
      <p:sp>
        <p:nvSpPr>
          <p:cNvPr id="10" name="enlicitide-image-frame">
            <a:extLst xmlns:a="http://schemas.openxmlformats.org/drawingml/2006/main">
              <a:ext uri="{FF2B5EF4-FFF2-40B4-BE49-F238E27FC236}">
                <a16:creationId xmlns:a16="http://schemas.microsoft.com/office/drawing/2014/main" id="{F71A99DF-1FD8-46F0-9080-59724997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C9D2DC"/>
            </a:solidFill>
            <a:prstDash val="solid"/>
          </a:ln>
        </p:spPr>
      </p:sp>
      <p:sp>
        <p:nvSpPr>
          <p:cNvPr id="11" name="callout-dot-1-417">
            <a:extLst xmlns:a="http://schemas.openxmlformats.org/drawingml/2006/main">
              <a:ext uri="{FF2B5EF4-FFF2-40B4-BE49-F238E27FC236}">
                <a16:creationId xmlns:a16="http://schemas.microsoft.com/office/drawing/2014/main" id="{AC2271AB-DDD2-4F20-90D5-BE05CA38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790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1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2" name="callout-title-1-417">
            <a:extLst xmlns:a="http://schemas.openxmlformats.org/drawingml/2006/main">
              <a:ext uri="{FF2B5EF4-FFF2-40B4-BE49-F238E27FC236}">
                <a16:creationId xmlns:a16="http://schemas.microsoft.com/office/drawing/2014/main" id="{80716CED-5358-4678-BFEB-3A5F1664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716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Macrocyclic scaffold</a:t>
            </a:r>
          </a:p>
        </p:txBody>
      </p:sp>
      <p:sp>
        <p:nvSpPr>
          <p:cNvPr id="13" name="callout-body-1-417">
            <a:extLst xmlns:a="http://schemas.openxmlformats.org/drawingml/2006/main">
              <a:ext uri="{FF2B5EF4-FFF2-40B4-BE49-F238E27FC236}">
                <a16:creationId xmlns:a16="http://schemas.microsoft.com/office/drawing/2014/main" id="{A992B8AF-B432-4ADB-ACFA-C25DCBDB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rPr>
              <a:t>Pre-organises the binding surface for PCSK9</a:t>
            </a:r>
          </a:p>
        </p:txBody>
      </p:sp>
      <p:sp>
        <p:nvSpPr>
          <p:cNvPr id="14" name="callout-dot-2-417">
            <a:extLst xmlns:a="http://schemas.openxmlformats.org/drawingml/2006/main">
              <a:ext uri="{FF2B5EF4-FFF2-40B4-BE49-F238E27FC236}">
                <a16:creationId xmlns:a16="http://schemas.microsoft.com/office/drawing/2014/main" id="{48318DB6-1AB8-44C5-B277-44C2AE70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505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6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5" name="callout-title-2-417">
            <a:extLst xmlns:a="http://schemas.openxmlformats.org/drawingml/2006/main">
              <a:ext uri="{FF2B5EF4-FFF2-40B4-BE49-F238E27FC236}">
                <a16:creationId xmlns:a16="http://schemas.microsoft.com/office/drawing/2014/main" id="{4C5ECC8B-9AB0-4D7E-BCB6-BEEBB346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86025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Engineered building blocks</a:t>
            </a:r>
          </a:p>
        </p:txBody>
      </p:sp>
      <p:sp>
        <p:nvSpPr>
          <p:cNvPr id="16" name="callout-body-2-417">
            <a:extLst xmlns:a="http://schemas.openxmlformats.org/drawingml/2006/main">
              <a:ext uri="{FF2B5EF4-FFF2-40B4-BE49-F238E27FC236}">
                <a16:creationId xmlns:a16="http://schemas.microsoft.com/office/drawing/2014/main" id="{9711F5A8-D36D-42BF-BAC9-FB578976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95575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25"/>
          </a:bodyPr>
          <a:lstStyle xmlns:a="http://schemas.openxmlformats.org/drawingml/2006/main">
            <a:def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rPr>
              <a:t>Multiple amide bonds and stereocentres raise route complexity</a:t>
            </a:r>
          </a:p>
        </p:txBody>
      </p:sp>
      <p:sp>
        <p:nvSpPr>
          <p:cNvPr id="17" name="callout-dot-3-417">
            <a:extLst xmlns:a="http://schemas.openxmlformats.org/drawingml/2006/main">
              <a:ext uri="{FF2B5EF4-FFF2-40B4-BE49-F238E27FC236}">
                <a16:creationId xmlns:a16="http://schemas.microsoft.com/office/drawing/2014/main" id="{3E04C85E-18B5-44D1-A079-60E84D98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47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8" name="callout-title-3-417">
            <a:extLst xmlns:a="http://schemas.openxmlformats.org/drawingml/2006/main">
              <a:ext uri="{FF2B5EF4-FFF2-40B4-BE49-F238E27FC236}">
                <a16:creationId xmlns:a16="http://schemas.microsoft.com/office/drawing/2014/main" id="{FF9BFA43-FBAD-4D9A-97A5-84107890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1470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Biocatalytic assembly</a:t>
            </a:r>
          </a:p>
        </p:txBody>
      </p:sp>
      <p:sp>
        <p:nvSpPr>
          <p:cNvPr id="19" name="callout-body-3-417">
            <a:extLst xmlns:a="http://schemas.openxmlformats.org/drawingml/2006/main">
              <a:ext uri="{FF2B5EF4-FFF2-40B4-BE49-F238E27FC236}">
                <a16:creationId xmlns:a16="http://schemas.microsoft.com/office/drawing/2014/main" id="{D4F412D4-2D28-41CC-B49E-A6438A5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rPr>
              <a:t>Selective fragment formation, coupling and macrocyclisation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E835B-61AB-4931-8F70-134A4123EC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a41c44e3e4376"/>
          <a:stretch xmlns:a="http://schemas.openxmlformats.org/drawingml/2006/main"/>
        </p:blipFill>
        <p:spPr>
          <a:xfrm xmlns:a="http://schemas.openxmlformats.org/drawingml/2006/main">
            <a:off x="6362700" y="1977749"/>
            <a:ext cx="2933700" cy="1245152"/>
          </a:xfrm>
          <a:prstGeom xmlns:a="http://schemas.openxmlformats.org/drawingml/2006/main" prst="rect">
            <a:avLst/>
          </a:prstGeom>
        </p:spPr>
      </p:pic>
      <p:sp>
        <p:nvSpPr>
          <p:cNvPr id="21" name="darolutamide-image-frame">
            <a:extLst xmlns:a="http://schemas.openxmlformats.org/drawingml/2006/main">
              <a:ext uri="{FF2B5EF4-FFF2-40B4-BE49-F238E27FC236}">
                <a16:creationId xmlns:a16="http://schemas.microsoft.com/office/drawing/2014/main" id="{1E1314A9-E2E4-4E15-BECF-0C290365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4025"/>
            <a:ext cx="3048000" cy="1752600"/>
          </a:xfrm>
          <a:prstGeom xmlns:a="http://schemas.openxmlformats.org/drawingml/2006/main" prst="roundRect">
            <a:avLst>
              <a:gd name="adj" fmla="val 4348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C9D2DC"/>
            </a:solidFill>
            <a:prstDash val="solid"/>
          </a:ln>
        </p:spPr>
      </p:sp>
      <p:sp>
        <p:nvSpPr>
          <p:cNvPr id="22" name="callout-dot-1-996">
            <a:extLst xmlns:a="http://schemas.openxmlformats.org/drawingml/2006/main">
              <a:ext uri="{FF2B5EF4-FFF2-40B4-BE49-F238E27FC236}">
                <a16:creationId xmlns:a16="http://schemas.microsoft.com/office/drawing/2014/main" id="{4734D2E0-0B21-4668-852B-933013E1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90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6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23" name="callout-title-1-996">
            <a:extLst xmlns:a="http://schemas.openxmlformats.org/drawingml/2006/main">
              <a:ext uri="{FF2B5EF4-FFF2-40B4-BE49-F238E27FC236}">
                <a16:creationId xmlns:a16="http://schemas.microsoft.com/office/drawing/2014/main" id="{4AFDA164-FA28-4153-98E2-7CCA9D6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771650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Two active forms</a:t>
            </a:r>
          </a:p>
        </p:txBody>
      </p:sp>
      <p:sp>
        <p:nvSpPr>
          <p:cNvPr id="24" name="callout-body-1-996">
            <a:extLst xmlns:a="http://schemas.openxmlformats.org/drawingml/2006/main">
              <a:ext uri="{FF2B5EF4-FFF2-40B4-BE49-F238E27FC236}">
                <a16:creationId xmlns:a16="http://schemas.microsoft.com/office/drawing/2014/main" id="{8EA3E7F6-2B69-49C5-9BBA-AAC1FC3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81200"/>
            <a:ext cx="1847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rPr>
              <a:t>1:1 mixture of (S,R) and (S,S) diastereomers</a:t>
            </a:r>
          </a:p>
        </p:txBody>
      </p:sp>
      <p:sp>
        <p:nvSpPr>
          <p:cNvPr id="25" name="callout-dot-2-996">
            <a:extLst xmlns:a="http://schemas.openxmlformats.org/drawingml/2006/main">
              <a:ext uri="{FF2B5EF4-FFF2-40B4-BE49-F238E27FC236}">
                <a16:creationId xmlns:a16="http://schemas.microsoft.com/office/drawing/2014/main" id="{7BA4BD72-7BEF-4647-86DD-47B5A33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05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469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26" name="callout-title-2-996">
            <a:extLst xmlns:a="http://schemas.openxmlformats.org/drawingml/2006/main">
              <a:ext uri="{FF2B5EF4-FFF2-40B4-BE49-F238E27FC236}">
                <a16:creationId xmlns:a16="http://schemas.microsoft.com/office/drawing/2014/main" id="{561C8EA0-5011-48E0-BFD1-CA338CD2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486025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AR antagonism</a:t>
            </a:r>
          </a:p>
        </p:txBody>
      </p:sp>
      <p:sp>
        <p:nvSpPr>
          <p:cNvPr id="27" name="callout-body-2-996">
            <a:extLst xmlns:a="http://schemas.openxmlformats.org/drawingml/2006/main">
              <a:ext uri="{FF2B5EF4-FFF2-40B4-BE49-F238E27FC236}">
                <a16:creationId xmlns:a16="http://schemas.microsoft.com/office/drawing/2014/main" id="{E37FCCB0-BE5D-4349-96B8-5A7762D9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95575"/>
            <a:ext cx="1847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rPr>
              <a:t>Competes with androgen at the receptor</a:t>
            </a:r>
          </a:p>
        </p:txBody>
      </p:sp>
      <p:sp>
        <p:nvSpPr>
          <p:cNvPr id="28" name="callout-dot-3-996">
            <a:extLst xmlns:a="http://schemas.openxmlformats.org/drawingml/2006/main">
              <a:ext uri="{FF2B5EF4-FFF2-40B4-BE49-F238E27FC236}">
                <a16:creationId xmlns:a16="http://schemas.microsoft.com/office/drawing/2014/main" id="{5BDC4BD9-D7BE-46FF-A5B9-63C7ED13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9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47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9" name="callout-title-3-996">
            <a:extLst xmlns:a="http://schemas.openxmlformats.org/drawingml/2006/main">
              <a:ext uri="{FF2B5EF4-FFF2-40B4-BE49-F238E27FC236}">
                <a16:creationId xmlns:a16="http://schemas.microsoft.com/office/drawing/2014/main" id="{97DA100B-32F7-4451-91F7-14AAD510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200400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08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Downstream blockade</a:t>
            </a:r>
          </a:p>
        </p:txBody>
      </p:sp>
      <p:sp>
        <p:nvSpPr>
          <p:cNvPr id="30" name="callout-body-3-996">
            <a:extLst xmlns:a="http://schemas.openxmlformats.org/drawingml/2006/main">
              <a:ext uri="{FF2B5EF4-FFF2-40B4-BE49-F238E27FC236}">
                <a16:creationId xmlns:a16="http://schemas.microsoft.com/office/drawing/2014/main" id="{4C244FC5-B47C-41DD-8395-5A2A3881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09950"/>
            <a:ext cx="1847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0">
                <a:solidFill>
                  <a:srgbClr val="667085"/>
                </a:solidFill>
                <a:latin typeface="Nimbus Sans"/>
                <a:ea typeface="Nimbus Sans"/>
                <a:cs typeface="Nimbus Sans"/>
              </a:rPr>
              <a:t>Inhibits AR nuclear translocation and transcription</a:t>
            </a:r>
          </a:p>
        </p:txBody>
      </p:sp>
      <p:sp>
        <p:nvSpPr>
          <p:cNvPr id="31" name="enlicitide-mechanism-label">
            <a:extLst xmlns:a="http://schemas.openxmlformats.org/drawingml/2006/main">
              <a:ext uri="{FF2B5EF4-FFF2-40B4-BE49-F238E27FC236}">
                <a16:creationId xmlns:a16="http://schemas.microsoft.com/office/drawing/2014/main" id="{B027098E-6DA2-40F6-9E37-66CB88E9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63" b="1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863" b="1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pPr>
            <a:r>
              <a:rPr sz="863" b="1" i="0">
                <a:solidFill>
                  <a:srgbClr val="667085"/>
                </a:solidFill>
                <a:latin typeface="Nimbus Sans"/>
                <a:ea typeface="Nimbus Sans"/>
                <a:cs typeface="Nimbus Sans"/>
              </a:rPr>
              <a:t>BIOLOGICAL EFFECT</a:t>
            </a:r>
          </a:p>
        </p:txBody>
      </p:sp>
      <p:sp>
        <p:nvSpPr>
          <p:cNvPr id="32" name="mechanism-box-72-0">
            <a:extLst xmlns:a="http://schemas.openxmlformats.org/drawingml/2006/main">
              <a:ext uri="{FF2B5EF4-FFF2-40B4-BE49-F238E27FC236}">
                <a16:creationId xmlns:a16="http://schemas.microsoft.com/office/drawing/2014/main" id="{6CC63F8D-CDBE-45E1-86CB-8282782B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5938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9"/>
          </a:solidFill>
          <a:ln xmlns:a="http://schemas.openxmlformats.org/drawingml/2006/main" w="9525">
            <a:solidFill>
              <a:srgbClr val="0D91A8"/>
            </a:solidFill>
            <a:prstDash val="solid"/>
          </a:ln>
        </p:spPr>
      </p:sp>
      <p:sp>
        <p:nvSpPr>
          <p:cNvPr id="33" name="mechanism-text-72-0">
            <a:extLst xmlns:a="http://schemas.openxmlformats.org/drawingml/2006/main">
              <a:ext uri="{FF2B5EF4-FFF2-40B4-BE49-F238E27FC236}">
                <a16:creationId xmlns:a16="http://schemas.microsoft.com/office/drawing/2014/main" id="{A3170FF5-A43A-4F37-99F1-CDC724E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44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93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93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Enlicitide binds PCSK9</a:t>
            </a:r>
          </a:p>
        </p:txBody>
      </p:sp>
      <p:sp>
        <p:nvSpPr>
          <p:cNvPr id="34" name="mechanism-arrow-72-0">
            <a:extLst xmlns:a="http://schemas.openxmlformats.org/drawingml/2006/main">
              <a:ext uri="{FF2B5EF4-FFF2-40B4-BE49-F238E27FC236}">
                <a16:creationId xmlns:a16="http://schemas.microsoft.com/office/drawing/2014/main" id="{310C8D6F-5597-4966-A430-B8351678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275" y="45339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91A8"/>
          </a:solidFill>
          <a:ln xmlns:a="http://schemas.openxmlformats.org/drawingml/2006/main" w="0">
            <a:solidFill>
              <a:srgbClr val="0D91A8"/>
            </a:solidFill>
            <a:prstDash val="solid"/>
          </a:ln>
        </p:spPr>
      </p:sp>
      <p:sp>
        <p:nvSpPr>
          <p:cNvPr id="35" name="mechanism-box-72-1">
            <a:extLst xmlns:a="http://schemas.openxmlformats.org/drawingml/2006/main">
              <a:ext uri="{FF2B5EF4-FFF2-40B4-BE49-F238E27FC236}">
                <a16:creationId xmlns:a16="http://schemas.microsoft.com/office/drawing/2014/main" id="{965FCDDC-5509-40FC-B32A-70C63541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4362450"/>
            <a:ext cx="15938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9"/>
          </a:solidFill>
          <a:ln xmlns:a="http://schemas.openxmlformats.org/drawingml/2006/main" w="9525">
            <a:solidFill>
              <a:srgbClr val="0D91A8"/>
            </a:solidFill>
            <a:prstDash val="solid"/>
          </a:ln>
        </p:spPr>
      </p:sp>
      <p:sp>
        <p:nvSpPr>
          <p:cNvPr id="36" name="mechanism-text-72-1">
            <a:extLst xmlns:a="http://schemas.openxmlformats.org/drawingml/2006/main">
              <a:ext uri="{FF2B5EF4-FFF2-40B4-BE49-F238E27FC236}">
                <a16:creationId xmlns:a16="http://schemas.microsoft.com/office/drawing/2014/main" id="{F55545E0-A255-4AA6-8DB1-951A079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4410075"/>
            <a:ext cx="144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LDL receptors recycle</a:t>
            </a:r>
          </a:p>
        </p:txBody>
      </p:sp>
      <p:sp>
        <p:nvSpPr>
          <p:cNvPr id="37" name="mechanism-arrow-72-1">
            <a:extLst xmlns:a="http://schemas.openxmlformats.org/drawingml/2006/main">
              <a:ext uri="{FF2B5EF4-FFF2-40B4-BE49-F238E27FC236}">
                <a16:creationId xmlns:a16="http://schemas.microsoft.com/office/drawing/2014/main" id="{5D580088-FB27-4DB2-9F0A-1ABCD1D7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675" y="45339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91A8"/>
          </a:solidFill>
          <a:ln xmlns:a="http://schemas.openxmlformats.org/drawingml/2006/main" w="0">
            <a:solidFill>
              <a:srgbClr val="0D91A8"/>
            </a:solidFill>
            <a:prstDash val="solid"/>
          </a:ln>
        </p:spPr>
      </p:sp>
      <p:sp>
        <p:nvSpPr>
          <p:cNvPr id="38" name="mechanism-box-72-2">
            <a:extLst xmlns:a="http://schemas.openxmlformats.org/drawingml/2006/main">
              <a:ext uri="{FF2B5EF4-FFF2-40B4-BE49-F238E27FC236}">
                <a16:creationId xmlns:a16="http://schemas.microsoft.com/office/drawing/2014/main" id="{2CD5839C-CBCB-4DEA-A96C-A631E4E4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362450"/>
            <a:ext cx="15938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9"/>
          </a:solidFill>
          <a:ln xmlns:a="http://schemas.openxmlformats.org/drawingml/2006/main" w="9525">
            <a:solidFill>
              <a:srgbClr val="0D91A8"/>
            </a:solidFill>
            <a:prstDash val="solid"/>
          </a:ln>
        </p:spPr>
      </p:sp>
      <p:sp>
        <p:nvSpPr>
          <p:cNvPr id="39" name="mechanism-text-72-2">
            <a:extLst xmlns:a="http://schemas.openxmlformats.org/drawingml/2006/main">
              <a:ext uri="{FF2B5EF4-FFF2-40B4-BE49-F238E27FC236}">
                <a16:creationId xmlns:a16="http://schemas.microsoft.com/office/drawing/2014/main" id="{8366742F-325E-40B9-9F2D-D389D7D3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410075"/>
            <a:ext cx="144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LDL-C clearance increases</a:t>
            </a:r>
          </a:p>
        </p:txBody>
      </p:sp>
      <p:sp>
        <p:nvSpPr>
          <p:cNvPr id="40" name="nubeqa-mechanism-label">
            <a:extLst xmlns:a="http://schemas.openxmlformats.org/drawingml/2006/main">
              <a:ext uri="{FF2B5EF4-FFF2-40B4-BE49-F238E27FC236}">
                <a16:creationId xmlns:a16="http://schemas.microsoft.com/office/drawing/2014/main" id="{0EAF422E-C6C3-4021-9B8A-10AA19BE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63" b="1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863" b="1" i="0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pPr>
            <a:r>
              <a:rPr sz="863" b="1" i="0">
                <a:solidFill>
                  <a:srgbClr val="667085"/>
                </a:solidFill>
                <a:latin typeface="Nimbus Sans"/>
                <a:ea typeface="Nimbus Sans"/>
                <a:cs typeface="Nimbus Sans"/>
              </a:rPr>
              <a:t>BIOLOGICAL EFFECT</a:t>
            </a:r>
          </a:p>
        </p:txBody>
      </p:sp>
      <p:sp>
        <p:nvSpPr>
          <p:cNvPr id="41" name="mechanism-box-664-0">
            <a:extLst xmlns:a="http://schemas.openxmlformats.org/drawingml/2006/main">
              <a:ext uri="{FF2B5EF4-FFF2-40B4-BE49-F238E27FC236}">
                <a16:creationId xmlns:a16="http://schemas.microsoft.com/office/drawing/2014/main" id="{E1BA6D92-8341-420C-B7E1-1537DF87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158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EFEB"/>
          </a:solidFill>
          <a:ln xmlns:a="http://schemas.openxmlformats.org/drawingml/2006/main" w="9525">
            <a:solidFill>
              <a:srgbClr val="A8463A"/>
            </a:solidFill>
            <a:prstDash val="solid"/>
          </a:ln>
        </p:spPr>
      </p:sp>
      <p:sp>
        <p:nvSpPr>
          <p:cNvPr id="42" name="mechanism-text-664-0">
            <a:extLst xmlns:a="http://schemas.openxmlformats.org/drawingml/2006/main">
              <a:ext uri="{FF2B5EF4-FFF2-40B4-BE49-F238E27FC236}">
                <a16:creationId xmlns:a16="http://schemas.microsoft.com/office/drawing/2014/main" id="{83C53C01-DD1A-47EC-888D-D2D0D6D5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43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93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938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Darolutamide blocks AR</a:t>
            </a:r>
          </a:p>
        </p:txBody>
      </p:sp>
      <p:sp>
        <p:nvSpPr>
          <p:cNvPr id="43" name="mechanism-arrow-664-0">
            <a:extLst xmlns:a="http://schemas.openxmlformats.org/drawingml/2006/main">
              <a:ext uri="{FF2B5EF4-FFF2-40B4-BE49-F238E27FC236}">
                <a16:creationId xmlns:a16="http://schemas.microsoft.com/office/drawing/2014/main" id="{ADD151D3-349D-46E4-8A78-E9F2067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725" y="45339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463A"/>
          </a:solidFill>
          <a:ln xmlns:a="http://schemas.openxmlformats.org/drawingml/2006/main" w="0">
            <a:solidFill>
              <a:srgbClr val="A8463A"/>
            </a:solidFill>
            <a:prstDash val="solid"/>
          </a:ln>
        </p:spPr>
      </p:sp>
      <p:sp>
        <p:nvSpPr>
          <p:cNvPr id="44" name="mechanism-box-664-1">
            <a:extLst xmlns:a="http://schemas.openxmlformats.org/drawingml/2006/main">
              <a:ext uri="{FF2B5EF4-FFF2-40B4-BE49-F238E27FC236}">
                <a16:creationId xmlns:a16="http://schemas.microsoft.com/office/drawing/2014/main" id="{6773E1B2-782B-423E-9900-33257EF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4362450"/>
            <a:ext cx="158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EFEB"/>
          </a:solidFill>
          <a:ln xmlns:a="http://schemas.openxmlformats.org/drawingml/2006/main" w="9525">
            <a:solidFill>
              <a:srgbClr val="A8463A"/>
            </a:solidFill>
            <a:prstDash val="solid"/>
          </a:ln>
        </p:spPr>
      </p:sp>
      <p:sp>
        <p:nvSpPr>
          <p:cNvPr id="45" name="mechanism-text-664-1">
            <a:extLst xmlns:a="http://schemas.openxmlformats.org/drawingml/2006/main">
              <a:ext uri="{FF2B5EF4-FFF2-40B4-BE49-F238E27FC236}">
                <a16:creationId xmlns:a16="http://schemas.microsoft.com/office/drawing/2014/main" id="{ABC3F999-DDC6-4369-B676-3D5C18B8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4410075"/>
            <a:ext cx="143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Nuclear entry falls</a:t>
            </a:r>
          </a:p>
        </p:txBody>
      </p:sp>
      <p:sp>
        <p:nvSpPr>
          <p:cNvPr id="46" name="mechanism-arrow-664-1">
            <a:extLst xmlns:a="http://schemas.openxmlformats.org/drawingml/2006/main">
              <a:ext uri="{FF2B5EF4-FFF2-40B4-BE49-F238E27FC236}">
                <a16:creationId xmlns:a16="http://schemas.microsoft.com/office/drawing/2014/main" id="{B1B541A3-CE4E-4C63-8C79-3EEFA3B5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775" y="45339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463A"/>
          </a:solidFill>
          <a:ln xmlns:a="http://schemas.openxmlformats.org/drawingml/2006/main" w="0">
            <a:solidFill>
              <a:srgbClr val="A8463A"/>
            </a:solidFill>
            <a:prstDash val="solid"/>
          </a:ln>
        </p:spPr>
      </p:sp>
      <p:sp>
        <p:nvSpPr>
          <p:cNvPr id="47" name="mechanism-box-664-2">
            <a:extLst xmlns:a="http://schemas.openxmlformats.org/drawingml/2006/main">
              <a:ext uri="{FF2B5EF4-FFF2-40B4-BE49-F238E27FC236}">
                <a16:creationId xmlns:a16="http://schemas.microsoft.com/office/drawing/2014/main" id="{7F418166-59E9-4196-BF04-5D1B0CA7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4362450"/>
            <a:ext cx="158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EFEB"/>
          </a:solidFill>
          <a:ln xmlns:a="http://schemas.openxmlformats.org/drawingml/2006/main" w="9525">
            <a:solidFill>
              <a:srgbClr val="A8463A"/>
            </a:solidFill>
            <a:prstDash val="solid"/>
          </a:ln>
        </p:spPr>
      </p:sp>
      <p:sp>
        <p:nvSpPr>
          <p:cNvPr id="48" name="mechanism-text-664-2">
            <a:extLst xmlns:a="http://schemas.openxmlformats.org/drawingml/2006/main">
              <a:ext uri="{FF2B5EF4-FFF2-40B4-BE49-F238E27FC236}">
                <a16:creationId xmlns:a16="http://schemas.microsoft.com/office/drawing/2014/main" id="{3EDB37FE-551E-4184-BDA3-3099E071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900" y="4410075"/>
            <a:ext cx="143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ctr">
              <a:def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AR transcription falls</a:t>
            </a:r>
          </a:p>
        </p:txBody>
      </p:sp>
      <p:sp>
        <p:nvSpPr>
          <p:cNvPr id="49" name="bar-SYNTHESIS">
            <a:extLst xmlns:a="http://schemas.openxmlformats.org/drawingml/2006/main">
              <a:ext uri="{FF2B5EF4-FFF2-40B4-BE49-F238E27FC236}">
                <a16:creationId xmlns:a16="http://schemas.microsoft.com/office/drawing/2014/main" id="{E0B79657-5E33-4144-9CB8-7D059D87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2DC"/>
            </a:solidFill>
            <a:prstDash val="solid"/>
          </a:ln>
        </p:spPr>
      </p:sp>
      <p:sp>
        <p:nvSpPr>
          <p:cNvPr id="50" name="bar-label-SYNTHESIS">
            <a:extLst xmlns:a="http://schemas.openxmlformats.org/drawingml/2006/main">
              <a:ext uri="{FF2B5EF4-FFF2-40B4-BE49-F238E27FC236}">
                <a16:creationId xmlns:a16="http://schemas.microsoft.com/office/drawing/2014/main" id="{6C12FA1D-815D-4395-8156-C24BFDC5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74690"/>
          </a:solidFill>
          <a:ln xmlns:a="http://schemas.openxmlformats.org/drawingml/2006/main" w="0">
            <a:solidFill>
              <a:srgbClr val="274690"/>
            </a:solidFill>
            <a:prstDash val="solid"/>
          </a:ln>
        </p:spPr>
      </p:sp>
      <p:sp>
        <p:nvSpPr>
          <p:cNvPr id="51" name="bar-label-text-SYNTHESIS">
            <a:extLst xmlns:a="http://schemas.openxmlformats.org/drawingml/2006/main">
              <a:ext uri="{FF2B5EF4-FFF2-40B4-BE49-F238E27FC236}">
                <a16:creationId xmlns:a16="http://schemas.microsoft.com/office/drawing/2014/main" id="{DD63FE22-8372-4568-BAB5-BF3FEBF4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482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1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1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SYNTHESIS</a:t>
            </a:r>
          </a:p>
        </p:txBody>
      </p:sp>
      <p:sp>
        <p:nvSpPr>
          <p:cNvPr id="52" name="bar-left-SYNTHESIS">
            <a:extLst xmlns:a="http://schemas.openxmlformats.org/drawingml/2006/main">
              <a:ext uri="{FF2B5EF4-FFF2-40B4-BE49-F238E27FC236}">
                <a16:creationId xmlns:a16="http://schemas.microsoft.com/office/drawing/2014/main" id="{DED16327-F59A-4A47-B35B-9F1AB783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Fragment coupling + selective macrocyclisation</a:t>
            </a:r>
          </a:p>
        </p:txBody>
      </p:sp>
      <p:sp>
        <p:nvSpPr>
          <p:cNvPr id="53" name="bar-right-SYNTHESIS">
            <a:extLst xmlns:a="http://schemas.openxmlformats.org/drawingml/2006/main">
              <a:ext uri="{FF2B5EF4-FFF2-40B4-BE49-F238E27FC236}">
                <a16:creationId xmlns:a16="http://schemas.microsoft.com/office/drawing/2014/main" id="{B0F21732-795A-4FCC-9344-8E1B297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482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Stereochemistry + controlled diastereomer mixture</a:t>
            </a:r>
          </a:p>
        </p:txBody>
      </p:sp>
      <p:sp>
        <p:nvSpPr>
          <p:cNvPr id="54" name="bar-PURIFICATION">
            <a:extLst xmlns:a="http://schemas.openxmlformats.org/drawingml/2006/main">
              <a:ext uri="{FF2B5EF4-FFF2-40B4-BE49-F238E27FC236}">
                <a16:creationId xmlns:a16="http://schemas.microsoft.com/office/drawing/2014/main" id="{934AAED6-F3DA-403D-A38B-4B008733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7620">
            <a:solidFill>
              <a:srgbClr val="C9D2DC"/>
            </a:solidFill>
            <a:prstDash val="solid"/>
          </a:ln>
        </p:spPr>
      </p:sp>
      <p:sp>
        <p:nvSpPr>
          <p:cNvPr id="55" name="bar-label-PURIFICATION">
            <a:extLst xmlns:a="http://schemas.openxmlformats.org/drawingml/2006/main">
              <a:ext uri="{FF2B5EF4-FFF2-40B4-BE49-F238E27FC236}">
                <a16:creationId xmlns:a16="http://schemas.microsoft.com/office/drawing/2014/main" id="{E640C8A1-1222-422D-B4AC-308DF70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A4787"/>
          </a:solidFill>
          <a:ln xmlns:a="http://schemas.openxmlformats.org/drawingml/2006/main" w="0">
            <a:solidFill>
              <a:srgbClr val="5A4787"/>
            </a:solidFill>
            <a:prstDash val="solid"/>
          </a:ln>
        </p:spPr>
      </p:sp>
      <p:sp>
        <p:nvSpPr>
          <p:cNvPr id="56" name="bar-label-text-PURIFICATION">
            <a:extLst xmlns:a="http://schemas.openxmlformats.org/drawingml/2006/main">
              <a:ext uri="{FF2B5EF4-FFF2-40B4-BE49-F238E27FC236}">
                <a16:creationId xmlns:a16="http://schemas.microsoft.com/office/drawing/2014/main" id="{157D6FEC-7EEC-4C2A-910B-A48C41EF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864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1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1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PURIFICATION</a:t>
            </a:r>
          </a:p>
        </p:txBody>
      </p:sp>
      <p:sp>
        <p:nvSpPr>
          <p:cNvPr id="57" name="bar-left-PURIFICATION">
            <a:extLst xmlns:a="http://schemas.openxmlformats.org/drawingml/2006/main">
              <a:ext uri="{FF2B5EF4-FFF2-40B4-BE49-F238E27FC236}">
                <a16:creationId xmlns:a16="http://schemas.microsoft.com/office/drawing/2014/main" id="{FC3B3F5B-6D50-41BB-857C-A9BA03FA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8640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Crystallisation-enabled purification</a:t>
            </a:r>
          </a:p>
        </p:txBody>
      </p:sp>
      <p:sp>
        <p:nvSpPr>
          <p:cNvPr id="58" name="bar-right-PURIFICATION">
            <a:extLst xmlns:a="http://schemas.openxmlformats.org/drawingml/2006/main">
              <a:ext uri="{FF2B5EF4-FFF2-40B4-BE49-F238E27FC236}">
                <a16:creationId xmlns:a16="http://schemas.microsoft.com/office/drawing/2014/main" id="{08E17F48-3DB0-43C4-836C-0F8CA276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864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1013" b="0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Impurity profile + crystal-form control</a:t>
            </a:r>
          </a:p>
        </p:txBody>
      </p:sp>
      <p:sp>
        <p:nvSpPr>
          <p:cNvPr id="59" name="readthrough-bar">
            <a:extLst xmlns:a="http://schemas.openxmlformats.org/drawingml/2006/main">
              <a:ext uri="{FF2B5EF4-FFF2-40B4-BE49-F238E27FC236}">
                <a16:creationId xmlns:a16="http://schemas.microsoft.com/office/drawing/2014/main" id="{7489837D-7BA0-4667-8DEC-8DAB05DA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233D"/>
          </a:solidFill>
          <a:ln xmlns:a="http://schemas.openxmlformats.org/drawingml/2006/main" w="0">
            <a:solidFill>
              <a:srgbClr val="19233D"/>
            </a:solidFill>
            <a:prstDash val="solid"/>
          </a:ln>
        </p:spPr>
      </p:sp>
      <p:sp>
        <p:nvSpPr>
          <p:cNvPr id="60" name="readthrough-label">
            <a:extLst xmlns:a="http://schemas.openxmlformats.org/drawingml/2006/main">
              <a:ext uri="{FF2B5EF4-FFF2-40B4-BE49-F238E27FC236}">
                <a16:creationId xmlns:a16="http://schemas.microsoft.com/office/drawing/2014/main" id="{463B88E6-FB99-4E5D-B701-60637634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24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01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01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CRDMO READ-THROUGH</a:t>
            </a:r>
          </a:p>
        </p:txBody>
      </p:sp>
      <p:sp>
        <p:nvSpPr>
          <p:cNvPr id="61" name="readthrough-text">
            <a:extLst xmlns:a="http://schemas.openxmlformats.org/drawingml/2006/main">
              <a:ext uri="{FF2B5EF4-FFF2-40B4-BE49-F238E27FC236}">
                <a16:creationId xmlns:a16="http://schemas.microsoft.com/office/drawing/2014/main" id="{92451DD0-D9C5-4E60-8B2E-2434AC11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245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Value shifts to route design, biocatalysis and analytical control</a:t>
            </a:r>
          </a:p>
        </p:txBody>
      </p:sp>
      <p:sp>
        <p:nvSpPr>
          <p:cNvPr id="62" name="source">
            <a:extLst xmlns:a="http://schemas.openxmlformats.org/drawingml/2006/main">
              <a:ext uri="{FF2B5EF4-FFF2-40B4-BE49-F238E27FC236}">
                <a16:creationId xmlns:a16="http://schemas.microsoft.com/office/drawing/2014/main" id="{A89DBBCE-23A6-498E-B813-0023A12C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 i="1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l">
              <a:defRPr sz="788" b="0" i="1">
                <a:solidFill>
                  <a:srgbClr val="667085"/>
                </a:solidFill>
                <a:latin typeface="Nimbus Sans"/>
                <a:ea typeface="Nimbus Sans"/>
                <a:cs typeface="Nimbus Sans"/>
              </a:defRPr>
            </a:pPr>
            <a:r>
              <a:rPr sz="788" b="0" i="1">
                <a:solidFill>
                  <a:srgbClr val="667085"/>
                </a:solidFill>
                <a:latin typeface="Nimbus Sans"/>
                <a:ea typeface="Nimbus Sans"/>
                <a:cs typeface="Nimbus Sans"/>
              </a:rPr>
              <a:t>Source: Merck; DailyMed; Chemical &amp; Engineering News; published literature; Bernstein analysis</a:t>
            </a:r>
          </a:p>
        </p:txBody>
      </p:sp>
      <p:sp>
        <p:nvSpPr>
          <p:cNvPr id="6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12E28D70-93E1-4BBB-841E-4AF3CC6E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00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111827"/>
                </a:solidFill>
                <a:latin typeface="Nimbus Sans"/>
                <a:ea typeface="Nimbus Sans"/>
                <a:cs typeface="Nimbus Sans"/>
              </a:rPr>
              <a:t>BERNSTEIN</a:t>
            </a:r>
          </a:p>
        </p:txBody>
      </p:sp>
    </p:spTree>
    <p:extLst>
      <p:ext uri="{BB962C8B-B14F-4D97-AF65-F5344CB8AC3E}">
        <p14:creationId xmlns:p14="http://schemas.microsoft.com/office/powerpoint/2010/main" val="1023525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2026-10-13T06:43:59.1970000Z</dcterms:created>
  <dcterms:modified xsi:type="dcterms:W3CDTF">2026-10-13T06:43:59.1980000Z</dcterms:modified>
</coreProperties>
</file>