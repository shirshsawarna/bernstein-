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783c3e458645bd" /><Relationship Type="http://schemas.openxmlformats.org/officeDocument/2006/relationships/extended-properties" Target="/docProps/app.xml" Id="R474c9596e11f4e0a" /><Relationship Type="http://schemas.openxmlformats.org/officeDocument/2006/relationships/officeDocument" Target="/ppt/presentation.xml" Id="R7e45c9f419a34889" /></Relationships>
</file>

<file path=ppt/presentation.xml><?xml version="1.0" encoding="utf-8"?>
<p:presentation xmlns:p="http://schemas.openxmlformats.org/presentationml/2006/main">
  <p:sldMasterIdLst>
    <p:sldMasterId xmlns:r="http://schemas.openxmlformats.org/officeDocument/2006/relationships" id="2147483648" r:id="R65cacda4472a4a94"/>
  </p:sldMasterIdLst>
  <p:notesMasterIdLst>
    <p:notesMasterId xmlns:r="http://schemas.openxmlformats.org/officeDocument/2006/relationships" r:id="R316cb1d86d484716"/>
  </p:notesMasterIdLst>
  <p:sldIdLst>
    <p:sldId xmlns:r="http://schemas.openxmlformats.org/officeDocument/2006/relationships" id="256" r:id="R82738749a04948b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21644be8c14295" /><Relationship Type="http://schemas.openxmlformats.org/officeDocument/2006/relationships/slideMaster" Target="/ppt/slideMasters/slideMaster1.xml" Id="R65cacda4472a4a94" /><Relationship Type="http://schemas.openxmlformats.org/officeDocument/2006/relationships/notesMaster" Target="/ppt/notesMasters/notesMaster1.xml" Id="R316cb1d86d484716" /><Relationship Type="http://schemas.openxmlformats.org/officeDocument/2006/relationships/presProps" Target="/ppt/presProps.xml" Id="R2633808167434d93" /><Relationship Type="http://schemas.openxmlformats.org/officeDocument/2006/relationships/tableStyles" Target="/ppt/tableStyles.xml" Id="R1651898f79d24816" /><Relationship Type="http://schemas.openxmlformats.org/officeDocument/2006/relationships/slide" Target="/ppt/slides/slide1.xml" Id="R82738749a04948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1e01c341c845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7b3205111a46e8" /><Relationship Type="http://schemas.openxmlformats.org/officeDocument/2006/relationships/notesMaster" Target="/ppt/notesMasters/notesMaster1.xml" Id="R27e742f9666743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EXHIBIT DEFINITIONS AND INTERPRETATION</a:t>
            </a:r>
          </a:p>
          <a:p xmlns:a="http://schemas.openxmlformats.org/drawingml/2006/main">
            <a:r>
              <a:t>ClinicalTrials.gov API v2. First posted2015-19versus2021-25, industry lead sponsor, interventional, DRUGorBIOLOGICALintervention, PHASE3component. India numerator currently lists at least one India location. Current sponsor names and current locations, not historical snapshots. All current statuses. Sponsor-family names include acquisition entities that explicitly name parent, plus Alexion/MedImmune, ViiV, Genzyme and Genentech. Not a full CTRI census. Cohorts measure registry postings rather than India starts. The6assetsarepurposivelyselectedillustrations,notanunbiasedindustrylaunchcohort. Lag is from earliest documented major-market approval (or the stated combination-regimen approval) to India permission. It includes filing strategy and regulatory review, not review time alone and not commercial launch.</a:t>
            </a:r>
          </a:p>
          <a:p xmlns:a="http://schemas.openxmlformats.org/drawingml/2006/main">
            <a:r>
              <a:t/>
            </a:r>
          </a:p>
          <a:p xmlns:a="http://schemas.openxmlformats.org/drawingml/2006/main">
            <a:r>
              <a:t>The headline means selected examples support the capability for earlier India approvals. It does not imply every MNC asset receives permission within two years, that the selected sample represents an unbiased industry distribution, or that increased trial inclusion caused the asset-specific lags. No regulatory-review-time or commercial-launch-time estimate is presented.</a:t>
            </a:r>
          </a:p>
          <a:p xmlns:a="http://schemas.openxmlformats.org/drawingml/2006/main">
            <a:r>
              <a:t/>
            </a:r>
          </a:p>
          <a:p xmlns:a="http://schemas.openxmlformats.org/drawingml/2006/main">
            <a:r>
              <a:t>Chart1 numerator/denominator</a:t>
            </a:r>
          </a:p>
          <a:p xmlns:a="http://schemas.openxmlformats.org/drawingml/2006/main">
            <a:r>
              <a:t>[</a:t>
            </a:r>
          </a:p>
          <a:p xmlns:a="http://schemas.openxmlformats.org/drawingml/2006/main">
            <a:r>
              <a:t>  {</a:t>
            </a:r>
          </a:p>
          <a:p xmlns:a="http://schemas.openxmlformats.org/drawingml/2006/main">
            <a:r>
              <a:t>    "company": "AstraZeneca",</a:t>
            </a:r>
          </a:p>
          <a:p xmlns:a="http://schemas.openxmlformats.org/drawingml/2006/main">
            <a:r>
              <a:t>    "2015-19": {</a:t>
            </a:r>
          </a:p>
          <a:p xmlns:a="http://schemas.openxmlformats.org/drawingml/2006/main">
            <a:r>
              <a:t>      "global": 114,</a:t>
            </a:r>
          </a:p>
          <a:p xmlns:a="http://schemas.openxmlformats.org/drawingml/2006/main">
            <a:r>
              <a:t>      "india": 26,</a:t>
            </a:r>
          </a:p>
          <a:p xmlns:a="http://schemas.openxmlformats.org/drawingml/2006/main">
            <a:r>
              <a:t>      "share": 0.22807017543859648</a:t>
            </a:r>
          </a:p>
          <a:p xmlns:a="http://schemas.openxmlformats.org/drawingml/2006/main">
            <a:r>
              <a:t>    },</a:t>
            </a:r>
          </a:p>
          <a:p xmlns:a="http://schemas.openxmlformats.org/drawingml/2006/main">
            <a:r>
              <a:t>    "2021-25": {</a:t>
            </a:r>
          </a:p>
          <a:p xmlns:a="http://schemas.openxmlformats.org/drawingml/2006/main">
            <a:r>
              <a:t>      "global": 147,</a:t>
            </a:r>
          </a:p>
          <a:p xmlns:a="http://schemas.openxmlformats.org/drawingml/2006/main">
            <a:r>
              <a:t>      "india": 63,</a:t>
            </a:r>
          </a:p>
          <a:p xmlns:a="http://schemas.openxmlformats.org/drawingml/2006/main">
            <a:r>
              <a:t>      "share": 0.42857142857142855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"Novartis",</a:t>
            </a:r>
          </a:p>
          <a:p xmlns:a="http://schemas.openxmlformats.org/drawingml/2006/main">
            <a:r>
              <a:t>    "2015-19": {</a:t>
            </a:r>
          </a:p>
          <a:p xmlns:a="http://schemas.openxmlformats.org/drawingml/2006/main">
            <a:r>
              <a:t>      "global": 140,</a:t>
            </a:r>
          </a:p>
          <a:p xmlns:a="http://schemas.openxmlformats.org/drawingml/2006/main">
            <a:r>
              <a:t>      "india": 38,</a:t>
            </a:r>
          </a:p>
          <a:p xmlns:a="http://schemas.openxmlformats.org/drawingml/2006/main">
            <a:r>
              <a:t>      "share": 0.2714285714285714</a:t>
            </a:r>
          </a:p>
          <a:p xmlns:a="http://schemas.openxmlformats.org/drawingml/2006/main">
            <a:r>
              <a:t>    },</a:t>
            </a:r>
          </a:p>
          <a:p xmlns:a="http://schemas.openxmlformats.org/drawingml/2006/main">
            <a:r>
              <a:t>    "2021-25": {</a:t>
            </a:r>
          </a:p>
          <a:p xmlns:a="http://schemas.openxmlformats.org/drawingml/2006/main">
            <a:r>
              <a:t>      "global": 109,</a:t>
            </a:r>
          </a:p>
          <a:p xmlns:a="http://schemas.openxmlformats.org/drawingml/2006/main">
            <a:r>
              <a:t>      "india": 34,</a:t>
            </a:r>
          </a:p>
          <a:p xmlns:a="http://schemas.openxmlformats.org/drawingml/2006/main">
            <a:r>
              <a:t>      "share": 0.3119266055045872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"Pfizer",</a:t>
            </a:r>
          </a:p>
          <a:p xmlns:a="http://schemas.openxmlformats.org/drawingml/2006/main">
            <a:r>
              <a:t>    "2015-19": {</a:t>
            </a:r>
          </a:p>
          <a:p xmlns:a="http://schemas.openxmlformats.org/drawingml/2006/main">
            <a:r>
              <a:t>      "global": 78,</a:t>
            </a:r>
          </a:p>
          <a:p xmlns:a="http://schemas.openxmlformats.org/drawingml/2006/main">
            <a:r>
              <a:t>      "india": 9,</a:t>
            </a:r>
          </a:p>
          <a:p xmlns:a="http://schemas.openxmlformats.org/drawingml/2006/main">
            <a:r>
              <a:t>      "share": 0.11538461538461539</a:t>
            </a:r>
          </a:p>
          <a:p xmlns:a="http://schemas.openxmlformats.org/drawingml/2006/main">
            <a:r>
              <a:t>    },</a:t>
            </a:r>
          </a:p>
          <a:p xmlns:a="http://schemas.openxmlformats.org/drawingml/2006/main">
            <a:r>
              <a:t>    "2021-25": {</a:t>
            </a:r>
          </a:p>
          <a:p xmlns:a="http://schemas.openxmlformats.org/drawingml/2006/main">
            <a:r>
              <a:t>      "global": 91,</a:t>
            </a:r>
          </a:p>
          <a:p xmlns:a="http://schemas.openxmlformats.org/drawingml/2006/main">
            <a:r>
              <a:t>      "india": 21,</a:t>
            </a:r>
          </a:p>
          <a:p xmlns:a="http://schemas.openxmlformats.org/drawingml/2006/main">
            <a:r>
              <a:t>      "share": 0.23076923076923078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"GSK",</a:t>
            </a:r>
          </a:p>
          <a:p xmlns:a="http://schemas.openxmlformats.org/drawingml/2006/main">
            <a:r>
              <a:t>    "2015-19": {</a:t>
            </a:r>
          </a:p>
          <a:p xmlns:a="http://schemas.openxmlformats.org/drawingml/2006/main">
            <a:r>
              <a:t>      "global": 96,</a:t>
            </a:r>
          </a:p>
          <a:p xmlns:a="http://schemas.openxmlformats.org/drawingml/2006/main">
            <a:r>
              <a:t>      "india": 7,</a:t>
            </a:r>
          </a:p>
          <a:p xmlns:a="http://schemas.openxmlformats.org/drawingml/2006/main">
            <a:r>
              <a:t>      "share": 0.07291666666666667</a:t>
            </a:r>
          </a:p>
          <a:p xmlns:a="http://schemas.openxmlformats.org/drawingml/2006/main">
            <a:r>
              <a:t>    },</a:t>
            </a:r>
          </a:p>
          <a:p xmlns:a="http://schemas.openxmlformats.org/drawingml/2006/main">
            <a:r>
              <a:t>    "2021-25": {</a:t>
            </a:r>
          </a:p>
          <a:p xmlns:a="http://schemas.openxmlformats.org/drawingml/2006/main">
            <a:r>
              <a:t>      "global": 76,</a:t>
            </a:r>
          </a:p>
          <a:p xmlns:a="http://schemas.openxmlformats.org/drawingml/2006/main">
            <a:r>
              <a:t>      "india": 13,</a:t>
            </a:r>
          </a:p>
          <a:p xmlns:a="http://schemas.openxmlformats.org/drawingml/2006/main">
            <a:r>
              <a:t>      "share": 0.17105263157894737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"Sanofi",</a:t>
            </a:r>
          </a:p>
          <a:p xmlns:a="http://schemas.openxmlformats.org/drawingml/2006/main">
            <a:r>
              <a:t>    "2015-19": {</a:t>
            </a:r>
          </a:p>
          <a:p xmlns:a="http://schemas.openxmlformats.org/drawingml/2006/main">
            <a:r>
              <a:t>      "global": 114,</a:t>
            </a:r>
          </a:p>
          <a:p xmlns:a="http://schemas.openxmlformats.org/drawingml/2006/main">
            <a:r>
              <a:t>      "india": 10,</a:t>
            </a:r>
          </a:p>
          <a:p xmlns:a="http://schemas.openxmlformats.org/drawingml/2006/main">
            <a:r>
              <a:t>      "share": 0.08771929824561403</a:t>
            </a:r>
          </a:p>
          <a:p xmlns:a="http://schemas.openxmlformats.org/drawingml/2006/main">
            <a:r>
              <a:t>    },</a:t>
            </a:r>
          </a:p>
          <a:p xmlns:a="http://schemas.openxmlformats.org/drawingml/2006/main">
            <a:r>
              <a:t>    "2021-25": {</a:t>
            </a:r>
          </a:p>
          <a:p xmlns:a="http://schemas.openxmlformats.org/drawingml/2006/main">
            <a:r>
              <a:t>      "global": 78,</a:t>
            </a:r>
          </a:p>
          <a:p xmlns:a="http://schemas.openxmlformats.org/drawingml/2006/main">
            <a:r>
              <a:t>      "india": 13,</a:t>
            </a:r>
          </a:p>
          <a:p xmlns:a="http://schemas.openxmlformats.org/drawingml/2006/main">
            <a:r>
              <a:t>      "share": 0.16666666666666666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"Roche",</a:t>
            </a:r>
          </a:p>
          <a:p xmlns:a="http://schemas.openxmlformats.org/drawingml/2006/main">
            <a:r>
              <a:t>    "2015-19": {</a:t>
            </a:r>
          </a:p>
          <a:p xmlns:a="http://schemas.openxmlformats.org/drawingml/2006/main">
            <a:r>
              <a:t>      "global": 128,</a:t>
            </a:r>
          </a:p>
          <a:p xmlns:a="http://schemas.openxmlformats.org/drawingml/2006/main">
            <a:r>
              <a:t>      "india": 10,</a:t>
            </a:r>
          </a:p>
          <a:p xmlns:a="http://schemas.openxmlformats.org/drawingml/2006/main">
            <a:r>
              <a:t>      "share": 0.078125</a:t>
            </a:r>
          </a:p>
          <a:p xmlns:a="http://schemas.openxmlformats.org/drawingml/2006/main">
            <a:r>
              <a:t>    },</a:t>
            </a:r>
          </a:p>
          <a:p xmlns:a="http://schemas.openxmlformats.org/drawingml/2006/main">
            <a:r>
              <a:t>    "2021-25": {</a:t>
            </a:r>
          </a:p>
          <a:p xmlns:a="http://schemas.openxmlformats.org/drawingml/2006/main">
            <a:r>
              <a:t>      "global": 71,</a:t>
            </a:r>
          </a:p>
          <a:p xmlns:a="http://schemas.openxmlformats.org/drawingml/2006/main">
            <a:r>
              <a:t>      "india": 16,</a:t>
            </a:r>
          </a:p>
          <a:p xmlns:a="http://schemas.openxmlformats.org/drawingml/2006/main">
            <a:r>
              <a:t>      "share": 0.22535211267605634</a:t>
            </a:r>
          </a:p>
          <a:p xmlns:a="http://schemas.openxmlformats.org/drawingml/2006/main">
            <a:r>
              <a:t>    }</a:t>
            </a:r>
          </a:p>
          <a:p xmlns:a="http://schemas.openxmlformats.org/drawingml/2006/main">
            <a:r>
              <a:t>  }</a:t>
            </a:r>
          </a:p>
          <a:p xmlns:a="http://schemas.openxmlformats.org/drawingml/2006/main">
            <a:r>
              <a:t>]</a:t>
            </a:r>
          </a:p>
          <a:p xmlns:a="http://schemas.openxmlformats.org/drawingml/2006/main">
            <a:r>
              <a:t>Source: ClinicalTrials.gov API v2 https://clinicaltrials.gov/data-api/api . 1,242 unique cohort/sponsor observations: 670 earlier and572recent. India numerator100earlier and160recent. Weighted share14.925%to27.972%. India countgrowth60%, global countgrowth-14.63%. Study records may currently list India even if that site was added after first posting. Sponsor attribution can reflect later acquisitions, including Bellus and Seagen. Each cohort is five calendar years.</a:t>
            </a:r>
          </a:p>
          <a:p xmlns:a="http://schemas.openxmlformats.org/drawingml/2006/main">
            <a:r>
              <a:t/>
            </a:r>
          </a:p>
          <a:p xmlns:a="http://schemas.openxmlformats.org/drawingml/2006/main">
            <a:r>
              <a:t>Chart2 six selected assets</a:t>
            </a:r>
          </a:p>
          <a:p xmlns:a="http://schemas.openxmlformats.org/drawingml/2006/main">
            <a:r>
              <a:t>[</a:t>
            </a:r>
          </a:p>
          <a:p xmlns:a="http://schemas.openxmlformats.org/drawingml/2006/main">
            <a:r>
              <a:t>  {</a:t>
            </a:r>
          </a:p>
          <a:p xmlns:a="http://schemas.openxmlformats.org/drawingml/2006/main">
            <a:r>
              <a:t>    "company": "AstraZeneca",</a:t>
            </a:r>
          </a:p>
          <a:p xmlns:a="http://schemas.openxmlformats.org/drawingml/2006/main">
            <a:r>
              <a:t>    "asset": "Imjudo",</a:t>
            </a:r>
          </a:p>
          <a:p xmlns:a="http://schemas.openxmlformats.org/drawingml/2006/main">
            <a:r>
              <a:t>    "molecule": "Tremelimumab",</a:t>
            </a:r>
          </a:p>
          <a:p xmlns:a="http://schemas.openxmlformats.org/drawingml/2006/main">
            <a:r>
              <a:t>    "use": "Unresectable hepatocellular carcinoma, with durvalumab",</a:t>
            </a:r>
          </a:p>
          <a:p xmlns:a="http://schemas.openxmlformats.org/drawingml/2006/main">
            <a:r>
              <a:t>    "modality": "CTLA-4 antibody",</a:t>
            </a:r>
          </a:p>
          <a:p xmlns:a="http://schemas.openxmlformats.org/drawingml/2006/main">
            <a:r>
              <a:t>    "foreign": "2022-10-21",</a:t>
            </a:r>
          </a:p>
          <a:p xmlns:a="http://schemas.openxmlformats.org/drawingml/2006/main">
            <a:r>
              <a:t>    "market": "US FDA",</a:t>
            </a:r>
          </a:p>
          <a:p xmlns:a="http://schemas.openxmlformats.org/drawingml/2006/main">
            <a:r>
              <a:t>    "india": "2023-05-26",</a:t>
            </a:r>
          </a:p>
          <a:p xmlns:a="http://schemas.openxmlformats.org/drawingml/2006/main">
            <a:r>
              <a:t>    "event": "New molecule / HCC regimen",</a:t>
            </a:r>
          </a:p>
          <a:p xmlns:a="http://schemas.openxmlformats.org/drawingml/2006/main">
            <a:r>
              <a:t>    "foreign_source": "https://www.accessdata.fda.gov/drugsatfda_docs/appletter/2022/761289Orig1s000Correctedltr.pdf",</a:t>
            </a:r>
          </a:p>
          <a:p xmlns:a="http://schemas.openxmlformats.org/drawingml/2006/main">
            <a:r>
              <a:t>    "india_source": "https://cdsco.gov.in/opencms/resources/UploadCDSCOWeb/2018/UploadBiologicalrDNA/CT-18%20Approvals%20Jan%2C%202020%20-%20July%2C%202024.pdf",</a:t>
            </a:r>
          </a:p>
          <a:p xmlns:a="http://schemas.openxmlformats.org/drawingml/2006/main">
            <a:r>
              <a:t>    "note": "India source p23 row68. Approval lag, not commercial-launch lag.",</a:t>
            </a:r>
          </a:p>
          <a:p xmlns:a="http://schemas.openxmlformats.org/drawingml/2006/main">
            <a:r>
              <a:t>    "months": 7.129363449691992</a:t>
            </a:r>
          </a:p>
          <a:p xmlns:a="http://schemas.openxmlformats.org/drawingml/2006/main">
            <a:r>
              <a:t>  },</a:t>
            </a:r>
          </a:p>
          <a:p xmlns:a="http://schemas.openxmlformats.org/drawingml/2006/main">
            <a:r>
              <a:t>  {</a:t>
            </a:r>
          </a:p>
          <a:p xmlns:a="http://schemas.openxmlformats.org/drawingml/2006/main">
            <a:r>
              <a:t>    "company": "GSK",</a:t>
            </a:r>
          </a:p>
          <a:p xmlns:a="http://schemas.openxmlformats.org/drawingml/2006/main">
            <a:r>
              <a:t>    "asset": "Blenrep combination",</a:t>
            </a:r>
          </a:p>
          <a:p xmlns:a="http://schemas.openxmlformats.org/drawingml/2006/main">
            <a:r>
              <a:t>    "molecule": "Belantamab mafodotin",</a:t>
            </a:r>
          </a:p>
          <a:p xmlns:a="http://schemas.openxmlformats.org/drawingml/2006/main">
            <a:r>
              <a:t>    "use": "Relapsed/refractory multiple myeloma, combination regimen",</a:t>
            </a:r>
          </a:p>
          <a:p xmlns:a="http://schemas.openxmlformats.org/drawingml/2006/main">
            <a:r>
              <a:t>    "modality": "BCMA-directed ADC",</a:t>
            </a:r>
          </a:p>
          <a:p xmlns:a="http://schemas.openxmlformats.org/drawingml/2006/main">
            <a:r>
              <a:t>    "foreign": "2025-04-17",</a:t>
            </a:r>
          </a:p>
          <a:p xmlns:a="http://schemas.openxmlformats.org/drawingml/2006/main">
            <a:r>
              <a:t>    "market": "UK MHRA",</a:t>
            </a:r>
          </a:p>
          <a:p xmlns:a="http://schemas.openxmlformats.org/drawingml/2006/main">
            <a:r>
              <a:t>    "india": "2026-04-10",</a:t>
            </a:r>
          </a:p>
          <a:p xmlns:a="http://schemas.openxmlformats.org/drawingml/2006/main">
            <a:r>
              <a:t>    "event": "New combination regimen",</a:t>
            </a:r>
          </a:p>
          <a:p xmlns:a="http://schemas.openxmlformats.org/drawingml/2006/main">
            <a:r>
              <a:t>    "foreign_source": "https://assets.publishing.service.gov.uk/media/6822290bced319d02c90613d/Marketing_Authorisations_Granted_15_April_to_30_April_2025.pdf",</a:t>
            </a:r>
          </a:p>
          <a:p xmlns:a="http://schemas.openxmlformats.org/drawingml/2006/main">
            <a:r>
              <a:t>    "india_source": "https://india-pharma.gsk.com/media/u1tlj13l/blenrep.pdf",</a:t>
            </a:r>
          </a:p>
          <a:p xmlns:a="http://schemas.openxmlformats.org/drawingml/2006/main">
            <a:r>
              <a:t>    "note": "India PI p27: IMP/BIO/26/000039 dated10Apr2026. Measures the 2025 combination-regimen approval, not the original 2020 monotherapy approval. UK approval is the first worldwide in this setting. US approved later, 23Oct2025. Commercial launch was still pending in Aug2026.",</a:t>
            </a:r>
          </a:p>
          <a:p xmlns:a="http://schemas.openxmlformats.org/drawingml/2006/main">
            <a:r>
              <a:t>    "months": 11.761806981519507</a:t>
            </a:r>
          </a:p>
          <a:p xmlns:a="http://schemas.openxmlformats.org/drawingml/2006/main">
            <a:r>
              <a:t>  },</a:t>
            </a:r>
          </a:p>
          <a:p xmlns:a="http://schemas.openxmlformats.org/drawingml/2006/main">
            <a:r>
              <a:t>  {</a:t>
            </a:r>
          </a:p>
          <a:p xmlns:a="http://schemas.openxmlformats.org/drawingml/2006/main">
            <a:r>
              <a:t>    "company": "Roche",</a:t>
            </a:r>
          </a:p>
          <a:p xmlns:a="http://schemas.openxmlformats.org/drawingml/2006/main">
            <a:r>
              <a:t>    "asset": "Vabysmo",</a:t>
            </a:r>
          </a:p>
          <a:p xmlns:a="http://schemas.openxmlformats.org/drawingml/2006/main">
            <a:r>
              <a:t>    "molecule": "Faricimab",</a:t>
            </a:r>
          </a:p>
          <a:p xmlns:a="http://schemas.openxmlformats.org/drawingml/2006/main">
            <a:r>
              <a:t>    "use": "Neovascular AMD and diabetic macular oedema",</a:t>
            </a:r>
          </a:p>
          <a:p xmlns:a="http://schemas.openxmlformats.org/drawingml/2006/main">
            <a:r>
              <a:t>    "modality": "VEGF-A / Ang-2 bispecific antibody",</a:t>
            </a:r>
          </a:p>
          <a:p xmlns:a="http://schemas.openxmlformats.org/drawingml/2006/main">
            <a:r>
              <a:t>    "foreign": "2022-01-28",</a:t>
            </a:r>
          </a:p>
          <a:p xmlns:a="http://schemas.openxmlformats.org/drawingml/2006/main">
            <a:r>
              <a:t>    "market": "US FDA",</a:t>
            </a:r>
          </a:p>
          <a:p xmlns:a="http://schemas.openxmlformats.org/drawingml/2006/main">
            <a:r>
              <a:t>    "india": "2023-04-13",</a:t>
            </a:r>
          </a:p>
          <a:p xmlns:a="http://schemas.openxmlformats.org/drawingml/2006/main">
            <a:r>
              <a:t>    "event": "New molecule",</a:t>
            </a:r>
          </a:p>
          <a:p xmlns:a="http://schemas.openxmlformats.org/drawingml/2006/main">
            <a:r>
              <a:t>    "foreign_source": "https://www.accessdata.fda.gov/drugsatfda_docs/nda/2022/761235Orig1s000Approv.pdf",</a:t>
            </a:r>
          </a:p>
          <a:p xmlns:a="http://schemas.openxmlformats.org/drawingml/2006/main">
            <a:r>
              <a:t>    "india_source": "https://cdsco.gov.in/opencms/resources/UploadCDSCOWeb/2018/UploadBiologicalrDNA/CT-20%20Approval%20Feb%202023%20to%2015%20Apr%202023.pdf",</a:t>
            </a:r>
          </a:p>
          <a:p xmlns:a="http://schemas.openxmlformats.org/drawingml/2006/main">
            <a:r>
              <a:t>    "note": "Contemporaneous CDSCO CT-20 list p4 row11 states permission issued13Apr2023 for IMP/BIO/23/000032. Later CT-18 cumulative lists show24Mar2023 for the same permission, an official-source discrepancy. We use the contemporaneous permission-issued table. The alternative date yields13.8months rather than14.5months. Commercial-launch announcements are in2024.",</a:t>
            </a:r>
          </a:p>
          <a:p xmlns:a="http://schemas.openxmlformats.org/drawingml/2006/main">
            <a:r>
              <a:t>    "months": 14.455852156057494</a:t>
            </a:r>
          </a:p>
          <a:p xmlns:a="http://schemas.openxmlformats.org/drawingml/2006/main">
            <a:r>
              <a:t>  },</a:t>
            </a:r>
          </a:p>
          <a:p xmlns:a="http://schemas.openxmlformats.org/drawingml/2006/main">
            <a:r>
              <a:t>  {</a:t>
            </a:r>
          </a:p>
          <a:p xmlns:a="http://schemas.openxmlformats.org/drawingml/2006/main">
            <a:r>
              <a:t>    "company": "Sanofi",</a:t>
            </a:r>
          </a:p>
          <a:p xmlns:a="http://schemas.openxmlformats.org/drawingml/2006/main">
            <a:r>
              <a:t>    "asset": "Beyfortus",</a:t>
            </a:r>
          </a:p>
          <a:p xmlns:a="http://schemas.openxmlformats.org/drawingml/2006/main">
            <a:r>
              <a:t>    "molecule": "Nirsevimab",</a:t>
            </a:r>
          </a:p>
          <a:p xmlns:a="http://schemas.openxmlformats.org/drawingml/2006/main">
            <a:r>
              <a:t>    "use": "Prevention of infant RSV lower respiratory tract disease",</a:t>
            </a:r>
          </a:p>
          <a:p xmlns:a="http://schemas.openxmlformats.org/drawingml/2006/main">
            <a:r>
              <a:t>    "modality": "Long-acting RSV antibody",</a:t>
            </a:r>
          </a:p>
          <a:p xmlns:a="http://schemas.openxmlformats.org/drawingml/2006/main">
            <a:r>
              <a:t>    "foreign": "2022-10-31",</a:t>
            </a:r>
          </a:p>
          <a:p xmlns:a="http://schemas.openxmlformats.org/drawingml/2006/main">
            <a:r>
              <a:t>    "market": "EU / EC",</a:t>
            </a:r>
          </a:p>
          <a:p xmlns:a="http://schemas.openxmlformats.org/drawingml/2006/main">
            <a:r>
              <a:t>    "india": "2024-06-10",</a:t>
            </a:r>
          </a:p>
          <a:p xmlns:a="http://schemas.openxmlformats.org/drawingml/2006/main">
            <a:r>
              <a:t>    "event": "New molecule",</a:t>
            </a:r>
          </a:p>
          <a:p xmlns:a="http://schemas.openxmlformats.org/drawingml/2006/main">
            <a:r>
              <a:t>    "foreign_source": "https://www.ema.europa.eu/en/medicines/human/EPAR/beyfortus",</a:t>
            </a:r>
          </a:p>
          <a:p xmlns:a="http://schemas.openxmlformats.org/drawingml/2006/main">
            <a:r>
              <a:t>    "india_source": "https://www.sanofi.com/assets/countries/india/docs/Media/press-releases/2024/sanofi-receives-marketing-authorization-for-beyfortus-in-india-to-protect-infants-and-children-against-respiratory-syncytial-virus-rsv.pdf",</a:t>
            </a:r>
          </a:p>
          <a:p xmlns:a="http://schemas.openxmlformats.org/drawingml/2006/main">
            <a:r>
              <a:t>    "note": "Sanofi release31Jul2024 explicitly gives10Jun2024 as India approval date. EU approval predates US approval17Jul2023. Developed with AstraZeneca, counted once under India commercial lead Sanofi.",</a:t>
            </a:r>
          </a:p>
          <a:p xmlns:a="http://schemas.openxmlformats.org/drawingml/2006/main">
            <a:r>
              <a:t>    "months": 19.318275154004105</a:t>
            </a:r>
          </a:p>
          <a:p xmlns:a="http://schemas.openxmlformats.org/drawingml/2006/main">
            <a:r>
              <a:t>  },</a:t>
            </a:r>
          </a:p>
          <a:p xmlns:a="http://schemas.openxmlformats.org/drawingml/2006/main">
            <a:r>
              <a:t>  {</a:t>
            </a:r>
          </a:p>
          <a:p xmlns:a="http://schemas.openxmlformats.org/drawingml/2006/main">
            <a:r>
              <a:t>    "company": "Novartis",</a:t>
            </a:r>
          </a:p>
          <a:p xmlns:a="http://schemas.openxmlformats.org/drawingml/2006/main">
            <a:r>
              <a:t>    "asset": "Scemblix",</a:t>
            </a:r>
          </a:p>
          <a:p xmlns:a="http://schemas.openxmlformats.org/drawingml/2006/main">
            <a:r>
              <a:t>    "molecule": "Asciminib",</a:t>
            </a:r>
          </a:p>
          <a:p xmlns:a="http://schemas.openxmlformats.org/drawingml/2006/main">
            <a:r>
              <a:t>    "use": "Previously treated Ph+ chronic myeloid leukaemia",</a:t>
            </a:r>
          </a:p>
          <a:p xmlns:a="http://schemas.openxmlformats.org/drawingml/2006/main">
            <a:r>
              <a:t>    "modality": "Allosteric ABL inhibitor",</a:t>
            </a:r>
          </a:p>
          <a:p xmlns:a="http://schemas.openxmlformats.org/drawingml/2006/main">
            <a:r>
              <a:t>    "foreign": "2021-10-29",</a:t>
            </a:r>
          </a:p>
          <a:p xmlns:a="http://schemas.openxmlformats.org/drawingml/2006/main">
            <a:r>
              <a:t>    "market": "US FDA",</a:t>
            </a:r>
          </a:p>
          <a:p xmlns:a="http://schemas.openxmlformats.org/drawingml/2006/main">
            <a:r>
              <a:t>    "india": "2023-10-20",</a:t>
            </a:r>
          </a:p>
          <a:p xmlns:a="http://schemas.openxmlformats.org/drawingml/2006/main">
            <a:r>
              <a:t>    "event": "New molecule",</a:t>
            </a:r>
          </a:p>
          <a:p xmlns:a="http://schemas.openxmlformats.org/drawingml/2006/main">
            <a:r>
              <a:t>    "foreign_source": "https://www.accessdata.fda.gov/drugsatfda_docs/nda/2021/215358Orig1s000%2COrig2s000Approv.pdf",</a:t>
            </a:r>
          </a:p>
          <a:p xmlns:a="http://schemas.openxmlformats.org/drawingml/2006/main">
            <a:r>
              <a:t>    "india_source": "https://cdsco.gov.in/opencms/resources/UploadCDSCOWeb/2018/UploadApprovalNewDrugs/List%20of%20New%20Drugs%20approved%20in%20the%20year%202023dec.pdf",</a:t>
            </a:r>
          </a:p>
          <a:p xmlns:a="http://schemas.openxmlformats.org/drawingml/2006/main">
            <a:r>
              <a:t>    "note": "CDSCO2023list pp3-4 row25. Covers later-line/T315I indications, not the2024USfirst-line expansion. Approval does not establish Indian commercial-launch date.",</a:t>
            </a:r>
          </a:p>
          <a:p xmlns:a="http://schemas.openxmlformats.org/drawingml/2006/main">
            <a:r>
              <a:t>    "months": 23.68788501026694</a:t>
            </a:r>
          </a:p>
          <a:p xmlns:a="http://schemas.openxmlformats.org/drawingml/2006/main">
            <a:r>
              <a:t>  },</a:t>
            </a:r>
          </a:p>
          <a:p xmlns:a="http://schemas.openxmlformats.org/drawingml/2006/main">
            <a:r>
              <a:t>  {</a:t>
            </a:r>
          </a:p>
          <a:p xmlns:a="http://schemas.openxmlformats.org/drawingml/2006/main">
            <a:r>
              <a:t>    "company": "Pfizer",</a:t>
            </a:r>
          </a:p>
          <a:p xmlns:a="http://schemas.openxmlformats.org/drawingml/2006/main">
            <a:r>
              <a:t>    "asset": "Cibinqo",</a:t>
            </a:r>
          </a:p>
          <a:p xmlns:a="http://schemas.openxmlformats.org/drawingml/2006/main">
            <a:r>
              <a:t>    "molecule": "Abrocitinib",</a:t>
            </a:r>
          </a:p>
          <a:p xmlns:a="http://schemas.openxmlformats.org/drawingml/2006/main">
            <a:r>
              <a:t>    "use": "Refractory moderate-to-severe atopic dermatitis",</a:t>
            </a:r>
          </a:p>
          <a:p xmlns:a="http://schemas.openxmlformats.org/drawingml/2006/main">
            <a:r>
              <a:t>    "modality": "Selective JAK1 inhibitor",</a:t>
            </a:r>
          </a:p>
          <a:p xmlns:a="http://schemas.openxmlformats.org/drawingml/2006/main">
            <a:r>
              <a:t>    "foreign": "2021-09-08",</a:t>
            </a:r>
          </a:p>
          <a:p xmlns:a="http://schemas.openxmlformats.org/drawingml/2006/main">
            <a:r>
              <a:t>    "market": "UK MHRA",</a:t>
            </a:r>
          </a:p>
          <a:p xmlns:a="http://schemas.openxmlformats.org/drawingml/2006/main">
            <a:r>
              <a:t>    "india": "2023-11-29",</a:t>
            </a:r>
          </a:p>
          <a:p xmlns:a="http://schemas.openxmlformats.org/drawingml/2006/main">
            <a:r>
              <a:t>    "event": "New molecule",</a:t>
            </a:r>
          </a:p>
          <a:p xmlns:a="http://schemas.openxmlformats.org/drawingml/2006/main">
            <a:r>
              <a:t>    "foreign_source": "https://assets.publishing.service.gov.uk/media/6166e4c0e90e07197718297a/Monthly_new_MA_listing_Sept_2021.pdf",</a:t>
            </a:r>
          </a:p>
          <a:p xmlns:a="http://schemas.openxmlformats.org/drawingml/2006/main">
            <a:r>
              <a:t>    "india_source": "https://cdsco.gov.in/opencms/resources/UploadCDSCOWeb/2018/UploadApprovalNewDrugs/List%20of%20New%20Drugs%20approved%20in%20the%20year%202023dec.pdf",</a:t>
            </a:r>
          </a:p>
          <a:p xmlns:a="http://schemas.openxmlformats.org/drawingml/2006/main">
            <a:r>
              <a:t>    "note": "MHRAauthorisationlist gives8Sep2021. Companyannouncementwas9Sep2021. CDSCO2023listp4row27 gives29Nov2023. UKlabel includes adolescents, Indiaapprovalshown isadult. India co-marketing announcement31Jan2024 is later than permission.",</a:t>
            </a:r>
          </a:p>
          <a:p xmlns:a="http://schemas.openxmlformats.org/drawingml/2006/main">
            <a:r>
              <a:t>    "months": 26.677618069815196</a:t>
            </a:r>
          </a:p>
          <a:p xmlns:a="http://schemas.openxmlformats.org/drawingml/2006/main">
            <a:r>
              <a:t>  }</a:t>
            </a:r>
          </a:p>
          <a:p xmlns:a="http://schemas.openxmlformats.org/drawingml/2006/main">
            <a:r>
              <a:t>]</a:t>
            </a:r>
          </a:p>
          <a:p xmlns:a="http://schemas.openxmlformats.org/drawingml/2006/main">
            <a:r>
              <a:t>Lag = elapsed days / (365.25/12). Selected-sample median16.887months. All assets use earliest documented major-market permission for the stated molecule or combination setting. For Blenrep, UK17Apr2025rather than laterUS23Oct2025is the comparator. It is a new combination-regimen approval, not the original2020monotherapy. India approval10Apr2026does not imply commercial launch that day. Faricimab sources conflict: contemporaryCT20permission listp4row11gives13Apr2023, later cumulativeCT18listgives24Mar2023for samepermission. We use the contemporaneous issuance table, yielding14.5months. The alternative yields13.8months and does not change the conclusion. CibinqoUKauthorisation8Sep2021wasannounced9Sep2021.</a:t>
            </a:r>
          </a:p>
          <a:p xmlns:a="http://schemas.openxmlformats.org/drawingml/2006/main">
            <a:r>
              <a:t/>
            </a:r>
          </a:p>
          <a:p xmlns:a="http://schemas.openxmlformats.org/drawingml/2006/main">
            <a:r>
              <a:t>Specialised programme examples</a:t>
            </a:r>
          </a:p>
          <a:p xmlns:a="http://schemas.openxmlformats.org/drawingml/2006/main">
            <a:r>
              <a:t>[</a:t>
            </a:r>
          </a:p>
          <a:p xmlns:a="http://schemas.openxmlformats.org/drawingml/2006/main">
            <a:r>
              <a:t>  [</a:t>
            </a:r>
          </a:p>
          <a:p xmlns:a="http://schemas.openxmlformats.org/drawingml/2006/main">
            <a:r>
              <a:t>    "AstraZeneca",</a:t>
            </a:r>
          </a:p>
          <a:p xmlns:a="http://schemas.openxmlformats.org/drawingml/2006/main">
            <a:r>
              <a:t>    "Tozorakimab",</a:t>
            </a:r>
          </a:p>
          <a:p xmlns:a="http://schemas.openxmlformats.org/drawingml/2006/main">
            <a:r>
              <a:t>    "Anti-IL-33 antibody",</a:t>
            </a:r>
          </a:p>
          <a:p xmlns:a="http://schemas.openxmlformats.org/drawingml/2006/main">
            <a:r>
              <a:t>    "COPD",</a:t>
            </a:r>
          </a:p>
          <a:p xmlns:a="http://schemas.openxmlformats.org/drawingml/2006/main">
            <a:r>
              <a:t>    "NCT05166889"</a:t>
            </a:r>
          </a:p>
          <a:p xmlns:a="http://schemas.openxmlformats.org/drawingml/2006/main">
            <a:r>
              <a:t>  ],</a:t>
            </a:r>
          </a:p>
          <a:p xmlns:a="http://schemas.openxmlformats.org/drawingml/2006/main">
            <a:r>
              <a:t>  [</a:t>
            </a:r>
          </a:p>
          <a:p xmlns:a="http://schemas.openxmlformats.org/drawingml/2006/main">
            <a:r>
              <a:t>    "Novartis",</a:t>
            </a:r>
          </a:p>
          <a:p xmlns:a="http://schemas.openxmlformats.org/drawingml/2006/main">
            <a:r>
              <a:t>    "Iptacopan",</a:t>
            </a:r>
          </a:p>
          <a:p xmlns:a="http://schemas.openxmlformats.org/drawingml/2006/main">
            <a:r>
              <a:t>    "Complement factor B inhibitor",</a:t>
            </a:r>
          </a:p>
          <a:p xmlns:a="http://schemas.openxmlformats.org/drawingml/2006/main">
            <a:r>
              <a:t>    "C3 glomerulopathy",</a:t>
            </a:r>
          </a:p>
          <a:p xmlns:a="http://schemas.openxmlformats.org/drawingml/2006/main">
            <a:r>
              <a:t>    "NCT04817618"</a:t>
            </a:r>
          </a:p>
          <a:p xmlns:a="http://schemas.openxmlformats.org/drawingml/2006/main">
            <a:r>
              <a:t>  ],</a:t>
            </a:r>
          </a:p>
          <a:p xmlns:a="http://schemas.openxmlformats.org/drawingml/2006/main">
            <a:r>
              <a:t>  [</a:t>
            </a:r>
          </a:p>
          <a:p xmlns:a="http://schemas.openxmlformats.org/drawingml/2006/main">
            <a:r>
              <a:t>    "Pfizer",</a:t>
            </a:r>
          </a:p>
          <a:p xmlns:a="http://schemas.openxmlformats.org/drawingml/2006/main">
            <a:r>
              <a:t>    "Marstacimab",</a:t>
            </a:r>
          </a:p>
          <a:p xmlns:a="http://schemas.openxmlformats.org/drawingml/2006/main">
            <a:r>
              <a:t>    "Anti-TFPI antibody",</a:t>
            </a:r>
          </a:p>
          <a:p xmlns:a="http://schemas.openxmlformats.org/drawingml/2006/main">
            <a:r>
              <a:t>    "Haemophilia A/B",</a:t>
            </a:r>
          </a:p>
          <a:p xmlns:a="http://schemas.openxmlformats.org/drawingml/2006/main">
            <a:r>
              <a:t>    "NCT05611801"</a:t>
            </a:r>
          </a:p>
          <a:p xmlns:a="http://schemas.openxmlformats.org/drawingml/2006/main">
            <a:r>
              <a:t>  ],</a:t>
            </a:r>
          </a:p>
          <a:p xmlns:a="http://schemas.openxmlformats.org/drawingml/2006/main">
            <a:r>
              <a:t>  [</a:t>
            </a:r>
          </a:p>
          <a:p xmlns:a="http://schemas.openxmlformats.org/drawingml/2006/main">
            <a:r>
              <a:t>    "GSK",</a:t>
            </a:r>
          </a:p>
          <a:p xmlns:a="http://schemas.openxmlformats.org/drawingml/2006/main">
            <a:r>
              <a:t>    "Bepirovirsen",</a:t>
            </a:r>
          </a:p>
          <a:p xmlns:a="http://schemas.openxmlformats.org/drawingml/2006/main">
            <a:r>
              <a:t>    "Antisense oligonucleotide",</a:t>
            </a:r>
          </a:p>
          <a:p xmlns:a="http://schemas.openxmlformats.org/drawingml/2006/main">
            <a:r>
              <a:t>    "Chronic hepatitis B",</a:t>
            </a:r>
          </a:p>
          <a:p xmlns:a="http://schemas.openxmlformats.org/drawingml/2006/main">
            <a:r>
              <a:t>    "NCT05630807"</a:t>
            </a:r>
          </a:p>
          <a:p xmlns:a="http://schemas.openxmlformats.org/drawingml/2006/main">
            <a:r>
              <a:t>  ],</a:t>
            </a:r>
          </a:p>
          <a:p xmlns:a="http://schemas.openxmlformats.org/drawingml/2006/main">
            <a:r>
              <a:t>  [</a:t>
            </a:r>
          </a:p>
          <a:p xmlns:a="http://schemas.openxmlformats.org/drawingml/2006/main">
            <a:r>
              <a:t>    "Sanofi",</a:t>
            </a:r>
          </a:p>
          <a:p xmlns:a="http://schemas.openxmlformats.org/drawingml/2006/main">
            <a:r>
              <a:t>    "Frexalimab",</a:t>
            </a:r>
          </a:p>
          <a:p xmlns:a="http://schemas.openxmlformats.org/drawingml/2006/main">
            <a:r>
              <a:t>    "Anti-CD40L antibody",</a:t>
            </a:r>
          </a:p>
          <a:p xmlns:a="http://schemas.openxmlformats.org/drawingml/2006/main">
            <a:r>
              <a:t>    "Multiple sclerosis",</a:t>
            </a:r>
          </a:p>
          <a:p xmlns:a="http://schemas.openxmlformats.org/drawingml/2006/main">
            <a:r>
              <a:t>    "NCT06141473"</a:t>
            </a:r>
          </a:p>
          <a:p xmlns:a="http://schemas.openxmlformats.org/drawingml/2006/main">
            <a:r>
              <a:t>  ],</a:t>
            </a:r>
          </a:p>
          <a:p xmlns:a="http://schemas.openxmlformats.org/drawingml/2006/main">
            <a:r>
              <a:t>  [</a:t>
            </a:r>
          </a:p>
          <a:p xmlns:a="http://schemas.openxmlformats.org/drawingml/2006/main">
            <a:r>
              <a:t>    "Roche",</a:t>
            </a:r>
          </a:p>
          <a:p xmlns:a="http://schemas.openxmlformats.org/drawingml/2006/main">
            <a:r>
              <a:t>    "Crovalimab",</a:t>
            </a:r>
          </a:p>
          <a:p xmlns:a="http://schemas.openxmlformats.org/drawingml/2006/main">
            <a:r>
              <a:t>    "Anti-C5 antibody",</a:t>
            </a:r>
          </a:p>
          <a:p xmlns:a="http://schemas.openxmlformats.org/drawingml/2006/main">
            <a:r>
              <a:t>    "Atypical haemolytic uraemic syndrome",</a:t>
            </a:r>
          </a:p>
          <a:p xmlns:a="http://schemas.openxmlformats.org/drawingml/2006/main">
            <a:r>
              <a:t>    "NCT04958265"</a:t>
            </a:r>
          </a:p>
          <a:p xmlns:a="http://schemas.openxmlformats.org/drawingml/2006/main">
            <a:r>
              <a:t>  ]</a:t>
            </a:r>
          </a:p>
          <a:p xmlns:a="http://schemas.openxmlformats.org/drawingml/2006/main">
            <a:r>
              <a:t>]</a:t>
            </a:r>
          </a:p>
          <a:p xmlns:a="http://schemas.openxmlformats.org/drawingml/2006/main">
            <a:r>
              <a:t>Each programme record currently lists at least one India site. These are examples of modality and disease breadth, not all rare diseases and not all active studies. Mechanisms: tozorakimab anti-IL33; iptacopan complement factorB; marstacimab antiTFPI; bepirovirsen antisense; frexalimab antiCD40L; crovalimab antiC5. Company disclosures and original registry records corroborate programme identities.</a:t>
            </a:r>
          </a:p>
          <a:p xmlns:a="http://schemas.openxmlformats.org/drawingml/2006/main">
            <a:r>
              <a:t/>
            </a:r>
          </a:p>
          <a:p xmlns:a="http://schemas.openxmlformats.org/drawingml/2006/main">
            <a:r>
              <a:t>GSK primary corroboration of mechanism linking local clinical evidence to faster access: 13May2026 earnings call, printedp12, reports24globaltrialsinIndiaversus16twoquartersearlier and explains thatPhase3A/3Bparticipation supports acceleratedlocalfiling. Management's6–8monthUScomparisonforBlenrep should not be described as first-global-to-Indialag. https://india-pharma.gsk.com/media/xlqcxt14/gsk-q4fy26-analyst-meet-transcript.pdf</a:t>
            </a:r>
          </a:p>
          <a:p xmlns:a="http://schemas.openxmlformats.org/drawingml/2006/main">
            <a:r>
              <a:t/>
            </a:r>
          </a:p>
          <a:p xmlns:a="http://schemas.openxmlformats.org/drawingml/2006/main">
            <a:r>
              <a:t>REGISTRY QUERY AUDIT</a:t>
            </a:r>
          </a:p>
          <a:p xmlns:a="http://schemas.openxmlformats.org/drawingml/2006/main">
            <a:r>
              <a:t>[</a:t>
            </a:r>
          </a:p>
          <a:p xmlns:a="http://schemas.openxmlformats.org/drawingml/2006/main">
            <a:r>
              <a:t>  {</a:t>
            </a:r>
          </a:p>
          <a:p xmlns:a="http://schemas.openxmlformats.org/drawingml/2006/main">
            <a:r>
              <a:t>    "company": "AstraZeneca",</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114,</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(AREA[LeadSponsorName]AstraZeneca OR AREA[LeadSponsorName]MedImmune OR AREA[LeadSponsorName]Alexion)",</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AstraZeneca+OR+AREA%5BLeadSponsorName%5DMedImmune+OR+AREA%5BLeadSponsorName%5DAlexion%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26,</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(AREA[LeadSponsorName]AstraZeneca OR AREA[LeadSponsorName]MedImmune OR AREA[LeadSponsorName]Alexion)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AstraZeneca+OR+AREA%5BLeadSponsorName%5DMedImmune+OR+AREA%5BLeadSponsorName%5DAlexion%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"AstraZeneca",</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147,</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(AREA[LeadSponsorName]AstraZeneca OR AREA[LeadSponsorName]MedImmune OR AREA[LeadSponsorName]Alexion)",</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AstraZeneca+OR+AREA%5BLeadSponsorName%5DMedImmune+OR+AREA%5BLeadSponsorName%5DAlexion%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63,</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(AREA[LeadSponsorName]AstraZeneca OR AREA[LeadSponsorName]MedImmune OR AREA[LeadSponsorName]Alexion)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AstraZeneca+OR+AREA%5BLeadSponsorName%5DMedImmune+OR+AREA%5BLeadSponsorName%5DAlexion%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"Novartis",</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140,</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(AREA[LeadSponsorName]Novartis)",</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Novartis%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38,</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(AREA[LeadSponsorName]Novartis)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Novartis%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"Novartis",</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109,</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(AREA[LeadSponsorName]Novartis)",</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Novartis%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34,</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(AREA[LeadSponsorName]Novartis)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Novartis%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"Pfizer",</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78,</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(AREA[LeadSponsorName]Pfizer OR AREA[LeadSponsorName]Wyeth)",</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Pfizer+OR+AREA%5BLeadSponsorName%5DWyeth%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9,</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(AREA[LeadSponsorName]Pfizer OR AREA[LeadSponsorName]Wyeth)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Pfizer+OR+AREA%5BLeadSponsorName%5DWyeth%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"Pfizer",</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91,</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(AREA[LeadSponsorName]Pfizer OR AREA[LeadSponsorName]Wyeth)",</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Pfizer+OR+AREA%5BLeadSponsorName%5DWyeth%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21,</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(AREA[LeadSponsorName]Pfizer OR AREA[LeadSponsorName]Wyeth)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Pfizer+OR+AREA%5BLeadSponsorName%5DWyeth%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"GSK",</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96,</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(AREA[LeadSponsorName]GlaxoSmithKline OR AREA[LeadSponsorName]GSK OR AREA[LeadSponsorName]ViiV)",</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GlaxoSmithKline+OR+AREA%5BLeadSponsorName%5DGSK+OR+AREA%5BLeadSponsorName%5DViiV%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7,</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(AREA[LeadSponsorName]GlaxoSmithKline OR AREA[LeadSponsorName]GSK OR AREA[LeadSponsorName]ViiV)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GlaxoSmithKline+OR+AREA%5BLeadSponsorName%5DGSK+OR+AREA%5BLeadSponsorName%5DViiV%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"GSK",</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76,</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(AREA[LeadSponsorName]GlaxoSmithKline OR AREA[LeadSponsorName]GSK OR AREA[LeadSponsorName]ViiV)",</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GlaxoSmithKline+OR+AREA%5BLeadSponsorName%5DGSK+OR+AREA%5BLeadSponsorName%5DViiV%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13,</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(AREA[LeadSponsorName]GlaxoSmithKline OR AREA[LeadSponsorName]GSK OR AREA[LeadSponsorName]ViiV)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GlaxoSmithKline+OR+AREA%5BLeadSponsorName%5DGSK+OR+AREA%5BLeadSponsorName%5DViiV%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"Sanofi",</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114,</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(AREA[LeadSponsorName]Sanofi OR AREA[LeadSponsorName]Genzyme)",</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Sanofi+OR+AREA%5BLeadSponsorName%5DGenzyme%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10,</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(AREA[LeadSponsorName]Sanofi OR AREA[LeadSponsorName]Genzyme)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Sanofi+OR+AREA%5BLeadSponsorName%5DGenzyme%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"Sanofi",</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78,</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(AREA[LeadSponsorName]Sanofi OR AREA[LeadSponsorName]Genzyme)",</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Sanofi+OR+AREA%5BLeadSponsorName%5DGenzyme%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13,</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(AREA[LeadSponsorName]Sanofi OR AREA[LeadSponsorName]Genzyme)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Sanofi+OR+AREA%5BLeadSponsorName%5DGenzyme%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"Roche",</a:t>
            </a:r>
          </a:p>
          <a:p xmlns:a="http://schemas.openxmlformats.org/drawingml/2006/main">
            <a:r>
              <a:t>    "period": "2015-2019",</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128,</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(AREA[LeadSponsorName]Roche OR AREA[LeadSponsorName]Genentech)",</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Roche+OR+AREA%5BLeadSponsorName%5DGenentech%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10,</a:t>
            </a:r>
          </a:p>
          <a:p xmlns:a="http://schemas.openxmlformats.org/drawingml/2006/main">
            <a:r>
              <a:t>        "query": "AREA[StudyFirstPostDate]RANGE[2015-01-01,2019-12-31] AND AREA[LeadSponsorClass]INDUSTRY AND AREA[StudyType]INTERVENTIONAL AND (AREA[InterventionType]DRUG OR AREA[InterventionType]BIOLOGICAL) AND AREA[Phase]PHASE3 AND (AREA[LeadSponsorName]Roche OR AREA[LeadSponsorName]Genentech) AND AREA[LocationCountry]India",</a:t>
            </a:r>
          </a:p>
          <a:p xmlns:a="http://schemas.openxmlformats.org/drawingml/2006/main">
            <a:r>
              <a:t>        "url": "https://clinicaltrials.gov/api/v2/studies?filter.advanced=AREA%5BStudyFirstPostDate%5DRANGE%5B2015-01-01%2C2019-12-31%5D+AND+AREA%5BLeadSponsorClass%5DINDUSTRY+AND+AREA%5BStudyType%5DINTERVENTIONAL+AND+%28AREA%5BInterventionType%5DDRUG+OR+AREA%5BInterventionType%5DBIOLOGICAL%29+AND+AREA%5BPhase%5DPHASE3+AND+%28AREA%5BLeadSponsorName%5DRoche+OR+AREA%5BLeadSponsorName%5DGenentech%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"company": "Roche",</a:t>
            </a:r>
          </a:p>
          <a:p xmlns:a="http://schemas.openxmlformats.org/drawingml/2006/main">
            <a:r>
              <a:t>    "period": "2021-2025",</a:t>
            </a:r>
          </a:p>
          <a:p xmlns:a="http://schemas.openxmlformats.org/drawingml/2006/main">
            <a:r>
              <a:t>    "data": [</a:t>
            </a:r>
          </a:p>
          <a:p xmlns:a="http://schemas.openxmlformats.org/drawingml/2006/main">
            <a:r>
              <a:t>      {</a:t>
            </a:r>
          </a:p>
          <a:p xmlns:a="http://schemas.openxmlformats.org/drawingml/2006/main">
            <a:r>
              <a:t>        "india": false,</a:t>
            </a:r>
          </a:p>
          <a:p xmlns:a="http://schemas.openxmlformats.org/drawingml/2006/main">
            <a:r>
              <a:t>        "count": 71,</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(AREA[LeadSponsorName]Roche OR AREA[LeadSponsorName]Genentech)",</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Roche+OR+AREA%5BLeadSponsorName%5DGenentech%29&amp;countTotal=true&amp;pageSize=1"</a:t>
            </a:r>
          </a:p>
          <a:p xmlns:a="http://schemas.openxmlformats.org/drawingml/2006/main">
            <a:r>
              <a:t>      },</a:t>
            </a:r>
          </a:p>
          <a:p xmlns:a="http://schemas.openxmlformats.org/drawingml/2006/main">
            <a:r>
              <a:t>      {</a:t>
            </a:r>
          </a:p>
          <a:p xmlns:a="http://schemas.openxmlformats.org/drawingml/2006/main">
            <a:r>
              <a:t>        "india": true,</a:t>
            </a:r>
          </a:p>
          <a:p xmlns:a="http://schemas.openxmlformats.org/drawingml/2006/main">
            <a:r>
              <a:t>        "count": 16,</a:t>
            </a:r>
          </a:p>
          <a:p xmlns:a="http://schemas.openxmlformats.org/drawingml/2006/main">
            <a:r>
              <a:t>        "query": "AREA[StudyFirstPostDate]RANGE[2021-01-01,2025-12-31] AND AREA[LeadSponsorClass]INDUSTRY AND AREA[StudyType]INTERVENTIONAL AND (AREA[InterventionType]DRUG OR AREA[InterventionType]BIOLOGICAL) AND AREA[Phase]PHASE3 AND (AREA[LeadSponsorName]Roche OR AREA[LeadSponsorName]Genentech) AND AREA[LocationCountry]India",</a:t>
            </a:r>
          </a:p>
          <a:p xmlns:a="http://schemas.openxmlformats.org/drawingml/2006/main">
            <a:r>
              <a:t>        "url": "https://clinicaltrials.gov/api/v2/studies?filter.advanced=AREA%5BStudyFirstPostDate%5DRANGE%5B2021-01-01%2C2025-12-31%5D+AND+AREA%5BLeadSponsorClass%5DINDUSTRY+AND+AREA%5BStudyType%5DINTERVENTIONAL+AND+%28AREA%5BInterventionType%5DDRUG+OR+AREA%5BInterventionType%5DBIOLOGICAL%29+AND+AREA%5BPhase%5DPHASE3+AND+%28AREA%5BLeadSponsorName%5DRoche+OR+AREA%5BLeadSponsorName%5DGenentech%29+AND+AREA%5BLocationCountry%5DIndia&amp;countTotal=true&amp;pageSize=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GLOBAL RECORDS WITH INDIA FLAG</a:t>
            </a:r>
          </a:p>
          <a:p xmlns:a="http://schemas.openxmlformats.org/drawingml/2006/main">
            <a:r>
              <a:t>AstraZeneca / 2015-19 / NCT03091192 / AstraZeneca / 0</a:t>
            </a:r>
          </a:p>
          <a:p xmlns:a="http://schemas.openxmlformats.org/drawingml/2006/main">
            <a:r>
              <a:t>AstraZeneca / 2015-19 / NCT02875834 / AstraZeneca / 0</a:t>
            </a:r>
          </a:p>
          <a:p xmlns:a="http://schemas.openxmlformats.org/drawingml/2006/main">
            <a:r>
              <a:t>AstraZeneca / 2015-19 / NCT02511106 / AstraZeneca / 0</a:t>
            </a:r>
          </a:p>
          <a:p xmlns:a="http://schemas.openxmlformats.org/drawingml/2006/main">
            <a:r>
              <a:t>AstraZeneca / 2015-19 / NCT02808819 / AstraZeneca / 0</a:t>
            </a:r>
          </a:p>
          <a:p xmlns:a="http://schemas.openxmlformats.org/drawingml/2006/main">
            <a:r>
              <a:t>AstraZeneca / 2015-19 / NCT03732677 / AstraZeneca / 0</a:t>
            </a:r>
          </a:p>
          <a:p xmlns:a="http://schemas.openxmlformats.org/drawingml/2006/main">
            <a:r>
              <a:t>AstraZeneca / 2015-19 / NCT03877224 / AstraZeneca / 0</a:t>
            </a:r>
          </a:p>
          <a:p xmlns:a="http://schemas.openxmlformats.org/drawingml/2006/main">
            <a:r>
              <a:t>AstraZeneca / 2015-19 / NCT03703297 / AstraZeneca / 1</a:t>
            </a:r>
          </a:p>
          <a:p xmlns:a="http://schemas.openxmlformats.org/drawingml/2006/main">
            <a:r>
              <a:t>AstraZeneca / 2015-19 / NCT03732820 / AstraZeneca / 0</a:t>
            </a:r>
          </a:p>
          <a:p xmlns:a="http://schemas.openxmlformats.org/drawingml/2006/main">
            <a:r>
              <a:t>AstraZeneca / 2015-19 / NCT03833154 / AstraZeneca / 0</a:t>
            </a:r>
          </a:p>
          <a:p xmlns:a="http://schemas.openxmlformats.org/drawingml/2006/main">
            <a:r>
              <a:t>AstraZeneca / 2015-19 / NCT03172702 / AstraZeneca / 0</a:t>
            </a:r>
          </a:p>
          <a:p xmlns:a="http://schemas.openxmlformats.org/drawingml/2006/main">
            <a:r>
              <a:t>AstraZeneca / 2015-19 / NCT03961815 / AstraZeneca / 0</a:t>
            </a:r>
          </a:p>
          <a:p xmlns:a="http://schemas.openxmlformats.org/drawingml/2006/main">
            <a:r>
              <a:t>AstraZeneca / 2015-19 / NCT02821416 / AstraZeneca / 0</a:t>
            </a:r>
          </a:p>
          <a:p xmlns:a="http://schemas.openxmlformats.org/drawingml/2006/main">
            <a:r>
              <a:t>AstraZeneca / 2015-19 / NCT03406507 / Alexion Pharmaceuticals, Inc. / 0</a:t>
            </a:r>
          </a:p>
          <a:p xmlns:a="http://schemas.openxmlformats.org/drawingml/2006/main">
            <a:r>
              <a:t>AstraZeneca / 2015-19 / NCT03519971 / AstraZeneca / 1</a:t>
            </a:r>
          </a:p>
          <a:p xmlns:a="http://schemas.openxmlformats.org/drawingml/2006/main">
            <a:r>
              <a:t>AstraZeneca / 2015-19 / NCT03979313 / AstraZeneca / 0</a:t>
            </a:r>
          </a:p>
          <a:p xmlns:a="http://schemas.openxmlformats.org/drawingml/2006/main">
            <a:r>
              <a:t>AstraZeneca / 2015-19 / NCT04157335 / AstraZeneca / 0</a:t>
            </a:r>
          </a:p>
          <a:p xmlns:a="http://schemas.openxmlformats.org/drawingml/2006/main">
            <a:r>
              <a:t>AstraZeneca / 2015-19 / NCT03303521 / AstraZeneca / 0</a:t>
            </a:r>
          </a:p>
          <a:p xmlns:a="http://schemas.openxmlformats.org/drawingml/2006/main">
            <a:r>
              <a:t>AstraZeneca / 2015-19 / NCT02987543 / AstraZeneca / 0</a:t>
            </a:r>
          </a:p>
          <a:p xmlns:a="http://schemas.openxmlformats.org/drawingml/2006/main">
            <a:r>
              <a:t>AstraZeneca / 2015-19 / NCT03800134 / AstraZeneca / 1</a:t>
            </a:r>
          </a:p>
          <a:p xmlns:a="http://schemas.openxmlformats.org/drawingml/2006/main">
            <a:r>
              <a:t>AstraZeneca / 2015-19 / NCT02794285 / AstraZeneca / 0</a:t>
            </a:r>
          </a:p>
          <a:p xmlns:a="http://schemas.openxmlformats.org/drawingml/2006/main">
            <a:r>
              <a:t>AstraZeneca / 2015-19 / NCT03615924 / AstraZeneca / 1</a:t>
            </a:r>
          </a:p>
          <a:p xmlns:a="http://schemas.openxmlformats.org/drawingml/2006/main">
            <a:r>
              <a:t>AstraZeneca / 2015-19 / NCT03022097 / AstraZeneca / 1</a:t>
            </a:r>
          </a:p>
          <a:p xmlns:a="http://schemas.openxmlformats.org/drawingml/2006/main">
            <a:r>
              <a:t>AstraZeneca / 2015-19 / NCT02869438 / AstraZeneca / 0</a:t>
            </a:r>
          </a:p>
          <a:p xmlns:a="http://schemas.openxmlformats.org/drawingml/2006/main">
            <a:r>
              <a:t>AstraZeneca / 2015-19 / NCT02546323 / AstraZeneca / 0</a:t>
            </a:r>
          </a:p>
          <a:p xmlns:a="http://schemas.openxmlformats.org/drawingml/2006/main">
            <a:r>
              <a:t>AstraZeneca / 2015-19 / NCT03003962 / AstraZeneca / 0</a:t>
            </a:r>
          </a:p>
          <a:p xmlns:a="http://schemas.openxmlformats.org/drawingml/2006/main">
            <a:r>
              <a:t>AstraZeneca / 2015-19 / NCT02551159 / AstraZeneca / 1</a:t>
            </a:r>
          </a:p>
          <a:p xmlns:a="http://schemas.openxmlformats.org/drawingml/2006/main">
            <a:r>
              <a:t>AstraZeneca / 2015-19 / NCT03920293 / Alexion Pharmaceuticals, Inc. / 0</a:t>
            </a:r>
          </a:p>
          <a:p xmlns:a="http://schemas.openxmlformats.org/drawingml/2006/main">
            <a:r>
              <a:t>AstraZeneca / 2015-19 / NCT03877237 / AstraZeneca / 0</a:t>
            </a:r>
          </a:p>
          <a:p xmlns:a="http://schemas.openxmlformats.org/drawingml/2006/main">
            <a:r>
              <a:t>AstraZeneca / 2015-19 / NCT03706690 / AstraZeneca / 1</a:t>
            </a:r>
          </a:p>
          <a:p xmlns:a="http://schemas.openxmlformats.org/drawingml/2006/main">
            <a:r>
              <a:t>AstraZeneca / 2015-19 / NCT03528694 / AstraZeneca / 0</a:t>
            </a:r>
          </a:p>
          <a:p xmlns:a="http://schemas.openxmlformats.org/drawingml/2006/main">
            <a:r>
              <a:t>AstraZeneca / 2015-19 / NCT03682068 / AstraZeneca / 1</a:t>
            </a:r>
          </a:p>
          <a:p xmlns:a="http://schemas.openxmlformats.org/drawingml/2006/main">
            <a:r>
              <a:t>AstraZeneca / 2015-19 / NCT02352948 / AstraZeneca / 0</a:t>
            </a:r>
          </a:p>
          <a:p xmlns:a="http://schemas.openxmlformats.org/drawingml/2006/main">
            <a:r>
              <a:t>AstraZeneca / 2015-19 / NCT03557307 / AstraZeneca / 0</a:t>
            </a:r>
          </a:p>
          <a:p xmlns:a="http://schemas.openxmlformats.org/drawingml/2006/main">
            <a:r>
              <a:t>AstraZeneca / 2015-19 / NCT03875235 / AstraZeneca / 1</a:t>
            </a:r>
          </a:p>
          <a:p xmlns:a="http://schemas.openxmlformats.org/drawingml/2006/main">
            <a:r>
              <a:t>AstraZeneca / 2015-19 / NCT03043872 / AstraZeneca / 0</a:t>
            </a:r>
          </a:p>
          <a:p xmlns:a="http://schemas.openxmlformats.org/drawingml/2006/main">
            <a:r>
              <a:t>AstraZeneca / 2015-19 / NCT02419612 / AstraZeneca / 0</a:t>
            </a:r>
          </a:p>
          <a:p xmlns:a="http://schemas.openxmlformats.org/drawingml/2006/main">
            <a:r>
              <a:t>AstraZeneca / 2015-19 / NCT03056040 / Alexion Pharmaceuticals, Inc. / 0</a:t>
            </a:r>
          </a:p>
          <a:p xmlns:a="http://schemas.openxmlformats.org/drawingml/2006/main">
            <a:r>
              <a:t>AstraZeneca / 2015-19 / NCT03401229 / AstraZeneca / 0</a:t>
            </a:r>
          </a:p>
          <a:p xmlns:a="http://schemas.openxmlformats.org/drawingml/2006/main">
            <a:r>
              <a:t>AstraZeneca / 2015-19 / NCT03298451 / AstraZeneca / 1</a:t>
            </a:r>
          </a:p>
          <a:p xmlns:a="http://schemas.openxmlformats.org/drawingml/2006/main">
            <a:r>
              <a:t>AstraZeneca / 2015-19 / NCT03170271 / AstraZeneca / 0</a:t>
            </a:r>
          </a:p>
          <a:p xmlns:a="http://schemas.openxmlformats.org/drawingml/2006/main">
            <a:r>
              <a:t>AstraZeneca / 2015-19 / NCT03106987 / AstraZeneca / 0</a:t>
            </a:r>
          </a:p>
          <a:p xmlns:a="http://schemas.openxmlformats.org/drawingml/2006/main">
            <a:r>
              <a:t>AstraZeneca / 2015-19 / NCT03759366 / Alexion Pharmaceuticals, Inc. / 0</a:t>
            </a:r>
          </a:p>
          <a:p xmlns:a="http://schemas.openxmlformats.org/drawingml/2006/main">
            <a:r>
              <a:t>AstraZeneca / 2015-19 / NCT03162055 / AstraZeneca / 0</a:t>
            </a:r>
          </a:p>
          <a:p xmlns:a="http://schemas.openxmlformats.org/drawingml/2006/main">
            <a:r>
              <a:t>AstraZeneca / 2015-19 / NCT02446912 / AstraZeneca / 0</a:t>
            </a:r>
          </a:p>
          <a:p xmlns:a="http://schemas.openxmlformats.org/drawingml/2006/main">
            <a:r>
              <a:t>AstraZeneca / 2015-19 / NCT02902809 / AstraZeneca / 0</a:t>
            </a:r>
          </a:p>
          <a:p xmlns:a="http://schemas.openxmlformats.org/drawingml/2006/main">
            <a:r>
              <a:t>AstraZeneca / 2015-19 / NCT04075292 / AstraZeneca / 0</a:t>
            </a:r>
          </a:p>
          <a:p xmlns:a="http://schemas.openxmlformats.org/drawingml/2006/main">
            <a:r>
              <a:t>AstraZeneca / 2015-19 / NCT03286842 / AstraZeneca / 0</a:t>
            </a:r>
          </a:p>
          <a:p xmlns:a="http://schemas.openxmlformats.org/drawingml/2006/main">
            <a:r>
              <a:t>AstraZeneca / 2015-19 / NCT03199053 / AstraZeneca / 1</a:t>
            </a:r>
          </a:p>
          <a:p xmlns:a="http://schemas.openxmlformats.org/drawingml/2006/main">
            <a:r>
              <a:t>AstraZeneca / 2015-19 / NCT04053634 / AstraZeneca / 1</a:t>
            </a:r>
          </a:p>
          <a:p xmlns:a="http://schemas.openxmlformats.org/drawingml/2006/main">
            <a:r>
              <a:t>AstraZeneca / 2015-19 / NCT03534453 / AstraZeneca / 0</a:t>
            </a:r>
          </a:p>
          <a:p xmlns:a="http://schemas.openxmlformats.org/drawingml/2006/main">
            <a:r>
              <a:t>AstraZeneca / 2015-19 / NCT03402841 / AstraZeneca / 0</a:t>
            </a:r>
          </a:p>
          <a:p xmlns:a="http://schemas.openxmlformats.org/drawingml/2006/main">
            <a:r>
              <a:t>AstraZeneca / 2015-19 / NCT02417961 / AstraZeneca / 0</a:t>
            </a:r>
          </a:p>
          <a:p xmlns:a="http://schemas.openxmlformats.org/drawingml/2006/main">
            <a:r>
              <a:t>AstraZeneca / 2015-19 / NCT02814643 / AstraZeneca / 0</a:t>
            </a:r>
          </a:p>
          <a:p xmlns:a="http://schemas.openxmlformats.org/drawingml/2006/main">
            <a:r>
              <a:t>AstraZeneca / 2015-19 / NCT02681094 / AstraZeneca / 0</a:t>
            </a:r>
          </a:p>
          <a:p xmlns:a="http://schemas.openxmlformats.org/drawingml/2006/main">
            <a:r>
              <a:t>AstraZeneca / 2015-19 / NCT04157348 / AstraZeneca / 0</a:t>
            </a:r>
          </a:p>
          <a:p xmlns:a="http://schemas.openxmlformats.org/drawingml/2006/main">
            <a:r>
              <a:t>AstraZeneca / 2015-19 / NCT03959488 / AstraZeneca / 0</a:t>
            </a:r>
          </a:p>
          <a:p xmlns:a="http://schemas.openxmlformats.org/drawingml/2006/main">
            <a:r>
              <a:t>AstraZeneca / 2015-19 / NCT02547935 / AstraZeneca / 0</a:t>
            </a:r>
          </a:p>
          <a:p xmlns:a="http://schemas.openxmlformats.org/drawingml/2006/main">
            <a:r>
              <a:t>AstraZeneca / 2015-19 / NCT03127644 / AstraZeneca / 0</a:t>
            </a:r>
          </a:p>
          <a:p xmlns:a="http://schemas.openxmlformats.org/drawingml/2006/main">
            <a:r>
              <a:t>AstraZeneca / 2015-19 / NCT03406078 / AstraZeneca / 0</a:t>
            </a:r>
          </a:p>
          <a:p xmlns:a="http://schemas.openxmlformats.org/drawingml/2006/main">
            <a:r>
              <a:t>AstraZeneca / 2015-19 / NCT02796677 / AstraZeneca / 0</a:t>
            </a:r>
          </a:p>
          <a:p xmlns:a="http://schemas.openxmlformats.org/drawingml/2006/main">
            <a:r>
              <a:t>AstraZeneca / 2015-19 / NCT02670642 / AstraZeneca / 0</a:t>
            </a:r>
          </a:p>
          <a:p xmlns:a="http://schemas.openxmlformats.org/drawingml/2006/main">
            <a:r>
              <a:t>AstraZeneca / 2015-19 / NCT03737643 / AstraZeneca / 0</a:t>
            </a:r>
          </a:p>
          <a:p xmlns:a="http://schemas.openxmlformats.org/drawingml/2006/main">
            <a:r>
              <a:t>AstraZeneca / 2015-19 / NCT02997501 / AstraZeneca / 0</a:t>
            </a:r>
          </a:p>
          <a:p xmlns:a="http://schemas.openxmlformats.org/drawingml/2006/main">
            <a:r>
              <a:t>AstraZeneca / 2015-19 / NCT03658213 / AstraZeneca / 0</a:t>
            </a:r>
          </a:p>
          <a:p xmlns:a="http://schemas.openxmlformats.org/drawingml/2006/main">
            <a:r>
              <a:t>AstraZeneca / 2015-19 / NCT02392676 / AstraZeneca / 0</a:t>
            </a:r>
          </a:p>
          <a:p xmlns:a="http://schemas.openxmlformats.org/drawingml/2006/main">
            <a:r>
              <a:t>AstraZeneca / 2015-19 / NCT03354429 / AstraZeneca / 1</a:t>
            </a:r>
          </a:p>
          <a:p xmlns:a="http://schemas.openxmlformats.org/drawingml/2006/main">
            <a:r>
              <a:t>AstraZeneca / 2015-19 / NCT03403205 / Alexion Pharmaceuticals, Inc. / 0</a:t>
            </a:r>
          </a:p>
          <a:p xmlns:a="http://schemas.openxmlformats.org/drawingml/2006/main">
            <a:r>
              <a:t>AstraZeneca / 2015-19 / NCT03813407 / AstraZeneca / 1</a:t>
            </a:r>
          </a:p>
          <a:p xmlns:a="http://schemas.openxmlformats.org/drawingml/2006/main">
            <a:r>
              <a:t>AstraZeneca / 2015-19 / NCT02413398 / AstraZeneca / 0</a:t>
            </a:r>
          </a:p>
          <a:p xmlns:a="http://schemas.openxmlformats.org/drawingml/2006/main">
            <a:r>
              <a:t>AstraZeneca / 2015-19 / NCT03608358 / AstraZeneca / 0</a:t>
            </a:r>
          </a:p>
          <a:p xmlns:a="http://schemas.openxmlformats.org/drawingml/2006/main">
            <a:r>
              <a:t>AstraZeneca / 2015-19 / NCT02946463 / Alexion Pharmaceuticals, Inc. / 0</a:t>
            </a:r>
          </a:p>
          <a:p xmlns:a="http://schemas.openxmlformats.org/drawingml/2006/main">
            <a:r>
              <a:t>AstraZeneca / 2015-19 / NCT03036150 / AstraZeneca / 1</a:t>
            </a:r>
          </a:p>
          <a:p xmlns:a="http://schemas.openxmlformats.org/drawingml/2006/main">
            <a:r>
              <a:t>AstraZeneca / 2015-19 / NCT03036124 / AstraZeneca / 1</a:t>
            </a:r>
          </a:p>
          <a:p xmlns:a="http://schemas.openxmlformats.org/drawingml/2006/main">
            <a:r>
              <a:t>AstraZeneca / 2015-19 / NCT03997123 / AstraZeneca / 1</a:t>
            </a:r>
          </a:p>
          <a:p xmlns:a="http://schemas.openxmlformats.org/drawingml/2006/main">
            <a:r>
              <a:t>AstraZeneca / 2015-19 / NCT04035486 / AstraZeneca / 1</a:t>
            </a:r>
          </a:p>
          <a:p xmlns:a="http://schemas.openxmlformats.org/drawingml/2006/main">
            <a:r>
              <a:t>AstraZeneca / 2015-19 / NCT02551874 / AstraZeneca / 0</a:t>
            </a:r>
          </a:p>
          <a:p xmlns:a="http://schemas.openxmlformats.org/drawingml/2006/main">
            <a:r>
              <a:t>AstraZeneca / 2015-19 / NCT03186209 / AstraZeneca / 0</a:t>
            </a:r>
          </a:p>
          <a:p xmlns:a="http://schemas.openxmlformats.org/drawingml/2006/main">
            <a:r>
              <a:t>AstraZeneca / 2015-19 / NCT02474355 / AstraZeneca / 0</a:t>
            </a:r>
          </a:p>
          <a:p xmlns:a="http://schemas.openxmlformats.org/drawingml/2006/main">
            <a:r>
              <a:t>AstraZeneca / 2015-19 / NCT03706079 / AstraZeneca / 0</a:t>
            </a:r>
          </a:p>
          <a:p xmlns:a="http://schemas.openxmlformats.org/drawingml/2006/main">
            <a:r>
              <a:t>AstraZeneca / 2015-19 / NCT03084471 / AstraZeneca / 0</a:t>
            </a:r>
          </a:p>
          <a:p xmlns:a="http://schemas.openxmlformats.org/drawingml/2006/main">
            <a:r>
              <a:t>AstraZeneca / 2015-19 / NCT03164616 / AstraZeneca / 0</a:t>
            </a:r>
          </a:p>
          <a:p xmlns:a="http://schemas.openxmlformats.org/drawingml/2006/main">
            <a:r>
              <a:t>AstraZeneca / 2015-19 / NCT02949128 / Alexion Pharmaceuticals, Inc. / 0</a:t>
            </a:r>
          </a:p>
          <a:p xmlns:a="http://schemas.openxmlformats.org/drawingml/2006/main">
            <a:r>
              <a:t>AstraZeneca / 2015-19 / NCT02725593 / AstraZeneca / 0</a:t>
            </a:r>
          </a:p>
          <a:p xmlns:a="http://schemas.openxmlformats.org/drawingml/2006/main">
            <a:r>
              <a:t>AstraZeneca / 2015-19 / NCT04191304 / AstraZeneca / 1</a:t>
            </a:r>
          </a:p>
          <a:p xmlns:a="http://schemas.openxmlformats.org/drawingml/2006/main">
            <a:r>
              <a:t>AstraZeneca / 2015-19 / NCT02582814 / AstraZeneca / 0</a:t>
            </a:r>
          </a:p>
          <a:p xmlns:a="http://schemas.openxmlformats.org/drawingml/2006/main">
            <a:r>
              <a:t>AstraZeneca / 2015-19 / NCT02460978 / AstraZeneca / 0</a:t>
            </a:r>
          </a:p>
          <a:p xmlns:a="http://schemas.openxmlformats.org/drawingml/2006/main">
            <a:r>
              <a:t>AstraZeneca / 2015-19 / NCT02434497 / AstraZeneca / 0</a:t>
            </a:r>
          </a:p>
          <a:p xmlns:a="http://schemas.openxmlformats.org/drawingml/2006/main">
            <a:r>
              <a:t>AstraZeneca / 2015-19 / NCT03927157 / AstraZeneca / 0</a:t>
            </a:r>
          </a:p>
          <a:p xmlns:a="http://schemas.openxmlformats.org/drawingml/2006/main">
            <a:r>
              <a:t>AstraZeneca / 2015-19 / NCT03778957 / AstraZeneca / 1</a:t>
            </a:r>
          </a:p>
          <a:p xmlns:a="http://schemas.openxmlformats.org/drawingml/2006/main">
            <a:r>
              <a:t>AstraZeneca / 2015-19 / NCT03528681 / AstraZeneca / 1</a:t>
            </a:r>
          </a:p>
          <a:p xmlns:a="http://schemas.openxmlformats.org/drawingml/2006/main">
            <a:r>
              <a:t>AstraZeneca / 2015-19 / NCT03830866 / AstraZeneca / 1</a:t>
            </a:r>
          </a:p>
          <a:p xmlns:a="http://schemas.openxmlformats.org/drawingml/2006/main">
            <a:r>
              <a:t>AstraZeneca / 2015-19 / NCT03131219 / Alexion Pharmaceuticals, Inc. / 0</a:t>
            </a:r>
          </a:p>
          <a:p xmlns:a="http://schemas.openxmlformats.org/drawingml/2006/main">
            <a:r>
              <a:t>AstraZeneca / 2015-19 / NCT02369874 / AstraZeneca / 0</a:t>
            </a:r>
          </a:p>
          <a:p xmlns:a="http://schemas.openxmlformats.org/drawingml/2006/main">
            <a:r>
              <a:t>AstraZeneca / 2015-19 / NCT02918071 / AstraZeneca / 0</a:t>
            </a:r>
          </a:p>
          <a:p xmlns:a="http://schemas.openxmlformats.org/drawingml/2006/main">
            <a:r>
              <a:t>AstraZeneca / 2015-19 / NCT02463071 / AstraZeneca / 0</a:t>
            </a:r>
          </a:p>
          <a:p xmlns:a="http://schemas.openxmlformats.org/drawingml/2006/main">
            <a:r>
              <a:t>AstraZeneca / 2015-19 / NCT04008706 / AstraZeneca / 0</a:t>
            </a:r>
          </a:p>
          <a:p xmlns:a="http://schemas.openxmlformats.org/drawingml/2006/main">
            <a:r>
              <a:t>AstraZeneca / 2015-19 / NCT02446899 / AstraZeneca / 0</a:t>
            </a:r>
          </a:p>
          <a:p xmlns:a="http://schemas.openxmlformats.org/drawingml/2006/main">
            <a:r>
              <a:t>AstraZeneca / 2015-19 / NCT03748823 / Alexion Pharmaceuticals, Inc. / 0</a:t>
            </a:r>
          </a:p>
          <a:p xmlns:a="http://schemas.openxmlformats.org/drawingml/2006/main">
            <a:r>
              <a:t>AstraZeneca / 2015-19 / NCT04201262 / Alexion Pharmaceuticals, Inc. / 0</a:t>
            </a:r>
          </a:p>
          <a:p xmlns:a="http://schemas.openxmlformats.org/drawingml/2006/main">
            <a:r>
              <a:t>AstraZeneca / 2015-19 / NCT02453282 / AstraZeneca / 0</a:t>
            </a:r>
          </a:p>
          <a:p xmlns:a="http://schemas.openxmlformats.org/drawingml/2006/main">
            <a:r>
              <a:t>AstraZeneca / 2015-19 / NCT03968978 / AstraZeneca / 0</a:t>
            </a:r>
          </a:p>
          <a:p xmlns:a="http://schemas.openxmlformats.org/drawingml/2006/main">
            <a:r>
              <a:t>AstraZeneca / 2015-19 / NCT04155424 / Alexion Pharmaceuticals, Inc. / 0</a:t>
            </a:r>
          </a:p>
          <a:p xmlns:a="http://schemas.openxmlformats.org/drawingml/2006/main">
            <a:r>
              <a:t>AstraZeneca / 2015-19 / NCT03759288 / AstraZeneca / 1</a:t>
            </a:r>
          </a:p>
          <a:p xmlns:a="http://schemas.openxmlformats.org/drawingml/2006/main">
            <a:r>
              <a:t>AstraZeneca / 2015-19 / NCT03521154 / AstraZeneca / 1</a:t>
            </a:r>
          </a:p>
          <a:p xmlns:a="http://schemas.openxmlformats.org/drawingml/2006/main">
            <a:r>
              <a:t>AstraZeneca / 2015-19 / NCT03619213 / AstraZeneca / 0</a:t>
            </a:r>
          </a:p>
          <a:p xmlns:a="http://schemas.openxmlformats.org/drawingml/2006/main">
            <a:r>
              <a:t>AstraZeneca / 2015-19 / NCT02516241 / AstraZeneca / 0</a:t>
            </a:r>
          </a:p>
          <a:p xmlns:a="http://schemas.openxmlformats.org/drawingml/2006/main">
            <a:r>
              <a:t>AstraZeneca / 2015-19 / NCT02542293 / AstraZeneca / 1</a:t>
            </a:r>
          </a:p>
          <a:p xmlns:a="http://schemas.openxmlformats.org/drawingml/2006/main">
            <a:r>
              <a:t>AstraZeneca / 2015-19 / NCT03347279 / AstraZeneca / 0</a:t>
            </a:r>
          </a:p>
          <a:p xmlns:a="http://schemas.openxmlformats.org/drawingml/2006/main">
            <a:r>
              <a:t>AstraZeneca / 2015-19 / NCT02783573 / AstraZeneca / 0</a:t>
            </a:r>
          </a:p>
          <a:p xmlns:a="http://schemas.openxmlformats.org/drawingml/2006/main">
            <a:r>
              <a:t>AstraZeneca / 2015-19 / NCT02454933 / AstraZeneca / 0</a:t>
            </a:r>
          </a:p>
          <a:p xmlns:a="http://schemas.openxmlformats.org/drawingml/2006/main">
            <a:r>
              <a:t>AstraZeneca / 2015-19 / NCT04048343 / AstraZeneca / 0</a:t>
            </a:r>
          </a:p>
          <a:p xmlns:a="http://schemas.openxmlformats.org/drawingml/2006/main">
            <a:r>
              <a:t>AstraZeneca / 2015-19 / NCT03847428 / AstraZeneca / 1</a:t>
            </a:r>
          </a:p>
          <a:p xmlns:a="http://schemas.openxmlformats.org/drawingml/2006/main">
            <a:r>
              <a:t>AstraZeneca / 2015-19 / NCT03553563 / AstraZeneca / 0</a:t>
            </a:r>
          </a:p>
          <a:p xmlns:a="http://schemas.openxmlformats.org/drawingml/2006/main">
            <a:r>
              <a:t>AstraZeneca / 2015-19 / NCT02972658 / AstraZeneca / 0</a:t>
            </a:r>
          </a:p>
          <a:p xmlns:a="http://schemas.openxmlformats.org/drawingml/2006/main">
            <a:r>
              <a:t>AstraZeneca / 2021-25 / NCT06067828 / AstraZeneca / 0</a:t>
            </a:r>
          </a:p>
          <a:p xmlns:a="http://schemas.openxmlformats.org/drawingml/2006/main">
            <a:r>
              <a:t>AstraZeneca / 2021-25 / NCT06692738 / AstraZeneca / 1</a:t>
            </a:r>
          </a:p>
          <a:p xmlns:a="http://schemas.openxmlformats.org/drawingml/2006/main">
            <a:r>
              <a:t>AstraZeneca / 2021-25 / NCT05573464 / AstraZeneca / 0</a:t>
            </a:r>
          </a:p>
          <a:p xmlns:a="http://schemas.openxmlformats.org/drawingml/2006/main">
            <a:r>
              <a:t>AstraZeneca / 2021-25 / NCT04851964 / AstraZeneca / 0</a:t>
            </a:r>
          </a:p>
          <a:p xmlns:a="http://schemas.openxmlformats.org/drawingml/2006/main">
            <a:r>
              <a:t>AstraZeneca / 2021-25 / NCT06350097 / AstraZeneca / 1</a:t>
            </a:r>
          </a:p>
          <a:p xmlns:a="http://schemas.openxmlformats.org/drawingml/2006/main">
            <a:r>
              <a:t>AstraZeneca / 2021-25 / NCT05774951 / AstraZeneca / 1</a:t>
            </a:r>
          </a:p>
          <a:p xmlns:a="http://schemas.openxmlformats.org/drawingml/2006/main">
            <a:r>
              <a:t>AstraZeneca / 2021-25 / NCT05104866 / AstraZeneca / 1</a:t>
            </a:r>
          </a:p>
          <a:p xmlns:a="http://schemas.openxmlformats.org/drawingml/2006/main">
            <a:r>
              <a:t>AstraZeneca / 2021-25 / NCT04973449 / AstraZeneca / 0</a:t>
            </a:r>
          </a:p>
          <a:p xmlns:a="http://schemas.openxmlformats.org/drawingml/2006/main">
            <a:r>
              <a:t>AstraZeneca / 2021-25 / NCT05835310 / AstraZeneca / 0</a:t>
            </a:r>
          </a:p>
          <a:p xmlns:a="http://schemas.openxmlformats.org/drawingml/2006/main">
            <a:r>
              <a:t>AstraZeneca / 2021-25 / NCT05924880 / AstraZeneca / 0</a:t>
            </a:r>
          </a:p>
          <a:p xmlns:a="http://schemas.openxmlformats.org/drawingml/2006/main">
            <a:r>
              <a:t>AstraZeneca / 2021-25 / NCT04739761 / AstraZeneca / 0</a:t>
            </a:r>
          </a:p>
          <a:p xmlns:a="http://schemas.openxmlformats.org/drawingml/2006/main">
            <a:r>
              <a:t>AstraZeneca / 2021-25 / NCT05006573 / AstraZeneca / 1</a:t>
            </a:r>
          </a:p>
          <a:p xmlns:a="http://schemas.openxmlformats.org/drawingml/2006/main">
            <a:r>
              <a:t>AstraZeneca / 2021-25 / NCT06268873 / AstraZeneca / 1</a:t>
            </a:r>
          </a:p>
          <a:p xmlns:a="http://schemas.openxmlformats.org/drawingml/2006/main">
            <a:r>
              <a:t>AstraZeneca / 2021-25 / NCT06467357 / AstraZeneca / 1</a:t>
            </a:r>
          </a:p>
          <a:p xmlns:a="http://schemas.openxmlformats.org/drawingml/2006/main">
            <a:r>
              <a:t>AstraZeneca / 2021-25 / NCT05267613 / AstraZeneca / 0</a:t>
            </a:r>
          </a:p>
          <a:p xmlns:a="http://schemas.openxmlformats.org/drawingml/2006/main">
            <a:r>
              <a:t>AstraZeneca / 2021-25 / NCT06449001 / Alexion Pharmaceuticals, Inc. / 0</a:t>
            </a:r>
          </a:p>
          <a:p xmlns:a="http://schemas.openxmlformats.org/drawingml/2006/main">
            <a:r>
              <a:t>AstraZeneca / 2021-25 / NCT06357533 / AstraZeneca / 1</a:t>
            </a:r>
          </a:p>
          <a:p xmlns:a="http://schemas.openxmlformats.org/drawingml/2006/main">
            <a:r>
              <a:t>AstraZeneca / 2021-25 / NCT06868277 / AstraZeneca / 0</a:t>
            </a:r>
          </a:p>
          <a:p xmlns:a="http://schemas.openxmlformats.org/drawingml/2006/main">
            <a:r>
              <a:t>AstraZeneca / 2021-25 / NCT05450692 / AstraZeneca / 1</a:t>
            </a:r>
          </a:p>
          <a:p xmlns:a="http://schemas.openxmlformats.org/drawingml/2006/main">
            <a:r>
              <a:t>AstraZeneca / 2021-25 / NCT05171816 / AstraZeneca / 0</a:t>
            </a:r>
          </a:p>
          <a:p xmlns:a="http://schemas.openxmlformats.org/drawingml/2006/main">
            <a:r>
              <a:t>AstraZeneca / 2021-25 / NCT05047523 / Alexion Pharmaceuticals, Inc. / 0</a:t>
            </a:r>
          </a:p>
          <a:p xmlns:a="http://schemas.openxmlformats.org/drawingml/2006/main">
            <a:r>
              <a:t>AstraZeneca / 2021-25 / NCT06465485 / AstraZeneca / 0</a:t>
            </a:r>
          </a:p>
          <a:p xmlns:a="http://schemas.openxmlformats.org/drawingml/2006/main">
            <a:r>
              <a:t>AstraZeneca / 2021-25 / NCT04924608 / AstraZeneca / 0</a:t>
            </a:r>
          </a:p>
          <a:p xmlns:a="http://schemas.openxmlformats.org/drawingml/2006/main">
            <a:r>
              <a:t>AstraZeneca / 2021-25 / NCT07218809 / AstraZeneca / 1</a:t>
            </a:r>
          </a:p>
          <a:p xmlns:a="http://schemas.openxmlformats.org/drawingml/2006/main">
            <a:r>
              <a:t>AstraZeneca / 2021-25 / NCT06724809 / Alexion Pharmaceuticals, Inc. / 0</a:t>
            </a:r>
          </a:p>
          <a:p xmlns:a="http://schemas.openxmlformats.org/drawingml/2006/main">
            <a:r>
              <a:t>AstraZeneca / 2021-25 / NCT06023589 / AstraZeneca / 0</a:t>
            </a:r>
          </a:p>
          <a:p xmlns:a="http://schemas.openxmlformats.org/drawingml/2006/main">
            <a:r>
              <a:t>AstraZeneca / 2021-25 / NCT05261399 / AstraZeneca / 0</a:t>
            </a:r>
          </a:p>
          <a:p xmlns:a="http://schemas.openxmlformats.org/drawingml/2006/main">
            <a:r>
              <a:t>AstraZeneca / 2021-25 / NCT06830798 / Alexion Pharmaceuticals, Inc. / 0</a:t>
            </a:r>
          </a:p>
          <a:p xmlns:a="http://schemas.openxmlformats.org/drawingml/2006/main">
            <a:r>
              <a:t>AstraZeneca / 2021-25 / NCT06344104 / AstraZeneca / 1</a:t>
            </a:r>
          </a:p>
          <a:p xmlns:a="http://schemas.openxmlformats.org/drawingml/2006/main">
            <a:r>
              <a:t>AstraZeneca / 2021-25 / NCT06194825 / AstraZeneca / 0</a:t>
            </a:r>
          </a:p>
          <a:p xmlns:a="http://schemas.openxmlformats.org/drawingml/2006/main">
            <a:r>
              <a:t>AstraZeneca / 2021-25 / NCT06040086 / AstraZeneca / 1</a:t>
            </a:r>
          </a:p>
          <a:p xmlns:a="http://schemas.openxmlformats.org/drawingml/2006/main">
            <a:r>
              <a:t>AstraZeneca / 2021-25 / NCT06883305 / AstraZeneca / 1</a:t>
            </a:r>
          </a:p>
          <a:p xmlns:a="http://schemas.openxmlformats.org/drawingml/2006/main">
            <a:r>
              <a:t>AstraZeneca / 2021-25 / NCT06878261 / AstraZeneca / 0</a:t>
            </a:r>
          </a:p>
          <a:p xmlns:a="http://schemas.openxmlformats.org/drawingml/2006/main">
            <a:r>
              <a:t>AstraZeneca / 2021-25 / NCT04999020 / Alexion Pharmaceuticals, Inc. / 0</a:t>
            </a:r>
          </a:p>
          <a:p xmlns:a="http://schemas.openxmlformats.org/drawingml/2006/main">
            <a:r>
              <a:t>AstraZeneca / 2021-25 / NCT06746116 / AstraZeneca / 0</a:t>
            </a:r>
          </a:p>
          <a:p xmlns:a="http://schemas.openxmlformats.org/drawingml/2006/main">
            <a:r>
              <a:t>AstraZeneca / 2021-25 / NCT07024563 / Alexion Pharmaceuticals, Inc. / 0</a:t>
            </a:r>
          </a:p>
          <a:p xmlns:a="http://schemas.openxmlformats.org/drawingml/2006/main">
            <a:r>
              <a:t>AstraZeneca / 2021-25 / NCT05113251 / AstraZeneca / 1</a:t>
            </a:r>
          </a:p>
          <a:p xmlns:a="http://schemas.openxmlformats.org/drawingml/2006/main">
            <a:r>
              <a:t>AstraZeneca / 2021-25 / NCT04743804 / Alexion Pharmaceuticals, Inc. / 0</a:t>
            </a:r>
          </a:p>
          <a:p xmlns:a="http://schemas.openxmlformats.org/drawingml/2006/main">
            <a:r>
              <a:t>AstraZeneca / 2021-25 / NCT06103864 / AstraZeneca / 1</a:t>
            </a:r>
          </a:p>
          <a:p xmlns:a="http://schemas.openxmlformats.org/drawingml/2006/main">
            <a:r>
              <a:t>AstraZeneca / 2021-25 / NCT07291037 / AstraZeneca / 1</a:t>
            </a:r>
          </a:p>
          <a:p xmlns:a="http://schemas.openxmlformats.org/drawingml/2006/main">
            <a:r>
              <a:t>AstraZeneca / 2021-25 / NCT05398263 / AstraZeneca / 1</a:t>
            </a:r>
          </a:p>
          <a:p xmlns:a="http://schemas.openxmlformats.org/drawingml/2006/main">
            <a:r>
              <a:t>AstraZeneca / 2021-25 / NCT06564844 / AstraZeneca / 0</a:t>
            </a:r>
          </a:p>
          <a:p xmlns:a="http://schemas.openxmlformats.org/drawingml/2006/main">
            <a:r>
              <a:t>AstraZeneca / 2021-25 / NCT05138133 / AstraZeneca / 1</a:t>
            </a:r>
          </a:p>
          <a:p xmlns:a="http://schemas.openxmlformats.org/drawingml/2006/main">
            <a:r>
              <a:t>AstraZeneca / 2021-25 / NCT05952557 / AstraZeneca / 1</a:t>
            </a:r>
          </a:p>
          <a:p xmlns:a="http://schemas.openxmlformats.org/drawingml/2006/main">
            <a:r>
              <a:t>AstraZeneca / 2021-25 / NCT06034743 / AstraZeneca / 1</a:t>
            </a:r>
          </a:p>
          <a:p xmlns:a="http://schemas.openxmlformats.org/drawingml/2006/main">
            <a:r>
              <a:t>AstraZeneca / 2021-25 / NCT06075095 / AstraZeneca / 1</a:t>
            </a:r>
          </a:p>
          <a:p xmlns:a="http://schemas.openxmlformats.org/drawingml/2006/main">
            <a:r>
              <a:t>AstraZeneca / 2021-25 / NCT05886244 / Alexion Pharmaceuticals, Inc. / 0</a:t>
            </a:r>
          </a:p>
          <a:p xmlns:a="http://schemas.openxmlformats.org/drawingml/2006/main">
            <a:r>
              <a:t>AstraZeneca / 2021-25 / NCT05883644 / AstraZeneca / 0</a:t>
            </a:r>
          </a:p>
          <a:p xmlns:a="http://schemas.openxmlformats.org/drawingml/2006/main">
            <a:r>
              <a:t>AstraZeneca / 2021-25 / NCT05301842 / AstraZeneca / 1</a:t>
            </a:r>
          </a:p>
          <a:p xmlns:a="http://schemas.openxmlformats.org/drawingml/2006/main">
            <a:r>
              <a:t>AstraZeneca / 2021-25 / NCT05048797 / AstraZeneca / 1</a:t>
            </a:r>
          </a:p>
          <a:p xmlns:a="http://schemas.openxmlformats.org/drawingml/2006/main">
            <a:r>
              <a:t>AstraZeneca / 2021-25 / NCT05648110 / AstraZeneca / 0</a:t>
            </a:r>
          </a:p>
          <a:p xmlns:a="http://schemas.openxmlformats.org/drawingml/2006/main">
            <a:r>
              <a:t>AstraZeneca / 2021-25 / NCT06380751 / AstraZeneca / 1</a:t>
            </a:r>
          </a:p>
          <a:p xmlns:a="http://schemas.openxmlformats.org/drawingml/2006/main">
            <a:r>
              <a:t>AstraZeneca / 2021-25 / NCT05166889 / AstraZeneca / 1</a:t>
            </a:r>
          </a:p>
          <a:p xmlns:a="http://schemas.openxmlformats.org/drawingml/2006/main">
            <a:r>
              <a:t>AstraZeneca / 2021-25 / NCT06764186 / AstraZeneca / 0</a:t>
            </a:r>
          </a:p>
          <a:p xmlns:a="http://schemas.openxmlformats.org/drawingml/2006/main">
            <a:r>
              <a:t>AstraZeneca / 2021-25 / NCT06245551 / AstraZeneca / 0</a:t>
            </a:r>
          </a:p>
          <a:p xmlns:a="http://schemas.openxmlformats.org/drawingml/2006/main">
            <a:r>
              <a:t>AstraZeneca / 2021-25 / NCT06635447 / AstraZeneca / 0</a:t>
            </a:r>
          </a:p>
          <a:p xmlns:a="http://schemas.openxmlformats.org/drawingml/2006/main">
            <a:r>
              <a:t>AstraZeneca / 2021-25 / NCT05755932 / AstraZeneca / 0</a:t>
            </a:r>
          </a:p>
          <a:p xmlns:a="http://schemas.openxmlformats.org/drawingml/2006/main">
            <a:r>
              <a:t>AstraZeneca / 2021-25 / NCT04847232 / AstraZeneca / 1</a:t>
            </a:r>
          </a:p>
          <a:p xmlns:a="http://schemas.openxmlformats.org/drawingml/2006/main">
            <a:r>
              <a:t>AstraZeneca / 2021-25 / NCT05583227 / AstraZeneca / 0</a:t>
            </a:r>
          </a:p>
          <a:p xmlns:a="http://schemas.openxmlformats.org/drawingml/2006/main">
            <a:r>
              <a:t>AstraZeneca / 2021-25 / NCT05348577 / AstraZeneca / 1</a:t>
            </a:r>
          </a:p>
          <a:p xmlns:a="http://schemas.openxmlformats.org/drawingml/2006/main">
            <a:r>
              <a:t>AstraZeneca / 2021-25 / NCT05251909 / AstraZeneca / 0</a:t>
            </a:r>
          </a:p>
          <a:p xmlns:a="http://schemas.openxmlformats.org/drawingml/2006/main">
            <a:r>
              <a:t>AstraZeneca / 2021-25 / NCT05057494 / AstraZeneca / 0</a:t>
            </a:r>
          </a:p>
          <a:p xmlns:a="http://schemas.openxmlformats.org/drawingml/2006/main">
            <a:r>
              <a:t>AstraZeneca / 2021-25 / NCT07000357 / AstraZeneca / 1</a:t>
            </a:r>
          </a:p>
          <a:p xmlns:a="http://schemas.openxmlformats.org/drawingml/2006/main">
            <a:r>
              <a:t>AstraZeneca / 2021-25 / NCT06079372 / Alexion Pharmaceuticals, Inc. / 0</a:t>
            </a:r>
          </a:p>
          <a:p xmlns:a="http://schemas.openxmlformats.org/drawingml/2006/main">
            <a:r>
              <a:t>AstraZeneca / 2021-25 / NCT05687266 / AstraZeneca / 1</a:t>
            </a:r>
          </a:p>
          <a:p xmlns:a="http://schemas.openxmlformats.org/drawingml/2006/main">
            <a:r>
              <a:t>AstraZeneca / 2021-25 / NCT05876351 / Alexion Pharmaceuticals, Inc. / 0</a:t>
            </a:r>
          </a:p>
          <a:p xmlns:a="http://schemas.openxmlformats.org/drawingml/2006/main">
            <a:r>
              <a:t>AstraZeneca / 2021-25 / NCT04712903 / AstraZeneca / 0</a:t>
            </a:r>
          </a:p>
          <a:p xmlns:a="http://schemas.openxmlformats.org/drawingml/2006/main">
            <a:r>
              <a:t>AstraZeneca / 2021-25 / NCT05557838 / AstraZeneca / 0</a:t>
            </a:r>
          </a:p>
          <a:p xmlns:a="http://schemas.openxmlformats.org/drawingml/2006/main">
            <a:r>
              <a:t>AstraZeneca / 2021-25 / NCT06079671 / AstraZeneca / 1</a:t>
            </a:r>
          </a:p>
          <a:p xmlns:a="http://schemas.openxmlformats.org/drawingml/2006/main">
            <a:r>
              <a:t>AstraZeneca / 2021-25 / NCT06627647 / AstraZeneca / 1</a:t>
            </a:r>
          </a:p>
          <a:p xmlns:a="http://schemas.openxmlformats.org/drawingml/2006/main">
            <a:r>
              <a:t>AstraZeneca / 2021-25 / NCT05926349 / AstraZeneca / 0</a:t>
            </a:r>
          </a:p>
          <a:p xmlns:a="http://schemas.openxmlformats.org/drawingml/2006/main">
            <a:r>
              <a:t>AstraZeneca / 2021-25 / NCT05629585 / AstraZeneca / 0</a:t>
            </a:r>
          </a:p>
          <a:p xmlns:a="http://schemas.openxmlformats.org/drawingml/2006/main">
            <a:r>
              <a:t>AstraZeneca / 2021-25 / NCT06183931 / Alexion Pharmaceuticals, Inc. / 0</a:t>
            </a:r>
          </a:p>
          <a:p xmlns:a="http://schemas.openxmlformats.org/drawingml/2006/main">
            <a:r>
              <a:t>AstraZeneca / 2021-25 / NCT06079281 / Alexion Pharmaceuticals, Inc. / 0</a:t>
            </a:r>
          </a:p>
          <a:p xmlns:a="http://schemas.openxmlformats.org/drawingml/2006/main">
            <a:r>
              <a:t>AstraZeneca / 2021-25 / NCT06989112 / AstraZeneca / 0</a:t>
            </a:r>
          </a:p>
          <a:p xmlns:a="http://schemas.openxmlformats.org/drawingml/2006/main">
            <a:r>
              <a:t>AstraZeneca / 2021-25 / NCT07221253 / AstraZeneca / 1</a:t>
            </a:r>
          </a:p>
          <a:p xmlns:a="http://schemas.openxmlformats.org/drawingml/2006/main">
            <a:r>
              <a:t>AstraZeneca / 2021-25 / NCT06109779 / AstraZeneca / 1</a:t>
            </a:r>
          </a:p>
          <a:p xmlns:a="http://schemas.openxmlformats.org/drawingml/2006/main">
            <a:r>
              <a:t>AstraZeneca / 2021-25 / NCT05202262 / AstraZeneca / 0</a:t>
            </a:r>
          </a:p>
          <a:p xmlns:a="http://schemas.openxmlformats.org/drawingml/2006/main">
            <a:r>
              <a:t>AstraZeneca / 2021-25 / NCT06764160 / Alexion Pharmaceuticals, Inc. / 0</a:t>
            </a:r>
          </a:p>
          <a:p xmlns:a="http://schemas.openxmlformats.org/drawingml/2006/main">
            <a:r>
              <a:t>AstraZeneca / 2021-25 / NCT05644561 / Alexion Pharmaceuticals, Inc. / 0</a:t>
            </a:r>
          </a:p>
          <a:p xmlns:a="http://schemas.openxmlformats.org/drawingml/2006/main">
            <a:r>
              <a:t>AstraZeneca / 2021-25 / NCT04877691 / AstraZeneca / 0</a:t>
            </a:r>
          </a:p>
          <a:p xmlns:a="http://schemas.openxmlformats.org/drawingml/2006/main">
            <a:r>
              <a:t>AstraZeneca / 2021-25 / NCT06079359 / Alexion Pharmaceuticals, Inc. / 0</a:t>
            </a:r>
          </a:p>
          <a:p xmlns:a="http://schemas.openxmlformats.org/drawingml/2006/main">
            <a:r>
              <a:t>AstraZeneca / 2021-25 / NCT06307652 / AstraZeneca / 1</a:t>
            </a:r>
          </a:p>
          <a:p xmlns:a="http://schemas.openxmlformats.org/drawingml/2006/main">
            <a:r>
              <a:t>AstraZeneca / 2021-25 / NCT05274815 / AstraZeneca / 0</a:t>
            </a:r>
          </a:p>
          <a:p xmlns:a="http://schemas.openxmlformats.org/drawingml/2006/main">
            <a:r>
              <a:t>AstraZeneca / 2021-25 / NCT05062759 / AstraZeneca / 0</a:t>
            </a:r>
          </a:p>
          <a:p xmlns:a="http://schemas.openxmlformats.org/drawingml/2006/main">
            <a:r>
              <a:t>AstraZeneca / 2021-25 / NCT05850494 / AstraZeneca / 0</a:t>
            </a:r>
          </a:p>
          <a:p xmlns:a="http://schemas.openxmlformats.org/drawingml/2006/main">
            <a:r>
              <a:t>AstraZeneca / 2021-25 / NCT06112379 / AstraZeneca / 1</a:t>
            </a:r>
          </a:p>
          <a:p xmlns:a="http://schemas.openxmlformats.org/drawingml/2006/main">
            <a:r>
              <a:t>AstraZeneca / 2021-25 / NCT06742723 / AstraZeneca / 1</a:t>
            </a:r>
          </a:p>
          <a:p xmlns:a="http://schemas.openxmlformats.org/drawingml/2006/main">
            <a:r>
              <a:t>AstraZeneca / 2021-25 / NCT05629234 / AstraZeneca / 0</a:t>
            </a:r>
          </a:p>
          <a:p xmlns:a="http://schemas.openxmlformats.org/drawingml/2006/main">
            <a:r>
              <a:t>AstraZeneca / 2021-25 / NCT06578949 / Alexion Pharmaceuticals, Inc. / 0</a:t>
            </a:r>
          </a:p>
          <a:p xmlns:a="http://schemas.openxmlformats.org/drawingml/2006/main">
            <a:r>
              <a:t>AstraZeneca / 2021-25 / NCT06087835 / AstraZeneca / 1</a:t>
            </a:r>
          </a:p>
          <a:p xmlns:a="http://schemas.openxmlformats.org/drawingml/2006/main">
            <a:r>
              <a:t>AstraZeneca / 2021-25 / NCT06992609 / AstraZeneca / 0</a:t>
            </a:r>
          </a:p>
          <a:p xmlns:a="http://schemas.openxmlformats.org/drawingml/2006/main">
            <a:r>
              <a:t>AstraZeneca / 2021-25 / NCT04964934 / AstraZeneca / 0</a:t>
            </a:r>
          </a:p>
          <a:p xmlns:a="http://schemas.openxmlformats.org/drawingml/2006/main">
            <a:r>
              <a:t>AstraZeneca / 2021-25 / NCT06834932 / AstraZeneca / 0</a:t>
            </a:r>
          </a:p>
          <a:p xmlns:a="http://schemas.openxmlformats.org/drawingml/2006/main">
            <a:r>
              <a:t>AstraZeneca / 2021-25 / NCT05158387 / AstraZeneca / 0</a:t>
            </a:r>
          </a:p>
          <a:p xmlns:a="http://schemas.openxmlformats.org/drawingml/2006/main">
            <a:r>
              <a:t>AstraZeneca / 2021-25 / NCT06129864 / AstraZeneca / 1</a:t>
            </a:r>
          </a:p>
          <a:p xmlns:a="http://schemas.openxmlformats.org/drawingml/2006/main">
            <a:r>
              <a:t>AstraZeneca / 2021-25 / NCT05692180 / AstraZeneca / 0</a:t>
            </a:r>
          </a:p>
          <a:p xmlns:a="http://schemas.openxmlformats.org/drawingml/2006/main">
            <a:r>
              <a:t>AstraZeneca / 2021-25 / NCT05043090 / AstraZeneca / 1</a:t>
            </a:r>
          </a:p>
          <a:p xmlns:a="http://schemas.openxmlformats.org/drawingml/2006/main">
            <a:r>
              <a:t>AstraZeneca / 2021-25 / NCT04752566 / Alexion Pharmaceuticals, Inc. / 0</a:t>
            </a:r>
          </a:p>
          <a:p xmlns:a="http://schemas.openxmlformats.org/drawingml/2006/main">
            <a:r>
              <a:t>AstraZeneca / 2021-25 / NCT05746559 / Alexion Pharmaceuticals, Inc. / 1</a:t>
            </a:r>
          </a:p>
          <a:p xmlns:a="http://schemas.openxmlformats.org/drawingml/2006/main">
            <a:r>
              <a:t>AstraZeneca / 2021-25 / NCT06764875 / AstraZeneca / 1</a:t>
            </a:r>
          </a:p>
          <a:p xmlns:a="http://schemas.openxmlformats.org/drawingml/2006/main">
            <a:r>
              <a:t>AstraZeneca / 2021-25 / NCT05346354 / Alexion Pharmaceuticals, Inc. / 0</a:t>
            </a:r>
          </a:p>
          <a:p xmlns:a="http://schemas.openxmlformats.org/drawingml/2006/main">
            <a:r>
              <a:t>AstraZeneca / 2021-25 / NCT04784715 / AstraZeneca / 1</a:t>
            </a:r>
          </a:p>
          <a:p xmlns:a="http://schemas.openxmlformats.org/drawingml/2006/main">
            <a:r>
              <a:t>AstraZeneca / 2021-25 / NCT07007793 / AstraZeneca / 1</a:t>
            </a:r>
          </a:p>
          <a:p xmlns:a="http://schemas.openxmlformats.org/drawingml/2006/main">
            <a:r>
              <a:t>AstraZeneca / 2021-25 / NCT05943106 / AstraZeneca / 0</a:t>
            </a:r>
          </a:p>
          <a:p xmlns:a="http://schemas.openxmlformats.org/drawingml/2006/main">
            <a:r>
              <a:t>AstraZeneca / 2021-25 / NCT05120349 / AstraZeneca / 0</a:t>
            </a:r>
          </a:p>
          <a:p xmlns:a="http://schemas.openxmlformats.org/drawingml/2006/main">
            <a:r>
              <a:t>AstraZeneca / 2021-25 / NCT06042049 / AstraZeneca / 0</a:t>
            </a:r>
          </a:p>
          <a:p xmlns:a="http://schemas.openxmlformats.org/drawingml/2006/main">
            <a:r>
              <a:t>AstraZeneca / 2021-25 / NCT05624450 / AstraZeneca / 1</a:t>
            </a:r>
          </a:p>
          <a:p xmlns:a="http://schemas.openxmlformats.org/drawingml/2006/main">
            <a:r>
              <a:t>AstraZeneca / 2021-25 / NCT06677060 / AstraZeneca / 1</a:t>
            </a:r>
          </a:p>
          <a:p xmlns:a="http://schemas.openxmlformats.org/drawingml/2006/main">
            <a:r>
              <a:t>AstraZeneca / 2021-25 / NCT07000136 / AstraZeneca / 0</a:t>
            </a:r>
          </a:p>
          <a:p xmlns:a="http://schemas.openxmlformats.org/drawingml/2006/main">
            <a:r>
              <a:t>AstraZeneca / 2021-25 / NCT07044336 / AstraZeneca / 0</a:t>
            </a:r>
          </a:p>
          <a:p xmlns:a="http://schemas.openxmlformats.org/drawingml/2006/main">
            <a:r>
              <a:t>AstraZeneca / 2021-25 / NCT04960709 / AstraZeneca / 0</a:t>
            </a:r>
          </a:p>
          <a:p xmlns:a="http://schemas.openxmlformats.org/drawingml/2006/main">
            <a:r>
              <a:t>AstraZeneca / 2021-25 / NCT06097728 / AstraZeneca / 0</a:t>
            </a:r>
          </a:p>
          <a:p xmlns:a="http://schemas.openxmlformats.org/drawingml/2006/main">
            <a:r>
              <a:t>AstraZeneca / 2021-25 / NCT04862663 / AstraZeneca / 1</a:t>
            </a:r>
          </a:p>
          <a:p xmlns:a="http://schemas.openxmlformats.org/drawingml/2006/main">
            <a:r>
              <a:t>AstraZeneca / 2021-25 / NCT04931563 / AstraZeneca / 0</a:t>
            </a:r>
          </a:p>
          <a:p xmlns:a="http://schemas.openxmlformats.org/drawingml/2006/main">
            <a:r>
              <a:t>AstraZeneca / 2021-25 / NCT05110261 / AstraZeneca / 0</a:t>
            </a:r>
          </a:p>
          <a:p xmlns:a="http://schemas.openxmlformats.org/drawingml/2006/main">
            <a:r>
              <a:t>AstraZeneca / 2021-25 / NCT05211895 / AstraZeneca / 1</a:t>
            </a:r>
          </a:p>
          <a:p xmlns:a="http://schemas.openxmlformats.org/drawingml/2006/main">
            <a:r>
              <a:t>AstraZeneca / 2021-25 / NCT04765059 / AstraZeneca / 0</a:t>
            </a:r>
          </a:p>
          <a:p xmlns:a="http://schemas.openxmlformats.org/drawingml/2006/main">
            <a:r>
              <a:t>AstraZeneca / 2021-25 / NCT07215585 / AstraZeneca / 0</a:t>
            </a:r>
          </a:p>
          <a:p xmlns:a="http://schemas.openxmlformats.org/drawingml/2006/main">
            <a:r>
              <a:t>AstraZeneca / 2021-25 / NCT05389449 / Alexion Pharmaceuticals, Inc. / 0</a:t>
            </a:r>
          </a:p>
          <a:p xmlns:a="http://schemas.openxmlformats.org/drawingml/2006/main">
            <a:r>
              <a:t>AstraZeneca / 2021-25 / NCT06168409 / AstraZeneca / 0</a:t>
            </a:r>
          </a:p>
          <a:p xmlns:a="http://schemas.openxmlformats.org/drawingml/2006/main">
            <a:r>
              <a:t>AstraZeneca / 2021-25 / NCT05374512 / AstraZeneca / 1</a:t>
            </a:r>
          </a:p>
          <a:p xmlns:a="http://schemas.openxmlformats.org/drawingml/2006/main">
            <a:r>
              <a:t>AstraZeneca / 2021-25 / NCT06512883 / AstraZeneca / 1</a:t>
            </a:r>
          </a:p>
          <a:p xmlns:a="http://schemas.openxmlformats.org/drawingml/2006/main">
            <a:r>
              <a:t>AstraZeneca / 2021-25 / NCT05984277 / AstraZeneca / 1</a:t>
            </a:r>
          </a:p>
          <a:p xmlns:a="http://schemas.openxmlformats.org/drawingml/2006/main">
            <a:r>
              <a:t>AstraZeneca / 2021-25 / NCT07205822 / AstraZeneca / 0</a:t>
            </a:r>
          </a:p>
          <a:p xmlns:a="http://schemas.openxmlformats.org/drawingml/2006/main">
            <a:r>
              <a:t>AstraZeneca / 2021-25 / NCT04986202 / AstraZeneca / 0</a:t>
            </a:r>
          </a:p>
          <a:p xmlns:a="http://schemas.openxmlformats.org/drawingml/2006/main">
            <a:r>
              <a:t>AstraZeneca / 2021-25 / NCT06502366 / AstraZeneca / 0</a:t>
            </a:r>
          </a:p>
          <a:p xmlns:a="http://schemas.openxmlformats.org/drawingml/2006/main">
            <a:r>
              <a:t>AstraZeneca / 2021-25 / NCT06283966 / AstraZeneca / 1</a:t>
            </a:r>
          </a:p>
          <a:p xmlns:a="http://schemas.openxmlformats.org/drawingml/2006/main">
            <a:r>
              <a:t>AstraZeneca / 2021-25 / NCT04723394 / AstraZeneca / 0</a:t>
            </a:r>
          </a:p>
          <a:p xmlns:a="http://schemas.openxmlformats.org/drawingml/2006/main">
            <a:r>
              <a:t>AstraZeneca / 2021-25 / NCT04884360 / AstraZeneca / 1</a:t>
            </a:r>
          </a:p>
          <a:p xmlns:a="http://schemas.openxmlformats.org/drawingml/2006/main">
            <a:r>
              <a:t>AstraZeneca / 2021-25 / NCT06120491 / AstraZeneca / 1</a:t>
            </a:r>
          </a:p>
          <a:p xmlns:a="http://schemas.openxmlformats.org/drawingml/2006/main">
            <a:r>
              <a:t>AstraZeneca / 2021-25 / NCT06346392 / AstraZeneca / 1</a:t>
            </a:r>
          </a:p>
          <a:p xmlns:a="http://schemas.openxmlformats.org/drawingml/2006/main">
            <a:r>
              <a:t>AstraZeneca / 2021-25 / NCT05771480 / AstraZeneca / 0</a:t>
            </a:r>
          </a:p>
          <a:p xmlns:a="http://schemas.openxmlformats.org/drawingml/2006/main">
            <a:r>
              <a:t>AstraZeneca / 2021-25 / NCT05303532 / AstraZeneca / 1</a:t>
            </a:r>
          </a:p>
          <a:p xmlns:a="http://schemas.openxmlformats.org/drawingml/2006/main">
            <a:r>
              <a:t>AstraZeneca / 2021-25 / NCT04727528 / AstraZeneca / 0</a:t>
            </a:r>
          </a:p>
          <a:p xmlns:a="http://schemas.openxmlformats.org/drawingml/2006/main">
            <a:r>
              <a:t>AstraZeneca / 2021-25 / NCT06952803 / AstraZeneca / 1</a:t>
            </a:r>
          </a:p>
          <a:p xmlns:a="http://schemas.openxmlformats.org/drawingml/2006/main">
            <a:r>
              <a:t>AstraZeneca / 2021-25 / NCT05056727 / AstraZeneca / 1</a:t>
            </a:r>
          </a:p>
          <a:p xmlns:a="http://schemas.openxmlformats.org/drawingml/2006/main">
            <a:r>
              <a:t>AstraZeneca / 2021-25 / NCT05925803 / AstraZeneca / 1</a:t>
            </a:r>
          </a:p>
          <a:p xmlns:a="http://schemas.openxmlformats.org/drawingml/2006/main">
            <a:r>
              <a:t>AstraZeneca / 2021-25 / NCT05755906 / AstraZeneca / 0</a:t>
            </a:r>
          </a:p>
          <a:p xmlns:a="http://schemas.openxmlformats.org/drawingml/2006/main">
            <a:r>
              <a:t>AstraZeneca / 2021-25 / NCT04711252 / AstraZeneca / 1</a:t>
            </a:r>
          </a:p>
          <a:p xmlns:a="http://schemas.openxmlformats.org/drawingml/2006/main">
            <a:r>
              <a:t>AstraZeneca / 2021-25 / NCT06921785 / AstraZeneca / 1</a:t>
            </a:r>
          </a:p>
          <a:p xmlns:a="http://schemas.openxmlformats.org/drawingml/2006/main">
            <a:r>
              <a:t>AstraZeneca / 2021-25 / NCT05221840 / AstraZeneca / 0</a:t>
            </a:r>
          </a:p>
          <a:p xmlns:a="http://schemas.openxmlformats.org/drawingml/2006/main">
            <a:r>
              <a:t>AstraZeneca / 2021-25 / NCT04774380 / AstraZeneca / 0</a:t>
            </a:r>
          </a:p>
          <a:p xmlns:a="http://schemas.openxmlformats.org/drawingml/2006/main">
            <a:r>
              <a:t>AstraZeneca / 2021-25 / NCT06417814 / AstraZeneca / 1</a:t>
            </a:r>
          </a:p>
          <a:p xmlns:a="http://schemas.openxmlformats.org/drawingml/2006/main">
            <a:r>
              <a:t>AstraZeneca / 2021-25 / NCT06549595 / AstraZeneca / 1</a:t>
            </a:r>
          </a:p>
          <a:p xmlns:a="http://schemas.openxmlformats.org/drawingml/2006/main">
            <a:r>
              <a:t>AstraZeneca / 2021-25 / NCT06291376 / Alexion Pharmaceuticals, Inc. / 0</a:t>
            </a:r>
          </a:p>
          <a:p xmlns:a="http://schemas.openxmlformats.org/drawingml/2006/main">
            <a:r>
              <a:t>AstraZeneca / 2021-25 / NCT07000123 / AstraZeneca / 1</a:t>
            </a:r>
          </a:p>
          <a:p xmlns:a="http://schemas.openxmlformats.org/drawingml/2006/main">
            <a:r>
              <a:t>Novartis / 2015-19 / NCT03909295 / Novartis Pharmaceuticals / 0</a:t>
            </a:r>
          </a:p>
          <a:p xmlns:a="http://schemas.openxmlformats.org/drawingml/2006/main">
            <a:r>
              <a:t>Novartis / 2015-19 / NCT03215758 / Novartis Pharmaceuticals / 0</a:t>
            </a:r>
          </a:p>
          <a:p xmlns:a="http://schemas.openxmlformats.org/drawingml/2006/main">
            <a:r>
              <a:t>Novartis / 2015-19 / NCT02396212 / Novartis Pharmaceuticals / 0</a:t>
            </a:r>
          </a:p>
          <a:p xmlns:a="http://schemas.openxmlformats.org/drawingml/2006/main">
            <a:r>
              <a:t>Novartis / 2015-19 / NCT03070691 / Novartis Pharmaceuticals / 0</a:t>
            </a:r>
          </a:p>
          <a:p xmlns:a="http://schemas.openxmlformats.org/drawingml/2006/main">
            <a:r>
              <a:t>Novartis / 2015-19 / NCT02662985 / Novartis Pharmaceuticals / 0</a:t>
            </a:r>
          </a:p>
          <a:p xmlns:a="http://schemas.openxmlformats.org/drawingml/2006/main">
            <a:r>
              <a:t>Novartis / 2015-19 / NCT03623243 / Novartis Pharmaceuticals / 0</a:t>
            </a:r>
          </a:p>
          <a:p xmlns:a="http://schemas.openxmlformats.org/drawingml/2006/main">
            <a:r>
              <a:t>Novartis / 2015-19 / NCT03814746 / Novartis Pharmaceuticals / 1</a:t>
            </a:r>
          </a:p>
          <a:p xmlns:a="http://schemas.openxmlformats.org/drawingml/2006/main">
            <a:r>
              <a:t>Novartis / 2015-19 / NCT03810313 / Novartis Pharmaceuticals / 0</a:t>
            </a:r>
          </a:p>
          <a:p xmlns:a="http://schemas.openxmlformats.org/drawingml/2006/main">
            <a:r>
              <a:t>Novartis / 2015-19 / NCT03447769 / Novartis Pharmaceuticals / 1</a:t>
            </a:r>
          </a:p>
          <a:p xmlns:a="http://schemas.openxmlformats.org/drawingml/2006/main">
            <a:r>
              <a:t>Novartis / 2015-19 / NCT02792218 / Novartis Pharmaceuticals / 1</a:t>
            </a:r>
          </a:p>
          <a:p xmlns:a="http://schemas.openxmlformats.org/drawingml/2006/main">
            <a:r>
              <a:t>Novartis / 2015-19 / NCT03930641 / Novartis Pharmaceuticals / 0</a:t>
            </a:r>
          </a:p>
          <a:p xmlns:a="http://schemas.openxmlformats.org/drawingml/2006/main">
            <a:r>
              <a:t>Novartis / 2015-19 / NCT02748863 / Novartis Pharmaceuticals / 0</a:t>
            </a:r>
          </a:p>
          <a:p xmlns:a="http://schemas.openxmlformats.org/drawingml/2006/main">
            <a:r>
              <a:t>Novartis / 2015-19 / NCT03917472 / Novartis Pharmaceuticals / 0</a:t>
            </a:r>
          </a:p>
          <a:p xmlns:a="http://schemas.openxmlformats.org/drawingml/2006/main">
            <a:r>
              <a:t>Novartis / 2015-19 / NCT03529084 / Novartis Pharmaceuticals / 0</a:t>
            </a:r>
          </a:p>
          <a:p xmlns:a="http://schemas.openxmlformats.org/drawingml/2006/main">
            <a:r>
              <a:t>Novartis / 2015-19 / NCT02554786 / Novartis Pharmaceuticals / 1</a:t>
            </a:r>
          </a:p>
          <a:p xmlns:a="http://schemas.openxmlformats.org/drawingml/2006/main">
            <a:r>
              <a:t>Novartis / 2015-19 / NCT03100825 / Novartis Pharmaceuticals / 0</a:t>
            </a:r>
          </a:p>
          <a:p xmlns:a="http://schemas.openxmlformats.org/drawingml/2006/main">
            <a:r>
              <a:t>Novartis / 2015-19 / NCT04179175 / Novartis Pharmaceuticals / 1</a:t>
            </a:r>
          </a:p>
          <a:p xmlns:a="http://schemas.openxmlformats.org/drawingml/2006/main">
            <a:r>
              <a:t>Novartis / 2015-19 / NCT02697734 / Novartis Pharmaceuticals / 0</a:t>
            </a:r>
          </a:p>
          <a:p xmlns:a="http://schemas.openxmlformats.org/drawingml/2006/main">
            <a:r>
              <a:t>Novartis / 2015-19 / NCT03136861 / Novartis Pharmaceuticals / 0</a:t>
            </a:r>
          </a:p>
          <a:p xmlns:a="http://schemas.openxmlformats.org/drawingml/2006/main">
            <a:r>
              <a:t>Novartis / 2015-19 / NCT03369704 / Novartis Pharmaceuticals / 0</a:t>
            </a:r>
          </a:p>
          <a:p xmlns:a="http://schemas.openxmlformats.org/drawingml/2006/main">
            <a:r>
              <a:t>Novartis / 2015-19 / NCT03031782 / Novartis Pharmaceuticals / 0</a:t>
            </a:r>
          </a:p>
          <a:p xmlns:a="http://schemas.openxmlformats.org/drawingml/2006/main">
            <a:r>
              <a:t>Novartis / 2015-19 / NCT03713632 / Novartis Pharmaceuticals / 1</a:t>
            </a:r>
          </a:p>
          <a:p xmlns:a="http://schemas.openxmlformats.org/drawingml/2006/main">
            <a:r>
              <a:t>Novartis / 2015-19 / NCT03096834 / Novartis Pharmaceuticals / 0</a:t>
            </a:r>
          </a:p>
          <a:p xmlns:a="http://schemas.openxmlformats.org/drawingml/2006/main">
            <a:r>
              <a:t>Novartis / 2015-19 / NCT02362789 / Novartis Pharmaceuticals / 0</a:t>
            </a:r>
          </a:p>
          <a:p xmlns:a="http://schemas.openxmlformats.org/drawingml/2006/main">
            <a:r>
              <a:t>Novartis / 2015-19 / NCT02394561 / Novartis Pharmaceuticals / 0</a:t>
            </a:r>
          </a:p>
          <a:p xmlns:a="http://schemas.openxmlformats.org/drawingml/2006/main">
            <a:r>
              <a:t>Novartis / 2015-19 / NCT04023552 / Novartis Pharmaceuticals / 1</a:t>
            </a:r>
          </a:p>
          <a:p xmlns:a="http://schemas.openxmlformats.org/drawingml/2006/main">
            <a:r>
              <a:t>Novartis / 2015-19 / NCT02896127 / Novartis Pharmaceuticals / 0</a:t>
            </a:r>
          </a:p>
          <a:p xmlns:a="http://schemas.openxmlformats.org/drawingml/2006/main">
            <a:r>
              <a:t>Novartis / 2015-19 / NCT03052517 / Novartis Pharmaceuticals / 1</a:t>
            </a:r>
          </a:p>
          <a:p xmlns:a="http://schemas.openxmlformats.org/drawingml/2006/main">
            <a:r>
              <a:t>Novartis / 2015-19 / NCT03123939 / Novartis Pharmaceuticals / 0</a:t>
            </a:r>
          </a:p>
          <a:p xmlns:a="http://schemas.openxmlformats.org/drawingml/2006/main">
            <a:r>
              <a:t>Novartis / 2015-19 / NCT03837184 / Novartis Gene Therapies / 0</a:t>
            </a:r>
          </a:p>
          <a:p xmlns:a="http://schemas.openxmlformats.org/drawingml/2006/main">
            <a:r>
              <a:t>Novartis / 2015-19 / NCT02941926 / Novartis Pharmaceuticals / 1</a:t>
            </a:r>
          </a:p>
          <a:p xmlns:a="http://schemas.openxmlformats.org/drawingml/2006/main">
            <a:r>
              <a:t>Novartis / 2015-19 / NCT04210843 / Novartis Pharmaceuticals / 1</a:t>
            </a:r>
          </a:p>
          <a:p xmlns:a="http://schemas.openxmlformats.org/drawingml/2006/main">
            <a:r>
              <a:t>Novartis / 2015-19 / NCT03596970 / Novartis Pharmaceuticals / 0</a:t>
            </a:r>
          </a:p>
          <a:p xmlns:a="http://schemas.openxmlformats.org/drawingml/2006/main">
            <a:r>
              <a:t>Novartis / 2015-19 / NCT02640664 / Novartis Pharmaceuticals / 1</a:t>
            </a:r>
          </a:p>
          <a:p xmlns:a="http://schemas.openxmlformats.org/drawingml/2006/main">
            <a:r>
              <a:t>Novartis / 2015-19 / NCT03668613 / Novartis Pharmaceuticals / 0</a:t>
            </a:r>
          </a:p>
          <a:p xmlns:a="http://schemas.openxmlformats.org/drawingml/2006/main">
            <a:r>
              <a:t>Novartis / 2015-19 / NCT02573467 / Novartis Pharmaceuticals / 0</a:t>
            </a:r>
          </a:p>
          <a:p xmlns:a="http://schemas.openxmlformats.org/drawingml/2006/main">
            <a:r>
              <a:t>Novartis / 2015-19 / NCT03814187 / Novartis Pharmaceuticals / 0</a:t>
            </a:r>
          </a:p>
          <a:p xmlns:a="http://schemas.openxmlformats.org/drawingml/2006/main">
            <a:r>
              <a:t>Novartis / 2015-19 / NCT03802630 / Novartis Pharmaceuticals / 0</a:t>
            </a:r>
          </a:p>
          <a:p xmlns:a="http://schemas.openxmlformats.org/drawingml/2006/main">
            <a:r>
              <a:t>Novartis / 2015-19 / NCT02745080 / Novartis Pharmaceuticals / 1</a:t>
            </a:r>
          </a:p>
          <a:p xmlns:a="http://schemas.openxmlformats.org/drawingml/2006/main">
            <a:r>
              <a:t>Novartis / 2015-19 / NCT02487446 / Novartis Pharmaceuticals / 0</a:t>
            </a:r>
          </a:p>
          <a:p xmlns:a="http://schemas.openxmlformats.org/drawingml/2006/main">
            <a:r>
              <a:t>Novartis / 2015-19 / NCT03176238 / Novartis Pharmaceuticals / 1</a:t>
            </a:r>
          </a:p>
          <a:p xmlns:a="http://schemas.openxmlformats.org/drawingml/2006/main">
            <a:r>
              <a:t>Novartis / 2015-19 / NCT03158311 / Novartis Pharmaceuticals / 1</a:t>
            </a:r>
          </a:p>
          <a:p xmlns:a="http://schemas.openxmlformats.org/drawingml/2006/main">
            <a:r>
              <a:t>Novartis / 2015-19 / NCT02474069 / Novartis Pharmaceuticals / 0</a:t>
            </a:r>
          </a:p>
          <a:p xmlns:a="http://schemas.openxmlformats.org/drawingml/2006/main">
            <a:r>
              <a:t>Novartis / 2015-19 / NCT03050398 / Novartis Pharmaceuticals / 0</a:t>
            </a:r>
          </a:p>
          <a:p xmlns:a="http://schemas.openxmlformats.org/drawingml/2006/main">
            <a:r>
              <a:t>Novartis / 2015-19 / NCT02720536 / Novartis Pharmaceuticals / 0</a:t>
            </a:r>
          </a:p>
          <a:p xmlns:a="http://schemas.openxmlformats.org/drawingml/2006/main">
            <a:r>
              <a:t>Novartis / 2015-19 / NCT03954626 / Novartis Pharmaceuticals / 0</a:t>
            </a:r>
          </a:p>
          <a:p xmlns:a="http://schemas.openxmlformats.org/drawingml/2006/main">
            <a:r>
              <a:t>Novartis / 2015-19 / NCT02471144 / Novartis Pharmaceuticals / 0</a:t>
            </a:r>
          </a:p>
          <a:p xmlns:a="http://schemas.openxmlformats.org/drawingml/2006/main">
            <a:r>
              <a:t>Novartis / 2015-19 / NCT02924727 / Novartis Pharmaceuticals / 1</a:t>
            </a:r>
          </a:p>
          <a:p xmlns:a="http://schemas.openxmlformats.org/drawingml/2006/main">
            <a:r>
              <a:t>Novartis / 2015-19 / NCT03629249 / Novartis Pharmaceuticals / 0</a:t>
            </a:r>
          </a:p>
          <a:p xmlns:a="http://schemas.openxmlformats.org/drawingml/2006/main">
            <a:r>
              <a:t>Novartis / 2015-19 / NCT02795416 / Novartis Pharmaceuticals / 0</a:t>
            </a:r>
          </a:p>
          <a:p xmlns:a="http://schemas.openxmlformats.org/drawingml/2006/main">
            <a:r>
              <a:t>Novartis / 2015-19 / NCT02334748 / Novartis Pharmaceuticals / 0</a:t>
            </a:r>
          </a:p>
          <a:p xmlns:a="http://schemas.openxmlformats.org/drawingml/2006/main">
            <a:r>
              <a:t>Novartis / 2015-19 / NCT03955445 / Novartis Pharmaceuticals / 0</a:t>
            </a:r>
          </a:p>
          <a:p xmlns:a="http://schemas.openxmlformats.org/drawingml/2006/main">
            <a:r>
              <a:t>Novartis / 2015-19 / NCT03907878 / Novartis Pharmaceuticals / 0</a:t>
            </a:r>
          </a:p>
          <a:p xmlns:a="http://schemas.openxmlformats.org/drawingml/2006/main">
            <a:r>
              <a:t>Novartis / 2015-19 / NCT02476422 / Novartis Pharmaceuticals / 0</a:t>
            </a:r>
          </a:p>
          <a:p xmlns:a="http://schemas.openxmlformats.org/drawingml/2006/main">
            <a:r>
              <a:t>Novartis / 2015-19 / NCT03512197 / Novartis Pharmaceuticals / 0</a:t>
            </a:r>
          </a:p>
          <a:p xmlns:a="http://schemas.openxmlformats.org/drawingml/2006/main">
            <a:r>
              <a:t>Novartis / 2015-19 / NCT03570892 / Novartis Pharmaceuticals / 0</a:t>
            </a:r>
          </a:p>
          <a:p xmlns:a="http://schemas.openxmlformats.org/drawingml/2006/main">
            <a:r>
              <a:t>Novartis / 2015-19 / NCT02884206 / Novartis Pharmaceuticals / 0</a:t>
            </a:r>
          </a:p>
          <a:p xmlns:a="http://schemas.openxmlformats.org/drawingml/2006/main">
            <a:r>
              <a:t>Novartis / 2015-19 / NCT02900378 / Novartis Pharmaceuticals / 0</a:t>
            </a:r>
          </a:p>
          <a:p xmlns:a="http://schemas.openxmlformats.org/drawingml/2006/main">
            <a:r>
              <a:t>Novartis / 2015-19 / NCT03906136 / Novartis Pharmaceuticals / 0</a:t>
            </a:r>
          </a:p>
          <a:p xmlns:a="http://schemas.openxmlformats.org/drawingml/2006/main">
            <a:r>
              <a:t>Novartis / 2015-19 / NCT02571777 / Novartis Pharmaceuticals / 1</a:t>
            </a:r>
          </a:p>
          <a:p xmlns:a="http://schemas.openxmlformats.org/drawingml/2006/main">
            <a:r>
              <a:t>Novartis / 2015-19 / NCT02487498 / Novartis Pharmaceuticals / 0</a:t>
            </a:r>
          </a:p>
          <a:p xmlns:a="http://schemas.openxmlformats.org/drawingml/2006/main">
            <a:r>
              <a:t>Novartis / 2015-19 / NCT02409667 / Novartis Pharmaceuticals / 0</a:t>
            </a:r>
          </a:p>
          <a:p xmlns:a="http://schemas.openxmlformats.org/drawingml/2006/main">
            <a:r>
              <a:t>Novartis / 2015-19 / NCT02555683 / Novartis Pharmaceuticals / 0</a:t>
            </a:r>
          </a:p>
          <a:p xmlns:a="http://schemas.openxmlformats.org/drawingml/2006/main">
            <a:r>
              <a:t>Novartis / 2015-19 / NCT04079231 / Novartis Pharmaceuticals / 0</a:t>
            </a:r>
          </a:p>
          <a:p xmlns:a="http://schemas.openxmlformats.org/drawingml/2006/main">
            <a:r>
              <a:t>Novartis / 2015-19 / NCT03106779 / Novartis Pharmaceuticals / 0</a:t>
            </a:r>
          </a:p>
          <a:p xmlns:a="http://schemas.openxmlformats.org/drawingml/2006/main">
            <a:r>
              <a:t>Novartis / 2015-19 / NCT02598297 / Novartis Pharmaceuticals / 0</a:t>
            </a:r>
          </a:p>
          <a:p xmlns:a="http://schemas.openxmlformats.org/drawingml/2006/main">
            <a:r>
              <a:t>Novartis / 2015-19 / NCT02435173 / Novartis Pharmaceuticals / 0</a:t>
            </a:r>
          </a:p>
          <a:p xmlns:a="http://schemas.openxmlformats.org/drawingml/2006/main">
            <a:r>
              <a:t>Novartis / 2015-19 / NCT02721966 / Novartis Pharmaceuticals / 0</a:t>
            </a:r>
          </a:p>
          <a:p xmlns:a="http://schemas.openxmlformats.org/drawingml/2006/main">
            <a:r>
              <a:t>Novartis / 2015-19 / NCT02565511 / Novartis Pharmaceuticals / 0</a:t>
            </a:r>
          </a:p>
          <a:p xmlns:a="http://schemas.openxmlformats.org/drawingml/2006/main">
            <a:r>
              <a:t>Novartis / 2015-19 / NCT04181762 / Novartis Pharmaceuticals / 1</a:t>
            </a:r>
          </a:p>
          <a:p xmlns:a="http://schemas.openxmlformats.org/drawingml/2006/main">
            <a:r>
              <a:t>Novartis / 2015-19 / NCT03461289 / Novartis Gene Therapies / 0</a:t>
            </a:r>
          </a:p>
          <a:p xmlns:a="http://schemas.openxmlformats.org/drawingml/2006/main">
            <a:r>
              <a:t>Novartis / 2015-19 / NCT03096847 / Novartis Pharmaceuticals / 0</a:t>
            </a:r>
          </a:p>
          <a:p xmlns:a="http://schemas.openxmlformats.org/drawingml/2006/main">
            <a:r>
              <a:t>Novartis / 2015-19 / NCT04005352 / Novartis Pharmaceuticals / 0</a:t>
            </a:r>
          </a:p>
          <a:p xmlns:a="http://schemas.openxmlformats.org/drawingml/2006/main">
            <a:r>
              <a:t>Novartis / 2015-19 / NCT04208178 / Novartis Pharmaceuticals / 0</a:t>
            </a:r>
          </a:p>
          <a:p xmlns:a="http://schemas.openxmlformats.org/drawingml/2006/main">
            <a:r>
              <a:t>Novartis / 2015-19 / NCT02422615 / Novartis Pharmaceuticals / 0</a:t>
            </a:r>
          </a:p>
          <a:p xmlns:a="http://schemas.openxmlformats.org/drawingml/2006/main">
            <a:r>
              <a:t>Novartis / 2015-19 / NCT03626545 / Novartis Pharmaceuticals / 0</a:t>
            </a:r>
          </a:p>
          <a:p xmlns:a="http://schemas.openxmlformats.org/drawingml/2006/main">
            <a:r>
              <a:t>Novartis / 2015-19 / NCT02771210 / Novartis Pharmaceuticals / 0</a:t>
            </a:r>
          </a:p>
          <a:p xmlns:a="http://schemas.openxmlformats.org/drawingml/2006/main">
            <a:r>
              <a:t>Novartis / 2015-19 / NCT04156620 / Novartis Pharmaceuticals / 1</a:t>
            </a:r>
          </a:p>
          <a:p xmlns:a="http://schemas.openxmlformats.org/drawingml/2006/main">
            <a:r>
              <a:t>Novartis / 2015-19 / NCT04042025 / Novartis Gene Therapies / 0</a:t>
            </a:r>
          </a:p>
          <a:p xmlns:a="http://schemas.openxmlformats.org/drawingml/2006/main">
            <a:r>
              <a:t>Novartis / 2015-19 / NCT03851705 / Novartis Pharmaceuticals / 0</a:t>
            </a:r>
          </a:p>
          <a:p xmlns:a="http://schemas.openxmlformats.org/drawingml/2006/main">
            <a:r>
              <a:t>Novartis / 2015-19 / NCT02474082 / Novartis Pharmaceuticals / 0</a:t>
            </a:r>
          </a:p>
          <a:p xmlns:a="http://schemas.openxmlformats.org/drawingml/2006/main">
            <a:r>
              <a:t>Novartis / 2015-19 / NCT03580356 / Novartis Pharmaceuticals / 1</a:t>
            </a:r>
          </a:p>
          <a:p xmlns:a="http://schemas.openxmlformats.org/drawingml/2006/main">
            <a:r>
              <a:t>Novartis / 2015-19 / NCT03439046 / Novartis Pharmaceuticals / 0</a:t>
            </a:r>
          </a:p>
          <a:p xmlns:a="http://schemas.openxmlformats.org/drawingml/2006/main">
            <a:r>
              <a:t>Novartis / 2015-19 / NCT02826603 / Novartis Pharmaceuticals / 0</a:t>
            </a:r>
          </a:p>
          <a:p xmlns:a="http://schemas.openxmlformats.org/drawingml/2006/main">
            <a:r>
              <a:t>Novartis / 2015-19 / NCT03306277 / Novartis Gene Therapies / 0</a:t>
            </a:r>
          </a:p>
          <a:p xmlns:a="http://schemas.openxmlformats.org/drawingml/2006/main">
            <a:r>
              <a:t>Novartis / 2015-19 / NCT04094311 / Novartis Pharmaceuticals / 0</a:t>
            </a:r>
          </a:p>
          <a:p xmlns:a="http://schemas.openxmlformats.org/drawingml/2006/main">
            <a:r>
              <a:t>Novartis / 2015-19 / NCT03628053 / Novartis Pharmaceuticals / 0</a:t>
            </a:r>
          </a:p>
          <a:p xmlns:a="http://schemas.openxmlformats.org/drawingml/2006/main">
            <a:r>
              <a:t>Novartis / 2015-19 / NCT03551626 / Novartis Pharmaceuticals / 0</a:t>
            </a:r>
          </a:p>
          <a:p xmlns:a="http://schemas.openxmlformats.org/drawingml/2006/main">
            <a:r>
              <a:t>Novartis / 2015-19 / NCT03481660 / Novartis Pharmaceuticals / 1</a:t>
            </a:r>
          </a:p>
          <a:p xmlns:a="http://schemas.openxmlformats.org/drawingml/2006/main">
            <a:r>
              <a:t>Novartis / 2015-19 / NCT03226392 / Novartis Pharmaceuticals / 1</a:t>
            </a:r>
          </a:p>
          <a:p xmlns:a="http://schemas.openxmlformats.org/drawingml/2006/main">
            <a:r>
              <a:t>Novartis / 2015-19 / NCT02465203 / Novartis Pharmaceuticals / 1</a:t>
            </a:r>
          </a:p>
          <a:p xmlns:a="http://schemas.openxmlformats.org/drawingml/2006/main">
            <a:r>
              <a:t>Novartis / 2015-19 / NCT02792231 / Novartis Pharmaceuticals / 1</a:t>
            </a:r>
          </a:p>
          <a:p xmlns:a="http://schemas.openxmlformats.org/drawingml/2006/main">
            <a:r>
              <a:t>Novartis / 2015-19 / NCT03580369 / Novartis Pharmaceuticals / 1</a:t>
            </a:r>
          </a:p>
          <a:p xmlns:a="http://schemas.openxmlformats.org/drawingml/2006/main">
            <a:r>
              <a:t>Novartis / 2015-19 / NCT03505099 / Novartis Gene Therapies / 0</a:t>
            </a:r>
          </a:p>
          <a:p xmlns:a="http://schemas.openxmlformats.org/drawingml/2006/main">
            <a:r>
              <a:t>Novartis / 2015-19 / NCT03710564 / Novartis Pharmaceuticals / 0</a:t>
            </a:r>
          </a:p>
          <a:p xmlns:a="http://schemas.openxmlformats.org/drawingml/2006/main">
            <a:r>
              <a:t>Novartis / 2015-19 / NCT03100500 / Novartis Pharmaceuticals / 0</a:t>
            </a:r>
          </a:p>
          <a:p xmlns:a="http://schemas.openxmlformats.org/drawingml/2006/main">
            <a:r>
              <a:t>Novartis / 2015-19 / NCT03988634 / Novartis Pharmaceuticals / 0</a:t>
            </a:r>
          </a:p>
          <a:p xmlns:a="http://schemas.openxmlformats.org/drawingml/2006/main">
            <a:r>
              <a:t>Novartis / 2015-19 / NCT02354508 / Novartis Pharmaceuticals / 0</a:t>
            </a:r>
          </a:p>
          <a:p xmlns:a="http://schemas.openxmlformats.org/drawingml/2006/main">
            <a:r>
              <a:t>Novartis / 2015-19 / NCT03701334 / Novartis Pharmaceuticals / 0</a:t>
            </a:r>
          </a:p>
          <a:p xmlns:a="http://schemas.openxmlformats.org/drawingml/2006/main">
            <a:r>
              <a:t>Novartis / 2015-19 / NCT03481634 / Novartis Pharmaceuticals / 0</a:t>
            </a:r>
          </a:p>
          <a:p xmlns:a="http://schemas.openxmlformats.org/drawingml/2006/main">
            <a:r>
              <a:t>Novartis / 2015-19 / NCT02962414 / Novartis Pharmaceuticals / 0</a:t>
            </a:r>
          </a:p>
          <a:p xmlns:a="http://schemas.openxmlformats.org/drawingml/2006/main">
            <a:r>
              <a:t>Novartis / 2015-19 / NCT03137784 / Novartis Pharmaceuticals / 0</a:t>
            </a:r>
          </a:p>
          <a:p xmlns:a="http://schemas.openxmlformats.org/drawingml/2006/main">
            <a:r>
              <a:t>Novartis / 2015-19 / NCT02967692 / Novartis Pharmaceuticals / 0</a:t>
            </a:r>
          </a:p>
          <a:p xmlns:a="http://schemas.openxmlformats.org/drawingml/2006/main">
            <a:r>
              <a:t>Novartis / 2015-19 / NCT03713619 / Novartis Pharmaceuticals / 1</a:t>
            </a:r>
          </a:p>
          <a:p xmlns:a="http://schemas.openxmlformats.org/drawingml/2006/main">
            <a:r>
              <a:t>Novartis / 2015-19 / NCT04209205 / Novartis Pharmaceuticals / 1</a:t>
            </a:r>
          </a:p>
          <a:p xmlns:a="http://schemas.openxmlformats.org/drawingml/2006/main">
            <a:r>
              <a:t>Novartis / 2015-19 / NCT03681093 / Novartis Pharmaceuticals / 0</a:t>
            </a:r>
          </a:p>
          <a:p xmlns:a="http://schemas.openxmlformats.org/drawingml/2006/main">
            <a:r>
              <a:t>Novartis / 2015-19 / NCT03631199 / Novartis Pharmaceuticals / 1</a:t>
            </a:r>
          </a:p>
          <a:p xmlns:a="http://schemas.openxmlformats.org/drawingml/2006/main">
            <a:r>
              <a:t>Novartis / 2015-19 / NCT02563067 / Novartis Pharmaceuticals / 1</a:t>
            </a:r>
          </a:p>
          <a:p xmlns:a="http://schemas.openxmlformats.org/drawingml/2006/main">
            <a:r>
              <a:t>Novartis / 2015-19 / NCT03131453 / Novartis Pharmaceuticals / 0</a:t>
            </a:r>
          </a:p>
          <a:p xmlns:a="http://schemas.openxmlformats.org/drawingml/2006/main">
            <a:r>
              <a:t>Novartis / 2015-19 / NCT03066609 / Novartis Pharmaceuticals / 0</a:t>
            </a:r>
          </a:p>
          <a:p xmlns:a="http://schemas.openxmlformats.org/drawingml/2006/main">
            <a:r>
              <a:t>Novartis / 2015-19 / NCT03785405 / Novartis Pharmaceuticals / 1</a:t>
            </a:r>
          </a:p>
          <a:p xmlns:a="http://schemas.openxmlformats.org/drawingml/2006/main">
            <a:r>
              <a:t>Novartis / 2015-19 / NCT03333109 / Novartis Pharmaceuticals / 1</a:t>
            </a:r>
          </a:p>
          <a:p xmlns:a="http://schemas.openxmlformats.org/drawingml/2006/main">
            <a:r>
              <a:t>Novartis / 2015-19 / NCT03081234 / Novartis Pharmaceuticals / 0</a:t>
            </a:r>
          </a:p>
          <a:p xmlns:a="http://schemas.openxmlformats.org/drawingml/2006/main">
            <a:r>
              <a:t>Novartis / 2015-19 / NCT02750592 / Novartis Pharmaceuticals / 0</a:t>
            </a:r>
          </a:p>
          <a:p xmlns:a="http://schemas.openxmlformats.org/drawingml/2006/main">
            <a:r>
              <a:t>Novartis / 2015-19 / NCT02559622 / Novartis Pharmaceuticals / 0</a:t>
            </a:r>
          </a:p>
          <a:p xmlns:a="http://schemas.openxmlformats.org/drawingml/2006/main">
            <a:r>
              <a:t>Novartis / 2015-19 / NCT03386474 / Novartis Pharmaceuticals / 0</a:t>
            </a:r>
          </a:p>
          <a:p xmlns:a="http://schemas.openxmlformats.org/drawingml/2006/main">
            <a:r>
              <a:t>Novartis / 2015-19 / NCT02678312 / Novartis Pharmaceuticals / 1</a:t>
            </a:r>
          </a:p>
          <a:p xmlns:a="http://schemas.openxmlformats.org/drawingml/2006/main">
            <a:r>
              <a:t>Novartis / 2015-19 / NCT03917459 / Novartis Pharmaceuticals / 0</a:t>
            </a:r>
          </a:p>
          <a:p xmlns:a="http://schemas.openxmlformats.org/drawingml/2006/main">
            <a:r>
              <a:t>Novartis / 2015-19 / NCT03504852 / Novartis Pharmaceuticals / 0</a:t>
            </a:r>
          </a:p>
          <a:p xmlns:a="http://schemas.openxmlformats.org/drawingml/2006/main">
            <a:r>
              <a:t>Novartis / 2015-19 / NCT02468232 / Novartis Pharmaceuticals / 0</a:t>
            </a:r>
          </a:p>
          <a:p xmlns:a="http://schemas.openxmlformats.org/drawingml/2006/main">
            <a:r>
              <a:t>Novartis / 2015-19 / NCT04114630 / Novartis Pharmaceuticals / 0</a:t>
            </a:r>
          </a:p>
          <a:p xmlns:a="http://schemas.openxmlformats.org/drawingml/2006/main">
            <a:r>
              <a:t>Novartis / 2015-19 / NCT03650114 / Novartis Pharmaceuticals / 1</a:t>
            </a:r>
          </a:p>
          <a:p xmlns:a="http://schemas.openxmlformats.org/drawingml/2006/main">
            <a:r>
              <a:t>Novartis / 2015-19 / NCT02913261 / Novartis Pharmaceuticals / 0</a:t>
            </a:r>
          </a:p>
          <a:p xmlns:a="http://schemas.openxmlformats.org/drawingml/2006/main">
            <a:r>
              <a:t>Novartis / 2015-19 / NCT03328897 / Novartis Pharmaceuticals / 0</a:t>
            </a:r>
          </a:p>
          <a:p xmlns:a="http://schemas.openxmlformats.org/drawingml/2006/main">
            <a:r>
              <a:t>Novartis / 2015-19 / NCT02911857 / Novartis Pharmaceuticals / 0</a:t>
            </a:r>
          </a:p>
          <a:p xmlns:a="http://schemas.openxmlformats.org/drawingml/2006/main">
            <a:r>
              <a:t>Novartis / 2015-19 / NCT03379727 / Novartis Pharmaceuticals / 0</a:t>
            </a:r>
          </a:p>
          <a:p xmlns:a="http://schemas.openxmlformats.org/drawingml/2006/main">
            <a:r>
              <a:t>Novartis / 2015-19 / NCT02595970 / Novartis Pharmaceuticals / 0</a:t>
            </a:r>
          </a:p>
          <a:p xmlns:a="http://schemas.openxmlformats.org/drawingml/2006/main">
            <a:r>
              <a:t>Novartis / 2015-19 / NCT02404350 / Novartis Pharmaceuticals / 1</a:t>
            </a:r>
          </a:p>
          <a:p xmlns:a="http://schemas.openxmlformats.org/drawingml/2006/main">
            <a:r>
              <a:t>Novartis / 2015-19 / NCT02892344 / Novartis Pharmaceuticals / 1</a:t>
            </a:r>
          </a:p>
          <a:p xmlns:a="http://schemas.openxmlformats.org/drawingml/2006/main">
            <a:r>
              <a:t>Novartis / 2015-19 / NCT02375971 / Novartis Pharmaceuticals / 1</a:t>
            </a:r>
          </a:p>
          <a:p xmlns:a="http://schemas.openxmlformats.org/drawingml/2006/main">
            <a:r>
              <a:t>Novartis / 2015-19 / NCT03589885 / Novartis Pharmaceuticals / 0</a:t>
            </a:r>
          </a:p>
          <a:p xmlns:a="http://schemas.openxmlformats.org/drawingml/2006/main">
            <a:r>
              <a:t>Novartis / 2015-19 / NCT03867201 / Novartis Pharmaceuticals / 1</a:t>
            </a:r>
          </a:p>
          <a:p xmlns:a="http://schemas.openxmlformats.org/drawingml/2006/main">
            <a:r>
              <a:t>Novartis / 2015-19 / NCT02437318 / Novartis Pharmaceuticals / 1</a:t>
            </a:r>
          </a:p>
          <a:p xmlns:a="http://schemas.openxmlformats.org/drawingml/2006/main">
            <a:r>
              <a:t>Novartis / 2015-19 / NCT03066804 / Novartis Pharmaceuticals / 1</a:t>
            </a:r>
          </a:p>
          <a:p xmlns:a="http://schemas.openxmlformats.org/drawingml/2006/main">
            <a:r>
              <a:t>Novartis / 2015-19 / NCT04058067 / Novartis Pharmaceuticals / 0</a:t>
            </a:r>
          </a:p>
          <a:p xmlns:a="http://schemas.openxmlformats.org/drawingml/2006/main">
            <a:r>
              <a:t>Novartis / 2015-19 / NCT04047472 / Novartis Pharmaceuticals / 0</a:t>
            </a:r>
          </a:p>
          <a:p xmlns:a="http://schemas.openxmlformats.org/drawingml/2006/main">
            <a:r>
              <a:t>Novartis / 2015-19 / NCT03259074 / Novartis Pharmaceuticals / 0</a:t>
            </a:r>
          </a:p>
          <a:p xmlns:a="http://schemas.openxmlformats.org/drawingml/2006/main">
            <a:r>
              <a:t>Novartis / 2015-19 / NCT03769168 / Novartis Pharmaceuticals / 0</a:t>
            </a:r>
          </a:p>
          <a:p xmlns:a="http://schemas.openxmlformats.org/drawingml/2006/main">
            <a:r>
              <a:t>Novartis / 2015-19 / NCT03217422 / Novartis Pharmaceuticals / 0</a:t>
            </a:r>
          </a:p>
          <a:p xmlns:a="http://schemas.openxmlformats.org/drawingml/2006/main">
            <a:r>
              <a:t>Novartis / 2015-19 / NCT02696031 / Novartis Pharmaceuticals / 0</a:t>
            </a:r>
          </a:p>
          <a:p xmlns:a="http://schemas.openxmlformats.org/drawingml/2006/main">
            <a:r>
              <a:t>Novartis / 2021-25 / NCT05888493 / Novartis Pharmaceuticals / 0</a:t>
            </a:r>
          </a:p>
          <a:p xmlns:a="http://schemas.openxmlformats.org/drawingml/2006/main">
            <a:r>
              <a:t>Novartis / 2021-25 / NCT04720157 / Novartis Pharmaceuticals / 0</a:t>
            </a:r>
          </a:p>
          <a:p xmlns:a="http://schemas.openxmlformats.org/drawingml/2006/main">
            <a:r>
              <a:t>Novartis / 2021-25 / NCT04935359 / Novartis Pharmaceuticals / 0</a:t>
            </a:r>
          </a:p>
          <a:p xmlns:a="http://schemas.openxmlformats.org/drawingml/2006/main">
            <a:r>
              <a:t>Novartis / 2021-25 / NCT05776927 / Novartis Pharmaceuticals / 0</a:t>
            </a:r>
          </a:p>
          <a:p xmlns:a="http://schemas.openxmlformats.org/drawingml/2006/main">
            <a:r>
              <a:t>Novartis / 2021-25 / NCT05935215 / Novartis Pharmaceuticals / 0</a:t>
            </a:r>
          </a:p>
          <a:p xmlns:a="http://schemas.openxmlformats.org/drawingml/2006/main">
            <a:r>
              <a:t>Novartis / 2021-25 / NCT04948333 / Novartis Pharmaceuticals / 0</a:t>
            </a:r>
          </a:p>
          <a:p xmlns:a="http://schemas.openxmlformats.org/drawingml/2006/main">
            <a:r>
              <a:t>Novartis / 2021-25 / NCT04747613 / Novartis Pharmaceuticals / 0</a:t>
            </a:r>
          </a:p>
          <a:p xmlns:a="http://schemas.openxmlformats.org/drawingml/2006/main">
            <a:r>
              <a:t>Novartis / 2021-25 / NCT06934967 / Novartis Pharmaceuticals / 0</a:t>
            </a:r>
          </a:p>
          <a:p xmlns:a="http://schemas.openxmlformats.org/drawingml/2006/main">
            <a:r>
              <a:t>Novartis / 2021-25 / NCT04820530 / Novartis Pharmaceuticals / 0</a:t>
            </a:r>
          </a:p>
          <a:p xmlns:a="http://schemas.openxmlformats.org/drawingml/2006/main">
            <a:r>
              <a:t>Novartis / 2021-25 / NCT06868212 / Novartis Pharmaceuticals / 0</a:t>
            </a:r>
          </a:p>
          <a:p xmlns:a="http://schemas.openxmlformats.org/drawingml/2006/main">
            <a:r>
              <a:t>Novartis / 2021-25 / NCT06799000 / Novartis Pharmaceuticals / 0</a:t>
            </a:r>
          </a:p>
          <a:p xmlns:a="http://schemas.openxmlformats.org/drawingml/2006/main">
            <a:r>
              <a:t>Novartis / 2021-25 / NCT06517758 / Novartis Pharmaceuticals / 0</a:t>
            </a:r>
          </a:p>
          <a:p xmlns:a="http://schemas.openxmlformats.org/drawingml/2006/main">
            <a:r>
              <a:t>Novartis / 2021-25 / NCT04889430 / Novartis Pharmaceuticals / 1</a:t>
            </a:r>
          </a:p>
          <a:p xmlns:a="http://schemas.openxmlformats.org/drawingml/2006/main">
            <a:r>
              <a:t>Novartis / 2021-25 / NCT05024058 / Novartis Pharmaceuticals / 0</a:t>
            </a:r>
          </a:p>
          <a:p xmlns:a="http://schemas.openxmlformats.org/drawingml/2006/main">
            <a:r>
              <a:t>Novartis / 2021-25 / NCT04729387 / Novartis Pharmaceuticals / 0</a:t>
            </a:r>
          </a:p>
          <a:p xmlns:a="http://schemas.openxmlformats.org/drawingml/2006/main">
            <a:r>
              <a:t>Novartis / 2021-25 / NCT05380453 / Novartis Pharmaceuticals / 0</a:t>
            </a:r>
          </a:p>
          <a:p xmlns:a="http://schemas.openxmlformats.org/drawingml/2006/main">
            <a:r>
              <a:t>Novartis / 2021-25 / NCT05900141 / Novartis Pharmaceuticals / 0</a:t>
            </a:r>
          </a:p>
          <a:p xmlns:a="http://schemas.openxmlformats.org/drawingml/2006/main">
            <a:r>
              <a:t>Novartis / 2021-25 / NCT06994845 / Novartis Pharmaceuticals / 0</a:t>
            </a:r>
          </a:p>
          <a:p xmlns:a="http://schemas.openxmlformats.org/drawingml/2006/main">
            <a:r>
              <a:t>Novartis / 2021-25 / NCT05678959 / Novartis Pharmaceuticals / 0</a:t>
            </a:r>
          </a:p>
          <a:p xmlns:a="http://schemas.openxmlformats.org/drawingml/2006/main">
            <a:r>
              <a:t>Novartis / 2021-25 / NCT04828161 / Novartis Pharmaceuticals / 1</a:t>
            </a:r>
          </a:p>
          <a:p xmlns:a="http://schemas.openxmlformats.org/drawingml/2006/main">
            <a:r>
              <a:t>Novartis / 2021-25 / NCT05335876 / Novartis Pharmaceuticals / 0</a:t>
            </a:r>
          </a:p>
          <a:p xmlns:a="http://schemas.openxmlformats.org/drawingml/2006/main">
            <a:r>
              <a:t>Novartis / 2021-25 / NCT06784752 / Novartis Pharmaceuticals / 0</a:t>
            </a:r>
          </a:p>
          <a:p xmlns:a="http://schemas.openxmlformats.org/drawingml/2006/main">
            <a:r>
              <a:t>Novartis / 2021-25 / NCT05791097 / Novartis Pharmaceuticals / 0</a:t>
            </a:r>
          </a:p>
          <a:p xmlns:a="http://schemas.openxmlformats.org/drawingml/2006/main">
            <a:r>
              <a:t>Novartis / 2021-25 / NCT05739383 / Novartis Pharmaceuticals / 1</a:t>
            </a:r>
          </a:p>
          <a:p xmlns:a="http://schemas.openxmlformats.org/drawingml/2006/main">
            <a:r>
              <a:t>Novartis / 2021-25 / NCT05624749 / Novartis Pharmaceuticals / 1</a:t>
            </a:r>
          </a:p>
          <a:p xmlns:a="http://schemas.openxmlformats.org/drawingml/2006/main">
            <a:r>
              <a:t>Novartis / 2021-25 / NCT05653349 / Novartis Pharmaceuticals / 1</a:t>
            </a:r>
          </a:p>
          <a:p xmlns:a="http://schemas.openxmlformats.org/drawingml/2006/main">
            <a:r>
              <a:t>Novartis / 2021-25 / NCT04873934 / Novartis Pharmaceuticals / 0</a:t>
            </a:r>
          </a:p>
          <a:p xmlns:a="http://schemas.openxmlformats.org/drawingml/2006/main">
            <a:r>
              <a:t>Novartis / 2021-25 / NCT06780670 / Novartis Pharmaceuticals / 0</a:t>
            </a:r>
          </a:p>
          <a:p xmlns:a="http://schemas.openxmlformats.org/drawingml/2006/main">
            <a:r>
              <a:t>Novartis / 2021-25 / NCT07225504 / Novartis Pharmaceuticals / 1</a:t>
            </a:r>
          </a:p>
          <a:p xmlns:a="http://schemas.openxmlformats.org/drawingml/2006/main">
            <a:r>
              <a:t>Novartis / 2021-25 / NCT05030428 / Novartis Pharmaceuticals / 1</a:t>
            </a:r>
          </a:p>
          <a:p xmlns:a="http://schemas.openxmlformats.org/drawingml/2006/main">
            <a:r>
              <a:t>Novartis / 2021-25 / NCT05939414 / Novartis Pharmaceuticals / 0</a:t>
            </a:r>
          </a:p>
          <a:p xmlns:a="http://schemas.openxmlformats.org/drawingml/2006/main">
            <a:r>
              <a:t>Novartis / 2021-25 / NCT05206591 / Novartis Pharmaceuticals / 0</a:t>
            </a:r>
          </a:p>
          <a:p xmlns:a="http://schemas.openxmlformats.org/drawingml/2006/main">
            <a:r>
              <a:t>Novartis / 2021-25 / NCT06331312 / Novartis Pharmaceuticals / 0</a:t>
            </a:r>
          </a:p>
          <a:p xmlns:a="http://schemas.openxmlformats.org/drawingml/2006/main">
            <a:r>
              <a:t>Novartis / 2021-25 / NCT05976243 / Novartis Pharmaceuticals / 1</a:t>
            </a:r>
          </a:p>
          <a:p xmlns:a="http://schemas.openxmlformats.org/drawingml/2006/main">
            <a:r>
              <a:t>Novartis / 2021-25 / NCT04807400 / Novartis Pharmaceuticals / 0</a:t>
            </a:r>
          </a:p>
          <a:p xmlns:a="http://schemas.openxmlformats.org/drawingml/2006/main">
            <a:r>
              <a:t>Novartis / 2021-25 / NCT04940052 / Novartis Pharmaceuticals / 1</a:t>
            </a:r>
          </a:p>
          <a:p xmlns:a="http://schemas.openxmlformats.org/drawingml/2006/main">
            <a:r>
              <a:t>Novartis / 2021-25 / NCT06875973 / Novartis Pharmaceuticals / 0</a:t>
            </a:r>
          </a:p>
          <a:p xmlns:a="http://schemas.openxmlformats.org/drawingml/2006/main">
            <a:r>
              <a:t>Novartis / 2021-25 / NCT04737330 / Novartis Pharmaceuticals / 0</a:t>
            </a:r>
          </a:p>
          <a:p xmlns:a="http://schemas.openxmlformats.org/drawingml/2006/main">
            <a:r>
              <a:t>Novartis / 2021-25 / NCT04711902 / Novartis Pharmaceuticals / 0</a:t>
            </a:r>
          </a:p>
          <a:p xmlns:a="http://schemas.openxmlformats.org/drawingml/2006/main">
            <a:r>
              <a:t>Novartis / 2021-25 / NCT05038735 / Novartis Pharmaceuticals / 0</a:t>
            </a:r>
          </a:p>
          <a:p xmlns:a="http://schemas.openxmlformats.org/drawingml/2006/main">
            <a:r>
              <a:t>Novartis / 2021-25 / NCT06711887 / Novartis Pharmaceuticals / 0</a:t>
            </a:r>
          </a:p>
          <a:p xmlns:a="http://schemas.openxmlformats.org/drawingml/2006/main">
            <a:r>
              <a:t>Novartis / 2021-25 / NCT04838613 / Novartis Pharmaceuticals / 0</a:t>
            </a:r>
          </a:p>
          <a:p xmlns:a="http://schemas.openxmlformats.org/drawingml/2006/main">
            <a:r>
              <a:t>Novartis / 2021-25 / NCT06840392 / Novartis Pharmaceuticals / 0</a:t>
            </a:r>
          </a:p>
          <a:p xmlns:a="http://schemas.openxmlformats.org/drawingml/2006/main">
            <a:r>
              <a:t>Novartis / 2021-25 / NCT05350072 / Novartis Pharmaceuticals / 0</a:t>
            </a:r>
          </a:p>
          <a:p xmlns:a="http://schemas.openxmlformats.org/drawingml/2006/main">
            <a:r>
              <a:t>Novartis / 2021-25 / NCT04697953 / Novartis Pharmaceuticals / 0</a:t>
            </a:r>
          </a:p>
          <a:p xmlns:a="http://schemas.openxmlformats.org/drawingml/2006/main">
            <a:r>
              <a:t>Novartis / 2021-25 / NCT04765657 / Novartis Pharmaceuticals / 0</a:t>
            </a:r>
          </a:p>
          <a:p xmlns:a="http://schemas.openxmlformats.org/drawingml/2006/main">
            <a:r>
              <a:t>Novartis / 2021-25 / NCT05630001 / Novartis Pharmaceuticals / 0</a:t>
            </a:r>
          </a:p>
          <a:p xmlns:a="http://schemas.openxmlformats.org/drawingml/2006/main">
            <a:r>
              <a:t>Novartis / 2021-25 / NCT05032157 / Novartis Pharmaceuticals / 1</a:t>
            </a:r>
          </a:p>
          <a:p xmlns:a="http://schemas.openxmlformats.org/drawingml/2006/main">
            <a:r>
              <a:t>Novartis / 2021-25 / NCT04984876 / Novartis Pharmaceuticals / 0</a:t>
            </a:r>
          </a:p>
          <a:p xmlns:a="http://schemas.openxmlformats.org/drawingml/2006/main">
            <a:r>
              <a:t>Novartis / 2021-25 / NCT05305664 / Novartis Pharmaceuticals / 0</a:t>
            </a:r>
          </a:p>
          <a:p xmlns:a="http://schemas.openxmlformats.org/drawingml/2006/main">
            <a:r>
              <a:t>Novartis / 2021-25 / NCT06401356 / Novartis Pharmaceuticals / 0</a:t>
            </a:r>
          </a:p>
          <a:p xmlns:a="http://schemas.openxmlformats.org/drawingml/2006/main">
            <a:r>
              <a:t>Novartis / 2021-25 / NCT05648968 / Novartis Pharmaceuticals / 1</a:t>
            </a:r>
          </a:p>
          <a:p xmlns:a="http://schemas.openxmlformats.org/drawingml/2006/main">
            <a:r>
              <a:t>Novartis / 2021-25 / NCT05948943 / Novartis Pharmaceuticals / 0</a:t>
            </a:r>
          </a:p>
          <a:p xmlns:a="http://schemas.openxmlformats.org/drawingml/2006/main">
            <a:r>
              <a:t>Novartis / 2021-25 / NCT04788615 / Novartis Pharmaceuticals / 0</a:t>
            </a:r>
          </a:p>
          <a:p xmlns:a="http://schemas.openxmlformats.org/drawingml/2006/main">
            <a:r>
              <a:t>Novartis / 2021-25 / NCT04838626 / Novartis Pharmaceuticals / 0</a:t>
            </a:r>
          </a:p>
          <a:p xmlns:a="http://schemas.openxmlformats.org/drawingml/2006/main">
            <a:r>
              <a:t>Novartis / 2021-25 / NCT05985915 / Novartis Pharmaceuticals / 1</a:t>
            </a:r>
          </a:p>
          <a:p xmlns:a="http://schemas.openxmlformats.org/drawingml/2006/main">
            <a:r>
              <a:t>Novartis / 2021-25 / NCT05569174 / Novartis Pharmaceuticals / 0</a:t>
            </a:r>
          </a:p>
          <a:p xmlns:a="http://schemas.openxmlformats.org/drawingml/2006/main">
            <a:r>
              <a:t>Novartis / 2021-25 / NCT05126277 / Novartis Pharmaceuticals / 1</a:t>
            </a:r>
          </a:p>
          <a:p xmlns:a="http://schemas.openxmlformats.org/drawingml/2006/main">
            <a:r>
              <a:t>Novartis / 2021-25 / NCT05722522 / Novartis Pharmaceuticals / 0</a:t>
            </a:r>
          </a:p>
          <a:p xmlns:a="http://schemas.openxmlformats.org/drawingml/2006/main">
            <a:r>
              <a:t>Novartis / 2021-25 / NCT06133972 / Novartis Pharmaceuticals / 1</a:t>
            </a:r>
          </a:p>
          <a:p xmlns:a="http://schemas.openxmlformats.org/drawingml/2006/main">
            <a:r>
              <a:t>Novartis / 2021-25 / NCT06439082 / Novartis Pharmaceuticals / 0</a:t>
            </a:r>
          </a:p>
          <a:p xmlns:a="http://schemas.openxmlformats.org/drawingml/2006/main">
            <a:r>
              <a:t>Novartis / 2021-25 / NCT05147220 / Novartis Pharmaceuticals / 1</a:t>
            </a:r>
          </a:p>
          <a:p xmlns:a="http://schemas.openxmlformats.org/drawingml/2006/main">
            <a:r>
              <a:t>Novartis / 2021-25 / NCT06267560 / Novartis Pharmaceuticals / 0</a:t>
            </a:r>
          </a:p>
          <a:p xmlns:a="http://schemas.openxmlformats.org/drawingml/2006/main">
            <a:r>
              <a:t>Novartis / 2021-25 / NCT05677451 / Novartis Pharmaceuticals / 0</a:t>
            </a:r>
          </a:p>
          <a:p xmlns:a="http://schemas.openxmlformats.org/drawingml/2006/main">
            <a:r>
              <a:t>Novartis / 2021-25 / NCT05763875 / Novartis Pharmaceuticals / 0</a:t>
            </a:r>
          </a:p>
          <a:p xmlns:a="http://schemas.openxmlformats.org/drawingml/2006/main">
            <a:r>
              <a:t>Novartis / 2021-25 / NCT05030311 / Novartis Pharmaceuticals / 1</a:t>
            </a:r>
          </a:p>
          <a:p xmlns:a="http://schemas.openxmlformats.org/drawingml/2006/main">
            <a:r>
              <a:t>Novartis / 2021-25 / NCT06744920 / Novartis Pharmaceuticals / 1</a:t>
            </a:r>
          </a:p>
          <a:p xmlns:a="http://schemas.openxmlformats.org/drawingml/2006/main">
            <a:r>
              <a:t>Novartis / 2021-25 / NCT05456191 / Novartis Pharmaceuticals / 1</a:t>
            </a:r>
          </a:p>
          <a:p xmlns:a="http://schemas.openxmlformats.org/drawingml/2006/main">
            <a:r>
              <a:t>Novartis / 2021-25 / NCT06236061 / Novartis Pharmaceuticals / 0</a:t>
            </a:r>
          </a:p>
          <a:p xmlns:a="http://schemas.openxmlformats.org/drawingml/2006/main">
            <a:r>
              <a:t>Novartis / 2021-25 / NCT05653219 / Novartis Pharmaceuticals / 1</a:t>
            </a:r>
          </a:p>
          <a:p xmlns:a="http://schemas.openxmlformats.org/drawingml/2006/main">
            <a:r>
              <a:t>Novartis / 2021-25 / NCT05767034 / Novartis Pharmaceuticals / 0</a:t>
            </a:r>
          </a:p>
          <a:p xmlns:a="http://schemas.openxmlformats.org/drawingml/2006/main">
            <a:r>
              <a:t>Novartis / 2021-25 / NCT05513001 / Novartis Pharmaceuticals / 1</a:t>
            </a:r>
          </a:p>
          <a:p xmlns:a="http://schemas.openxmlformats.org/drawingml/2006/main">
            <a:r>
              <a:t>Novartis / 2021-25 / NCT07102628 / Novartis Pharmaceuticals / 1</a:t>
            </a:r>
          </a:p>
          <a:p xmlns:a="http://schemas.openxmlformats.org/drawingml/2006/main">
            <a:r>
              <a:t>Novartis / 2021-25 / NCT04926818 / Novartis Pharmaceuticals / 1</a:t>
            </a:r>
          </a:p>
          <a:p xmlns:a="http://schemas.openxmlformats.org/drawingml/2006/main">
            <a:r>
              <a:t>Novartis / 2021-25 / NCT04817618 / Novartis Pharmaceuticals / 1</a:t>
            </a:r>
          </a:p>
          <a:p xmlns:a="http://schemas.openxmlformats.org/drawingml/2006/main">
            <a:r>
              <a:t>Novartis / 2021-25 / NCT04929249 / Novartis Pharmaceuticals / 0</a:t>
            </a:r>
          </a:p>
          <a:p xmlns:a="http://schemas.openxmlformats.org/drawingml/2006/main">
            <a:r>
              <a:t>Novartis / 2021-25 / NCT04717635 / Novartis Pharmaceuticals / 0</a:t>
            </a:r>
          </a:p>
          <a:p xmlns:a="http://schemas.openxmlformats.org/drawingml/2006/main">
            <a:r>
              <a:t>Novartis / 2021-25 / NCT05795140 / Novartis Pharmaceuticals / 1</a:t>
            </a:r>
          </a:p>
          <a:p xmlns:a="http://schemas.openxmlformats.org/drawingml/2006/main">
            <a:r>
              <a:t>Novartis / 2021-25 / NCT06813911 / Novartis Pharmaceuticals / 0</a:t>
            </a:r>
          </a:p>
          <a:p xmlns:a="http://schemas.openxmlformats.org/drawingml/2006/main">
            <a:r>
              <a:t>Novartis / 2021-25 / NCT05232864 / Novartis Pharmaceuticals / 0</a:t>
            </a:r>
          </a:p>
          <a:p xmlns:a="http://schemas.openxmlformats.org/drawingml/2006/main">
            <a:r>
              <a:t>Novartis / 2021-25 / NCT06597019 / Novartis Pharmaceuticals / 0</a:t>
            </a:r>
          </a:p>
          <a:p xmlns:a="http://schemas.openxmlformats.org/drawingml/2006/main">
            <a:r>
              <a:t>Novartis / 2021-25 / NCT06597006 / Novartis Pharmaceuticals / 0</a:t>
            </a:r>
          </a:p>
          <a:p xmlns:a="http://schemas.openxmlformats.org/drawingml/2006/main">
            <a:r>
              <a:t>Novartis / 2021-25 / NCT05827081 / Novartis Pharmaceuticals / 1</a:t>
            </a:r>
          </a:p>
          <a:p xmlns:a="http://schemas.openxmlformats.org/drawingml/2006/main">
            <a:r>
              <a:t>Novartis / 2021-25 / NCT06855277 / Novartis Pharmaceuticals / 1</a:t>
            </a:r>
          </a:p>
          <a:p xmlns:a="http://schemas.openxmlformats.org/drawingml/2006/main">
            <a:r>
              <a:t>Novartis / 2021-25 / NCT05132075 / Novartis Pharmaceuticals / 1</a:t>
            </a:r>
          </a:p>
          <a:p xmlns:a="http://schemas.openxmlformats.org/drawingml/2006/main">
            <a:r>
              <a:t>Novartis / 2021-25 / NCT04930094 / Novartis Pharmaceuticals / 0</a:t>
            </a:r>
          </a:p>
          <a:p xmlns:a="http://schemas.openxmlformats.org/drawingml/2006/main">
            <a:r>
              <a:t>Novartis / 2021-25 / NCT04816214 / Novartis Pharmaceuticals / 0</a:t>
            </a:r>
          </a:p>
          <a:p xmlns:a="http://schemas.openxmlformats.org/drawingml/2006/main">
            <a:r>
              <a:t>Novartis / 2021-25 / NCT05758415 / Novartis Pharmaceuticals / 0</a:t>
            </a:r>
          </a:p>
          <a:p xmlns:a="http://schemas.openxmlformats.org/drawingml/2006/main">
            <a:r>
              <a:t>Novartis / 2021-25 / NCT05888103 / Novartis Pharmaceuticals / 0</a:t>
            </a:r>
          </a:p>
          <a:p xmlns:a="http://schemas.openxmlformats.org/drawingml/2006/main">
            <a:r>
              <a:t>Novartis / 2021-25 / NCT04971226 / Novartis Pharmaceuticals / 1</a:t>
            </a:r>
          </a:p>
          <a:p xmlns:a="http://schemas.openxmlformats.org/drawingml/2006/main">
            <a:r>
              <a:t>Novartis / 2021-25 / NCT06858319 / Novartis Pharmaceuticals / 0</a:t>
            </a:r>
          </a:p>
          <a:p xmlns:a="http://schemas.openxmlformats.org/drawingml/2006/main">
            <a:r>
              <a:t>Novartis / 2021-25 / NCT05048342 / Novartis Pharmaceuticals / 0</a:t>
            </a:r>
          </a:p>
          <a:p xmlns:a="http://schemas.openxmlformats.org/drawingml/2006/main">
            <a:r>
              <a:t>Novartis / 2021-25 / NCT06149104 / Novartis Pharmaceuticals / 0</a:t>
            </a:r>
          </a:p>
          <a:p xmlns:a="http://schemas.openxmlformats.org/drawingml/2006/main">
            <a:r>
              <a:t>Novartis / 2021-25 / NCT05639114 / Novartis Pharmaceuticals / 0</a:t>
            </a:r>
          </a:p>
          <a:p xmlns:a="http://schemas.openxmlformats.org/drawingml/2006/main">
            <a:r>
              <a:t>Novartis / 2021-25 / NCT06042478 / Novartis Pharmaceuticals / 1</a:t>
            </a:r>
          </a:p>
          <a:p xmlns:a="http://schemas.openxmlformats.org/drawingml/2006/main">
            <a:r>
              <a:t>Novartis / 2021-25 / NCT05360446 / Novartis Pharmaceuticals / 1</a:t>
            </a:r>
          </a:p>
          <a:p xmlns:a="http://schemas.openxmlformats.org/drawingml/2006/main">
            <a:r>
              <a:t>Novartis / 2021-25 / NCT05562466 / Novartis Pharmaceuticals / 0</a:t>
            </a:r>
          </a:p>
          <a:p xmlns:a="http://schemas.openxmlformats.org/drawingml/2006/main">
            <a:r>
              <a:t>Novartis / 2021-25 / NCT06240741 / Novartis Pharmaceuticals / 0</a:t>
            </a:r>
          </a:p>
          <a:p xmlns:a="http://schemas.openxmlformats.org/drawingml/2006/main">
            <a:r>
              <a:t>Novartis / 2021-25 / NCT05852938 / Novartis Pharmaceuticals / 1</a:t>
            </a:r>
          </a:p>
          <a:p xmlns:a="http://schemas.openxmlformats.org/drawingml/2006/main">
            <a:r>
              <a:t>Novartis / 2021-25 / NCT05682378 / Novartis Pharmaceuticals / 0</a:t>
            </a:r>
          </a:p>
          <a:p xmlns:a="http://schemas.openxmlformats.org/drawingml/2006/main">
            <a:r>
              <a:t>Novartis / 2021-25 / NCT05666804 / Novartis Pharmaceuticals / 0</a:t>
            </a:r>
          </a:p>
          <a:p xmlns:a="http://schemas.openxmlformats.org/drawingml/2006/main">
            <a:r>
              <a:t>Novartis / 2021-25 / NCT05349214 / Novartis Pharmaceuticals / 1</a:t>
            </a:r>
          </a:p>
          <a:p xmlns:a="http://schemas.openxmlformats.org/drawingml/2006/main">
            <a:r>
              <a:t>Novartis / 2021-25 / NCT05755386 / Novartis Pharmaceuticals / 1</a:t>
            </a:r>
          </a:p>
          <a:p xmlns:a="http://schemas.openxmlformats.org/drawingml/2006/main">
            <a:r>
              <a:t>Novartis / 2021-25 / NCT05842954 / Novartis Pharmaceuticals / 0</a:t>
            </a:r>
          </a:p>
          <a:p xmlns:a="http://schemas.openxmlformats.org/drawingml/2006/main">
            <a:r>
              <a:t>Novartis / 2021-25 / NCT05795153 / Novartis Pharmaceuticals / 0</a:t>
            </a:r>
          </a:p>
          <a:p xmlns:a="http://schemas.openxmlformats.org/drawingml/2006/main">
            <a:r>
              <a:t>Novartis / 2021-25 / NCT04732117 / Novartis Pharmaceuticals / 0</a:t>
            </a:r>
          </a:p>
          <a:p xmlns:a="http://schemas.openxmlformats.org/drawingml/2006/main">
            <a:r>
              <a:t>Novartis / 2021-25 / NCT05156281 / Novartis Pharmaceuticals / 1</a:t>
            </a:r>
          </a:p>
          <a:p xmlns:a="http://schemas.openxmlformats.org/drawingml/2006/main">
            <a:r>
              <a:t>Novartis / 2021-25 / NCT06869785 / Novartis Pharmaceuticals / 0</a:t>
            </a:r>
          </a:p>
          <a:p xmlns:a="http://schemas.openxmlformats.org/drawingml/2006/main">
            <a:r>
              <a:t>Novartis / 2021-25 / NCT06846281 / Novartis Pharmaceuticals / 0</a:t>
            </a:r>
          </a:p>
          <a:p xmlns:a="http://schemas.openxmlformats.org/drawingml/2006/main">
            <a:r>
              <a:t>Pfizer / 2015-19 / NCT03872453 / Pfizer / 0</a:t>
            </a:r>
          </a:p>
          <a:p xmlns:a="http://schemas.openxmlformats.org/drawingml/2006/main">
            <a:r>
              <a:t>Pfizer / 2015-19 / NCT03573882 / Pfizer / 0</a:t>
            </a:r>
          </a:p>
          <a:p xmlns:a="http://schemas.openxmlformats.org/drawingml/2006/main">
            <a:r>
              <a:t>Pfizer / 2015-19 / NCT02504294 / Pfizer / 0</a:t>
            </a:r>
          </a:p>
          <a:p xmlns:a="http://schemas.openxmlformats.org/drawingml/2006/main">
            <a:r>
              <a:t>Pfizer / 2015-19 / NCT03090191 / Pfizer / 0</a:t>
            </a:r>
          </a:p>
          <a:p xmlns:a="http://schemas.openxmlformats.org/drawingml/2006/main">
            <a:r>
              <a:t>Pfizer / 2015-19 / NCT03439514 / Pfizer / 0</a:t>
            </a:r>
          </a:p>
          <a:p xmlns:a="http://schemas.openxmlformats.org/drawingml/2006/main">
            <a:r>
              <a:t>Pfizer / 2015-19 / NCT02458287 / Pfizer / 0</a:t>
            </a:r>
          </a:p>
          <a:p xmlns:a="http://schemas.openxmlformats.org/drawingml/2006/main">
            <a:r>
              <a:t>Pfizer / 2015-19 / NCT03938792 / Pfizer / 1</a:t>
            </a:r>
          </a:p>
          <a:p xmlns:a="http://schemas.openxmlformats.org/drawingml/2006/main">
            <a:r>
              <a:t>Pfizer / 2015-19 / NCT03052608 / Pfizer / 1</a:t>
            </a:r>
          </a:p>
          <a:p xmlns:a="http://schemas.openxmlformats.org/drawingml/2006/main">
            <a:r>
              <a:t>Pfizer / 2015-19 / NCT03571607 / Pfizer / 0</a:t>
            </a:r>
          </a:p>
          <a:p xmlns:a="http://schemas.openxmlformats.org/drawingml/2006/main">
            <a:r>
              <a:t>Pfizer / 2015-19 / NCT03861273 / Pfizer / 0</a:t>
            </a:r>
          </a:p>
          <a:p xmlns:a="http://schemas.openxmlformats.org/drawingml/2006/main">
            <a:r>
              <a:t>Pfizer / 2015-19 / NCT02364999 / Pfizer / 1</a:t>
            </a:r>
          </a:p>
          <a:p xmlns:a="http://schemas.openxmlformats.org/drawingml/2006/main">
            <a:r>
              <a:t>Pfizer / 2015-19 / NCT03266588 / Pfizer / 0</a:t>
            </a:r>
          </a:p>
          <a:p xmlns:a="http://schemas.openxmlformats.org/drawingml/2006/main">
            <a:r>
              <a:t>Pfizer / 2015-19 / NCT03416179 / Pfizer / 0</a:t>
            </a:r>
          </a:p>
          <a:p xmlns:a="http://schemas.openxmlformats.org/drawingml/2006/main">
            <a:r>
              <a:t>Pfizer / 2015-19 / NCT03828617 / Pfizer / 0</a:t>
            </a:r>
          </a:p>
          <a:p xmlns:a="http://schemas.openxmlformats.org/drawingml/2006/main">
            <a:r>
              <a:t>Pfizer / 2015-19 / NCT02684006 / Pfizer / 0</a:t>
            </a:r>
          </a:p>
          <a:p xmlns:a="http://schemas.openxmlformats.org/drawingml/2006/main">
            <a:r>
              <a:t>Pfizer / 2015-19 / NCT03237845 / Pfizer / 0</a:t>
            </a:r>
          </a:p>
          <a:p xmlns:a="http://schemas.openxmlformats.org/drawingml/2006/main">
            <a:r>
              <a:t>Pfizer / 2015-19 / NCT02697773 / Pfizer / 0</a:t>
            </a:r>
          </a:p>
          <a:p xmlns:a="http://schemas.openxmlformats.org/drawingml/2006/main">
            <a:r>
              <a:t>Pfizer / 2015-19 / NCT03975647 / Seagen, a wholly owned subsidiary of Pfizer / 0</a:t>
            </a:r>
          </a:p>
          <a:p xmlns:a="http://schemas.openxmlformats.org/drawingml/2006/main">
            <a:r>
              <a:t>Pfizer / 2015-19 / NCT03486457 / Pfizer / 0</a:t>
            </a:r>
          </a:p>
          <a:p xmlns:a="http://schemas.openxmlformats.org/drawingml/2006/main">
            <a:r>
              <a:t>Pfizer / 2015-19 / NCT03575871 / Pfizer / 0</a:t>
            </a:r>
          </a:p>
          <a:p xmlns:a="http://schemas.openxmlformats.org/drawingml/2006/main">
            <a:r>
              <a:t>Pfizer / 2015-19 / NCT02929576 / Pfizer / 0</a:t>
            </a:r>
          </a:p>
          <a:p xmlns:a="http://schemas.openxmlformats.org/drawingml/2006/main">
            <a:r>
              <a:t>Pfizer / 2015-19 / NCT02501928 / Pfizer / 0</a:t>
            </a:r>
          </a:p>
          <a:p xmlns:a="http://schemas.openxmlformats.org/drawingml/2006/main">
            <a:r>
              <a:t>Pfizer / 2015-19 / NCT02952586 / Pfizer / 0</a:t>
            </a:r>
          </a:p>
          <a:p xmlns:a="http://schemas.openxmlformats.org/drawingml/2006/main">
            <a:r>
              <a:t>Pfizer / 2015-19 / NCT02725411 / Pfizer / 0</a:t>
            </a:r>
          </a:p>
          <a:p xmlns:a="http://schemas.openxmlformats.org/drawingml/2006/main">
            <a:r>
              <a:t>Pfizer / 2015-19 / NCT03235479 / Pfizer / 0</a:t>
            </a:r>
          </a:p>
          <a:p xmlns:a="http://schemas.openxmlformats.org/drawingml/2006/main">
            <a:r>
              <a:t>Pfizer / 2015-19 / NCT03796676 / Pfizer / 0</a:t>
            </a:r>
          </a:p>
          <a:p xmlns:a="http://schemas.openxmlformats.org/drawingml/2006/main">
            <a:r>
              <a:t>Pfizer / 2015-19 / NCT02603432 / Pfizer / 1</a:t>
            </a:r>
          </a:p>
          <a:p xmlns:a="http://schemas.openxmlformats.org/drawingml/2006/main">
            <a:r>
              <a:t>Pfizer / 2015-19 / NCT02791230 / Pfizer / 0</a:t>
            </a:r>
          </a:p>
          <a:p xmlns:a="http://schemas.openxmlformats.org/drawingml/2006/main">
            <a:r>
              <a:t>Pfizer / 2015-19 / NCT03835975 / Pfizer / 0</a:t>
            </a:r>
          </a:p>
          <a:p xmlns:a="http://schemas.openxmlformats.org/drawingml/2006/main">
            <a:r>
              <a:t>Pfizer / 2015-19 / NCT03135834 / Pfizer / 0</a:t>
            </a:r>
          </a:p>
          <a:p xmlns:a="http://schemas.openxmlformats.org/drawingml/2006/main">
            <a:r>
              <a:t>Pfizer / 2015-19 / NCT04188509 / Pfizer / 0</a:t>
            </a:r>
          </a:p>
          <a:p xmlns:a="http://schemas.openxmlformats.org/drawingml/2006/main">
            <a:r>
              <a:t>Pfizer / 2015-19 / NCT02757625 / Pfizer / 0</a:t>
            </a:r>
          </a:p>
          <a:p xmlns:a="http://schemas.openxmlformats.org/drawingml/2006/main">
            <a:r>
              <a:t>Pfizer / 2015-19 / NCT03627767 / Pfizer / 0</a:t>
            </a:r>
          </a:p>
          <a:p xmlns:a="http://schemas.openxmlformats.org/drawingml/2006/main">
            <a:r>
              <a:t>Pfizer / 2015-19 / NCT04040192 / Pfizer / 0</a:t>
            </a:r>
          </a:p>
          <a:p xmlns:a="http://schemas.openxmlformats.org/drawingml/2006/main">
            <a:r>
              <a:t>Pfizer / 2015-19 / NCT02528188 / Pfizer / 0</a:t>
            </a:r>
          </a:p>
          <a:p xmlns:a="http://schemas.openxmlformats.org/drawingml/2006/main">
            <a:r>
              <a:t>Pfizer / 2015-19 / NCT02928224 / Pfizer / 0</a:t>
            </a:r>
          </a:p>
          <a:p xmlns:a="http://schemas.openxmlformats.org/drawingml/2006/main">
            <a:r>
              <a:t>Pfizer / 2015-19 / NCT04006457 / Pfizer / 0</a:t>
            </a:r>
          </a:p>
          <a:p xmlns:a="http://schemas.openxmlformats.org/drawingml/2006/main">
            <a:r>
              <a:t>Pfizer / 2015-19 / NCT02709486 / Pfizer / 0</a:t>
            </a:r>
          </a:p>
          <a:p xmlns:a="http://schemas.openxmlformats.org/drawingml/2006/main">
            <a:r>
              <a:t>Pfizer / 2015-19 / NCT02528253 / Pfizer / 0</a:t>
            </a:r>
          </a:p>
          <a:p xmlns:a="http://schemas.openxmlformats.org/drawingml/2006/main">
            <a:r>
              <a:t>Pfizer / 2015-19 / NCT03950232 / Pfizer / 1</a:t>
            </a:r>
          </a:p>
          <a:p xmlns:a="http://schemas.openxmlformats.org/drawingml/2006/main">
            <a:r>
              <a:t>Pfizer / 2015-19 / NCT03760146 / Pfizer / 0</a:t>
            </a:r>
          </a:p>
          <a:p xmlns:a="http://schemas.openxmlformats.org/drawingml/2006/main">
            <a:r>
              <a:t>Pfizer / 2015-19 / NCT03036813 / Pfizer / 0</a:t>
            </a:r>
          </a:p>
          <a:p xmlns:a="http://schemas.openxmlformats.org/drawingml/2006/main">
            <a:r>
              <a:t>Pfizer / 2015-19 / NCT02600923 / Pfizer / 0</a:t>
            </a:r>
          </a:p>
          <a:p xmlns:a="http://schemas.openxmlformats.org/drawingml/2006/main">
            <a:r>
              <a:t>Pfizer / 2015-19 / NCT03574389 / Pfizer / 0</a:t>
            </a:r>
          </a:p>
          <a:p xmlns:a="http://schemas.openxmlformats.org/drawingml/2006/main">
            <a:r>
              <a:t>Pfizer / 2015-19 / NCT03580044 / Pfizer / 1</a:t>
            </a:r>
          </a:p>
          <a:p xmlns:a="http://schemas.openxmlformats.org/drawingml/2006/main">
            <a:r>
              <a:t>Pfizer / 2015-19 / NCT02761980 / Pfizer / 0</a:t>
            </a:r>
          </a:p>
          <a:p xmlns:a="http://schemas.openxmlformats.org/drawingml/2006/main">
            <a:r>
              <a:t>Pfizer / 2015-19 / NCT03732638 / Pfizer / 0</a:t>
            </a:r>
          </a:p>
          <a:p xmlns:a="http://schemas.openxmlformats.org/drawingml/2006/main">
            <a:r>
              <a:t>Pfizer / 2015-19 / NCT03579459 / Pfizer / 0</a:t>
            </a:r>
          </a:p>
          <a:p xmlns:a="http://schemas.openxmlformats.org/drawingml/2006/main">
            <a:r>
              <a:t>Pfizer / 2015-19 / NCT02951156 / Pfizer / 0</a:t>
            </a:r>
          </a:p>
          <a:p xmlns:a="http://schemas.openxmlformats.org/drawingml/2006/main">
            <a:r>
              <a:t>Pfizer / 2015-19 / NCT03349060 / Pfizer / 0</a:t>
            </a:r>
          </a:p>
          <a:p xmlns:a="http://schemas.openxmlformats.org/drawingml/2006/main">
            <a:r>
              <a:t>Pfizer / 2015-19 / NCT03000439 / Pfizer / 1</a:t>
            </a:r>
          </a:p>
          <a:p xmlns:a="http://schemas.openxmlformats.org/drawingml/2006/main">
            <a:r>
              <a:t>Pfizer / 2015-19 / NCT02912650 / Pfizer / 0</a:t>
            </a:r>
          </a:p>
          <a:p xmlns:a="http://schemas.openxmlformats.org/drawingml/2006/main">
            <a:r>
              <a:t>Pfizer / 2015-19 / NCT02837952 / Pfizer / 0</a:t>
            </a:r>
          </a:p>
          <a:p xmlns:a="http://schemas.openxmlformats.org/drawingml/2006/main">
            <a:r>
              <a:t>Pfizer / 2015-19 / NCT03461757 / Pfizer / 0</a:t>
            </a:r>
          </a:p>
          <a:p xmlns:a="http://schemas.openxmlformats.org/drawingml/2006/main">
            <a:r>
              <a:t>Pfizer / 2015-19 / NCT02480153 / Pfizer / 0</a:t>
            </a:r>
          </a:p>
          <a:p xmlns:a="http://schemas.openxmlformats.org/drawingml/2006/main">
            <a:r>
              <a:t>Pfizer / 2015-19 / NCT02863575 / Pfizer / 0</a:t>
            </a:r>
          </a:p>
          <a:p xmlns:a="http://schemas.openxmlformats.org/drawingml/2006/main">
            <a:r>
              <a:t>Pfizer / 2015-19 / NCT03642132 / Pfizer / 0</a:t>
            </a:r>
          </a:p>
          <a:p xmlns:a="http://schemas.openxmlformats.org/drawingml/2006/main">
            <a:r>
              <a:t>Pfizer / 2015-19 / NCT02947334 / Pfizer / 0</a:t>
            </a:r>
          </a:p>
          <a:p xmlns:a="http://schemas.openxmlformats.org/drawingml/2006/main">
            <a:r>
              <a:t>Pfizer / 2015-19 / NCT03587116 / Pfizer / 0</a:t>
            </a:r>
          </a:p>
          <a:p xmlns:a="http://schemas.openxmlformats.org/drawingml/2006/main">
            <a:r>
              <a:t>Pfizer / 2015-19 / NCT04165317 / Pfizer / 0</a:t>
            </a:r>
          </a:p>
          <a:p xmlns:a="http://schemas.openxmlformats.org/drawingml/2006/main">
            <a:r>
              <a:t>Pfizer / 2015-19 / NCT03329092 / Pfizer / 1</a:t>
            </a:r>
          </a:p>
          <a:p xmlns:a="http://schemas.openxmlformats.org/drawingml/2006/main">
            <a:r>
              <a:t>Pfizer / 2015-19 / NCT03732807 / Pfizer / 0</a:t>
            </a:r>
          </a:p>
          <a:p xmlns:a="http://schemas.openxmlformats.org/drawingml/2006/main">
            <a:r>
              <a:t>Pfizer / 2015-19 / NCT03918629 / Pfizer / 0</a:t>
            </a:r>
          </a:p>
          <a:p xmlns:a="http://schemas.openxmlformats.org/drawingml/2006/main">
            <a:r>
              <a:t>Pfizer / 2015-19 / NCT04173273 / Pfizer / 1</a:t>
            </a:r>
          </a:p>
          <a:p xmlns:a="http://schemas.openxmlformats.org/drawingml/2006/main">
            <a:r>
              <a:t>Pfizer / 2015-19 / NCT03422822 / Pfizer / 0</a:t>
            </a:r>
          </a:p>
          <a:p xmlns:a="http://schemas.openxmlformats.org/drawingml/2006/main">
            <a:r>
              <a:t>Pfizer / 2015-19 / NCT02378506 / Pfizer / 0</a:t>
            </a:r>
          </a:p>
          <a:p xmlns:a="http://schemas.openxmlformats.org/drawingml/2006/main">
            <a:r>
              <a:t>Pfizer / 2015-19 / NCT02609828 / Pfizer / 0</a:t>
            </a:r>
          </a:p>
          <a:p xmlns:a="http://schemas.openxmlformats.org/drawingml/2006/main">
            <a:r>
              <a:t>Pfizer / 2015-19 / NCT02580058 / Pfizer / 0</a:t>
            </a:r>
          </a:p>
          <a:p xmlns:a="http://schemas.openxmlformats.org/drawingml/2006/main">
            <a:r>
              <a:t>Pfizer / 2015-19 / NCT03189745 / Pfizer / 0</a:t>
            </a:r>
          </a:p>
          <a:p xmlns:a="http://schemas.openxmlformats.org/drawingml/2006/main">
            <a:r>
              <a:t>Pfizer / 2015-19 / NCT03720470 / Pfizer / 0</a:t>
            </a:r>
          </a:p>
          <a:p xmlns:a="http://schemas.openxmlformats.org/drawingml/2006/main">
            <a:r>
              <a:t>Pfizer / 2015-19 / NCT03831880 / Pfizer / 0</a:t>
            </a:r>
          </a:p>
          <a:p xmlns:a="http://schemas.openxmlformats.org/drawingml/2006/main">
            <a:r>
              <a:t>Pfizer / 2015-19 / NCT03502616 / Pfizer / 0</a:t>
            </a:r>
          </a:p>
          <a:p xmlns:a="http://schemas.openxmlformats.org/drawingml/2006/main">
            <a:r>
              <a:t>Pfizer / 2015-19 / NCT03031938 / Pfizer / 0</a:t>
            </a:r>
          </a:p>
          <a:p xmlns:a="http://schemas.openxmlformats.org/drawingml/2006/main">
            <a:r>
              <a:t>Pfizer / 2015-19 / NCT03395197 / Pfizer / 0</a:t>
            </a:r>
          </a:p>
          <a:p xmlns:a="http://schemas.openxmlformats.org/drawingml/2006/main">
            <a:r>
              <a:t>Pfizer / 2015-19 / NCT03722238 / Pfizer / 0</a:t>
            </a:r>
          </a:p>
          <a:p xmlns:a="http://schemas.openxmlformats.org/drawingml/2006/main">
            <a:r>
              <a:t>Pfizer / 2015-19 / NCT02718417 / Pfizer / 0</a:t>
            </a:r>
          </a:p>
          <a:p xmlns:a="http://schemas.openxmlformats.org/drawingml/2006/main">
            <a:r>
              <a:t>Pfizer / 2015-19 / NCT02592434 / Pfizer / 0</a:t>
            </a:r>
          </a:p>
          <a:p xmlns:a="http://schemas.openxmlformats.org/drawingml/2006/main">
            <a:r>
              <a:t>Pfizer / 2015-19 / NCT02674386 / Pfizer / 0</a:t>
            </a:r>
          </a:p>
          <a:p xmlns:a="http://schemas.openxmlformats.org/drawingml/2006/main">
            <a:r>
              <a:t>Pfizer / 2021-25 / NCT06807281 / Pfizer / 0</a:t>
            </a:r>
          </a:p>
          <a:p xmlns:a="http://schemas.openxmlformats.org/drawingml/2006/main">
            <a:r>
              <a:t>Pfizer / 2021-25 / NCT05035212 / Pfizer / 0</a:t>
            </a:r>
          </a:p>
          <a:p xmlns:a="http://schemas.openxmlformats.org/drawingml/2006/main">
            <a:r>
              <a:t>Pfizer / 2021-25 / NCT07222566 / Pfizer / 1</a:t>
            </a:r>
          </a:p>
          <a:p xmlns:a="http://schemas.openxmlformats.org/drawingml/2006/main">
            <a:r>
              <a:t>Pfizer / 2021-25 / NCT05623020 / Pfizer / 0</a:t>
            </a:r>
          </a:p>
          <a:p xmlns:a="http://schemas.openxmlformats.org/drawingml/2006/main">
            <a:r>
              <a:t>Pfizer / 2021-25 / NCT04743141 / Pfizer / 0</a:t>
            </a:r>
          </a:p>
          <a:p xmlns:a="http://schemas.openxmlformats.org/drawingml/2006/main">
            <a:r>
              <a:t>Pfizer / 2021-25 / NCT05375929 / Pfizer / 1</a:t>
            </a:r>
          </a:p>
          <a:p xmlns:a="http://schemas.openxmlformats.org/drawingml/2006/main">
            <a:r>
              <a:t>Pfizer / 2021-25 / NCT04706793 / Pfizer / 0</a:t>
            </a:r>
          </a:p>
          <a:p xmlns:a="http://schemas.openxmlformats.org/drawingml/2006/main">
            <a:r>
              <a:t>Pfizer / 2021-25 / NCT05909397 / Pfizer / 0</a:t>
            </a:r>
          </a:p>
          <a:p xmlns:a="http://schemas.openxmlformats.org/drawingml/2006/main">
            <a:r>
              <a:t>Pfizer / 2021-25 / NCT06616194 / Pfizer / 1</a:t>
            </a:r>
          </a:p>
          <a:p xmlns:a="http://schemas.openxmlformats.org/drawingml/2006/main">
            <a:r>
              <a:t>Pfizer / 2021-25 / NCT06760637 / Pfizer / 1</a:t>
            </a:r>
          </a:p>
          <a:p xmlns:a="http://schemas.openxmlformats.org/drawingml/2006/main">
            <a:r>
              <a:t>Pfizer / 2021-25 / NCT05561140 / Pfizer / 0</a:t>
            </a:r>
          </a:p>
          <a:p xmlns:a="http://schemas.openxmlformats.org/drawingml/2006/main">
            <a:r>
              <a:t>Pfizer / 2021-25 / NCT04819113 / Pfizer / 0</a:t>
            </a:r>
          </a:p>
          <a:p xmlns:a="http://schemas.openxmlformats.org/drawingml/2006/main">
            <a:r>
              <a:t>Pfizer / 2021-25 / NCT05540522 / Pfizer / 0</a:t>
            </a:r>
          </a:p>
          <a:p xmlns:a="http://schemas.openxmlformats.org/drawingml/2006/main">
            <a:r>
              <a:t>Pfizer / 2021-25 / NCT04927247 / Pfizer / 0</a:t>
            </a:r>
          </a:p>
          <a:p xmlns:a="http://schemas.openxmlformats.org/drawingml/2006/main">
            <a:r>
              <a:t>Pfizer / 2021-25 / NCT04697628 / Seagen, a wholly owned subsidiary of Pfizer / 0</a:t>
            </a:r>
          </a:p>
          <a:p xmlns:a="http://schemas.openxmlformats.org/drawingml/2006/main">
            <a:r>
              <a:t>Pfizer / 2021-25 / NCT05348915 / Pfizer / 0</a:t>
            </a:r>
          </a:p>
          <a:p xmlns:a="http://schemas.openxmlformats.org/drawingml/2006/main">
            <a:r>
              <a:t>Pfizer / 2021-25 / NCT05301322 / Pfizer / 0</a:t>
            </a:r>
          </a:p>
          <a:p xmlns:a="http://schemas.openxmlformats.org/drawingml/2006/main">
            <a:r>
              <a:t>Pfizer / 2021-25 / NCT06079320 / Pfizer / 1</a:t>
            </a:r>
          </a:p>
          <a:p xmlns:a="http://schemas.openxmlformats.org/drawingml/2006/main">
            <a:r>
              <a:t>Pfizer / 2021-25 / NCT05634811 / Pfizer / 0</a:t>
            </a:r>
          </a:p>
          <a:p xmlns:a="http://schemas.openxmlformats.org/drawingml/2006/main">
            <a:r>
              <a:t>Pfizer / 2021-25 / NCT05431088 / Pfizer / 1</a:t>
            </a:r>
          </a:p>
          <a:p xmlns:a="http://schemas.openxmlformats.org/drawingml/2006/main">
            <a:r>
              <a:t>Pfizer / 2021-25 / NCT07311850 / Pfizer / 0</a:t>
            </a:r>
          </a:p>
          <a:p xmlns:a="http://schemas.openxmlformats.org/drawingml/2006/main">
            <a:r>
              <a:t>Pfizer / 2021-25 / NCT04927312 / Pfizer / 0</a:t>
            </a:r>
          </a:p>
          <a:p xmlns:a="http://schemas.openxmlformats.org/drawingml/2006/main">
            <a:r>
              <a:t>Pfizer / 2021-25 / NCT05689164 / Pfizer / 0</a:t>
            </a:r>
          </a:p>
          <a:p xmlns:a="http://schemas.openxmlformats.org/drawingml/2006/main">
            <a:r>
              <a:t>Pfizer / 2021-25 / NCT06758401 / Pfizer / 1</a:t>
            </a:r>
          </a:p>
          <a:p xmlns:a="http://schemas.openxmlformats.org/drawingml/2006/main">
            <a:r>
              <a:t>Pfizer / 2021-25 / NCT05895786 / Pfizer / 1</a:t>
            </a:r>
          </a:p>
          <a:p xmlns:a="http://schemas.openxmlformats.org/drawingml/2006/main">
            <a:r>
              <a:t>Pfizer / 2021-25 / NCT05096208 / Pfizer / 0</a:t>
            </a:r>
          </a:p>
          <a:p xmlns:a="http://schemas.openxmlformats.org/drawingml/2006/main">
            <a:r>
              <a:t>Pfizer / 2021-25 / NCT05253651 / Seagen, a wholly owned subsidiary of Pfizer / 0</a:t>
            </a:r>
          </a:p>
          <a:p xmlns:a="http://schemas.openxmlformats.org/drawingml/2006/main">
            <a:r>
              <a:t>Pfizer / 2021-25 / NCT06012435 / Seagen, a wholly owned subsidiary of Pfizer / 0</a:t>
            </a:r>
          </a:p>
          <a:p xmlns:a="http://schemas.openxmlformats.org/drawingml/2006/main">
            <a:r>
              <a:t>Pfizer / 2021-25 / NCT05512819 / Pfizer / 1</a:t>
            </a:r>
          </a:p>
          <a:p xmlns:a="http://schemas.openxmlformats.org/drawingml/2006/main">
            <a:r>
              <a:t>Pfizer / 2021-25 / NCT05611801 / Pfizer / 1</a:t>
            </a:r>
          </a:p>
          <a:p xmlns:a="http://schemas.openxmlformats.org/drawingml/2006/main">
            <a:r>
              <a:t>Pfizer / 2021-25 / NCT06807268 / Pfizer / 0</a:t>
            </a:r>
          </a:p>
          <a:p xmlns:a="http://schemas.openxmlformats.org/drawingml/2006/main">
            <a:r>
              <a:t>Pfizer / 2021-25 / NCT06551324 / Pfizer / 0</a:t>
            </a:r>
          </a:p>
          <a:p xmlns:a="http://schemas.openxmlformats.org/drawingml/2006/main">
            <a:r>
              <a:t>Pfizer / 2021-25 / NCT05408429 / Pfizer / 0</a:t>
            </a:r>
          </a:p>
          <a:p xmlns:a="http://schemas.openxmlformats.org/drawingml/2006/main">
            <a:r>
              <a:t>Pfizer / 2021-25 / NCT05989048 / Pfizer / 0</a:t>
            </a:r>
          </a:p>
          <a:p xmlns:a="http://schemas.openxmlformats.org/drawingml/2006/main">
            <a:r>
              <a:t>Pfizer / 2021-25 / NCT07013474 / Pfizer / 0</a:t>
            </a:r>
          </a:p>
          <a:p xmlns:a="http://schemas.openxmlformats.org/drawingml/2006/main">
            <a:r>
              <a:t>Pfizer / 2021-25 / NCT05248997 / Pfizer / 0</a:t>
            </a:r>
          </a:p>
          <a:p xmlns:a="http://schemas.openxmlformats.org/drawingml/2006/main">
            <a:r>
              <a:t>Pfizer / 2021-25 / NCT07029711 / Pfizer / 0</a:t>
            </a:r>
          </a:p>
          <a:p xmlns:a="http://schemas.openxmlformats.org/drawingml/2006/main">
            <a:r>
              <a:t>Pfizer / 2021-25 / NCT05654623 / Pfizer / 1</a:t>
            </a:r>
          </a:p>
          <a:p xmlns:a="http://schemas.openxmlformats.org/drawingml/2006/main">
            <a:r>
              <a:t>Pfizer / 2021-25 / NCT06698796 / Pfizer / 1</a:t>
            </a:r>
          </a:p>
          <a:p xmlns:a="http://schemas.openxmlformats.org/drawingml/2006/main">
            <a:r>
              <a:t>Pfizer / 2021-25 / NCT05228834 / Pfizer / 0</a:t>
            </a:r>
          </a:p>
          <a:p xmlns:a="http://schemas.openxmlformats.org/drawingml/2006/main">
            <a:r>
              <a:t>Pfizer / 2021-25 / NCT06163326 / Pfizer / 0</a:t>
            </a:r>
          </a:p>
          <a:p xmlns:a="http://schemas.openxmlformats.org/drawingml/2006/main">
            <a:r>
              <a:t>Pfizer / 2021-25 / NCT06072183 / Pfizer / 0</a:t>
            </a:r>
          </a:p>
          <a:p xmlns:a="http://schemas.openxmlformats.org/drawingml/2006/main">
            <a:r>
              <a:t>Pfizer / 2021-25 / NCT05047601 / Pfizer / 0</a:t>
            </a:r>
          </a:p>
          <a:p xmlns:a="http://schemas.openxmlformats.org/drawingml/2006/main">
            <a:r>
              <a:t>Pfizer / 2021-25 / NCT07062965 / Pfizer / 1</a:t>
            </a:r>
          </a:p>
          <a:p xmlns:a="http://schemas.openxmlformats.org/drawingml/2006/main">
            <a:r>
              <a:t>Pfizer / 2021-25 / NCT04960202 / Pfizer / 1</a:t>
            </a:r>
          </a:p>
          <a:p xmlns:a="http://schemas.openxmlformats.org/drawingml/2006/main">
            <a:r>
              <a:t>Pfizer / 2021-25 / NCT04821622 / Pfizer / 1</a:t>
            </a:r>
          </a:p>
          <a:p xmlns:a="http://schemas.openxmlformats.org/drawingml/2006/main">
            <a:r>
              <a:t>Pfizer / 2021-25 / NCT05262517 / Pfizer / 0</a:t>
            </a:r>
          </a:p>
          <a:p xmlns:a="http://schemas.openxmlformats.org/drawingml/2006/main">
            <a:r>
              <a:t>Pfizer / 2021-25 / NCT06890416 / Pfizer / 0</a:t>
            </a:r>
          </a:p>
          <a:p xmlns:a="http://schemas.openxmlformats.org/drawingml/2006/main">
            <a:r>
              <a:t>Pfizer / 2021-25 / NCT04804033 / Pfizer / 0</a:t>
            </a:r>
          </a:p>
          <a:p xmlns:a="http://schemas.openxmlformats.org/drawingml/2006/main">
            <a:r>
              <a:t>Pfizer / 2021-25 / NCT05911295 / Seagen, a wholly owned subsidiary of Pfizer / 0</a:t>
            </a:r>
          </a:p>
          <a:p xmlns:a="http://schemas.openxmlformats.org/drawingml/2006/main">
            <a:r>
              <a:t>Pfizer / 2021-25 / NCT06152575 / Pfizer / 0</a:t>
            </a:r>
          </a:p>
          <a:p xmlns:a="http://schemas.openxmlformats.org/drawingml/2006/main">
            <a:r>
              <a:t>Pfizer / 2021-25 / NCT05261139 / Pfizer / 0</a:t>
            </a:r>
          </a:p>
          <a:p xmlns:a="http://schemas.openxmlformats.org/drawingml/2006/main">
            <a:r>
              <a:t>Pfizer / 2021-25 / NCT06866405 / Pfizer / 0</a:t>
            </a:r>
          </a:p>
          <a:p xmlns:a="http://schemas.openxmlformats.org/drawingml/2006/main">
            <a:r>
              <a:t>Pfizer / 2021-25 / NCT07282665 / Pfizer / 0</a:t>
            </a:r>
          </a:p>
          <a:p xmlns:a="http://schemas.openxmlformats.org/drawingml/2006/main">
            <a:r>
              <a:t>Pfizer / 2021-25 / NCT04842604 / Pfizer / 0</a:t>
            </a:r>
          </a:p>
          <a:p xmlns:a="http://schemas.openxmlformats.org/drawingml/2006/main">
            <a:r>
              <a:t>Pfizer / 2021-25 / NCT04935879 / Pfizer / 0</a:t>
            </a:r>
          </a:p>
          <a:p xmlns:a="http://schemas.openxmlformats.org/drawingml/2006/main">
            <a:r>
              <a:t>Pfizer / 2021-25 / NCT05632354 / Pfizer / 0</a:t>
            </a:r>
          </a:p>
          <a:p xmlns:a="http://schemas.openxmlformats.org/drawingml/2006/main">
            <a:r>
              <a:t>Pfizer / 2021-25 / NCT07028853 / Pfizer / 0</a:t>
            </a:r>
          </a:p>
          <a:p xmlns:a="http://schemas.openxmlformats.org/drawingml/2006/main">
            <a:r>
              <a:t>Pfizer / 2021-25 / NCT05059522 / Pfizer / 0</a:t>
            </a:r>
          </a:p>
          <a:p xmlns:a="http://schemas.openxmlformats.org/drawingml/2006/main">
            <a:r>
              <a:t>Pfizer / 2021-25 / NCT06593587 / Pfizer / 0</a:t>
            </a:r>
          </a:p>
          <a:p xmlns:a="http://schemas.openxmlformats.org/drawingml/2006/main">
            <a:r>
              <a:t>Pfizer / 2021-25 / NCT05156398 / Pfizer / 0</a:t>
            </a:r>
          </a:p>
          <a:p xmlns:a="http://schemas.openxmlformats.org/drawingml/2006/main">
            <a:r>
              <a:t>Pfizer / 2021-25 / NCT05371652 / Pfizer / 0</a:t>
            </a:r>
          </a:p>
          <a:p xmlns:a="http://schemas.openxmlformats.org/drawingml/2006/main">
            <a:r>
              <a:t>Pfizer / 2021-25 / NCT04887948 / Pfizer / 0</a:t>
            </a:r>
          </a:p>
          <a:p xmlns:a="http://schemas.openxmlformats.org/drawingml/2006/main">
            <a:r>
              <a:t>Pfizer / 2021-25 / NCT05011513 / Pfizer / 0</a:t>
            </a:r>
          </a:p>
          <a:p xmlns:a="http://schemas.openxmlformats.org/drawingml/2006/main">
            <a:r>
              <a:t>Pfizer / 2021-25 / NCT06989437 / Pfizer / 1</a:t>
            </a:r>
          </a:p>
          <a:p xmlns:a="http://schemas.openxmlformats.org/drawingml/2006/main">
            <a:r>
              <a:t>Pfizer / 2021-25 / NCT06325657 / Pfizer / 0</a:t>
            </a:r>
          </a:p>
          <a:p xmlns:a="http://schemas.openxmlformats.org/drawingml/2006/main">
            <a:r>
              <a:t>Pfizer / 2021-25 / NCT07029828 / Pfizer / 0</a:t>
            </a:r>
          </a:p>
          <a:p xmlns:a="http://schemas.openxmlformats.org/drawingml/2006/main">
            <a:r>
              <a:t>Pfizer / 2021-25 / NCT05020236 / Pfizer / 0</a:t>
            </a:r>
          </a:p>
          <a:p xmlns:a="http://schemas.openxmlformats.org/drawingml/2006/main">
            <a:r>
              <a:t>Pfizer / 2021-25 / NCT06873945 / Pfizer / 0</a:t>
            </a:r>
          </a:p>
          <a:p xmlns:a="http://schemas.openxmlformats.org/drawingml/2006/main">
            <a:r>
              <a:t>Pfizer / 2021-25 / NCT06629779 / Pfizer / 0</a:t>
            </a:r>
          </a:p>
          <a:p xmlns:a="http://schemas.openxmlformats.org/drawingml/2006/main">
            <a:r>
              <a:t>Pfizer / 2021-25 / NCT04875533 / Pfizer / 0</a:t>
            </a:r>
          </a:p>
          <a:p xmlns:a="http://schemas.openxmlformats.org/drawingml/2006/main">
            <a:r>
              <a:t>Pfizer / 2021-25 / NCT07222800 / Pfizer / 0</a:t>
            </a:r>
          </a:p>
          <a:p xmlns:a="http://schemas.openxmlformats.org/drawingml/2006/main">
            <a:r>
              <a:t>Pfizer / 2021-25 / NCT05583526 / Pfizer / 0</a:t>
            </a:r>
          </a:p>
          <a:p xmlns:a="http://schemas.openxmlformats.org/drawingml/2006/main">
            <a:r>
              <a:t>Pfizer / 2021-25 / NCT05810038 / Pfizer / 0</a:t>
            </a:r>
          </a:p>
          <a:p xmlns:a="http://schemas.openxmlformats.org/drawingml/2006/main">
            <a:r>
              <a:t>Pfizer / 2021-25 / NCT05399485 / Pfizer / 0</a:t>
            </a:r>
          </a:p>
          <a:p xmlns:a="http://schemas.openxmlformats.org/drawingml/2006/main">
            <a:r>
              <a:t>Pfizer / 2021-25 / NCT05732454 / Pfizer / 0</a:t>
            </a:r>
          </a:p>
          <a:p xmlns:a="http://schemas.openxmlformats.org/drawingml/2006/main">
            <a:r>
              <a:t>Pfizer / 2021-25 / NCT05145127 / Pfizer / 1</a:t>
            </a:r>
          </a:p>
          <a:p xmlns:a="http://schemas.openxmlformats.org/drawingml/2006/main">
            <a:r>
              <a:t>Pfizer / 2021-25 / NCT05132582 / Seagen, a wholly owned subsidiary of Pfizer / 0</a:t>
            </a:r>
          </a:p>
          <a:p xmlns:a="http://schemas.openxmlformats.org/drawingml/2006/main">
            <a:r>
              <a:t>Pfizer / 2021-25 / NCT07144280 / Pfizer / 1</a:t>
            </a:r>
          </a:p>
          <a:p xmlns:a="http://schemas.openxmlformats.org/drawingml/2006/main">
            <a:r>
              <a:t>Pfizer / 2021-25 / NCT06679140 / Pfizer / 0</a:t>
            </a:r>
          </a:p>
          <a:p xmlns:a="http://schemas.openxmlformats.org/drawingml/2006/main">
            <a:r>
              <a:t>Pfizer / 2021-25 / NCT07226999 / Pfizer / 0</a:t>
            </a:r>
          </a:p>
          <a:p xmlns:a="http://schemas.openxmlformats.org/drawingml/2006/main">
            <a:r>
              <a:t>Pfizer / 2021-25 / NCT05842967 / Pfizer / 0</a:t>
            </a:r>
          </a:p>
          <a:p xmlns:a="http://schemas.openxmlformats.org/drawingml/2006/main">
            <a:r>
              <a:t>Pfizer / 2021-25 / NCT05875727 / Pfizer / 1</a:t>
            </a:r>
          </a:p>
          <a:p xmlns:a="http://schemas.openxmlformats.org/drawingml/2006/main">
            <a:r>
              <a:t>Pfizer / 2021-25 / NCT06473519 / Pfizer / 0</a:t>
            </a:r>
          </a:p>
          <a:p xmlns:a="http://schemas.openxmlformats.org/drawingml/2006/main">
            <a:r>
              <a:t>Pfizer / 2021-25 / NCT05317416 / Pfizer / 1</a:t>
            </a:r>
          </a:p>
          <a:p xmlns:a="http://schemas.openxmlformats.org/drawingml/2006/main">
            <a:r>
              <a:t>Pfizer / 2021-25 / NCT05477524 / Pfizer / 0</a:t>
            </a:r>
          </a:p>
          <a:p xmlns:a="http://schemas.openxmlformats.org/drawingml/2006/main">
            <a:r>
              <a:t>Pfizer / 2021-25 / NCT05399459 / Pfizer / 0</a:t>
            </a:r>
          </a:p>
          <a:p xmlns:a="http://schemas.openxmlformats.org/drawingml/2006/main">
            <a:r>
              <a:t>Pfizer / 2021-25 / NCT04697381 / Pfizer / 0</a:t>
            </a:r>
          </a:p>
          <a:p xmlns:a="http://schemas.openxmlformats.org/drawingml/2006/main">
            <a:r>
              <a:t>Pfizer / 2021-25 / NCT07226882 / Pfizer / 0</a:t>
            </a:r>
          </a:p>
          <a:p xmlns:a="http://schemas.openxmlformats.org/drawingml/2006/main">
            <a:r>
              <a:t>Pfizer / 2021-25 / NCT06641466 / Pfizer / 1</a:t>
            </a:r>
          </a:p>
          <a:p xmlns:a="http://schemas.openxmlformats.org/drawingml/2006/main">
            <a:r>
              <a:t>Pfizer / 2021-25 / NCT07160244 / Pfizer / 0</a:t>
            </a:r>
          </a:p>
          <a:p xmlns:a="http://schemas.openxmlformats.org/drawingml/2006/main">
            <a:r>
              <a:t>GSK / 2015-19 / NCT03072719 / GlaxoSmithKline / 0</a:t>
            </a:r>
          </a:p>
          <a:p xmlns:a="http://schemas.openxmlformats.org/drawingml/2006/main">
            <a:r>
              <a:t>GSK / 2015-19 / NCT02369341 / GlaxoSmithKline / 0</a:t>
            </a:r>
          </a:p>
          <a:p xmlns:a="http://schemas.openxmlformats.org/drawingml/2006/main">
            <a:r>
              <a:t>GSK / 2015-19 / NCT03807700 / GlaxoSmithKline / 0</a:t>
            </a:r>
          </a:p>
          <a:p xmlns:a="http://schemas.openxmlformats.org/drawingml/2006/main">
            <a:r>
              <a:t>GSK / 2015-19 / NCT02876835 / GlaxoSmithKline / 1</a:t>
            </a:r>
          </a:p>
          <a:p xmlns:a="http://schemas.openxmlformats.org/drawingml/2006/main">
            <a:r>
              <a:t>GSK / 2015-19 / NCT02429791 / ViiV Healthcare / 0</a:t>
            </a:r>
          </a:p>
          <a:p xmlns:a="http://schemas.openxmlformats.org/drawingml/2006/main">
            <a:r>
              <a:t>GSK / 2015-19 / NCT02979639 / GlaxoSmithKline / 0</a:t>
            </a:r>
          </a:p>
          <a:p xmlns:a="http://schemas.openxmlformats.org/drawingml/2006/main">
            <a:r>
              <a:t>GSK / 2015-19 / NCT04173494 / Sierra Oncology LLC - a GSK company / 0</a:t>
            </a:r>
          </a:p>
          <a:p xmlns:a="http://schemas.openxmlformats.org/drawingml/2006/main">
            <a:r>
              <a:t>GSK / 2015-19 / NCT02938520 / ViiV Healthcare / 0</a:t>
            </a:r>
          </a:p>
          <a:p xmlns:a="http://schemas.openxmlformats.org/drawingml/2006/main">
            <a:r>
              <a:t>GSK / 2015-19 / NCT02924688 / GlaxoSmithKline / 0</a:t>
            </a:r>
          </a:p>
          <a:p xmlns:a="http://schemas.openxmlformats.org/drawingml/2006/main">
            <a:r>
              <a:t>GSK / 2015-19 / NCT03945981 / ViiV Healthcare / 0</a:t>
            </a:r>
          </a:p>
          <a:p xmlns:a="http://schemas.openxmlformats.org/drawingml/2006/main">
            <a:r>
              <a:t>GSK / 2015-19 / NCT04020341 / GlaxoSmithKline / 1</a:t>
            </a:r>
          </a:p>
          <a:p xmlns:a="http://schemas.openxmlformats.org/drawingml/2006/main">
            <a:r>
              <a:t>GSK / 2015-19 / NCT03970837 / GlaxoSmithKline / 0</a:t>
            </a:r>
          </a:p>
          <a:p xmlns:a="http://schemas.openxmlformats.org/drawingml/2006/main">
            <a:r>
              <a:t>GSK / 2015-19 / NCT02422797 / ViiV Healthcare / 0</a:t>
            </a:r>
          </a:p>
          <a:p xmlns:a="http://schemas.openxmlformats.org/drawingml/2006/main">
            <a:r>
              <a:t>GSK / 2015-19 / NCT04176939 / GlaxoSmithKline / 0</a:t>
            </a:r>
          </a:p>
          <a:p xmlns:a="http://schemas.openxmlformats.org/drawingml/2006/main">
            <a:r>
              <a:t>GSK / 2015-19 / NCT02858440 / GlaxoSmithKline / 0</a:t>
            </a:r>
          </a:p>
          <a:p xmlns:a="http://schemas.openxmlformats.org/drawingml/2006/main">
            <a:r>
              <a:t>GSK / 2015-19 / NCT02446743 / GlaxoSmithKline / 0</a:t>
            </a:r>
          </a:p>
          <a:p xmlns:a="http://schemas.openxmlformats.org/drawingml/2006/main">
            <a:r>
              <a:t>GSK / 2015-19 / NCT02683746 / GlaxoSmithKline / 0</a:t>
            </a:r>
          </a:p>
          <a:p xmlns:a="http://schemas.openxmlformats.org/drawingml/2006/main">
            <a:r>
              <a:t>GSK / 2015-19 / NCT03085797 / GlaxoSmithKline / 0</a:t>
            </a:r>
          </a:p>
          <a:p xmlns:a="http://schemas.openxmlformats.org/drawingml/2006/main">
            <a:r>
              <a:t>GSK / 2015-19 / NCT04133909 / GlaxoSmithKline / 1</a:t>
            </a:r>
          </a:p>
          <a:p xmlns:a="http://schemas.openxmlformats.org/drawingml/2006/main">
            <a:r>
              <a:t>GSK / 2015-19 / NCT03184987 / GlaxoSmithKline / 0</a:t>
            </a:r>
          </a:p>
          <a:p xmlns:a="http://schemas.openxmlformats.org/drawingml/2006/main">
            <a:r>
              <a:t>GSK / 2015-19 / NCT03021304 / GlaxoSmithKline / 0</a:t>
            </a:r>
          </a:p>
          <a:p xmlns:a="http://schemas.openxmlformats.org/drawingml/2006/main">
            <a:r>
              <a:t>GSK / 2015-19 / NCT03128489 / GlaxoSmithKline / 0</a:t>
            </a:r>
          </a:p>
          <a:p xmlns:a="http://schemas.openxmlformats.org/drawingml/2006/main">
            <a:r>
              <a:t>GSK / 2015-19 / NCT02731846 / GlaxoSmithKline / 0</a:t>
            </a:r>
          </a:p>
          <a:p xmlns:a="http://schemas.openxmlformats.org/drawingml/2006/main">
            <a:r>
              <a:t>GSK / 2015-19 / NCT04162210 / GlaxoSmithKline / 0</a:t>
            </a:r>
          </a:p>
          <a:p xmlns:a="http://schemas.openxmlformats.org/drawingml/2006/main">
            <a:r>
              <a:t>GSK / 2015-19 / NCT02446418 / GlaxoSmithKline / 0</a:t>
            </a:r>
          </a:p>
          <a:p xmlns:a="http://schemas.openxmlformats.org/drawingml/2006/main">
            <a:r>
              <a:t>GSK / 2015-19 / NCT02723773 / GlaxoSmithKline / 0</a:t>
            </a:r>
          </a:p>
          <a:p xmlns:a="http://schemas.openxmlformats.org/drawingml/2006/main">
            <a:r>
              <a:t>GSK / 2015-19 / NCT03409107 / GlaxoSmithKline / 0</a:t>
            </a:r>
          </a:p>
          <a:p xmlns:a="http://schemas.openxmlformats.org/drawingml/2006/main">
            <a:r>
              <a:t>GSK / 2015-19 / NCT02555371 / GlaxoSmithKline / 0</a:t>
            </a:r>
          </a:p>
          <a:p xmlns:a="http://schemas.openxmlformats.org/drawingml/2006/main">
            <a:r>
              <a:t>GSK / 2015-19 / NCT03296072 / GlaxoSmithKline / 0</a:t>
            </a:r>
          </a:p>
          <a:p xmlns:a="http://schemas.openxmlformats.org/drawingml/2006/main">
            <a:r>
              <a:t>GSK / 2015-19 / NCT03306043 / GlaxoSmithKline / 0</a:t>
            </a:r>
          </a:p>
          <a:p xmlns:a="http://schemas.openxmlformats.org/drawingml/2006/main">
            <a:r>
              <a:t>GSK / 2015-19 / NCT04134728 / GlaxoSmithKline / 0</a:t>
            </a:r>
          </a:p>
          <a:p xmlns:a="http://schemas.openxmlformats.org/drawingml/2006/main">
            <a:r>
              <a:t>GSK / 2015-19 / NCT02879305 / GlaxoSmithKline / 1</a:t>
            </a:r>
          </a:p>
          <a:p xmlns:a="http://schemas.openxmlformats.org/drawingml/2006/main">
            <a:r>
              <a:t>GSK / 2015-19 / NCT02447432 / GlaxoSmithKline / 0</a:t>
            </a:r>
          </a:p>
          <a:p xmlns:a="http://schemas.openxmlformats.org/drawingml/2006/main">
            <a:r>
              <a:t>GSK / 2015-19 / NCT02829320 / GlaxoSmithKline / 0</a:t>
            </a:r>
          </a:p>
          <a:p xmlns:a="http://schemas.openxmlformats.org/drawingml/2006/main">
            <a:r>
              <a:t>GSK / 2015-19 / NCT02735915 / GlaxoSmithKline / 0</a:t>
            </a:r>
          </a:p>
          <a:p xmlns:a="http://schemas.openxmlformats.org/drawingml/2006/main">
            <a:r>
              <a:t>GSK / 2015-19 / NCT02802501 / GlaxoSmithKline / 0</a:t>
            </a:r>
          </a:p>
          <a:p xmlns:a="http://schemas.openxmlformats.org/drawingml/2006/main">
            <a:r>
              <a:t>GSK / 2015-19 / NCT03015519 / GlaxoSmithKline / 0</a:t>
            </a:r>
          </a:p>
          <a:p xmlns:a="http://schemas.openxmlformats.org/drawingml/2006/main">
            <a:r>
              <a:t>GSK / 2015-19 / NCT02820844 / GlaxoSmithKline / 0</a:t>
            </a:r>
          </a:p>
          <a:p xmlns:a="http://schemas.openxmlformats.org/drawingml/2006/main">
            <a:r>
              <a:t>GSK / 2015-19 / NCT04091451 / GlaxoSmithKline / 0</a:t>
            </a:r>
          </a:p>
          <a:p xmlns:a="http://schemas.openxmlformats.org/drawingml/2006/main">
            <a:r>
              <a:t>GSK / 2015-19 / NCT03400033 / GlaxoSmithKline / 0</a:t>
            </a:r>
          </a:p>
          <a:p xmlns:a="http://schemas.openxmlformats.org/drawingml/2006/main">
            <a:r>
              <a:t>GSK / 2015-19 / NCT03311659 / GlaxoSmithKline / 0</a:t>
            </a:r>
          </a:p>
          <a:p xmlns:a="http://schemas.openxmlformats.org/drawingml/2006/main">
            <a:r>
              <a:t>GSK / 2015-19 / NCT03207750 / GlaxoSmithKline / 0</a:t>
            </a:r>
          </a:p>
          <a:p xmlns:a="http://schemas.openxmlformats.org/drawingml/2006/main">
            <a:r>
              <a:t>GSK / 2015-19 / NCT02832375 / GlaxoSmithKline / 0</a:t>
            </a:r>
          </a:p>
          <a:p xmlns:a="http://schemas.openxmlformats.org/drawingml/2006/main">
            <a:r>
              <a:t>GSK / 2015-19 / NCT03376932 / GlaxoSmithKline / 0</a:t>
            </a:r>
          </a:p>
          <a:p xmlns:a="http://schemas.openxmlformats.org/drawingml/2006/main">
            <a:r>
              <a:t>GSK / 2015-19 / NCT03202004 / GlaxoSmithKline / 0</a:t>
            </a:r>
          </a:p>
          <a:p xmlns:a="http://schemas.openxmlformats.org/drawingml/2006/main">
            <a:r>
              <a:t>GSK / 2015-19 / NCT02849418 / GlaxoSmithKline / 0</a:t>
            </a:r>
          </a:p>
          <a:p xmlns:a="http://schemas.openxmlformats.org/drawingml/2006/main">
            <a:r>
              <a:t>GSK / 2015-19 / NCT02377466 / GlaxoSmithKline / 0</a:t>
            </a:r>
          </a:p>
          <a:p xmlns:a="http://schemas.openxmlformats.org/drawingml/2006/main">
            <a:r>
              <a:t>GSK / 2015-19 / NCT03298061 / GlaxoSmithKline / 0</a:t>
            </a:r>
          </a:p>
          <a:p xmlns:a="http://schemas.openxmlformats.org/drawingml/2006/main">
            <a:r>
              <a:t>GSK / 2015-19 / NCT03248128 / GlaxoSmithKline / 0</a:t>
            </a:r>
          </a:p>
          <a:p xmlns:a="http://schemas.openxmlformats.org/drawingml/2006/main">
            <a:r>
              <a:t>GSK / 2015-19 / NCT04001803 / ViiV Healthcare / 0</a:t>
            </a:r>
          </a:p>
          <a:p xmlns:a="http://schemas.openxmlformats.org/drawingml/2006/main">
            <a:r>
              <a:t>GSK / 2015-19 / NCT02362503 / ViiV Healthcare / 0</a:t>
            </a:r>
          </a:p>
          <a:p xmlns:a="http://schemas.openxmlformats.org/drawingml/2006/main">
            <a:r>
              <a:t>GSK / 2015-19 / NCT03016533 / ViiV Healthcare / 0</a:t>
            </a:r>
          </a:p>
          <a:p xmlns:a="http://schemas.openxmlformats.org/drawingml/2006/main">
            <a:r>
              <a:t>GSK / 2015-19 / NCT02899026 / GlaxoSmithKline / 0</a:t>
            </a:r>
          </a:p>
          <a:p xmlns:a="http://schemas.openxmlformats.org/drawingml/2006/main">
            <a:r>
              <a:t>GSK / 2015-19 / NCT02986854 / GlaxoSmithKline / 0</a:t>
            </a:r>
          </a:p>
          <a:p xmlns:a="http://schemas.openxmlformats.org/drawingml/2006/main">
            <a:r>
              <a:t>GSK / 2015-19 / NCT02914184 / GlaxoSmithKline / 0</a:t>
            </a:r>
          </a:p>
          <a:p xmlns:a="http://schemas.openxmlformats.org/drawingml/2006/main">
            <a:r>
              <a:t>GSK / 2015-19 / NCT04021290 / ViiV Healthcare / 0</a:t>
            </a:r>
          </a:p>
          <a:p xmlns:a="http://schemas.openxmlformats.org/drawingml/2006/main">
            <a:r>
              <a:t>GSK / 2015-19 / NCT02836496 / GlaxoSmithKline / 0</a:t>
            </a:r>
          </a:p>
          <a:p xmlns:a="http://schemas.openxmlformats.org/drawingml/2006/main">
            <a:r>
              <a:t>GSK / 2015-19 / NCT02483975 / GlaxoSmithKline / 0</a:t>
            </a:r>
          </a:p>
          <a:p xmlns:a="http://schemas.openxmlformats.org/drawingml/2006/main">
            <a:r>
              <a:t>GSK / 2015-19 / NCT02831673 / ViiV Healthcare / 0</a:t>
            </a:r>
          </a:p>
          <a:p xmlns:a="http://schemas.openxmlformats.org/drawingml/2006/main">
            <a:r>
              <a:t>GSK / 2015-19 / NCT02545517 / GlaxoSmithKline / 0</a:t>
            </a:r>
          </a:p>
          <a:p xmlns:a="http://schemas.openxmlformats.org/drawingml/2006/main">
            <a:r>
              <a:t>GSK / 2015-19 / NCT03562195 / GlaxoSmithKline / 0</a:t>
            </a:r>
          </a:p>
          <a:p xmlns:a="http://schemas.openxmlformats.org/drawingml/2006/main">
            <a:r>
              <a:t>GSK / 2015-19 / NCT02345161 / GlaxoSmithKline / 0</a:t>
            </a:r>
          </a:p>
          <a:p xmlns:a="http://schemas.openxmlformats.org/drawingml/2006/main">
            <a:r>
              <a:t>GSK / 2015-19 / NCT03446573 / ViiV Healthcare / 0</a:t>
            </a:r>
          </a:p>
          <a:p xmlns:a="http://schemas.openxmlformats.org/drawingml/2006/main">
            <a:r>
              <a:t>GSK / 2015-19 / NCT02478632 / ViiV Healthcare / 0</a:t>
            </a:r>
          </a:p>
          <a:p xmlns:a="http://schemas.openxmlformats.org/drawingml/2006/main">
            <a:r>
              <a:t>GSK / 2015-19 / NCT03261167 / GlaxoSmithKline / 0</a:t>
            </a:r>
          </a:p>
          <a:p xmlns:a="http://schemas.openxmlformats.org/drawingml/2006/main">
            <a:r>
              <a:t>GSK / 2015-19 / NCT03014674 / GlaxoSmithKline / 0</a:t>
            </a:r>
          </a:p>
          <a:p xmlns:a="http://schemas.openxmlformats.org/drawingml/2006/main">
            <a:r>
              <a:t>GSK / 2015-19 / NCT02791763 / GlaxoSmithKline / 0</a:t>
            </a:r>
          </a:p>
          <a:p xmlns:a="http://schemas.openxmlformats.org/drawingml/2006/main">
            <a:r>
              <a:t>GSK / 2015-19 / NCT03682848 / ViiV Healthcare / 0</a:t>
            </a:r>
          </a:p>
          <a:p xmlns:a="http://schemas.openxmlformats.org/drawingml/2006/main">
            <a:r>
              <a:t>GSK / 2015-19 / NCT04010539 / GlaxoSmithKline / 0</a:t>
            </a:r>
          </a:p>
          <a:p xmlns:a="http://schemas.openxmlformats.org/drawingml/2006/main">
            <a:r>
              <a:t>GSK / 2015-19 / NCT02678234 / GlaxoSmithKline / 0</a:t>
            </a:r>
          </a:p>
          <a:p xmlns:a="http://schemas.openxmlformats.org/drawingml/2006/main">
            <a:r>
              <a:t>GSK / 2015-19 / NCT02690207 / GlaxoSmithKline / 0</a:t>
            </a:r>
          </a:p>
          <a:p xmlns:a="http://schemas.openxmlformats.org/drawingml/2006/main">
            <a:r>
              <a:t>GSK / 2015-19 / NCT02730364 / GlaxoSmithKline / 0</a:t>
            </a:r>
          </a:p>
          <a:p xmlns:a="http://schemas.openxmlformats.org/drawingml/2006/main">
            <a:r>
              <a:t>GSK / 2015-19 / NCT02822287 / GlaxoSmithKline / 0</a:t>
            </a:r>
          </a:p>
          <a:p xmlns:a="http://schemas.openxmlformats.org/drawingml/2006/main">
            <a:r>
              <a:t>GSK / 2015-19 / NCT02502734 / GlaxoSmithKline / 0</a:t>
            </a:r>
          </a:p>
          <a:p xmlns:a="http://schemas.openxmlformats.org/drawingml/2006/main">
            <a:r>
              <a:t>GSK / 2015-19 / NCT02729051 / GlaxoSmithKline / 0</a:t>
            </a:r>
          </a:p>
          <a:p xmlns:a="http://schemas.openxmlformats.org/drawingml/2006/main">
            <a:r>
              <a:t>GSK / 2015-19 / NCT03099096 / GlaxoSmithKline / 0</a:t>
            </a:r>
          </a:p>
          <a:p xmlns:a="http://schemas.openxmlformats.org/drawingml/2006/main">
            <a:r>
              <a:t>GSK / 2015-19 / NCT02613910 / GlaxoSmithKline / 0</a:t>
            </a:r>
          </a:p>
          <a:p xmlns:a="http://schemas.openxmlformats.org/drawingml/2006/main">
            <a:r>
              <a:t>GSK / 2015-19 / NCT04187144 / GlaxoSmithKline / 1</a:t>
            </a:r>
          </a:p>
          <a:p xmlns:a="http://schemas.openxmlformats.org/drawingml/2006/main">
            <a:r>
              <a:t>GSK / 2015-19 / NCT03621670 / GlaxoSmithKline / 0</a:t>
            </a:r>
          </a:p>
          <a:p xmlns:a="http://schemas.openxmlformats.org/drawingml/2006/main">
            <a:r>
              <a:t>GSK / 2015-19 / NCT03299049 / ViiV Healthcare / 0</a:t>
            </a:r>
          </a:p>
          <a:p xmlns:a="http://schemas.openxmlformats.org/drawingml/2006/main">
            <a:r>
              <a:t>GSK / 2015-19 / NCT02699099 / GlaxoSmithKline / 0</a:t>
            </a:r>
          </a:p>
          <a:p xmlns:a="http://schemas.openxmlformats.org/drawingml/2006/main">
            <a:r>
              <a:t>GSK / 2015-19 / NCT02951052 / ViiV Healthcare / 0</a:t>
            </a:r>
          </a:p>
          <a:p xmlns:a="http://schemas.openxmlformats.org/drawingml/2006/main">
            <a:r>
              <a:t>GSK / 2015-19 / NCT03029208 / GlaxoSmithKline / 1</a:t>
            </a:r>
          </a:p>
          <a:p xmlns:a="http://schemas.openxmlformats.org/drawingml/2006/main">
            <a:r>
              <a:t>GSK / 2015-19 / NCT03954743 / GlaxoSmithKline / 0</a:t>
            </a:r>
          </a:p>
          <a:p xmlns:a="http://schemas.openxmlformats.org/drawingml/2006/main">
            <a:r>
              <a:t>GSK / 2015-19 / NCT04128696 / GlaxoSmithKline / 0</a:t>
            </a:r>
          </a:p>
          <a:p xmlns:a="http://schemas.openxmlformats.org/drawingml/2006/main">
            <a:r>
              <a:t>GSK / 2015-19 / NCT04167358 / GlaxoSmithKline / 0</a:t>
            </a:r>
          </a:p>
          <a:p xmlns:a="http://schemas.openxmlformats.org/drawingml/2006/main">
            <a:r>
              <a:t>GSK / 2015-19 / NCT04123665 / GlaxoSmithKline / 0</a:t>
            </a:r>
          </a:p>
          <a:p xmlns:a="http://schemas.openxmlformats.org/drawingml/2006/main">
            <a:r>
              <a:t>GSK / 2015-19 / NCT02570126 / GlaxoSmithKline / 0</a:t>
            </a:r>
          </a:p>
          <a:p xmlns:a="http://schemas.openxmlformats.org/drawingml/2006/main">
            <a:r>
              <a:t>GSK / 2015-19 / NCT02831764 / ViiV Healthcare / 0</a:t>
            </a:r>
          </a:p>
          <a:p xmlns:a="http://schemas.openxmlformats.org/drawingml/2006/main">
            <a:r>
              <a:t>GSK / 2015-19 / NCT02969655 / GlaxoSmithKline / 0</a:t>
            </a:r>
          </a:p>
          <a:p xmlns:a="http://schemas.openxmlformats.org/drawingml/2006/main">
            <a:r>
              <a:t>GSK / 2015-19 / NCT02581410 / GlaxoSmithKline / 0</a:t>
            </a:r>
          </a:p>
          <a:p xmlns:a="http://schemas.openxmlformats.org/drawingml/2006/main">
            <a:r>
              <a:t>GSK / 2015-19 / NCT04052620 / GlaxoSmithKline / 0</a:t>
            </a:r>
          </a:p>
          <a:p xmlns:a="http://schemas.openxmlformats.org/drawingml/2006/main">
            <a:r>
              <a:t>GSK / 2015-19 / NCT03980483 / GlaxoSmithKline / 1</a:t>
            </a:r>
          </a:p>
          <a:p xmlns:a="http://schemas.openxmlformats.org/drawingml/2006/main">
            <a:r>
              <a:t>GSK / 2015-19 / NCT02531633 / GlaxoSmithKline / 0</a:t>
            </a:r>
          </a:p>
          <a:p xmlns:a="http://schemas.openxmlformats.org/drawingml/2006/main">
            <a:r>
              <a:t>GSK / 2015-19 / NCT03439657 / GlaxoSmithKline / 0</a:t>
            </a:r>
          </a:p>
          <a:p xmlns:a="http://schemas.openxmlformats.org/drawingml/2006/main">
            <a:r>
              <a:t>GSK / 2015-19 / NCT03312907 / GlaxoSmithKline / 0</a:t>
            </a:r>
          </a:p>
          <a:p xmlns:a="http://schemas.openxmlformats.org/drawingml/2006/main">
            <a:r>
              <a:t>GSK / 2021-25 / NCT05590403 / GlaxoSmithKline / 0</a:t>
            </a:r>
          </a:p>
          <a:p xmlns:a="http://schemas.openxmlformats.org/drawingml/2006/main">
            <a:r>
              <a:t>GSK / 2021-25 / NCT05059301 / GlaxoSmithKline / 0</a:t>
            </a:r>
          </a:p>
          <a:p xmlns:a="http://schemas.openxmlformats.org/drawingml/2006/main">
            <a:r>
              <a:t>GSK / 2021-25 / NCT04980391 / GlaxoSmithKline / 1</a:t>
            </a:r>
          </a:p>
          <a:p xmlns:a="http://schemas.openxmlformats.org/drawingml/2006/main">
            <a:r>
              <a:t>GSK / 2021-25 / NCT06679101 / GlaxoSmithKline / 1</a:t>
            </a:r>
          </a:p>
          <a:p xmlns:a="http://schemas.openxmlformats.org/drawingml/2006/main">
            <a:r>
              <a:t>GSK / 2021-25 / NCT04886596 / GlaxoSmithKline / 0</a:t>
            </a:r>
          </a:p>
          <a:p xmlns:a="http://schemas.openxmlformats.org/drawingml/2006/main">
            <a:r>
              <a:t>GSK / 2021-25 / NCT05966090 / GlaxoSmithKline / 0</a:t>
            </a:r>
          </a:p>
          <a:p xmlns:a="http://schemas.openxmlformats.org/drawingml/2006/main">
            <a:r>
              <a:t>GSK / 2021-25 / NCT07286266 / GlaxoSmithKline / 0</a:t>
            </a:r>
          </a:p>
          <a:p xmlns:a="http://schemas.openxmlformats.org/drawingml/2006/main">
            <a:r>
              <a:t>GSK / 2021-25 / NCT07221188 / GlaxoSmithKline / 0</a:t>
            </a:r>
          </a:p>
          <a:p xmlns:a="http://schemas.openxmlformats.org/drawingml/2006/main">
            <a:r>
              <a:t>GSK / 2021-25 / NCT06534892 / GlaxoSmithKline / 0</a:t>
            </a:r>
          </a:p>
          <a:p xmlns:a="http://schemas.openxmlformats.org/drawingml/2006/main">
            <a:r>
              <a:t>GSK / 2021-25 / NCT06572384 / GlaxoSmithKline / 0</a:t>
            </a:r>
          </a:p>
          <a:p xmlns:a="http://schemas.openxmlformats.org/drawingml/2006/main">
            <a:r>
              <a:t>GSK / 2021-25 / NCT04718389 / GlaxoSmithKline / 0</a:t>
            </a:r>
          </a:p>
          <a:p xmlns:a="http://schemas.openxmlformats.org/drawingml/2006/main">
            <a:r>
              <a:t>GSK / 2021-25 / NCT04937387 / GlaxoSmithKline / 0</a:t>
            </a:r>
          </a:p>
          <a:p xmlns:a="http://schemas.openxmlformats.org/drawingml/2006/main">
            <a:r>
              <a:t>GSK / 2021-25 / NCT05705440 / GlaxoSmithKline / 1</a:t>
            </a:r>
          </a:p>
          <a:p xmlns:a="http://schemas.openxmlformats.org/drawingml/2006/main">
            <a:r>
              <a:t>GSK / 2021-25 / NCT05274750 / GlaxoSmithKline / 0</a:t>
            </a:r>
          </a:p>
          <a:p xmlns:a="http://schemas.openxmlformats.org/drawingml/2006/main">
            <a:r>
              <a:t>GSK / 2021-25 / NCT06134362 / ViiV Healthcare / 0</a:t>
            </a:r>
          </a:p>
          <a:p xmlns:a="http://schemas.openxmlformats.org/drawingml/2006/main">
            <a:r>
              <a:t>GSK / 2021-25 / NCT05599191 / Bellus Health Inc. - a GSK company / 1</a:t>
            </a:r>
          </a:p>
          <a:p xmlns:a="http://schemas.openxmlformats.org/drawingml/2006/main">
            <a:r>
              <a:t>GSK / 2021-25 / NCT06614725 / GlaxoSmithKline / 1</a:t>
            </a:r>
          </a:p>
          <a:p xmlns:a="http://schemas.openxmlformats.org/drawingml/2006/main">
            <a:r>
              <a:t>GSK / 2021-25 / NCT07218926 / GlaxoSmithKline / 0</a:t>
            </a:r>
          </a:p>
          <a:p xmlns:a="http://schemas.openxmlformats.org/drawingml/2006/main">
            <a:r>
              <a:t>GSK / 2021-25 / NCT06961214 / GlaxoSmithKline / 0</a:t>
            </a:r>
          </a:p>
          <a:p xmlns:a="http://schemas.openxmlformats.org/drawingml/2006/main">
            <a:r>
              <a:t>GSK / 2021-25 / NCT07220109 / GlaxoSmithKline / 0</a:t>
            </a:r>
          </a:p>
          <a:p xmlns:a="http://schemas.openxmlformats.org/drawingml/2006/main">
            <a:r>
              <a:t>GSK / 2021-25 / NCT06374394 / GlaxoSmithKline / 0</a:t>
            </a:r>
          </a:p>
          <a:p xmlns:a="http://schemas.openxmlformats.org/drawingml/2006/main">
            <a:r>
              <a:t>GSK / 2021-25 / NCT06694805 / ViiV Healthcare / 0</a:t>
            </a:r>
          </a:p>
          <a:p xmlns:a="http://schemas.openxmlformats.org/drawingml/2006/main">
            <a:r>
              <a:t>GSK / 2021-25 / NCT06979323 / GlaxoSmithKline / 0</a:t>
            </a:r>
          </a:p>
          <a:p xmlns:a="http://schemas.openxmlformats.org/drawingml/2006/main">
            <a:r>
              <a:t>GSK / 2021-25 / NCT05047770 / GlaxoSmithKline / 0</a:t>
            </a:r>
          </a:p>
          <a:p xmlns:a="http://schemas.openxmlformats.org/drawingml/2006/main">
            <a:r>
              <a:t>GSK / 2021-25 / NCT05334368 / GlaxoSmithKline / 0</a:t>
            </a:r>
          </a:p>
          <a:p xmlns:a="http://schemas.openxmlformats.org/drawingml/2006/main">
            <a:r>
              <a:t>GSK / 2021-25 / NCT05559476 / GlaxoSmithKline / 0</a:t>
            </a:r>
          </a:p>
          <a:p xmlns:a="http://schemas.openxmlformats.org/drawingml/2006/main">
            <a:r>
              <a:t>GSK / 2021-25 / NCT05878717 / GlaxoSmithKline / 0</a:t>
            </a:r>
          </a:p>
          <a:p xmlns:a="http://schemas.openxmlformats.org/drawingml/2006/main">
            <a:r>
              <a:t>GSK / 2021-25 / NCT06261957 / GlaxoSmithKline / 0</a:t>
            </a:r>
          </a:p>
          <a:p xmlns:a="http://schemas.openxmlformats.org/drawingml/2006/main">
            <a:r>
              <a:t>GSK / 2021-25 / NCT05896748 / ViiV Healthcare / 0</a:t>
            </a:r>
          </a:p>
          <a:p xmlns:a="http://schemas.openxmlformats.org/drawingml/2006/main">
            <a:r>
              <a:t>GSK / 2021-25 / NCT05896761 / ViiV Healthcare / 0</a:t>
            </a:r>
          </a:p>
          <a:p xmlns:a="http://schemas.openxmlformats.org/drawingml/2006/main">
            <a:r>
              <a:t>GSK / 2021-25 / NCT06472076 / GlaxoSmithKline / 1</a:t>
            </a:r>
          </a:p>
          <a:p xmlns:a="http://schemas.openxmlformats.org/drawingml/2006/main">
            <a:r>
              <a:t>GSK / 2021-25 / NCT05263934 / GlaxoSmithKline / 0</a:t>
            </a:r>
          </a:p>
          <a:p xmlns:a="http://schemas.openxmlformats.org/drawingml/2006/main">
            <a:r>
              <a:t>GSK / 2021-25 / NCT06868654 / GlaxoSmithKline / 0</a:t>
            </a:r>
          </a:p>
          <a:p xmlns:a="http://schemas.openxmlformats.org/drawingml/2006/main">
            <a:r>
              <a:t>GSK / 2021-25 / NCT06666491 / GlaxoSmithKline / 1</a:t>
            </a:r>
          </a:p>
          <a:p xmlns:a="http://schemas.openxmlformats.org/drawingml/2006/main">
            <a:r>
              <a:t>GSK / 2021-25 / NCT06551181 / GlaxoSmithKline / 0</a:t>
            </a:r>
          </a:p>
          <a:p xmlns:a="http://schemas.openxmlformats.org/drawingml/2006/main">
            <a:r>
              <a:t>GSK / 2021-25 / NCT04841577 / GlaxoSmithKline / 0</a:t>
            </a:r>
          </a:p>
          <a:p xmlns:a="http://schemas.openxmlformats.org/drawingml/2006/main">
            <a:r>
              <a:t>GSK / 2021-25 / NCT06256588 / GlaxoSmithKline / 1</a:t>
            </a:r>
          </a:p>
          <a:p xmlns:a="http://schemas.openxmlformats.org/drawingml/2006/main">
            <a:r>
              <a:t>GSK / 2021-25 / NCT06959095 / GlaxoSmithKline / 0</a:t>
            </a:r>
          </a:p>
          <a:p xmlns:a="http://schemas.openxmlformats.org/drawingml/2006/main">
            <a:r>
              <a:t>GSK / 2021-25 / NCT05630833 / GlaxoSmithKline / 0</a:t>
            </a:r>
          </a:p>
          <a:p xmlns:a="http://schemas.openxmlformats.org/drawingml/2006/main">
            <a:r>
              <a:t>GSK / 2021-25 / NCT05630807 / GlaxoSmithKline / 1</a:t>
            </a:r>
          </a:p>
          <a:p xmlns:a="http://schemas.openxmlformats.org/drawingml/2006/main">
            <a:r>
              <a:t>GSK / 2021-25 / NCT04732871 / GlaxoSmithKline / 0</a:t>
            </a:r>
          </a:p>
          <a:p xmlns:a="http://schemas.openxmlformats.org/drawingml/2006/main">
            <a:r>
              <a:t>GSK / 2021-25 / NCT07177339 / GlaxoSmithKline / 0</a:t>
            </a:r>
          </a:p>
          <a:p xmlns:a="http://schemas.openxmlformats.org/drawingml/2006/main">
            <a:r>
              <a:t>GSK / 2021-25 / NCT05917509 / ViiV Healthcare / 0</a:t>
            </a:r>
          </a:p>
          <a:p xmlns:a="http://schemas.openxmlformats.org/drawingml/2006/main">
            <a:r>
              <a:t>GSK / 2021-25 / NCT05630820 / GlaxoSmithKline / 1</a:t>
            </a:r>
          </a:p>
          <a:p xmlns:a="http://schemas.openxmlformats.org/drawingml/2006/main">
            <a:r>
              <a:t>GSK / 2021-25 / NCT05281523 / GlaxoSmithKline / 0</a:t>
            </a:r>
          </a:p>
          <a:p xmlns:a="http://schemas.openxmlformats.org/drawingml/2006/main">
            <a:r>
              <a:t>GSK / 2021-25 / NCT05568797 / GlaxoSmithKline / 0</a:t>
            </a:r>
          </a:p>
          <a:p xmlns:a="http://schemas.openxmlformats.org/drawingml/2006/main">
            <a:r>
              <a:t>GSK / 2021-25 / NCT04915755 / GlaxoSmithKline / 0</a:t>
            </a:r>
          </a:p>
          <a:p xmlns:a="http://schemas.openxmlformats.org/drawingml/2006/main">
            <a:r>
              <a:t>GSK / 2021-25 / NCT06716606 / GlaxoSmithKline / 0</a:t>
            </a:r>
          </a:p>
          <a:p xmlns:a="http://schemas.openxmlformats.org/drawingml/2006/main">
            <a:r>
              <a:t>GSK / 2021-25 / NCT04719832 / GlaxoSmithKline / 0</a:t>
            </a:r>
          </a:p>
          <a:p xmlns:a="http://schemas.openxmlformats.org/drawingml/2006/main">
            <a:r>
              <a:t>GSK / 2021-25 / NCT05911360 / ViiV Healthcare / 0</a:t>
            </a:r>
          </a:p>
          <a:p xmlns:a="http://schemas.openxmlformats.org/drawingml/2006/main">
            <a:r>
              <a:t>GSK / 2021-25 / NCT07221227 / GlaxoSmithKline / 0</a:t>
            </a:r>
          </a:p>
          <a:p xmlns:a="http://schemas.openxmlformats.org/drawingml/2006/main">
            <a:r>
              <a:t>GSK / 2021-25 / NCT06693895 / GlaxoSmithKline / 0</a:t>
            </a:r>
          </a:p>
          <a:p xmlns:a="http://schemas.openxmlformats.org/drawingml/2006/main">
            <a:r>
              <a:t>GSK / 2021-25 / NCT05855200 / GlaxoSmithKline / 1</a:t>
            </a:r>
          </a:p>
          <a:p xmlns:a="http://schemas.openxmlformats.org/drawingml/2006/main">
            <a:r>
              <a:t>GSK / 2021-25 / NCT04965636 / GlaxoSmithKline / 0</a:t>
            </a:r>
          </a:p>
          <a:p xmlns:a="http://schemas.openxmlformats.org/drawingml/2006/main">
            <a:r>
              <a:t>GSK / 2021-25 / NCT06995430 / GlaxoSmithKline / 0</a:t>
            </a:r>
          </a:p>
          <a:p xmlns:a="http://schemas.openxmlformats.org/drawingml/2006/main">
            <a:r>
              <a:t>GSK / 2021-25 / NCT04950127 / GlaxoSmithKline / 0</a:t>
            </a:r>
          </a:p>
          <a:p xmlns:a="http://schemas.openxmlformats.org/drawingml/2006/main">
            <a:r>
              <a:t>GSK / 2021-25 / NCT07286331 / GlaxoSmithKline / 0</a:t>
            </a:r>
          </a:p>
          <a:p xmlns:a="http://schemas.openxmlformats.org/drawingml/2006/main">
            <a:r>
              <a:t>GSK / 2021-25 / NCT05757102 / GlaxoSmithKline / 0</a:t>
            </a:r>
          </a:p>
          <a:p xmlns:a="http://schemas.openxmlformats.org/drawingml/2006/main">
            <a:r>
              <a:t>GSK / 2021-25 / NCT05371080 / GlaxoSmithKline / 0</a:t>
            </a:r>
          </a:p>
          <a:p xmlns:a="http://schemas.openxmlformats.org/drawingml/2006/main">
            <a:r>
              <a:t>GSK / 2021-25 / NCT06855160 / GlaxoSmithKline / 0</a:t>
            </a:r>
          </a:p>
          <a:p xmlns:a="http://schemas.openxmlformats.org/drawingml/2006/main">
            <a:r>
              <a:t>GSK / 2021-25 / NCT05243680 / GlaxoSmithKline / 0</a:t>
            </a:r>
          </a:p>
          <a:p xmlns:a="http://schemas.openxmlformats.org/drawingml/2006/main">
            <a:r>
              <a:t>GSK / 2021-25 / NCT05979311 / ViiV Healthcare / 0</a:t>
            </a:r>
          </a:p>
          <a:p xmlns:a="http://schemas.openxmlformats.org/drawingml/2006/main">
            <a:r>
              <a:t>GSK / 2021-25 / NCT04718103 / GlaxoSmithKline / 0</a:t>
            </a:r>
          </a:p>
          <a:p xmlns:a="http://schemas.openxmlformats.org/drawingml/2006/main">
            <a:r>
              <a:t>GSK / 2021-25 / NCT07099898 / GlaxoSmithKline / 0</a:t>
            </a:r>
          </a:p>
          <a:p xmlns:a="http://schemas.openxmlformats.org/drawingml/2006/main">
            <a:r>
              <a:t>GSK / 2021-25 / NCT05682326 / GlaxoSmithKline / 0</a:t>
            </a:r>
          </a:p>
          <a:p xmlns:a="http://schemas.openxmlformats.org/drawingml/2006/main">
            <a:r>
              <a:t>GSK / 2021-25 / NCT06868667 / GlaxoSmithKline / 0</a:t>
            </a:r>
          </a:p>
          <a:p xmlns:a="http://schemas.openxmlformats.org/drawingml/2006/main">
            <a:r>
              <a:t>GSK / 2021-25 / NCT04707391 / GlaxoSmithKline / 0</a:t>
            </a:r>
          </a:p>
          <a:p xmlns:a="http://schemas.openxmlformats.org/drawingml/2006/main">
            <a:r>
              <a:t>GSK / 2021-25 / NCT06956170 / GlaxoSmithKline / 0</a:t>
            </a:r>
          </a:p>
          <a:p xmlns:a="http://schemas.openxmlformats.org/drawingml/2006/main">
            <a:r>
              <a:t>GSK / 2021-25 / NCT06740630 / GlaxoSmithKline / 0</a:t>
            </a:r>
          </a:p>
          <a:p xmlns:a="http://schemas.openxmlformats.org/drawingml/2006/main">
            <a:r>
              <a:t>GSK / 2021-25 / NCT05879107 / GlaxoSmithKline / 0</a:t>
            </a:r>
          </a:p>
          <a:p xmlns:a="http://schemas.openxmlformats.org/drawingml/2006/main">
            <a:r>
              <a:t>GSK / 2021-25 / NCT05229068 / GlaxoSmithKline / 0</a:t>
            </a:r>
          </a:p>
          <a:p xmlns:a="http://schemas.openxmlformats.org/drawingml/2006/main">
            <a:r>
              <a:t>GSK / 2021-25 / NCT06597344 / GlaxoSmithKline / 0</a:t>
            </a:r>
          </a:p>
          <a:p xmlns:a="http://schemas.openxmlformats.org/drawingml/2006/main">
            <a:r>
              <a:t>GSK / 2021-25 / NCT06806137 / GlaxoSmithKline / 0</a:t>
            </a:r>
          </a:p>
          <a:p xmlns:a="http://schemas.openxmlformats.org/drawingml/2006/main">
            <a:r>
              <a:t>GSK / 2021-25 / NCT06389487 / GlaxoSmithKline / 0</a:t>
            </a:r>
          </a:p>
          <a:p xmlns:a="http://schemas.openxmlformats.org/drawingml/2006/main">
            <a:r>
              <a:t>GSK / 2021-25 / NCT05219253 / GlaxoSmithKline / 1</a:t>
            </a:r>
          </a:p>
          <a:p xmlns:a="http://schemas.openxmlformats.org/drawingml/2006/main">
            <a:r>
              <a:t>GSK / 2021-25 / NCT05600777 / Bellus Health Inc. - a GSK company / 1</a:t>
            </a:r>
          </a:p>
          <a:p xmlns:a="http://schemas.openxmlformats.org/drawingml/2006/main">
            <a:r>
              <a:t>Sanofi / 2015-19 / NCT03417245 / Genzyme, a Sanofi Company / 1</a:t>
            </a:r>
          </a:p>
          <a:p xmlns:a="http://schemas.openxmlformats.org/drawingml/2006/main">
            <a:r>
              <a:t>Sanofi / 2015-19 / NCT04154956 / Sanofi / 0</a:t>
            </a:r>
          </a:p>
          <a:p xmlns:a="http://schemas.openxmlformats.org/drawingml/2006/main">
            <a:r>
              <a:t>Sanofi / 2015-19 / NCT02817451 / Sanofi Pasteur, a Sanofi Company / 0</a:t>
            </a:r>
          </a:p>
          <a:p xmlns:a="http://schemas.openxmlformats.org/drawingml/2006/main">
            <a:r>
              <a:t>Sanofi / 2015-19 / NCT03347422 / Bioverativ, a Sanofi company / 0</a:t>
            </a:r>
          </a:p>
          <a:p xmlns:a="http://schemas.openxmlformats.org/drawingml/2006/main">
            <a:r>
              <a:t>Sanofi / 2015-19 / NCT04210349 / Sanofi Pasteur, a Sanofi Company / 0</a:t>
            </a:r>
          </a:p>
          <a:p xmlns:a="http://schemas.openxmlformats.org/drawingml/2006/main">
            <a:r>
              <a:t>Sanofi / 2015-19 / NCT03547271 / Sanofi Pasteur, a Sanofi Company / 0</a:t>
            </a:r>
          </a:p>
          <a:p xmlns:a="http://schemas.openxmlformats.org/drawingml/2006/main">
            <a:r>
              <a:t>Sanofi / 2015-19 / NCT03798080 / Sanofi / 0</a:t>
            </a:r>
          </a:p>
          <a:p xmlns:a="http://schemas.openxmlformats.org/drawingml/2006/main">
            <a:r>
              <a:t>Sanofi / 2015-19 / NCT03684642 / Sanofi / 0</a:t>
            </a:r>
          </a:p>
          <a:p xmlns:a="http://schemas.openxmlformats.org/drawingml/2006/main">
            <a:r>
              <a:t>Sanofi / 2015-19 / NCT02787551 / Sanofi / 0</a:t>
            </a:r>
          </a:p>
          <a:p xmlns:a="http://schemas.openxmlformats.org/drawingml/2006/main">
            <a:r>
              <a:t>Sanofi / 2015-19 / NCT04161495 / Bioverativ, a Sanofi company / 0</a:t>
            </a:r>
          </a:p>
          <a:p xmlns:a="http://schemas.openxmlformats.org/drawingml/2006/main">
            <a:r>
              <a:t>Sanofi / 2015-19 / NCT03529123 / Sanofi / 1</a:t>
            </a:r>
          </a:p>
          <a:p xmlns:a="http://schemas.openxmlformats.org/drawingml/2006/main">
            <a:r>
              <a:t>Sanofi / 2015-19 / NCT02842866 / Sanofi Pasteur, a Sanofi Company / 0</a:t>
            </a:r>
          </a:p>
          <a:p xmlns:a="http://schemas.openxmlformats.org/drawingml/2006/main">
            <a:r>
              <a:t>Sanofi / 2015-19 / NCT03275285 / Sanofi / 0</a:t>
            </a:r>
          </a:p>
          <a:p xmlns:a="http://schemas.openxmlformats.org/drawingml/2006/main">
            <a:r>
              <a:t>Sanofi / 2015-19 / NCT02401243 / Sanofi / 0</a:t>
            </a:r>
          </a:p>
          <a:p xmlns:a="http://schemas.openxmlformats.org/drawingml/2006/main">
            <a:r>
              <a:t>Sanofi / 2015-19 / NCT02855684 / Sanofi / 0</a:t>
            </a:r>
          </a:p>
          <a:p xmlns:a="http://schemas.openxmlformats.org/drawingml/2006/main">
            <a:r>
              <a:t>Sanofi / 2015-19 / NCT03713684 / Sanofi / 0</a:t>
            </a:r>
          </a:p>
          <a:p xmlns:a="http://schemas.openxmlformats.org/drawingml/2006/main">
            <a:r>
              <a:t>Sanofi / 2015-19 / NCT02550197 / Sanofi Pasteur, a Sanofi Company / 0</a:t>
            </a:r>
          </a:p>
          <a:p xmlns:a="http://schemas.openxmlformats.org/drawingml/2006/main">
            <a:r>
              <a:t>Sanofi / 2015-19 / NCT03767543 / Sanofi / 0</a:t>
            </a:r>
          </a:p>
          <a:p xmlns:a="http://schemas.openxmlformats.org/drawingml/2006/main">
            <a:r>
              <a:t>Sanofi / 2015-19 / NCT03664882 / Sanofi / 0</a:t>
            </a:r>
          </a:p>
          <a:p xmlns:a="http://schemas.openxmlformats.org/drawingml/2006/main">
            <a:r>
              <a:t>Sanofi / 2015-19 / NCT04074187 / Sanofi / 0</a:t>
            </a:r>
          </a:p>
          <a:p xmlns:a="http://schemas.openxmlformats.org/drawingml/2006/main">
            <a:r>
              <a:t>Sanofi / 2015-19 / NCT02503306 / Sanofi / 0</a:t>
            </a:r>
          </a:p>
          <a:p xmlns:a="http://schemas.openxmlformats.org/drawingml/2006/main">
            <a:r>
              <a:t>Sanofi / 2015-19 / NCT03760965 / Sanofi / 0</a:t>
            </a:r>
          </a:p>
          <a:p xmlns:a="http://schemas.openxmlformats.org/drawingml/2006/main">
            <a:r>
              <a:t>Sanofi / 2015-19 / NCT04180488 / Sanofi / 0</a:t>
            </a:r>
          </a:p>
          <a:p xmlns:a="http://schemas.openxmlformats.org/drawingml/2006/main">
            <a:r>
              <a:t>Sanofi / 2015-19 / NCT03510715 / Sanofi / 0</a:t>
            </a:r>
          </a:p>
          <a:p xmlns:a="http://schemas.openxmlformats.org/drawingml/2006/main">
            <a:r>
              <a:t>Sanofi / 2015-19 / NCT03001011 / Sanofi / 0</a:t>
            </a:r>
          </a:p>
          <a:p xmlns:a="http://schemas.openxmlformats.org/drawingml/2006/main">
            <a:r>
              <a:t>Sanofi / 2015-19 / NCT02990338 / Sanofi / 0</a:t>
            </a:r>
          </a:p>
          <a:p xmlns:a="http://schemas.openxmlformats.org/drawingml/2006/main">
            <a:r>
              <a:t>Sanofi / 2015-19 / NCT03765437 / Sanofi Pasteur, a Sanofi Company / 0</a:t>
            </a:r>
          </a:p>
          <a:p xmlns:a="http://schemas.openxmlformats.org/drawingml/2006/main">
            <a:r>
              <a:t>Sanofi / 2015-19 / NCT03632720 / Sanofi Pasteur, a Sanofi Company / 0</a:t>
            </a:r>
          </a:p>
          <a:p xmlns:a="http://schemas.openxmlformats.org/drawingml/2006/main">
            <a:r>
              <a:t>Sanofi / 2015-19 / NCT03782532 / Sanofi / 1</a:t>
            </a:r>
          </a:p>
          <a:p xmlns:a="http://schemas.openxmlformats.org/drawingml/2006/main">
            <a:r>
              <a:t>Sanofi / 2015-19 / NCT03549871 / Genzyme, a Sanofi Company / 0</a:t>
            </a:r>
          </a:p>
          <a:p xmlns:a="http://schemas.openxmlformats.org/drawingml/2006/main">
            <a:r>
              <a:t>Sanofi / 2015-19 / NCT02343926 / Sanofi / 0</a:t>
            </a:r>
          </a:p>
          <a:p xmlns:a="http://schemas.openxmlformats.org/drawingml/2006/main">
            <a:r>
              <a:t>Sanofi / 2015-19 / NCT03620747 / Sanofi / 0</a:t>
            </a:r>
          </a:p>
          <a:p xmlns:a="http://schemas.openxmlformats.org/drawingml/2006/main">
            <a:r>
              <a:t>Sanofi / 2015-19 / NCT04142242 / Sanofi Pasteur, a Sanofi Company / 0</a:t>
            </a:r>
          </a:p>
          <a:p xmlns:a="http://schemas.openxmlformats.org/drawingml/2006/main">
            <a:r>
              <a:t>Sanofi / 2015-19 / NCT03391193 / Sanofi Pasteur, a Sanofi Company / 0</a:t>
            </a:r>
          </a:p>
          <a:p xmlns:a="http://schemas.openxmlformats.org/drawingml/2006/main">
            <a:r>
              <a:t>Sanofi / 2015-19 / NCT02492165 / Sanofi Pasteur, a Sanofi Company / 0</a:t>
            </a:r>
          </a:p>
          <a:p xmlns:a="http://schemas.openxmlformats.org/drawingml/2006/main">
            <a:r>
              <a:t>Sanofi / 2015-19 / NCT03965962 / Sanofi Pasteur, a Sanofi Company / 0</a:t>
            </a:r>
          </a:p>
          <a:p xmlns:a="http://schemas.openxmlformats.org/drawingml/2006/main">
            <a:r>
              <a:t>Sanofi / 2015-19 / NCT02697474 / Sanofi Pasteur, a Sanofi Company / 0</a:t>
            </a:r>
          </a:p>
          <a:p xmlns:a="http://schemas.openxmlformats.org/drawingml/2006/main">
            <a:r>
              <a:t>Sanofi / 2015-19 / NCT02585674 / Sanofi / 0</a:t>
            </a:r>
          </a:p>
          <a:p xmlns:a="http://schemas.openxmlformats.org/drawingml/2006/main">
            <a:r>
              <a:t>Sanofi / 2015-19 / NCT03754790 / Genzyme, a Sanofi Company / 1</a:t>
            </a:r>
          </a:p>
          <a:p xmlns:a="http://schemas.openxmlformats.org/drawingml/2006/main">
            <a:r>
              <a:t>Sanofi / 2015-19 / NCT03205371 / Sanofi Pasteur, a Sanofi Company / 0</a:t>
            </a:r>
          </a:p>
          <a:p xmlns:a="http://schemas.openxmlformats.org/drawingml/2006/main">
            <a:r>
              <a:t>Sanofi / 2015-19 / NCT03874715 / Sanofi / 0</a:t>
            </a:r>
          </a:p>
          <a:p xmlns:a="http://schemas.openxmlformats.org/drawingml/2006/main">
            <a:r>
              <a:t>Sanofi / 2015-19 / NCT03347396 / Bioverativ, a Sanofi company / 0</a:t>
            </a:r>
          </a:p>
          <a:p xmlns:a="http://schemas.openxmlformats.org/drawingml/2006/main">
            <a:r>
              <a:t>Sanofi / 2015-19 / NCT03912259 / Sanofi / 0</a:t>
            </a:r>
          </a:p>
          <a:p xmlns:a="http://schemas.openxmlformats.org/drawingml/2006/main">
            <a:r>
              <a:t>Sanofi / 2015-19 / NCT02979535 / Sanofi Pasteur, a Sanofi Company / 0</a:t>
            </a:r>
          </a:p>
          <a:p xmlns:a="http://schemas.openxmlformats.org/drawingml/2006/main">
            <a:r>
              <a:t>Sanofi / 2015-19 / NCT02752828 / Sanofi / 0</a:t>
            </a:r>
          </a:p>
          <a:p xmlns:a="http://schemas.openxmlformats.org/drawingml/2006/main">
            <a:r>
              <a:t>Sanofi / 2015-19 / NCT02735044 / Sanofi / 0</a:t>
            </a:r>
          </a:p>
          <a:p xmlns:a="http://schemas.openxmlformats.org/drawingml/2006/main">
            <a:r>
              <a:t>Sanofi / 2015-19 / NCT03691610 / Sanofi Pasteur, a Sanofi Company / 0</a:t>
            </a:r>
          </a:p>
          <a:p xmlns:a="http://schemas.openxmlformats.org/drawingml/2006/main">
            <a:r>
              <a:t>Sanofi / 2015-19 / NCT02585778 / Sanofi / 0</a:t>
            </a:r>
          </a:p>
          <a:p xmlns:a="http://schemas.openxmlformats.org/drawingml/2006/main">
            <a:r>
              <a:t>Sanofi / 2015-19 / NCT02332590 / Sanofi / 0</a:t>
            </a:r>
          </a:p>
          <a:p xmlns:a="http://schemas.openxmlformats.org/drawingml/2006/main">
            <a:r>
              <a:t>Sanofi / 2015-19 / NCT02434822 / Sanofi Pasteur, a Sanofi Company / 0</a:t>
            </a:r>
          </a:p>
          <a:p xmlns:a="http://schemas.openxmlformats.org/drawingml/2006/main">
            <a:r>
              <a:t>Sanofi / 2015-19 / NCT04084769 / Sanofi Pasteur, a Sanofi Company / 0</a:t>
            </a:r>
          </a:p>
          <a:p xmlns:a="http://schemas.openxmlformats.org/drawingml/2006/main">
            <a:r>
              <a:t>Sanofi / 2015-19 / NCT03417102 / Genzyme, a Sanofi Company / 1</a:t>
            </a:r>
          </a:p>
          <a:p xmlns:a="http://schemas.openxmlformats.org/drawingml/2006/main">
            <a:r>
              <a:t>Sanofi / 2015-19 / NCT02517385 / Sanofi / 0</a:t>
            </a:r>
          </a:p>
          <a:p xmlns:a="http://schemas.openxmlformats.org/drawingml/2006/main">
            <a:r>
              <a:t>Sanofi / 2015-19 / NCT03523728 / Genzyme, a Sanofi Company / 0</a:t>
            </a:r>
          </a:p>
          <a:p xmlns:a="http://schemas.openxmlformats.org/drawingml/2006/main">
            <a:r>
              <a:t>Sanofi / 2015-19 / NCT02752412 / Sanofi / 0</a:t>
            </a:r>
          </a:p>
          <a:p xmlns:a="http://schemas.openxmlformats.org/drawingml/2006/main">
            <a:r>
              <a:t>Sanofi / 2015-19 / NCT03537508 / Sanofi Pasteur, a Sanofi Company / 0</a:t>
            </a:r>
          </a:p>
          <a:p xmlns:a="http://schemas.openxmlformats.org/drawingml/2006/main">
            <a:r>
              <a:t>Sanofi / 2015-19 / NCT03190369 / Genzyme, a Sanofi Company / 0</a:t>
            </a:r>
          </a:p>
          <a:p xmlns:a="http://schemas.openxmlformats.org/drawingml/2006/main">
            <a:r>
              <a:t>Sanofi / 2015-19 / NCT03485677 / Sanofi / 0</a:t>
            </a:r>
          </a:p>
          <a:p xmlns:a="http://schemas.openxmlformats.org/drawingml/2006/main">
            <a:r>
              <a:t>Sanofi / 2015-19 / NCT02912468 / Sanofi / 0</a:t>
            </a:r>
          </a:p>
          <a:p xmlns:a="http://schemas.openxmlformats.org/drawingml/2006/main">
            <a:r>
              <a:t>Sanofi / 2015-19 / NCT03583658 / Sanofi / 0</a:t>
            </a:r>
          </a:p>
          <a:p xmlns:a="http://schemas.openxmlformats.org/drawingml/2006/main">
            <a:r>
              <a:t>Sanofi / 2015-19 / NCT03415178 / Sanofi / 0</a:t>
            </a:r>
          </a:p>
          <a:p xmlns:a="http://schemas.openxmlformats.org/drawingml/2006/main">
            <a:r>
              <a:t>Sanofi / 2015-19 / NCT03700242 / Sanofi Pasteur, a Sanofi Company / 0</a:t>
            </a:r>
          </a:p>
          <a:p xmlns:a="http://schemas.openxmlformats.org/drawingml/2006/main">
            <a:r>
              <a:t>Sanofi / 2015-19 / NCT03869866 / Sanofi Pasteur, a Sanofi Company / 0</a:t>
            </a:r>
          </a:p>
          <a:p xmlns:a="http://schemas.openxmlformats.org/drawingml/2006/main">
            <a:r>
              <a:t>Sanofi / 2015-19 / NCT03600805 / Sanofi / 0</a:t>
            </a:r>
          </a:p>
          <a:p xmlns:a="http://schemas.openxmlformats.org/drawingml/2006/main">
            <a:r>
              <a:t>Sanofi / 2015-19 / NCT02955797 / Sanofi Pasteur, a Sanofi Company / 0</a:t>
            </a:r>
          </a:p>
          <a:p xmlns:a="http://schemas.openxmlformats.org/drawingml/2006/main">
            <a:r>
              <a:t>Sanofi / 2015-19 / NCT03476135 / Sanofi Pasteur, a Sanofi Company / 0</a:t>
            </a:r>
          </a:p>
          <a:p xmlns:a="http://schemas.openxmlformats.org/drawingml/2006/main">
            <a:r>
              <a:t>Sanofi / 2015-19 / NCT02451358 / Sanofi Pasteur, a Sanofi Company / 1</a:t>
            </a:r>
          </a:p>
          <a:p xmlns:a="http://schemas.openxmlformats.org/drawingml/2006/main">
            <a:r>
              <a:t>Sanofi / 2015-19 / NCT02752906 / Sanofi Pasteur, a Sanofi Company / 0</a:t>
            </a:r>
          </a:p>
          <a:p xmlns:a="http://schemas.openxmlformats.org/drawingml/2006/main">
            <a:r>
              <a:t>Sanofi / 2015-19 / NCT03510884 / Sanofi / 0</a:t>
            </a:r>
          </a:p>
          <a:p xmlns:a="http://schemas.openxmlformats.org/drawingml/2006/main">
            <a:r>
              <a:t>Sanofi / 2015-19 / NCT02859896 / Sanofi / 0</a:t>
            </a:r>
          </a:p>
          <a:p xmlns:a="http://schemas.openxmlformats.org/drawingml/2006/main">
            <a:r>
              <a:t>Sanofi / 2015-19 / NCT02898454 / Sanofi / 0</a:t>
            </a:r>
          </a:p>
          <a:p xmlns:a="http://schemas.openxmlformats.org/drawingml/2006/main">
            <a:r>
              <a:t>Sanofi / 2015-19 / NCT02584504 / Sanofi / 0</a:t>
            </a:r>
          </a:p>
          <a:p xmlns:a="http://schemas.openxmlformats.org/drawingml/2006/main">
            <a:r>
              <a:t>Sanofi / 2015-19 / NCT02476006 / Sanofi / 0</a:t>
            </a:r>
          </a:p>
          <a:p xmlns:a="http://schemas.openxmlformats.org/drawingml/2006/main">
            <a:r>
              <a:t>Sanofi / 2015-19 / NCT04183335 / Sanofi / 0</a:t>
            </a:r>
          </a:p>
          <a:p xmlns:a="http://schemas.openxmlformats.org/drawingml/2006/main">
            <a:r>
              <a:t>Sanofi / 2015-19 / NCT03560466 / Sanofi / 0</a:t>
            </a:r>
          </a:p>
          <a:p xmlns:a="http://schemas.openxmlformats.org/drawingml/2006/main">
            <a:r>
              <a:t>Sanofi / 2015-19 / NCT02553317 / Ablynx, a Sanofi company / 0</a:t>
            </a:r>
          </a:p>
          <a:p xmlns:a="http://schemas.openxmlformats.org/drawingml/2006/main">
            <a:r>
              <a:t>Sanofi / 2015-19 / NCT03282240 / Sanofi Pasteur, a Sanofi Company / 0</a:t>
            </a:r>
          </a:p>
          <a:p xmlns:a="http://schemas.openxmlformats.org/drawingml/2006/main">
            <a:r>
              <a:t>Sanofi / 2015-19 / NCT02948959 / Sanofi / 0</a:t>
            </a:r>
          </a:p>
          <a:p xmlns:a="http://schemas.openxmlformats.org/drawingml/2006/main">
            <a:r>
              <a:t>Sanofi / 2015-19 / NCT03600818 / Sanofi / 0</a:t>
            </a:r>
          </a:p>
          <a:p xmlns:a="http://schemas.openxmlformats.org/drawingml/2006/main">
            <a:r>
              <a:t>Sanofi / 2015-19 / NCT02401191 / Sanofi / 0</a:t>
            </a:r>
          </a:p>
          <a:p xmlns:a="http://schemas.openxmlformats.org/drawingml/2006/main">
            <a:r>
              <a:t>Sanofi / 2015-19 / NCT02332811 / Genzyme, a Sanofi Company / 0</a:t>
            </a:r>
          </a:p>
          <a:p xmlns:a="http://schemas.openxmlformats.org/drawingml/2006/main">
            <a:r>
              <a:t>Sanofi / 2015-19 / NCT03077438 / Sanofi Pasteur, a Sanofi Company / 0</a:t>
            </a:r>
          </a:p>
          <a:p xmlns:a="http://schemas.openxmlformats.org/drawingml/2006/main">
            <a:r>
              <a:t>Sanofi / 2015-19 / NCT02842853 / Sanofi Pasteur, a Sanofi Company / 0</a:t>
            </a:r>
          </a:p>
          <a:p xmlns:a="http://schemas.openxmlformats.org/drawingml/2006/main">
            <a:r>
              <a:t>Sanofi / 2015-19 / NCT03762265 / Principia Biopharma, a Sanofi Company / 0</a:t>
            </a:r>
          </a:p>
          <a:p xmlns:a="http://schemas.openxmlformats.org/drawingml/2006/main">
            <a:r>
              <a:t>Sanofi / 2015-19 / NCT03434119 / Sanofi / 0</a:t>
            </a:r>
          </a:p>
          <a:p xmlns:a="http://schemas.openxmlformats.org/drawingml/2006/main">
            <a:r>
              <a:t>Sanofi / 2015-19 / NCT03673462 / Sanofi Pasteur, a Sanofi Company / 0</a:t>
            </a:r>
          </a:p>
          <a:p xmlns:a="http://schemas.openxmlformats.org/drawingml/2006/main">
            <a:r>
              <a:t>Sanofi / 2015-19 / NCT02878603 / Sanofi / 0</a:t>
            </a:r>
          </a:p>
          <a:p xmlns:a="http://schemas.openxmlformats.org/drawingml/2006/main">
            <a:r>
              <a:t>Sanofi / 2015-19 / NCT02414854 / Sanofi / 0</a:t>
            </a:r>
          </a:p>
          <a:p xmlns:a="http://schemas.openxmlformats.org/drawingml/2006/main">
            <a:r>
              <a:t>Sanofi / 2015-19 / NCT02373202 / Sanofi / 0</a:t>
            </a:r>
          </a:p>
          <a:p xmlns:a="http://schemas.openxmlformats.org/drawingml/2006/main">
            <a:r>
              <a:t>Sanofi / 2015-19 / NCT02749890 / Sanofi / 0</a:t>
            </a:r>
          </a:p>
          <a:p xmlns:a="http://schemas.openxmlformats.org/drawingml/2006/main">
            <a:r>
              <a:t>Sanofi / 2015-19 / NCT03761134 / Sanofi / 0</a:t>
            </a:r>
          </a:p>
          <a:p xmlns:a="http://schemas.openxmlformats.org/drawingml/2006/main">
            <a:r>
              <a:t>Sanofi / 2015-19 / NCT03798054 / Sanofi / 0</a:t>
            </a:r>
          </a:p>
          <a:p xmlns:a="http://schemas.openxmlformats.org/drawingml/2006/main">
            <a:r>
              <a:t>Sanofi / 2015-19 / NCT04202679 / Sanofi / 0</a:t>
            </a:r>
          </a:p>
          <a:p xmlns:a="http://schemas.openxmlformats.org/drawingml/2006/main">
            <a:r>
              <a:t>Sanofi / 2015-19 / NCT02528214 / Sanofi / 0</a:t>
            </a:r>
          </a:p>
          <a:p xmlns:a="http://schemas.openxmlformats.org/drawingml/2006/main">
            <a:r>
              <a:t>Sanofi / 2015-19 / NCT03368664 / Genzyme, a Sanofi Company / 0</a:t>
            </a:r>
          </a:p>
          <a:p xmlns:a="http://schemas.openxmlformats.org/drawingml/2006/main">
            <a:r>
              <a:t>Sanofi / 2015-19 / NCT03890367 / Sanofi Pasteur, a Sanofi Company / 0</a:t>
            </a:r>
          </a:p>
          <a:p xmlns:a="http://schemas.openxmlformats.org/drawingml/2006/main">
            <a:r>
              <a:t>Sanofi / 2015-19 / NCT02782741 / Genzyme, a Sanofi Company / 0</a:t>
            </a:r>
          </a:p>
          <a:p xmlns:a="http://schemas.openxmlformats.org/drawingml/2006/main">
            <a:r>
              <a:t>Sanofi / 2015-19 / NCT04143061 / Sanofi Pasteur, a Sanofi Company / 1</a:t>
            </a:r>
          </a:p>
          <a:p xmlns:a="http://schemas.openxmlformats.org/drawingml/2006/main">
            <a:r>
              <a:t>Sanofi / 2015-19 / NCT02428491 / Sanofi Pasteur, a Sanofi Company / 0</a:t>
            </a:r>
          </a:p>
          <a:p xmlns:a="http://schemas.openxmlformats.org/drawingml/2006/main">
            <a:r>
              <a:t>Sanofi / 2015-19 / NCT03211858 / Sanofi / 0</a:t>
            </a:r>
          </a:p>
          <a:p xmlns:a="http://schemas.openxmlformats.org/drawingml/2006/main">
            <a:r>
              <a:t>Sanofi / 2015-19 / NCT03496298 / Sanofi / 1</a:t>
            </a:r>
          </a:p>
          <a:p xmlns:a="http://schemas.openxmlformats.org/drawingml/2006/main">
            <a:r>
              <a:t>Sanofi / 2015-19 / NCT03319667 / Sanofi / 0</a:t>
            </a:r>
          </a:p>
          <a:p xmlns:a="http://schemas.openxmlformats.org/drawingml/2006/main">
            <a:r>
              <a:t>Sanofi / 2015-19 / NCT03630705 / Sanofi Pasteur, a Sanofi Company / 0</a:t>
            </a:r>
          </a:p>
          <a:p xmlns:a="http://schemas.openxmlformats.org/drawingml/2006/main">
            <a:r>
              <a:t>Sanofi / 2015-19 / NCT02536755 / Genzyme, a Sanofi Company / 0</a:t>
            </a:r>
          </a:p>
          <a:p xmlns:a="http://schemas.openxmlformats.org/drawingml/2006/main">
            <a:r>
              <a:t>Sanofi / 2015-19 / NCT02992418 / Sanofi Pasteur, a Sanofi Company / 0</a:t>
            </a:r>
          </a:p>
          <a:p xmlns:a="http://schemas.openxmlformats.org/drawingml/2006/main">
            <a:r>
              <a:t>Sanofi / 2015-19 / NCT04137887 / Sanofi Pasteur, a Sanofi Company / 0</a:t>
            </a:r>
          </a:p>
          <a:p xmlns:a="http://schemas.openxmlformats.org/drawingml/2006/main">
            <a:r>
              <a:t>Sanofi / 2015-19 / NCT03930732 / Sanofi / 0</a:t>
            </a:r>
          </a:p>
          <a:p xmlns:a="http://schemas.openxmlformats.org/drawingml/2006/main">
            <a:r>
              <a:t>Sanofi / 2015-19 / NCT03974113 / Genzyme, a Sanofi Company / 1</a:t>
            </a:r>
          </a:p>
          <a:p xmlns:a="http://schemas.openxmlformats.org/drawingml/2006/main">
            <a:r>
              <a:t>Sanofi / 2015-19 / NCT02993757 / Sanofi Pasteur, a Sanofi Company / 0</a:t>
            </a:r>
          </a:p>
          <a:p xmlns:a="http://schemas.openxmlformats.org/drawingml/2006/main">
            <a:r>
              <a:t>Sanofi / 2015-19 / NCT04024228 / Sanofi Pasteur, a Sanofi Company / 0</a:t>
            </a:r>
          </a:p>
          <a:p xmlns:a="http://schemas.openxmlformats.org/drawingml/2006/main">
            <a:r>
              <a:t>Sanofi / 2015-19 / NCT03770728 / Sanofi / 0</a:t>
            </a:r>
          </a:p>
          <a:p xmlns:a="http://schemas.openxmlformats.org/drawingml/2006/main">
            <a:r>
              <a:t>Sanofi / 2015-19 / NCT04127786 / Sanofi Pasteur, a Sanofi Company / 0</a:t>
            </a:r>
          </a:p>
          <a:p xmlns:a="http://schemas.openxmlformats.org/drawingml/2006/main">
            <a:r>
              <a:t>Sanofi / 2015-19 / NCT02715726 / Sanofi / 1</a:t>
            </a:r>
          </a:p>
          <a:p xmlns:a="http://schemas.openxmlformats.org/drawingml/2006/main">
            <a:r>
              <a:t>Sanofi / 2015-19 / NCT03317015 / Sanofi / 0</a:t>
            </a:r>
          </a:p>
          <a:p xmlns:a="http://schemas.openxmlformats.org/drawingml/2006/main">
            <a:r>
              <a:t>Sanofi / 2021-25 / NCT05128773 / Sanofi / 0</a:t>
            </a:r>
          </a:p>
          <a:p xmlns:a="http://schemas.openxmlformats.org/drawingml/2006/main">
            <a:r>
              <a:t>Sanofi / 2021-25 / NCT05132127 / Sanofi / 0</a:t>
            </a:r>
          </a:p>
          <a:p xmlns:a="http://schemas.openxmlformats.org/drawingml/2006/main">
            <a:r>
              <a:t>Sanofi / 2021-25 / NCT06141486 / Sanofi / 1</a:t>
            </a:r>
          </a:p>
          <a:p xmlns:a="http://schemas.openxmlformats.org/drawingml/2006/main">
            <a:r>
              <a:t>Sanofi / 2021-25 / NCT06143891 / Sanofi / 0</a:t>
            </a:r>
          </a:p>
          <a:p xmlns:a="http://schemas.openxmlformats.org/drawingml/2006/main">
            <a:r>
              <a:t>Sanofi / 2021-25 / NCT06641180 / Sanofi Pasteur, a Sanofi Company / 0</a:t>
            </a:r>
          </a:p>
          <a:p xmlns:a="http://schemas.openxmlformats.org/drawingml/2006/main">
            <a:r>
              <a:t>Sanofi / 2021-25 / NCT05878093 / Sanofi / 0</a:t>
            </a:r>
          </a:p>
          <a:p xmlns:a="http://schemas.openxmlformats.org/drawingml/2006/main">
            <a:r>
              <a:t>Sanofi / 2021-25 / NCT04701983 / Sanofi / 1</a:t>
            </a:r>
          </a:p>
          <a:p xmlns:a="http://schemas.openxmlformats.org/drawingml/2006/main">
            <a:r>
              <a:t>Sanofi / 2021-25 / NCT07135986 / Sanofi / 0</a:t>
            </a:r>
          </a:p>
          <a:p xmlns:a="http://schemas.openxmlformats.org/drawingml/2006/main">
            <a:r>
              <a:t>Sanofi / 2021-25 / NCT05405166 / Sanofi / 0</a:t>
            </a:r>
          </a:p>
          <a:p xmlns:a="http://schemas.openxmlformats.org/drawingml/2006/main">
            <a:r>
              <a:t>Sanofi / 2021-25 / NCT07086976 / Sanofi / 0</a:t>
            </a:r>
          </a:p>
          <a:p xmlns:a="http://schemas.openxmlformats.org/drawingml/2006/main">
            <a:r>
              <a:t>Sanofi / 2021-25 / NCT06397768 / Sanofi Pasteur, a Sanofi Company / 0</a:t>
            </a:r>
          </a:p>
          <a:p xmlns:a="http://schemas.openxmlformats.org/drawingml/2006/main">
            <a:r>
              <a:t>Sanofi / 2021-25 / NCT06687980 / Sanofi / 0</a:t>
            </a:r>
          </a:p>
          <a:p xmlns:a="http://schemas.openxmlformats.org/drawingml/2006/main">
            <a:r>
              <a:t>Sanofi / 2021-25 / NCT04705051 / Sanofi / 0</a:t>
            </a:r>
          </a:p>
          <a:p xmlns:a="http://schemas.openxmlformats.org/drawingml/2006/main">
            <a:r>
              <a:t>Sanofi / 2021-25 / NCT05794230 / Sanofi Pasteur, a Sanofi Company / 1</a:t>
            </a:r>
          </a:p>
          <a:p xmlns:a="http://schemas.openxmlformats.org/drawingml/2006/main">
            <a:r>
              <a:t>Sanofi / 2021-25 / NCT05437510 / Sanofi Pasteur, a Sanofi Company / 0</a:t>
            </a:r>
          </a:p>
          <a:p xmlns:a="http://schemas.openxmlformats.org/drawingml/2006/main">
            <a:r>
              <a:t>Sanofi / 2021-25 / NCT07002060 / Sanofi / 0</a:t>
            </a:r>
          </a:p>
          <a:p xmlns:a="http://schemas.openxmlformats.org/drawingml/2006/main">
            <a:r>
              <a:t>Sanofi / 2021-25 / NCT06859099 / Sanofi / 0</a:t>
            </a:r>
          </a:p>
          <a:p xmlns:a="http://schemas.openxmlformats.org/drawingml/2006/main">
            <a:r>
              <a:t>Sanofi / 2021-25 / NCT06293053 / Sanofi / 0</a:t>
            </a:r>
          </a:p>
          <a:p xmlns:a="http://schemas.openxmlformats.org/drawingml/2006/main">
            <a:r>
              <a:t>Sanofi / 2021-25 / NCT04910776 / Sanofi / 0</a:t>
            </a:r>
          </a:p>
          <a:p xmlns:a="http://schemas.openxmlformats.org/drawingml/2006/main">
            <a:r>
              <a:t>Sanofi / 2021-25 / NCT07184996 / Sanofi / 0</a:t>
            </a:r>
          </a:p>
          <a:p xmlns:a="http://schemas.openxmlformats.org/drawingml/2006/main">
            <a:r>
              <a:t>Sanofi / 2021-25 / NCT06372145 / Sanofi / 1</a:t>
            </a:r>
          </a:p>
          <a:p xmlns:a="http://schemas.openxmlformats.org/drawingml/2006/main">
            <a:r>
              <a:t>Sanofi / 2021-25 / NCT06834360 / Sanofi / 0</a:t>
            </a:r>
          </a:p>
          <a:p xmlns:a="http://schemas.openxmlformats.org/drawingml/2006/main">
            <a:r>
              <a:t>Sanofi / 2021-25 / NCT04904549 / Sanofi Pasteur, a Sanofi Company / 1</a:t>
            </a:r>
          </a:p>
          <a:p xmlns:a="http://schemas.openxmlformats.org/drawingml/2006/main">
            <a:r>
              <a:t>Sanofi / 2021-25 / NCT05513391 / Sanofi Pasteur, a Sanofi Company / 0</a:t>
            </a:r>
          </a:p>
          <a:p xmlns:a="http://schemas.openxmlformats.org/drawingml/2006/main">
            <a:r>
              <a:t>Sanofi / 2021-25 / NCT05492578 / Sanofi / 1</a:t>
            </a:r>
          </a:p>
          <a:p xmlns:a="http://schemas.openxmlformats.org/drawingml/2006/main">
            <a:r>
              <a:t>Sanofi / 2021-25 / NCT07079670 / Sanofi / 0</a:t>
            </a:r>
          </a:p>
          <a:p xmlns:a="http://schemas.openxmlformats.org/drawingml/2006/main">
            <a:r>
              <a:t>Sanofi / 2021-25 / NCT06224348 / Sanofi / 0</a:t>
            </a:r>
          </a:p>
          <a:p xmlns:a="http://schemas.openxmlformats.org/drawingml/2006/main">
            <a:r>
              <a:t>Sanofi / 2021-25 / NCT06290141 / Sanofi / 0</a:t>
            </a:r>
          </a:p>
          <a:p xmlns:a="http://schemas.openxmlformats.org/drawingml/2006/main">
            <a:r>
              <a:t>Sanofi / 2021-25 / NCT05413369 / Sanofi / 0</a:t>
            </a:r>
          </a:p>
          <a:p xmlns:a="http://schemas.openxmlformats.org/drawingml/2006/main">
            <a:r>
              <a:t>Sanofi / 2021-25 / NCT06736041 / Sanofi Pasteur, a Sanofi Company / 0</a:t>
            </a:r>
          </a:p>
          <a:p xmlns:a="http://schemas.openxmlformats.org/drawingml/2006/main">
            <a:r>
              <a:t>Sanofi / 2021-25 / NCT04762680 / Sanofi Pasteur, a Sanofi Company / 0</a:t>
            </a:r>
          </a:p>
          <a:p xmlns:a="http://schemas.openxmlformats.org/drawingml/2006/main">
            <a:r>
              <a:t>Sanofi / 2021-25 / NCT06252285 / Sanofi Pasteur, a Sanofi Company / 0</a:t>
            </a:r>
          </a:p>
          <a:p xmlns:a="http://schemas.openxmlformats.org/drawingml/2006/main">
            <a:r>
              <a:t>Sanofi / 2021-25 / NCT07247188 / Sanofi / 0</a:t>
            </a:r>
          </a:p>
          <a:p xmlns:a="http://schemas.openxmlformats.org/drawingml/2006/main">
            <a:r>
              <a:t>Sanofi / 2021-25 / NCT04751487 / Sanofi / 1</a:t>
            </a:r>
          </a:p>
          <a:p xmlns:a="http://schemas.openxmlformats.org/drawingml/2006/main">
            <a:r>
              <a:t>Sanofi / 2021-25 / NCT05263206 / Sanofi / 0</a:t>
            </a:r>
          </a:p>
          <a:p xmlns:a="http://schemas.openxmlformats.org/drawingml/2006/main">
            <a:r>
              <a:t>Sanofi / 2021-25 / NCT06824194 / Sanofi / 0</a:t>
            </a:r>
          </a:p>
          <a:p xmlns:a="http://schemas.openxmlformats.org/drawingml/2006/main">
            <a:r>
              <a:t>Sanofi / 2021-25 / NCT04936685 / Sanofi Pasteur, a Sanofi Company / 0</a:t>
            </a:r>
          </a:p>
          <a:p xmlns:a="http://schemas.openxmlformats.org/drawingml/2006/main">
            <a:r>
              <a:t>Sanofi / 2021-25 / NCT06834347 / Sanofi / 0</a:t>
            </a:r>
          </a:p>
          <a:p xmlns:a="http://schemas.openxmlformats.org/drawingml/2006/main">
            <a:r>
              <a:t>Sanofi / 2021-25 / NCT05692154 / Opella Healthcare Group SAS, a Sanofi Company / 0</a:t>
            </a:r>
          </a:p>
          <a:p xmlns:a="http://schemas.openxmlformats.org/drawingml/2006/main">
            <a:r>
              <a:t>Sanofi / 2021-25 / NCT07088068 / Sanofi / 0</a:t>
            </a:r>
          </a:p>
          <a:p xmlns:a="http://schemas.openxmlformats.org/drawingml/2006/main">
            <a:r>
              <a:t>Sanofi / 2021-25 / NCT04759131 / Bioverativ, a Sanofi company / 0</a:t>
            </a:r>
          </a:p>
          <a:p xmlns:a="http://schemas.openxmlformats.org/drawingml/2006/main">
            <a:r>
              <a:t>Sanofi / 2021-25 / NCT06141473 / Sanofi / 1</a:t>
            </a:r>
          </a:p>
          <a:p xmlns:a="http://schemas.openxmlformats.org/drawingml/2006/main">
            <a:r>
              <a:t>Sanofi / 2021-25 / NCT05662319 / Sanofi / 1</a:t>
            </a:r>
          </a:p>
          <a:p xmlns:a="http://schemas.openxmlformats.org/drawingml/2006/main">
            <a:r>
              <a:t>Sanofi / 2021-25 / NCT07285460 / Sanofi / 1</a:t>
            </a:r>
          </a:p>
          <a:p xmlns:a="http://schemas.openxmlformats.org/drawingml/2006/main">
            <a:r>
              <a:t>Sanofi / 2021-25 / NCT06284915 / Sanofi Pasteur, a Sanofi Company / 0</a:t>
            </a:r>
          </a:p>
          <a:p xmlns:a="http://schemas.openxmlformats.org/drawingml/2006/main">
            <a:r>
              <a:t>Sanofi / 2021-25 / NCT07216079 / Sanofi / 0</a:t>
            </a:r>
          </a:p>
          <a:p xmlns:a="http://schemas.openxmlformats.org/drawingml/2006/main">
            <a:r>
              <a:t>Sanofi / 2021-25 / NCT06975878 / Sanofi / 0</a:t>
            </a:r>
          </a:p>
          <a:p xmlns:a="http://schemas.openxmlformats.org/drawingml/2006/main">
            <a:r>
              <a:t>Sanofi / 2021-25 / NCT06705140 / Sanofi Pasteur, a Sanofi Company / 0</a:t>
            </a:r>
          </a:p>
          <a:p xmlns:a="http://schemas.openxmlformats.org/drawingml/2006/main">
            <a:r>
              <a:t>Sanofi / 2021-25 / NCT07222059 / Sanofi Pasteur, a Sanofi Company / 0</a:t>
            </a:r>
          </a:p>
          <a:p xmlns:a="http://schemas.openxmlformats.org/drawingml/2006/main">
            <a:r>
              <a:t>Sanofi / 2021-25 / NCT07184931 / Sanofi / 0</a:t>
            </a:r>
          </a:p>
          <a:p xmlns:a="http://schemas.openxmlformats.org/drawingml/2006/main">
            <a:r>
              <a:t>Sanofi / 2021-25 / NCT05132569 / Sanofi / 0</a:t>
            </a:r>
          </a:p>
          <a:p xmlns:a="http://schemas.openxmlformats.org/drawingml/2006/main">
            <a:r>
              <a:t>Sanofi / 2021-25 / NCT06130566 / Sanofi / 1</a:t>
            </a:r>
          </a:p>
          <a:p xmlns:a="http://schemas.openxmlformats.org/drawingml/2006/main">
            <a:r>
              <a:t>Sanofi / 2021-25 / NCT07190222 / Sanofi / 0</a:t>
            </a:r>
          </a:p>
          <a:p xmlns:a="http://schemas.openxmlformats.org/drawingml/2006/main">
            <a:r>
              <a:t>Sanofi / 2021-25 / NCT06208306 / Sanofi / 1</a:t>
            </a:r>
          </a:p>
          <a:p xmlns:a="http://schemas.openxmlformats.org/drawingml/2006/main">
            <a:r>
              <a:t>Sanofi / 2021-25 / NCT06191315 / Sanofi / 0</a:t>
            </a:r>
          </a:p>
          <a:p xmlns:a="http://schemas.openxmlformats.org/drawingml/2006/main">
            <a:r>
              <a:t>Sanofi / 2021-25 / NCT05222906 / Sanofi / 0</a:t>
            </a:r>
          </a:p>
          <a:p xmlns:a="http://schemas.openxmlformats.org/drawingml/2006/main">
            <a:r>
              <a:t>Sanofi / 2021-25 / NCT06181435 / Sanofi / 0</a:t>
            </a:r>
          </a:p>
          <a:p xmlns:a="http://schemas.openxmlformats.org/drawingml/2006/main">
            <a:r>
              <a:t>Sanofi / 2021-25 / NCT07184944 / Sanofi / 0</a:t>
            </a:r>
          </a:p>
          <a:p xmlns:a="http://schemas.openxmlformats.org/drawingml/2006/main">
            <a:r>
              <a:t>Sanofi / 2021-25 / NCT06241118 / Sanofi / 0</a:t>
            </a:r>
          </a:p>
          <a:p xmlns:a="http://schemas.openxmlformats.org/drawingml/2006/main">
            <a:r>
              <a:t>Sanofi / 2021-25 / NCT06824181 / Sanofi / 0</a:t>
            </a:r>
          </a:p>
          <a:p xmlns:a="http://schemas.openxmlformats.org/drawingml/2006/main">
            <a:r>
              <a:t>Sanofi / 2021-25 / NCT05513053 / Sanofi Pasteur, a Sanofi Company / 0</a:t>
            </a:r>
          </a:p>
          <a:p xmlns:a="http://schemas.openxmlformats.org/drawingml/2006/main">
            <a:r>
              <a:t>Sanofi / 2021-25 / NCT06687967 / Sanofi / 0</a:t>
            </a:r>
          </a:p>
          <a:p xmlns:a="http://schemas.openxmlformats.org/drawingml/2006/main">
            <a:r>
              <a:t>Sanofi / 2021-25 / NCT06082037 / Sanofi / 0</a:t>
            </a:r>
          </a:p>
          <a:p xmlns:a="http://schemas.openxmlformats.org/drawingml/2006/main">
            <a:r>
              <a:t>Sanofi / 2021-25 / NCT05144945 / Sanofi Pasteur, a Sanofi Company / 0</a:t>
            </a:r>
          </a:p>
          <a:p xmlns:a="http://schemas.openxmlformats.org/drawingml/2006/main">
            <a:r>
              <a:t>Sanofi / 2021-25 / NCT06838000 / Sanofi Pasteur, a Sanofi Company / 0</a:t>
            </a:r>
          </a:p>
          <a:p xmlns:a="http://schemas.openxmlformats.org/drawingml/2006/main">
            <a:r>
              <a:t>Sanofi / 2021-25 / NCT07190209 / Sanofi / 0</a:t>
            </a:r>
          </a:p>
          <a:p xmlns:a="http://schemas.openxmlformats.org/drawingml/2006/main">
            <a:r>
              <a:t>Sanofi / 2021-25 / NCT06290128 / Sanofi / 0</a:t>
            </a:r>
          </a:p>
          <a:p xmlns:a="http://schemas.openxmlformats.org/drawingml/2006/main">
            <a:r>
              <a:t>Sanofi / 2021-25 / NCT06407934 / Sanofi / 1</a:t>
            </a:r>
          </a:p>
          <a:p xmlns:a="http://schemas.openxmlformats.org/drawingml/2006/main">
            <a:r>
              <a:t>Sanofi / 2021-25 / NCT07103148 / Sanofi / 0</a:t>
            </a:r>
          </a:p>
          <a:p xmlns:a="http://schemas.openxmlformats.org/drawingml/2006/main">
            <a:r>
              <a:t>Sanofi / 2021-25 / NCT07190196 / Sanofi / 0</a:t>
            </a:r>
          </a:p>
          <a:p xmlns:a="http://schemas.openxmlformats.org/drawingml/2006/main">
            <a:r>
              <a:t>Sanofi / 2021-25 / NCT05280548 / Sanofi / 0</a:t>
            </a:r>
          </a:p>
          <a:p xmlns:a="http://schemas.openxmlformats.org/drawingml/2006/main">
            <a:r>
              <a:t>Sanofi / 2021-25 / NCT07007962 / Sanofi / 0</a:t>
            </a:r>
          </a:p>
          <a:p xmlns:a="http://schemas.openxmlformats.org/drawingml/2006/main">
            <a:r>
              <a:t>Sanofi / 2021-25 / NCT06228586 / Sanofi Pasteur, a Sanofi Company / 0</a:t>
            </a:r>
          </a:p>
          <a:p xmlns:a="http://schemas.openxmlformats.org/drawingml/2006/main">
            <a:r>
              <a:t>Sanofi / 2021-25 / NCT05526521 / Sanofi / 0</a:t>
            </a:r>
          </a:p>
          <a:p xmlns:a="http://schemas.openxmlformats.org/drawingml/2006/main">
            <a:r>
              <a:t>Sanofi / 2021-25 / NCT05468320 / Sanofi / 0</a:t>
            </a:r>
          </a:p>
          <a:p xmlns:a="http://schemas.openxmlformats.org/drawingml/2006/main">
            <a:r>
              <a:t>Sanofi / 2021-25 / NCT07185009 / Sanofi / 0</a:t>
            </a:r>
          </a:p>
          <a:p xmlns:a="http://schemas.openxmlformats.org/drawingml/2006/main">
            <a:r>
              <a:t>Sanofi / 2021-25 / NCT05206773 / Sanofi / 0</a:t>
            </a:r>
          </a:p>
          <a:p xmlns:a="http://schemas.openxmlformats.org/drawingml/2006/main">
            <a:r>
              <a:t>Sanofi / 2021-25 / NCT06975865 / Sanofi / 0</a:t>
            </a:r>
          </a:p>
          <a:p xmlns:a="http://schemas.openxmlformats.org/drawingml/2006/main">
            <a:r>
              <a:t>Roche / 2015-19 / NCT02394028 / Hoffmann-La Roche / 0</a:t>
            </a:r>
          </a:p>
          <a:p xmlns:a="http://schemas.openxmlformats.org/drawingml/2006/main">
            <a:r>
              <a:t>Roche / 2015-19 / NCT03761849 / Hoffmann-La Roche / 0</a:t>
            </a:r>
          </a:p>
          <a:p xmlns:a="http://schemas.openxmlformats.org/drawingml/2006/main">
            <a:r>
              <a:t>Roche / 2015-19 / NCT04102098 / Hoffmann-La Roche / 0</a:t>
            </a:r>
          </a:p>
          <a:p xmlns:a="http://schemas.openxmlformats.org/drawingml/2006/main">
            <a:r>
              <a:t>Roche / 2015-19 / NCT02698566 / Genentech, Inc. / 0</a:t>
            </a:r>
          </a:p>
          <a:p xmlns:a="http://schemas.openxmlformats.org/drawingml/2006/main">
            <a:r>
              <a:t>Roche / 2015-19 / NCT02745119 / Hoffmann-La Roche / 0</a:t>
            </a:r>
          </a:p>
          <a:p xmlns:a="http://schemas.openxmlformats.org/drawingml/2006/main">
            <a:r>
              <a:t>Roche / 2015-19 / NCT03684044 / Hoffmann-La Roche / 0</a:t>
            </a:r>
          </a:p>
          <a:p xmlns:a="http://schemas.openxmlformats.org/drawingml/2006/main">
            <a:r>
              <a:t>Roche / 2015-19 / NCT03085810 / Hoffmann-La Roche / 0</a:t>
            </a:r>
          </a:p>
          <a:p xmlns:a="http://schemas.openxmlformats.org/drawingml/2006/main">
            <a:r>
              <a:t>Roche / 2015-19 / NCT03726879 / Hoffmann-La Roche / 0</a:t>
            </a:r>
          </a:p>
          <a:p xmlns:a="http://schemas.openxmlformats.org/drawingml/2006/main">
            <a:r>
              <a:t>Roche / 2015-19 / NCT03148418 / Hoffmann-La Roche / 0</a:t>
            </a:r>
          </a:p>
          <a:p xmlns:a="http://schemas.openxmlformats.org/drawingml/2006/main">
            <a:r>
              <a:t>Roche / 2015-19 / NCT03922997 / Hoffmann-La Roche / 0</a:t>
            </a:r>
          </a:p>
          <a:p xmlns:a="http://schemas.openxmlformats.org/drawingml/2006/main">
            <a:r>
              <a:t>Roche / 2015-19 / NCT03020160 / Hoffmann-La Roche / 0</a:t>
            </a:r>
          </a:p>
          <a:p xmlns:a="http://schemas.openxmlformats.org/drawingml/2006/main">
            <a:r>
              <a:t>Roche / 2015-19 / NCT02762383 / Hoffmann-La Roche / 0</a:t>
            </a:r>
          </a:p>
          <a:p xmlns:a="http://schemas.openxmlformats.org/drawingml/2006/main">
            <a:r>
              <a:t>Roche / 2015-19 / NCT04177108 / Hoffmann-La Roche / 1</a:t>
            </a:r>
          </a:p>
          <a:p xmlns:a="http://schemas.openxmlformats.org/drawingml/2006/main">
            <a:r>
              <a:t>Roche / 2015-19 / NCT02340221 / Hoffmann-La Roche / 0</a:t>
            </a:r>
          </a:p>
          <a:p xmlns:a="http://schemas.openxmlformats.org/drawingml/2006/main">
            <a:r>
              <a:t>Roche / 2015-19 / NCT04158648 / Hoffmann-La Roche / 0</a:t>
            </a:r>
          </a:p>
          <a:p xmlns:a="http://schemas.openxmlformats.org/drawingml/2006/main">
            <a:r>
              <a:t>Roche / 2015-19 / NCT03125902 / Hoffmann-La Roche / 1</a:t>
            </a:r>
          </a:p>
          <a:p xmlns:a="http://schemas.openxmlformats.org/drawingml/2006/main">
            <a:r>
              <a:t>Roche / 2015-19 / NCT04148911 / Hoffmann-La Roche / 0</a:t>
            </a:r>
          </a:p>
          <a:p xmlns:a="http://schemas.openxmlformats.org/drawingml/2006/main">
            <a:r>
              <a:t>Roche / 2015-19 / NCT02406092 / Hoffmann-La Roche / 0</a:t>
            </a:r>
          </a:p>
          <a:p xmlns:a="http://schemas.openxmlformats.org/drawingml/2006/main">
            <a:r>
              <a:t>Roche / 2015-19 / NCT03653364 / Hoffmann-La Roche / 0</a:t>
            </a:r>
          </a:p>
          <a:p xmlns:a="http://schemas.openxmlformats.org/drawingml/2006/main">
            <a:r>
              <a:t>Roche / 2015-19 / NCT02420821 / Hoffmann-La Roche / 0</a:t>
            </a:r>
          </a:p>
          <a:p xmlns:a="http://schemas.openxmlformats.org/drawingml/2006/main">
            <a:r>
              <a:t>Roche / 2015-19 / NCT02791256 / Hoffmann-La Roche / 0</a:t>
            </a:r>
          </a:p>
          <a:p xmlns:a="http://schemas.openxmlformats.org/drawingml/2006/main">
            <a:r>
              <a:t>Roche / 2015-19 / NCT03491150 / Hoffmann-La Roche / 0</a:t>
            </a:r>
          </a:p>
          <a:p xmlns:a="http://schemas.openxmlformats.org/drawingml/2006/main">
            <a:r>
              <a:t>Roche / 2015-19 / NCT02861014 / Hoffmann-La Roche / 0</a:t>
            </a:r>
          </a:p>
          <a:p xmlns:a="http://schemas.openxmlformats.org/drawingml/2006/main">
            <a:r>
              <a:t>Roche / 2015-19 / NCT03016312 / Hoffmann-La Roche / 0</a:t>
            </a:r>
          </a:p>
          <a:p xmlns:a="http://schemas.openxmlformats.org/drawingml/2006/main">
            <a:r>
              <a:t>Roche / 2015-19 / NCT02694536 / Hoffmann-La Roche / 0</a:t>
            </a:r>
          </a:p>
          <a:p xmlns:a="http://schemas.openxmlformats.org/drawingml/2006/main">
            <a:r>
              <a:t>Roche / 2015-19 / NCT02795767 / Hoffmann-La Roche / 0</a:t>
            </a:r>
          </a:p>
          <a:p xmlns:a="http://schemas.openxmlformats.org/drawingml/2006/main">
            <a:r>
              <a:t>Roche / 2015-19 / NCT02403323 / Hoffmann-La Roche / 0</a:t>
            </a:r>
          </a:p>
          <a:p xmlns:a="http://schemas.openxmlformats.org/drawingml/2006/main">
            <a:r>
              <a:t>Roche / 2015-19 / NCT03197935 / Hoffmann-La Roche / 0</a:t>
            </a:r>
          </a:p>
          <a:p xmlns:a="http://schemas.openxmlformats.org/drawingml/2006/main">
            <a:r>
              <a:t>Roche / 2015-19 / NCT03498716 / Hoffmann-La Roche / 0</a:t>
            </a:r>
          </a:p>
          <a:p xmlns:a="http://schemas.openxmlformats.org/drawingml/2006/main">
            <a:r>
              <a:t>Roche / 2015-19 / NCT03635489 / Hoffmann-La Roche / 0</a:t>
            </a:r>
          </a:p>
          <a:p xmlns:a="http://schemas.openxmlformats.org/drawingml/2006/main">
            <a:r>
              <a:t>Roche / 2015-19 / NCT03178552 / Hoffmann-La Roche / 0</a:t>
            </a:r>
          </a:p>
          <a:p xmlns:a="http://schemas.openxmlformats.org/drawingml/2006/main">
            <a:r>
              <a:t>Roche / 2015-19 / NCT03493854 / Hoffmann-La Roche / 0</a:t>
            </a:r>
          </a:p>
          <a:p xmlns:a="http://schemas.openxmlformats.org/drawingml/2006/main">
            <a:r>
              <a:t>Roche / 2015-19 / NCT03155347 / Hoffmann-La Roche / 0</a:t>
            </a:r>
          </a:p>
          <a:p xmlns:a="http://schemas.openxmlformats.org/drawingml/2006/main">
            <a:r>
              <a:t>Roche / 2015-19 / NCT03072238 / Hoffmann-La Roche / 0</a:t>
            </a:r>
          </a:p>
          <a:p xmlns:a="http://schemas.openxmlformats.org/drawingml/2006/main">
            <a:r>
              <a:t>Roche / 2015-19 / NCT02546869 / Hoffmann-La Roche / 0</a:t>
            </a:r>
          </a:p>
          <a:p xmlns:a="http://schemas.openxmlformats.org/drawingml/2006/main">
            <a:r>
              <a:t>Roche / 2015-19 / NCT03024996 / Hoffmann-La Roche / 0</a:t>
            </a:r>
          </a:p>
          <a:p xmlns:a="http://schemas.openxmlformats.org/drawingml/2006/main">
            <a:r>
              <a:t>Roche / 2015-19 / NCT03280550 / Hoffmann-La Roche / 0</a:t>
            </a:r>
          </a:p>
          <a:p xmlns:a="http://schemas.openxmlformats.org/drawingml/2006/main">
            <a:r>
              <a:t>Roche / 2015-19 / NCT03785678 / Genentech, Inc. / 0</a:t>
            </a:r>
          </a:p>
          <a:p xmlns:a="http://schemas.openxmlformats.org/drawingml/2006/main">
            <a:r>
              <a:t>Roche / 2015-19 / NCT03456063 / Hoffmann-La Roche / 0</a:t>
            </a:r>
          </a:p>
          <a:p xmlns:a="http://schemas.openxmlformats.org/drawingml/2006/main">
            <a:r>
              <a:t>Roche / 2015-19 / NCT03504917 / Hoffmann-La Roche / 0</a:t>
            </a:r>
          </a:p>
          <a:p xmlns:a="http://schemas.openxmlformats.org/drawingml/2006/main">
            <a:r>
              <a:t>Roche / 2015-19 / NCT04194203 / Hoffmann-La Roche / 0</a:t>
            </a:r>
          </a:p>
          <a:p xmlns:a="http://schemas.openxmlformats.org/drawingml/2006/main">
            <a:r>
              <a:t>Roche / 2015-19 / NCT03599245 / Hoffmann-La Roche / 0</a:t>
            </a:r>
          </a:p>
          <a:p xmlns:a="http://schemas.openxmlformats.org/drawingml/2006/main">
            <a:r>
              <a:t>Roche / 2015-19 / NCT03683251 / Hoffmann-La Roche / 0</a:t>
            </a:r>
          </a:p>
          <a:p xmlns:a="http://schemas.openxmlformats.org/drawingml/2006/main">
            <a:r>
              <a:t>Roche / 2015-19 / NCT02622321 / Hoffmann-La Roche / 0</a:t>
            </a:r>
          </a:p>
          <a:p xmlns:a="http://schemas.openxmlformats.org/drawingml/2006/main">
            <a:r>
              <a:t>Roche / 2015-19 / NCT02847637 / Hoffmann-La Roche / 0</a:t>
            </a:r>
          </a:p>
          <a:p xmlns:a="http://schemas.openxmlformats.org/drawingml/2006/main">
            <a:r>
              <a:t>Roche / 2015-19 / NCT03434379 / Hoffmann-La Roche / 0</a:t>
            </a:r>
          </a:p>
          <a:p xmlns:a="http://schemas.openxmlformats.org/drawingml/2006/main">
            <a:r>
              <a:t>Roche / 2015-19 / NCT03315455 / Hoffmann-La Roche / 0</a:t>
            </a:r>
          </a:p>
          <a:p xmlns:a="http://schemas.openxmlformats.org/drawingml/2006/main">
            <a:r>
              <a:t>Roche / 2015-19 / NCT03523858 / Hoffmann-La Roche / 0</a:t>
            </a:r>
          </a:p>
          <a:p xmlns:a="http://schemas.openxmlformats.org/drawingml/2006/main">
            <a:r>
              <a:t>Roche / 2015-19 / NCT02732639 / Hoffmann-La Roche / 0</a:t>
            </a:r>
          </a:p>
          <a:p xmlns:a="http://schemas.openxmlformats.org/drawingml/2006/main">
            <a:r>
              <a:t>Roche / 2015-19 / NCT02670083 / Hoffmann-La Roche / 0</a:t>
            </a:r>
          </a:p>
          <a:p xmlns:a="http://schemas.openxmlformats.org/drawingml/2006/main">
            <a:r>
              <a:t>Roche / 2015-19 / NCT03280537 / Hoffmann-La Roche / 0</a:t>
            </a:r>
          </a:p>
          <a:p xmlns:a="http://schemas.openxmlformats.org/drawingml/2006/main">
            <a:r>
              <a:t>Roche / 2015-19 / NCT03038100 / Hoffmann-La Roche / 0</a:t>
            </a:r>
          </a:p>
          <a:p xmlns:a="http://schemas.openxmlformats.org/drawingml/2006/main">
            <a:r>
              <a:t>Roche / 2015-19 / NCT02545283 / Hoffmann-La Roche / 0</a:t>
            </a:r>
          </a:p>
          <a:p xmlns:a="http://schemas.openxmlformats.org/drawingml/2006/main">
            <a:r>
              <a:t>Roche / 2015-19 / NCT02721641 / Hoffmann-La Roche / 0</a:t>
            </a:r>
          </a:p>
          <a:p xmlns:a="http://schemas.openxmlformats.org/drawingml/2006/main">
            <a:r>
              <a:t>Roche / 2015-19 / NCT02409342 / Hoffmann-La Roche / 0</a:t>
            </a:r>
          </a:p>
          <a:p xmlns:a="http://schemas.openxmlformats.org/drawingml/2006/main">
            <a:r>
              <a:t>Roche / 2015-19 / NCT03606460 / Genentech, Inc. / 0</a:t>
            </a:r>
          </a:p>
          <a:p xmlns:a="http://schemas.openxmlformats.org/drawingml/2006/main">
            <a:r>
              <a:t>Roche / 2015-19 / NCT03191799 / Hoffmann-La Roche / 1</a:t>
            </a:r>
          </a:p>
          <a:p xmlns:a="http://schemas.openxmlformats.org/drawingml/2006/main">
            <a:r>
              <a:t>Roche / 2015-19 / NCT02453256 / Hoffmann-La Roche / 0</a:t>
            </a:r>
          </a:p>
          <a:p xmlns:a="http://schemas.openxmlformats.org/drawingml/2006/main">
            <a:r>
              <a:t>Roche / 2015-19 / NCT02763579 / Hoffmann-La Roche / 0</a:t>
            </a:r>
          </a:p>
          <a:p xmlns:a="http://schemas.openxmlformats.org/drawingml/2006/main">
            <a:r>
              <a:t>Roche / 2015-19 / NCT04108156 / Hoffmann-La Roche / 0</a:t>
            </a:r>
          </a:p>
          <a:p xmlns:a="http://schemas.openxmlformats.org/drawingml/2006/main">
            <a:r>
              <a:t>Roche / 2015-19 / NCT02604342 / Hoffmann-La Roche / 0</a:t>
            </a:r>
          </a:p>
          <a:p xmlns:a="http://schemas.openxmlformats.org/drawingml/2006/main">
            <a:r>
              <a:t>Roche / 2015-19 / NCT03622580 / Hoffmann-La Roche / 0</a:t>
            </a:r>
          </a:p>
          <a:p xmlns:a="http://schemas.openxmlformats.org/drawingml/2006/main">
            <a:r>
              <a:t>Roche / 2015-19 / NCT02586025 / Hoffmann-La Roche / 0</a:t>
            </a:r>
          </a:p>
          <a:p xmlns:a="http://schemas.openxmlformats.org/drawingml/2006/main">
            <a:r>
              <a:t>Roche / 2015-19 / NCT03842969 / Hoffmann-La Roche / 0</a:t>
            </a:r>
          </a:p>
          <a:p xmlns:a="http://schemas.openxmlformats.org/drawingml/2006/main">
            <a:r>
              <a:t>Roche / 2015-19 / NCT03202368 / Hoffmann-La Roche / 0</a:t>
            </a:r>
          </a:p>
          <a:p xmlns:a="http://schemas.openxmlformats.org/drawingml/2006/main">
            <a:r>
              <a:t>Roche / 2015-19 / NCT02788279 / Hoffmann-La Roche / 0</a:t>
            </a:r>
          </a:p>
          <a:p xmlns:a="http://schemas.openxmlformats.org/drawingml/2006/main">
            <a:r>
              <a:t>Roche / 2015-19 / NCT03337724 / Hoffmann-La Roche / 1</a:t>
            </a:r>
          </a:p>
          <a:p xmlns:a="http://schemas.openxmlformats.org/drawingml/2006/main">
            <a:r>
              <a:t>Roche / 2015-19 / NCT02813785 / Hoffmann-La Roche / 0</a:t>
            </a:r>
          </a:p>
          <a:p xmlns:a="http://schemas.openxmlformats.org/drawingml/2006/main">
            <a:r>
              <a:t>Roche / 2015-19 / NCT02488330 / Hoffmann-La Roche / 0</a:t>
            </a:r>
          </a:p>
          <a:p xmlns:a="http://schemas.openxmlformats.org/drawingml/2006/main">
            <a:r>
              <a:t>Roche / 2015-19 / NCT03194893 / Hoffmann-La Roche / 0</a:t>
            </a:r>
          </a:p>
          <a:p xmlns:a="http://schemas.openxmlformats.org/drawingml/2006/main">
            <a:r>
              <a:t>Roche / 2015-19 / NCT02806505 / Hoffmann-La Roche / 0</a:t>
            </a:r>
          </a:p>
          <a:p xmlns:a="http://schemas.openxmlformats.org/drawingml/2006/main">
            <a:r>
              <a:t>Roche / 2015-19 / NCT03084939 / Hoffmann-La Roche / 0</a:t>
            </a:r>
          </a:p>
          <a:p xmlns:a="http://schemas.openxmlformats.org/drawingml/2006/main">
            <a:r>
              <a:t>Roche / 2015-19 / NCT03969212 / Hoffmann-La Roche / 1</a:t>
            </a:r>
          </a:p>
          <a:p xmlns:a="http://schemas.openxmlformats.org/drawingml/2006/main">
            <a:r>
              <a:t>Roche / 2015-19 / NCT03478930 / Hoffmann-La Roche / 0</a:t>
            </a:r>
          </a:p>
          <a:p xmlns:a="http://schemas.openxmlformats.org/drawingml/2006/main">
            <a:r>
              <a:t>Roche / 2015-19 / NCT03273153 / Hoffmann-La Roche / 0</a:t>
            </a:r>
          </a:p>
          <a:p xmlns:a="http://schemas.openxmlformats.org/drawingml/2006/main">
            <a:r>
              <a:t>Roche / 2015-19 / NCT02402712 / Hoffmann-La Roche / 0</a:t>
            </a:r>
          </a:p>
          <a:p xmlns:a="http://schemas.openxmlformats.org/drawingml/2006/main">
            <a:r>
              <a:t>Roche / 2015-19 / NCT03208933 / Hoffmann-La Roche / 0</a:t>
            </a:r>
          </a:p>
          <a:p xmlns:a="http://schemas.openxmlformats.org/drawingml/2006/main">
            <a:r>
              <a:t>Roche / 2015-19 / NCT02563054 / Hoffmann-La Roche / 0</a:t>
            </a:r>
          </a:p>
          <a:p xmlns:a="http://schemas.openxmlformats.org/drawingml/2006/main">
            <a:r>
              <a:t>Roche / 2015-19 / NCT02688985 / Genentech, Inc. / 0</a:t>
            </a:r>
          </a:p>
          <a:p xmlns:a="http://schemas.openxmlformats.org/drawingml/2006/main">
            <a:r>
              <a:t>Roche / 2015-19 / NCT02486718 / Hoffmann-La Roche / 0</a:t>
            </a:r>
          </a:p>
          <a:p xmlns:a="http://schemas.openxmlformats.org/drawingml/2006/main">
            <a:r>
              <a:t>Roche / 2015-19 / NCT03371017 / Hoffmann-La Roche / 0</a:t>
            </a:r>
          </a:p>
          <a:p xmlns:a="http://schemas.openxmlformats.org/drawingml/2006/main">
            <a:r>
              <a:t>Roche / 2015-19 / NCT02367794 / Hoffmann-La Roche / 0</a:t>
            </a:r>
          </a:p>
          <a:p xmlns:a="http://schemas.openxmlformats.org/drawingml/2006/main">
            <a:r>
              <a:t>Roche / 2015-19 / NCT02450331 / Hoffmann-La Roche / 0</a:t>
            </a:r>
          </a:p>
          <a:p xmlns:a="http://schemas.openxmlformats.org/drawingml/2006/main">
            <a:r>
              <a:t>Roche / 2015-19 / NCT03114657 / Hoffmann-La Roche / 0</a:t>
            </a:r>
          </a:p>
          <a:p xmlns:a="http://schemas.openxmlformats.org/drawingml/2006/main">
            <a:r>
              <a:t>Roche / 2015-19 / NCT02838420 / Hoffmann-La Roche / 0</a:t>
            </a:r>
          </a:p>
          <a:p xmlns:a="http://schemas.openxmlformats.org/drawingml/2006/main">
            <a:r>
              <a:t>Roche / 2015-19 / NCT03456076 / Hoffmann-La Roche / 0</a:t>
            </a:r>
          </a:p>
          <a:p xmlns:a="http://schemas.openxmlformats.org/drawingml/2006/main">
            <a:r>
              <a:t>Roche / 2015-19 / NCT04028050 / Hoffmann-La Roche / 0</a:t>
            </a:r>
          </a:p>
          <a:p xmlns:a="http://schemas.openxmlformats.org/drawingml/2006/main">
            <a:r>
              <a:t>Roche / 2015-19 / NCT02569996 / Hoffmann-La Roche / 0</a:t>
            </a:r>
          </a:p>
          <a:p xmlns:a="http://schemas.openxmlformats.org/drawingml/2006/main">
            <a:r>
              <a:t>Roche / 2015-19 / NCT02367781 / Hoffmann-La Roche / 0</a:t>
            </a:r>
          </a:p>
          <a:p xmlns:a="http://schemas.openxmlformats.org/drawingml/2006/main">
            <a:r>
              <a:t>Roche / 2015-19 / NCT03444870 / Hoffmann-La Roche / 0</a:t>
            </a:r>
          </a:p>
          <a:p xmlns:a="http://schemas.openxmlformats.org/drawingml/2006/main">
            <a:r>
              <a:t>Roche / 2015-19 / NCT02637856 / Genentech, Inc. / 0</a:t>
            </a:r>
          </a:p>
          <a:p xmlns:a="http://schemas.openxmlformats.org/drawingml/2006/main">
            <a:r>
              <a:t>Roche / 2015-19 / NCT03629184 / Hoffmann-La Roche / 0</a:t>
            </a:r>
          </a:p>
          <a:p xmlns:a="http://schemas.openxmlformats.org/drawingml/2006/main">
            <a:r>
              <a:t>Roche / 2015-19 / NCT02928406 / Hoffmann-La Roche / 1</a:t>
            </a:r>
          </a:p>
          <a:p xmlns:a="http://schemas.openxmlformats.org/drawingml/2006/main">
            <a:r>
              <a:t>Roche / 2015-19 / NCT03768063 / Hoffmann-La Roche / 0</a:t>
            </a:r>
          </a:p>
          <a:p xmlns:a="http://schemas.openxmlformats.org/drawingml/2006/main">
            <a:r>
              <a:t>Roche / 2015-19 / NCT02739594 / Hoffmann-La Roche / 0</a:t>
            </a:r>
          </a:p>
          <a:p xmlns:a="http://schemas.openxmlformats.org/drawingml/2006/main">
            <a:r>
              <a:t>Roche / 2015-19 / NCT02716792 / Hoffmann-La Roche / 0</a:t>
            </a:r>
          </a:p>
          <a:p xmlns:a="http://schemas.openxmlformats.org/drawingml/2006/main">
            <a:r>
              <a:t>Roche / 2015-19 / NCT02383589 / Hoffmann-La Roche / 0</a:t>
            </a:r>
          </a:p>
          <a:p xmlns:a="http://schemas.openxmlformats.org/drawingml/2006/main">
            <a:r>
              <a:t>Roche / 2015-19 / NCT02561039 / Hoffmann-La Roche / 0</a:t>
            </a:r>
          </a:p>
          <a:p xmlns:a="http://schemas.openxmlformats.org/drawingml/2006/main">
            <a:r>
              <a:t>Roche / 2015-19 / NCT02736721 / Hoffmann-La Roche / 0</a:t>
            </a:r>
          </a:p>
          <a:p xmlns:a="http://schemas.openxmlformats.org/drawingml/2006/main">
            <a:r>
              <a:t>Roche / 2015-19 / NCT04191499 / Hoffmann-La Roche / 0</a:t>
            </a:r>
          </a:p>
          <a:p xmlns:a="http://schemas.openxmlformats.org/drawingml/2006/main">
            <a:r>
              <a:t>Roche / 2015-19 / NCT03823287 / Hoffmann-La Roche / 0</a:t>
            </a:r>
          </a:p>
          <a:p xmlns:a="http://schemas.openxmlformats.org/drawingml/2006/main">
            <a:r>
              <a:t>Roche / 2015-19 / NCT02366143 / Hoffmann-La Roche / 0</a:t>
            </a:r>
          </a:p>
          <a:p xmlns:a="http://schemas.openxmlformats.org/drawingml/2006/main">
            <a:r>
              <a:t>Roche / 2015-19 / NCT03191786 / Hoffmann-La Roche / 1</a:t>
            </a:r>
          </a:p>
          <a:p xmlns:a="http://schemas.openxmlformats.org/drawingml/2006/main">
            <a:r>
              <a:t>Roche / 2015-19 / NCT02545868 / Hoffmann-La Roche / 0</a:t>
            </a:r>
          </a:p>
          <a:p xmlns:a="http://schemas.openxmlformats.org/drawingml/2006/main">
            <a:r>
              <a:t>Roche / 2015-19 / NCT02560974 / Hoffmann-La Roche / 0</a:t>
            </a:r>
          </a:p>
          <a:p xmlns:a="http://schemas.openxmlformats.org/drawingml/2006/main">
            <a:r>
              <a:t>Roche / 2015-19 / NCT02767765 / Hoffmann-La Roche / 0</a:t>
            </a:r>
          </a:p>
          <a:p xmlns:a="http://schemas.openxmlformats.org/drawingml/2006/main">
            <a:r>
              <a:t>Roche / 2015-19 / NCT02827266 / Hoffmann-La Roche / 0</a:t>
            </a:r>
          </a:p>
          <a:p xmlns:a="http://schemas.openxmlformats.org/drawingml/2006/main">
            <a:r>
              <a:t>Roche / 2015-19 / NCT02733419 / Hoffmann-La Roche / 0</a:t>
            </a:r>
          </a:p>
          <a:p xmlns:a="http://schemas.openxmlformats.org/drawingml/2006/main">
            <a:r>
              <a:t>Roche / 2015-19 / NCT02409355 / Hoffmann-La Roche / 0</a:t>
            </a:r>
          </a:p>
          <a:p xmlns:a="http://schemas.openxmlformats.org/drawingml/2006/main">
            <a:r>
              <a:t>Roche / 2015-19 / NCT04182204 / Hoffmann-La Roche / 1</a:t>
            </a:r>
          </a:p>
          <a:p xmlns:a="http://schemas.openxmlformats.org/drawingml/2006/main">
            <a:r>
              <a:t>Roche / 2015-19 / NCT03823300 / Hoffmann-La Roche / 0</a:t>
            </a:r>
          </a:p>
          <a:p xmlns:a="http://schemas.openxmlformats.org/drawingml/2006/main">
            <a:r>
              <a:t>Roche / 2015-19 / NCT03677934 / Hoffmann-La Roche / 0</a:t>
            </a:r>
          </a:p>
          <a:p xmlns:a="http://schemas.openxmlformats.org/drawingml/2006/main">
            <a:r>
              <a:t>Roche / 2015-19 / NCT03693573 / Hoffmann-La Roche / 0</a:t>
            </a:r>
          </a:p>
          <a:p xmlns:a="http://schemas.openxmlformats.org/drawingml/2006/main">
            <a:r>
              <a:t>Roche / 2015-19 / NCT03735121 / Hoffmann-La Roche / 0</a:t>
            </a:r>
          </a:p>
          <a:p xmlns:a="http://schemas.openxmlformats.org/drawingml/2006/main">
            <a:r>
              <a:t>Roche / 2015-19 / NCT02896855 / Hoffmann-La Roche / 0</a:t>
            </a:r>
          </a:p>
          <a:p xmlns:a="http://schemas.openxmlformats.org/drawingml/2006/main">
            <a:r>
              <a:t>Roche / 2015-19 / NCT03039686 / Hoffmann-La Roche / 0</a:t>
            </a:r>
          </a:p>
          <a:p xmlns:a="http://schemas.openxmlformats.org/drawingml/2006/main">
            <a:r>
              <a:t>Roche / 2015-19 / NCT03443973 / Hoffmann-La Roche / 0</a:t>
            </a:r>
          </a:p>
          <a:p xmlns:a="http://schemas.openxmlformats.org/drawingml/2006/main">
            <a:r>
              <a:t>Roche / 2015-19 / NCT04024462 / Hoffmann-La Roche / 0</a:t>
            </a:r>
          </a:p>
          <a:p xmlns:a="http://schemas.openxmlformats.org/drawingml/2006/main">
            <a:r>
              <a:t>Roche / 2015-19 / NCT04035005 / Hoffmann-La Roche / 0</a:t>
            </a:r>
          </a:p>
          <a:p xmlns:a="http://schemas.openxmlformats.org/drawingml/2006/main">
            <a:r>
              <a:t>Roche / 2015-19 / NCT02425891 / Hoffmann-La Roche / 0</a:t>
            </a:r>
          </a:p>
          <a:p xmlns:a="http://schemas.openxmlformats.org/drawingml/2006/main">
            <a:r>
              <a:t>Roche / 2015-19 / NCT03622593 / Hoffmann-La Roche / 0</a:t>
            </a:r>
          </a:p>
          <a:p xmlns:a="http://schemas.openxmlformats.org/drawingml/2006/main">
            <a:r>
              <a:t>Roche / 2015-19 / NCT02686619 / Hoffmann-La Roche / 0</a:t>
            </a:r>
          </a:p>
          <a:p xmlns:a="http://schemas.openxmlformats.org/drawingml/2006/main">
            <a:r>
              <a:t>Roche / 2015-19 / NCT02657434 / Hoffmann-La Roche / 0</a:t>
            </a:r>
          </a:p>
          <a:p xmlns:a="http://schemas.openxmlformats.org/drawingml/2006/main">
            <a:r>
              <a:t>Roche / 2015-19 / NCT02829775 / Hoffmann-La Roche / 1</a:t>
            </a:r>
          </a:p>
          <a:p xmlns:a="http://schemas.openxmlformats.org/drawingml/2006/main">
            <a:r>
              <a:t>Roche / 2015-19 / NCT02807636 / Hoffmann-La Roche / 0</a:t>
            </a:r>
          </a:p>
          <a:p xmlns:a="http://schemas.openxmlformats.org/drawingml/2006/main">
            <a:r>
              <a:t>Roche / 2015-19 / NCT03274492 / Hoffmann-La Roche / 0</a:t>
            </a:r>
          </a:p>
          <a:p xmlns:a="http://schemas.openxmlformats.org/drawingml/2006/main">
            <a:r>
              <a:t>Roche / 2015-19 / NCT03452137 / Hoffmann-La Roche / 1</a:t>
            </a:r>
          </a:p>
          <a:p xmlns:a="http://schemas.openxmlformats.org/drawingml/2006/main">
            <a:r>
              <a:t>Roche / 2015-19 / NCT02908672 / Hoffmann-La Roche / 0</a:t>
            </a:r>
          </a:p>
          <a:p xmlns:a="http://schemas.openxmlformats.org/drawingml/2006/main">
            <a:r>
              <a:t>Roche / 2021-25 / NCT04740931 / Hoffmann-La Roche / 0</a:t>
            </a:r>
          </a:p>
          <a:p xmlns:a="http://schemas.openxmlformats.org/drawingml/2006/main">
            <a:r>
              <a:t>Roche / 2021-25 / NCT06094010 / Hoffmann-La Roche / 0</a:t>
            </a:r>
          </a:p>
          <a:p xmlns:a="http://schemas.openxmlformats.org/drawingml/2006/main">
            <a:r>
              <a:t>Roche / 2021-25 / NCT06106828 / Hoffmann-La Roche / 0</a:t>
            </a:r>
          </a:p>
          <a:p xmlns:a="http://schemas.openxmlformats.org/drawingml/2006/main">
            <a:r>
              <a:t>Roche / 2021-25 / NCT07169578 / Hoffmann-La Roche / 0</a:t>
            </a:r>
          </a:p>
          <a:p xmlns:a="http://schemas.openxmlformats.org/drawingml/2006/main">
            <a:r>
              <a:t>Roche / 2021-25 / NCT07174310 / Hoffmann-La Roche / 0</a:t>
            </a:r>
          </a:p>
          <a:p xmlns:a="http://schemas.openxmlformats.org/drawingml/2006/main">
            <a:r>
              <a:t>Roche / 2021-25 / NCT04712643 / Hoffmann-La Roche / 0</a:t>
            </a:r>
          </a:p>
          <a:p xmlns:a="http://schemas.openxmlformats.org/drawingml/2006/main">
            <a:r>
              <a:t>Roche / 2021-25 / NCT06267001 / Hoffmann-La Roche / 0</a:t>
            </a:r>
          </a:p>
          <a:p xmlns:a="http://schemas.openxmlformats.org/drawingml/2006/main">
            <a:r>
              <a:t>Roche / 2021-25 / NCT06819878 / Hoffmann-La Roche / 1</a:t>
            </a:r>
          </a:p>
          <a:p xmlns:a="http://schemas.openxmlformats.org/drawingml/2006/main">
            <a:r>
              <a:t>Roche / 2021-25 / NCT05047250 / Hoffmann-La Roche / 0</a:t>
            </a:r>
          </a:p>
          <a:p xmlns:a="http://schemas.openxmlformats.org/drawingml/2006/main">
            <a:r>
              <a:t>Roche / 2021-25 / NCT06065748 / Hoffmann-La Roche / 1</a:t>
            </a:r>
          </a:p>
          <a:p xmlns:a="http://schemas.openxmlformats.org/drawingml/2006/main">
            <a:r>
              <a:t>Roche / 2021-25 / NCT05171647 / Hoffmann-La Roche / 0</a:t>
            </a:r>
          </a:p>
          <a:p xmlns:a="http://schemas.openxmlformats.org/drawingml/2006/main">
            <a:r>
              <a:t>Roche / 2021-25 / NCT05271409 / Hoffmann-La Roche / 0</a:t>
            </a:r>
          </a:p>
          <a:p xmlns:a="http://schemas.openxmlformats.org/drawingml/2006/main">
            <a:r>
              <a:t>Roche / 2021-25 / NCT05415215 / Hoffmann-La Roche / 1</a:t>
            </a:r>
          </a:p>
          <a:p xmlns:a="http://schemas.openxmlformats.org/drawingml/2006/main">
            <a:r>
              <a:t>Roche / 2021-25 / NCT05878769 / Hoffmann-La Roche / 1</a:t>
            </a:r>
          </a:p>
          <a:p xmlns:a="http://schemas.openxmlformats.org/drawingml/2006/main">
            <a:r>
              <a:t>Roche / 2021-25 / NCT06589986 / Hoffmann-La Roche / 1</a:t>
            </a:r>
          </a:p>
          <a:p xmlns:a="http://schemas.openxmlformats.org/drawingml/2006/main">
            <a:r>
              <a:t>Roche / 2021-25 / NCT06497556 / Hoffmann-La Roche / 0</a:t>
            </a:r>
          </a:p>
          <a:p xmlns:a="http://schemas.openxmlformats.org/drawingml/2006/main">
            <a:r>
              <a:t>Roche / 2021-25 / NCT04712097 / Hoffmann-La Roche / 0</a:t>
            </a:r>
          </a:p>
          <a:p xmlns:a="http://schemas.openxmlformats.org/drawingml/2006/main">
            <a:r>
              <a:t>Roche / 2021-25 / NCT05269004 / Hoffmann-La Roche / 0</a:t>
            </a:r>
          </a:p>
          <a:p xmlns:a="http://schemas.openxmlformats.org/drawingml/2006/main">
            <a:r>
              <a:t>Roche / 2021-25 / NCT05562947 / Hoffmann-La Roche / 0</a:t>
            </a:r>
          </a:p>
          <a:p xmlns:a="http://schemas.openxmlformats.org/drawingml/2006/main">
            <a:r>
              <a:t>Roche / 2021-25 / NCT06847542 / Hoffmann-La Roche / 0</a:t>
            </a:r>
          </a:p>
          <a:p xmlns:a="http://schemas.openxmlformats.org/drawingml/2006/main">
            <a:r>
              <a:t>Roche / 2021-25 / NCT04740918 / Hoffmann-La Roche / 0</a:t>
            </a:r>
          </a:p>
          <a:p xmlns:a="http://schemas.openxmlformats.org/drawingml/2006/main">
            <a:r>
              <a:t>Roche / 2021-25 / NCT04963296 / Hoffmann-La Roche / 0</a:t>
            </a:r>
          </a:p>
          <a:p xmlns:a="http://schemas.openxmlformats.org/drawingml/2006/main">
            <a:r>
              <a:t>Roche / 2021-25 / NCT05232825 / Hoffmann-La Roche / 0</a:t>
            </a:r>
          </a:p>
          <a:p xmlns:a="http://schemas.openxmlformats.org/drawingml/2006/main">
            <a:r>
              <a:t>Roche / 2021-25 / NCT04961996 / Hoffmann-La Roche / 1</a:t>
            </a:r>
          </a:p>
          <a:p xmlns:a="http://schemas.openxmlformats.org/drawingml/2006/main">
            <a:r>
              <a:t>Roche / 2021-25 / NCT06793215 / Hoffmann-La Roche / 0</a:t>
            </a:r>
          </a:p>
          <a:p xmlns:a="http://schemas.openxmlformats.org/drawingml/2006/main">
            <a:r>
              <a:t>Roche / 2021-25 / NCT05642325 / Hoffmann-La Roche / 1</a:t>
            </a:r>
          </a:p>
          <a:p xmlns:a="http://schemas.openxmlformats.org/drawingml/2006/main">
            <a:r>
              <a:t>Roche / 2021-25 / NCT06774859 / Hoffmann-La Roche / 0</a:t>
            </a:r>
          </a:p>
          <a:p xmlns:a="http://schemas.openxmlformats.org/drawingml/2006/main">
            <a:r>
              <a:t>Roche / 2021-25 / NCT04958265 / Hoffmann-La Roche / 1</a:t>
            </a:r>
          </a:p>
          <a:p xmlns:a="http://schemas.openxmlformats.org/drawingml/2006/main">
            <a:r>
              <a:t>Roche / 2021-25 / NCT05503264 / Hoffmann-La Roche / 0</a:t>
            </a:r>
          </a:p>
          <a:p xmlns:a="http://schemas.openxmlformats.org/drawingml/2006/main">
            <a:r>
              <a:t>Roche / 2021-25 / NCT05199688 / Hoffmann-La Roche / 0</a:t>
            </a:r>
          </a:p>
          <a:p xmlns:a="http://schemas.openxmlformats.org/drawingml/2006/main">
            <a:r>
              <a:t>Roche / 2021-25 / NCT04732286 / Hoffmann-La Roche / 0</a:t>
            </a:r>
          </a:p>
          <a:p xmlns:a="http://schemas.openxmlformats.org/drawingml/2006/main">
            <a:r>
              <a:t>Roche / 2021-25 / NCT06624059 / Hoffmann-La Roche / 0</a:t>
            </a:r>
          </a:p>
          <a:p xmlns:a="http://schemas.openxmlformats.org/drawingml/2006/main">
            <a:r>
              <a:t>Roche / 2021-25 / NCT04873362 / Hoffmann-La Roche / 1</a:t>
            </a:r>
          </a:p>
          <a:p xmlns:a="http://schemas.openxmlformats.org/drawingml/2006/main">
            <a:r>
              <a:t>Roche / 2021-25 / NCT05904886 / Hoffmann-La Roche / 0</a:t>
            </a:r>
          </a:p>
          <a:p xmlns:a="http://schemas.openxmlformats.org/drawingml/2006/main">
            <a:r>
              <a:t>Roche / 2021-25 / NCT05646862 / Hoffmann-La Roche / 0</a:t>
            </a:r>
          </a:p>
          <a:p xmlns:a="http://schemas.openxmlformats.org/drawingml/2006/main">
            <a:r>
              <a:t>Roche / 2021-25 / NCT06675955 / Hoffmann-La Roche / 0</a:t>
            </a:r>
          </a:p>
          <a:p xmlns:a="http://schemas.openxmlformats.org/drawingml/2006/main">
            <a:r>
              <a:t>Roche / 2021-25 / NCT06588855 / Hoffmann-La Roche / 1</a:t>
            </a:r>
          </a:p>
          <a:p xmlns:a="http://schemas.openxmlformats.org/drawingml/2006/main">
            <a:r>
              <a:t>Roche / 2021-25 / NCT05862285 / Hoffmann-La Roche / 0</a:t>
            </a:r>
          </a:p>
          <a:p xmlns:a="http://schemas.openxmlformats.org/drawingml/2006/main">
            <a:r>
              <a:t>Roche / 2021-25 / NCT05797610 / Hoffmann-La Roche / 0</a:t>
            </a:r>
          </a:p>
          <a:p xmlns:a="http://schemas.openxmlformats.org/drawingml/2006/main">
            <a:r>
              <a:t>Roche / 2021-25 / NCT05170204 / Hoffmann-La Roche / 0</a:t>
            </a:r>
          </a:p>
          <a:p xmlns:a="http://schemas.openxmlformats.org/drawingml/2006/main">
            <a:r>
              <a:t>Roche / 2021-25 / NCT05115110 / Hoffmann-La Roche / 0</a:t>
            </a:r>
          </a:p>
          <a:p xmlns:a="http://schemas.openxmlformats.org/drawingml/2006/main">
            <a:r>
              <a:t>Roche / 2021-25 / NCT06084936 / Hoffmann-La Roche / 0</a:t>
            </a:r>
          </a:p>
          <a:p xmlns:a="http://schemas.openxmlformats.org/drawingml/2006/main">
            <a:r>
              <a:t>Roche / 2021-25 / NCT06176352 / Hoffmann-La Roche / 0</a:t>
            </a:r>
          </a:p>
          <a:p xmlns:a="http://schemas.openxmlformats.org/drawingml/2006/main">
            <a:r>
              <a:t>Roche / 2021-25 / NCT05091567 / Hoffmann-La Roche / 0</a:t>
            </a:r>
          </a:p>
          <a:p xmlns:a="http://schemas.openxmlformats.org/drawingml/2006/main">
            <a:r>
              <a:t>Roche / 2021-25 / NCT05256134 / Hoffmann-La Roche / 0</a:t>
            </a:r>
          </a:p>
          <a:p xmlns:a="http://schemas.openxmlformats.org/drawingml/2006/main">
            <a:r>
              <a:t>Roche / 2021-25 / NCT05694013 / Hoffmann-La Roche / 0</a:t>
            </a:r>
          </a:p>
          <a:p xmlns:a="http://schemas.openxmlformats.org/drawingml/2006/main">
            <a:r>
              <a:t>Roche / 2021-25 / NCT04889040 / Hoffmann-La Roche / 0</a:t>
            </a:r>
          </a:p>
          <a:p xmlns:a="http://schemas.openxmlformats.org/drawingml/2006/main">
            <a:r>
              <a:t>Roche / 2021-25 / NCT06819891 / Hoffmann-La Roche / 1</a:t>
            </a:r>
          </a:p>
          <a:p xmlns:a="http://schemas.openxmlformats.org/drawingml/2006/main">
            <a:r>
              <a:t>Roche / 2021-25 / NCT04760288 / Hoffmann-La Roche / 0</a:t>
            </a:r>
          </a:p>
          <a:p xmlns:a="http://schemas.openxmlformats.org/drawingml/2006/main">
            <a:r>
              <a:t>Roche / 2021-25 / NCT05494619 / Hoffmann-La Roche / 0</a:t>
            </a:r>
          </a:p>
          <a:p xmlns:a="http://schemas.openxmlformats.org/drawingml/2006/main">
            <a:r>
              <a:t>Roche / 2021-25 / NCT05627557 / Hoffmann-La Roche / 0</a:t>
            </a:r>
          </a:p>
          <a:p xmlns:a="http://schemas.openxmlformats.org/drawingml/2006/main">
            <a:r>
              <a:t>Roche / 2021-25 / NCT05894239 / Hoffmann-La Roche / 1</a:t>
            </a:r>
          </a:p>
          <a:p xmlns:a="http://schemas.openxmlformats.org/drawingml/2006/main">
            <a:r>
              <a:t>Roche / 2021-25 / NCT05296798 / Hoffmann-La Roche / 1</a:t>
            </a:r>
          </a:p>
          <a:p xmlns:a="http://schemas.openxmlformats.org/drawingml/2006/main">
            <a:r>
              <a:t>Roche / 2021-25 / NCT05642312 / Hoffmann-La Roche / 0</a:t>
            </a:r>
          </a:p>
          <a:p xmlns:a="http://schemas.openxmlformats.org/drawingml/2006/main">
            <a:r>
              <a:t>Roche / 2021-25 / NCT05126966 / Hoffmann-La Roche / 0</a:t>
            </a:r>
          </a:p>
          <a:p xmlns:a="http://schemas.openxmlformats.org/drawingml/2006/main">
            <a:r>
              <a:t>Roche / 2021-25 / NCT05595642 / Hoffmann-La Roche / 1</a:t>
            </a:r>
          </a:p>
          <a:p xmlns:a="http://schemas.openxmlformats.org/drawingml/2006/main">
            <a:r>
              <a:t>Roche / 2021-25 / NCT07158242 / Hoffmann-La Roche / 0</a:t>
            </a:r>
          </a:p>
          <a:p xmlns:a="http://schemas.openxmlformats.org/drawingml/2006/main">
            <a:r>
              <a:t>Roche / 2021-25 / NCT04861259 / Hoffmann-La Roche / 1</a:t>
            </a:r>
          </a:p>
          <a:p xmlns:a="http://schemas.openxmlformats.org/drawingml/2006/main">
            <a:r>
              <a:t>Roche / 2021-25 / NCT05987423 / Hoffmann-La Roche / 0</a:t>
            </a:r>
          </a:p>
          <a:p xmlns:a="http://schemas.openxmlformats.org/drawingml/2006/main">
            <a:r>
              <a:t>Roche / 2021-25 / NCT07298421 / Hoffmann-La Roche / 0</a:t>
            </a:r>
          </a:p>
          <a:p xmlns:a="http://schemas.openxmlformats.org/drawingml/2006/main">
            <a:r>
              <a:t>Roche / 2021-25 / NCT05306340 / Genentech, Inc. / 0</a:t>
            </a:r>
          </a:p>
          <a:p xmlns:a="http://schemas.openxmlformats.org/drawingml/2006/main">
            <a:r>
              <a:t>Roche / 2021-25 / NCT06790693 / Hoffmann-La Roche / 0</a:t>
            </a:r>
          </a:p>
          <a:p xmlns:a="http://schemas.openxmlformats.org/drawingml/2006/main">
            <a:r>
              <a:t>Roche / 2021-25 / NCT07170150 / Hoffmann-La Roche / 0</a:t>
            </a:r>
          </a:p>
          <a:p xmlns:a="http://schemas.openxmlformats.org/drawingml/2006/main">
            <a:r>
              <a:t>Roche / 2021-25 / NCT04770896 / Hoffmann-La Roche / 0</a:t>
            </a:r>
          </a:p>
          <a:p xmlns:a="http://schemas.openxmlformats.org/drawingml/2006/main">
            <a:r>
              <a:t>Roche / 2021-25 / NCT04740905 / Hoffmann-La Roche / 0</a:t>
            </a:r>
          </a:p>
          <a:p xmlns:a="http://schemas.openxmlformats.org/drawingml/2006/main">
            <a:r>
              <a:t>Roche / 2021-25 / NCT05123703 / Hoffmann-La Roche / 1</a:t>
            </a:r>
          </a:p>
          <a:p xmlns:a="http://schemas.openxmlformats.org/drawingml/2006/main">
            <a:r>
              <a:t>Roche / 2021-25 / NCT04963270 / Hoffmann-La Roche / 0</a:t>
            </a:r>
          </a:p>
          <a:p xmlns:a="http://schemas.openxmlformats.org/drawingml/2006/main">
            <a:r>
              <a:t>Roche / 2021-25 / NCT06047080 / Hoffmann-La Roche / 0</a:t>
            </a:r>
          </a:p>
          <a:p xmlns:a="http://schemas.openxmlformats.org/drawingml/2006/main">
            <a:r>
              <a:t>Roche / 2021-25 / NCT06998524 / Hoffmann-La Roche / 0</a:t>
            </a:r>
          </a:p>
          <a:p xmlns:a="http://schemas.openxmlformats.org/drawingml/2006/main">
            <a:r>
              <a:t>Roche / 2021-25 / NCT05112965 / Hoffmann-La Roche / 0</a:t>
            </a:r>
          </a:p>
          <a:p xmlns:a="http://schemas.openxmlformats.org/drawingml/2006/main">
            <a:r>
              <a:t>Roche / 2021-25 / NCT04777201 / Hoffmann-La Roche /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12aa9564ed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1c2cc59cf54e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6f08bdae7849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dec3eb22414a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3b1d4bad7b4d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02c7fb5ff14a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1472C-4718-48BA-809B-8DCE3456566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8AD7BF-7D73-4C0C-AB96-35F1333365A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962319-2D81-49BB-B760-418FA744341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7B2057-1D80-4871-8DF6-795E47BB73E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6156A2-C8E4-465E-A95E-41EBAE8DD86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60B691-4FA8-4544-8AE0-6811F8A3393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0551F9-4E8A-477E-817C-7A8FF67ABA5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C7A602-8457-464A-B3D8-EF35FF2A21F8}"/>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4AED74-D28E-4C31-A595-27C3F35F86F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89FB7D-3D4D-448A-9586-27F4DBCB3C4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2c63915a354403" /><Relationship Type="http://schemas.openxmlformats.org/officeDocument/2006/relationships/slideLayout" Target="/ppt/slideLayouts/slideLayout1.xml" Id="R81258c5b3cf24162" /><Relationship Type="http://schemas.openxmlformats.org/officeDocument/2006/relationships/slideLayout" Target="/ppt/slideLayouts/slideLayout2.xml" Id="R56f7e1d41e1d46cc" /><Relationship Type="http://schemas.openxmlformats.org/officeDocument/2006/relationships/slideLayout" Target="/ppt/slideLayouts/slideLayout3.xml" Id="R9007e31308ff4d5f" /><Relationship Type="http://schemas.openxmlformats.org/officeDocument/2006/relationships/slideLayout" Target="/ppt/slideLayouts/slideLayout4.xml" Id="R83a2f4265ef145ef" /><Relationship Type="http://schemas.openxmlformats.org/officeDocument/2006/relationships/slideLayout" Target="/ppt/slideLayouts/slideLayout5.xml" Id="R474e26d3dbf6481e" /><Relationship Type="http://schemas.openxmlformats.org/officeDocument/2006/relationships/slideLayout" Target="/ppt/slideLayouts/slideLayout6.xml" Id="R6df850edc64d41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258c5b3cf24162"/>
    <p:sldLayoutId xmlns:r="http://schemas.openxmlformats.org/officeDocument/2006/relationships" id="2147483650" r:id="R56f7e1d41e1d46cc"/>
    <p:sldLayoutId xmlns:r="http://schemas.openxmlformats.org/officeDocument/2006/relationships" id="2147483651" r:id="R9007e31308ff4d5f"/>
    <p:sldLayoutId xmlns:r="http://schemas.openxmlformats.org/officeDocument/2006/relationships" id="2147483652" r:id="R83a2f4265ef145ef"/>
    <p:sldLayoutId xmlns:r="http://schemas.openxmlformats.org/officeDocument/2006/relationships" id="2147483653" r:id="R474e26d3dbf6481e"/>
    <p:sldLayoutId xmlns:r="http://schemas.openxmlformats.org/officeDocument/2006/relationships" id="2147483654" r:id="R6df850edc64d41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1a712f95c44425" /><Relationship Type="http://schemas.openxmlformats.org/officeDocument/2006/relationships/chart" Target="/ppt/slides/charts/chart1.xml" Id="Rc6a91f7087374d23" /><Relationship Type="http://schemas.openxmlformats.org/officeDocument/2006/relationships/chart" Target="/ppt/slides/charts/chart2.xml" Id="R2202e7ced8534cc4" /><Relationship Type="http://schemas.openxmlformats.org/officeDocument/2006/relationships/notesSlide" Target="/ppt/notesSlides/notesSlide1.xml" Id="R11512402f7e44b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2015–19</c:v>
          </c:tx>
          <c:spPr>
            <a:solidFill xmlns:a="http://schemas.openxmlformats.org/drawingml/2006/main">
              <a:srgbClr val="A5C9DD"/>
            </a:solidFill>
          </c:spPr>
          <c:invertIfNegative val="0"/>
          <c:cat>
            <c:strRef>
              <c:f>'Chart Data'!$A$2:$A$7</c:f>
              <c:strCache>
                <c:ptCount val="6"/>
                <c:pt idx="0">
                  <c:v>AstraZeneca</c:v>
                </c:pt>
                <c:pt idx="1">
                  <c:v>Novartis</c:v>
                </c:pt>
                <c:pt idx="2">
                  <c:v>Pfizer</c:v>
                </c:pt>
                <c:pt idx="3">
                  <c:v>GSK</c:v>
                </c:pt>
                <c:pt idx="4">
                  <c:v>Sanofi</c:v>
                </c:pt>
                <c:pt idx="5">
                  <c:v>Roche</c:v>
                </c:pt>
              </c:strCache>
            </c:strRef>
          </c:cat>
          <c:val>
            <c:numRef>
              <c:f>'Chart Data'!$B$2:$B$7</c:f>
              <c:numCache>
                <c:formatCode>0%</c:formatCode>
                <c:ptCount val="6"/>
                <c:pt idx="0">
                  <c:v>0.22807018</c:v>
                </c:pt>
                <c:pt idx="1">
                  <c:v>0.27142857</c:v>
                </c:pt>
                <c:pt idx="2">
                  <c:v>0.11538462</c:v>
                </c:pt>
                <c:pt idx="3">
                  <c:v>0.07291667</c:v>
                </c:pt>
                <c:pt idx="4">
                  <c:v>0.0877193</c:v>
                </c:pt>
                <c:pt idx="5">
                  <c:v>0.078125</c:v>
                </c:pt>
              </c:numCache>
            </c:numRef>
          </c:val>
        </c:ser>
        <c:ser>
          <c:idx val="1"/>
          <c:order val="1"/>
          <c:tx>
            <c:v>2021–25</c:v>
          </c:tx>
          <c:spPr>
            <a:solidFill xmlns:a="http://schemas.openxmlformats.org/drawingml/2006/main">
              <a:srgbClr val="0067A6"/>
            </a:solidFill>
          </c:spPr>
          <c:invertIfNegative val="0"/>
          <c:cat>
            <c:strRef>
              <c:f>'Chart Data'!$C$2:$C$7</c:f>
              <c:strCache>
                <c:ptCount val="6"/>
                <c:pt idx="0">
                  <c:v>AstraZeneca</c:v>
                </c:pt>
                <c:pt idx="1">
                  <c:v>Novartis</c:v>
                </c:pt>
                <c:pt idx="2">
                  <c:v>Pfizer</c:v>
                </c:pt>
                <c:pt idx="3">
                  <c:v>GSK</c:v>
                </c:pt>
                <c:pt idx="4">
                  <c:v>Sanofi</c:v>
                </c:pt>
                <c:pt idx="5">
                  <c:v>Roche</c:v>
                </c:pt>
              </c:strCache>
            </c:strRef>
          </c:cat>
          <c:val>
            <c:numRef>
              <c:f>'Chart Data'!$D$2:$D$7</c:f>
              <c:numCache>
                <c:formatCode>0%</c:formatCode>
                <c:ptCount val="6"/>
                <c:pt idx="0">
                  <c:v>0.42857143</c:v>
                </c:pt>
                <c:pt idx="1">
                  <c:v>0.31192661</c:v>
                </c:pt>
                <c:pt idx="2">
                  <c:v>0.23076923</c:v>
                </c:pt>
                <c:pt idx="3">
                  <c:v>0.17105263</c:v>
                </c:pt>
                <c:pt idx="4">
                  <c:v>0.16666667</c:v>
                </c:pt>
                <c:pt idx="5">
                  <c:v>0.22535211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2437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72768"/>
      </c:catAx>
      <c:valAx>
        <c:axId val="48672768"/>
        <c:scaling>
          <c:orientation val="minMax"/>
          <c:max val="0.5"/>
          <c:min val="0"/>
        </c:scaling>
        <c:delete val="0"/>
        <c:axPos val="l"/>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50112"/>
        <c:crossBetween val="between"/>
        <c:majorUnit val="0.1"/>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43746"/>
              </a:solidFill>
              <a:latin typeface="Nimbus Sans"/>
              <a:ea typeface="Nimbus Sans"/>
              <a:cs typeface="Nimbus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Approval lag (months)</c:v>
          </c:tx>
          <c:spPr>
            <a:solidFill xmlns:a="http://schemas.openxmlformats.org/drawingml/2006/main">
              <a:srgbClr val="0067A6"/>
            </a:solidFill>
          </c:spPr>
          <c:invertIfNegative val="0"/>
          <c:dPt>
            <c:idx val="5"/>
            <c:invertIfNegative val="0"/>
            <c:spPr>
              <a:solidFill xmlns:a="http://schemas.openxmlformats.org/drawingml/2006/main">
                <a:srgbClr val="A5C9DD"/>
              </a:solidFill>
            </c:spPr>
          </c:dPt>
          <c:cat>
            <c:strRef>
              <c:f>'Chart Data'!$A$2:$A$7</c:f>
              <c:strCache>
                <c:ptCount val="6"/>
                <c:pt idx="0">
                  <c:v>Imjudo / AZ</c:v>
                </c:pt>
                <c:pt idx="1">
                  <c:v>Blenrep combination / GSK</c:v>
                </c:pt>
                <c:pt idx="2">
                  <c:v>Vabysmo / Roche</c:v>
                </c:pt>
                <c:pt idx="3">
                  <c:v>Beyfortus / Sanofi</c:v>
                </c:pt>
                <c:pt idx="4">
                  <c:v>Scemblix / Novartis</c:v>
                </c:pt>
                <c:pt idx="5">
                  <c:v>Cibinqo / Pfizer</c:v>
                </c:pt>
              </c:strCache>
            </c:strRef>
          </c:cat>
          <c:val>
            <c:numRef>
              <c:f>'Chart Data'!$B$2:$B$7</c:f>
              <c:numCache>
                <c:formatCode>0</c:formatCode>
                <c:ptCount val="6"/>
                <c:pt idx="0">
                  <c:v>7.1</c:v>
                </c:pt>
                <c:pt idx="1">
                  <c:v>11.8</c:v>
                </c:pt>
                <c:pt idx="2">
                  <c:v>14.5</c:v>
                </c:pt>
                <c:pt idx="3">
                  <c:v>19.3</c:v>
                </c:pt>
                <c:pt idx="4">
                  <c:v>23.7</c:v>
                </c:pt>
                <c:pt idx="5">
                  <c:v>26.7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2437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72768"/>
      </c:catAx>
      <c:valAx>
        <c:axId val="48672768"/>
        <c:scaling>
          <c:orientation val="minMax"/>
          <c:max val="30"/>
          <c:min val="0"/>
        </c:scaling>
        <c:delete val="0"/>
        <c:axPos val="b"/>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50112"/>
        <c:crossBetween val="between"/>
        <c:majorUnit val="6"/>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Headline">
            <a:extLst xmlns:a="http://schemas.openxmlformats.org/drawingml/2006/main">
              <a:ext uri="{FF2B5EF4-FFF2-40B4-BE49-F238E27FC236}">
                <a16:creationId xmlns:a16="http://schemas.microsoft.com/office/drawing/2014/main" id="{A2B87922-D5DE-4C42-BBCC-DF217E51033C}"/>
              </a:ext>
            </a:extLst>
          </p:cNvPr>
          <p:cNvSpPr>
            <a:spLocks xmlns:a="http://schemas.openxmlformats.org/drawingml/2006/main" noGrp="1"/>
          </p:cNvSpPr>
          <p:nvPr/>
        </p:nvSpPr>
        <p:spPr>
          <a:xfrm xmlns:a="http://schemas.openxmlformats.org/drawingml/2006/main">
            <a:off x="609600" y="361950"/>
            <a:ext cx="14020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a:solidFill>
                  <a:srgbClr val="00446C"/>
                </a:solidFill>
                <a:latin typeface="Nimbus Sans"/>
                <a:ea typeface="Nimbus Sans"/>
                <a:cs typeface="Nimbus Sans"/>
              </a:defRPr>
            </a:defPPr>
            <a:lvl1pPr algn="l">
              <a:defRPr sz="3225" b="1">
                <a:solidFill>
                  <a:srgbClr val="00446C"/>
                </a:solidFill>
                <a:latin typeface="Nimbus Sans"/>
                <a:ea typeface="Nimbus Sans"/>
                <a:cs typeface="Nimbus Sans"/>
              </a:defRPr>
            </a:lvl1pPr>
            <a:lvl2pPr algn="l">
              <a:defRPr sz="3225" b="1">
                <a:solidFill>
                  <a:srgbClr val="00446C"/>
                </a:solidFill>
                <a:latin typeface="Nimbus Sans"/>
                <a:ea typeface="Nimbus Sans"/>
                <a:cs typeface="Nimbus Sans"/>
              </a:defRPr>
            </a:lvl2pPr>
            <a:lvl3pPr algn="l">
              <a:defRPr sz="3225" b="1">
                <a:solidFill>
                  <a:srgbClr val="00446C"/>
                </a:solidFill>
                <a:latin typeface="Nimbus Sans"/>
                <a:ea typeface="Nimbus Sans"/>
                <a:cs typeface="Nimbus Sans"/>
              </a:defRPr>
            </a:lvl3pPr>
            <a:lvl4pPr algn="l">
              <a:defRPr sz="3225" b="1">
                <a:solidFill>
                  <a:srgbClr val="00446C"/>
                </a:solidFill>
                <a:latin typeface="Nimbus Sans"/>
                <a:ea typeface="Nimbus Sans"/>
                <a:cs typeface="Nimbus Sans"/>
              </a:defRPr>
            </a:lvl4pPr>
            <a:lvl5pPr algn="l">
              <a:defRPr sz="3225" b="1">
                <a:solidFill>
                  <a:srgbClr val="00446C"/>
                </a:solidFill>
                <a:latin typeface="Nimbus Sans"/>
                <a:ea typeface="Nimbus Sans"/>
                <a:cs typeface="Nimbus Sans"/>
              </a:defRPr>
            </a:lvl5pPr>
            <a:lvl6pPr algn="l">
              <a:defRPr sz="3225" b="1">
                <a:solidFill>
                  <a:srgbClr val="00446C"/>
                </a:solidFill>
                <a:latin typeface="Nimbus Sans"/>
                <a:ea typeface="Nimbus Sans"/>
                <a:cs typeface="Nimbus Sans"/>
              </a:defRPr>
            </a:lvl6pPr>
            <a:lvl7pPr algn="l">
              <a:defRPr sz="3225" b="1">
                <a:solidFill>
                  <a:srgbClr val="00446C"/>
                </a:solidFill>
                <a:latin typeface="Nimbus Sans"/>
                <a:ea typeface="Nimbus Sans"/>
                <a:cs typeface="Nimbus Sans"/>
              </a:defRPr>
            </a:lvl7pPr>
            <a:lvl8pPr algn="l">
              <a:defRPr sz="3225" b="1">
                <a:solidFill>
                  <a:srgbClr val="00446C"/>
                </a:solidFill>
                <a:latin typeface="Nimbus Sans"/>
                <a:ea typeface="Nimbus Sans"/>
                <a:cs typeface="Nimbus Sans"/>
              </a:defRPr>
            </a:lvl8pPr>
            <a:lvl9pPr algn="l">
              <a:defRPr sz="3225" b="1">
                <a:solidFill>
                  <a:srgbClr val="00446C"/>
                </a:solidFill>
                <a:latin typeface="Nimbus Sans"/>
                <a:ea typeface="Nimbus Sans"/>
                <a:cs typeface="Nimbus Sans"/>
              </a:defRPr>
            </a:lvl9pPr>
          </a:lstStyle>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India is gaining share of MNC development programmes,</a:t>
            </a:r>
          </a:p>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with selected innovations approved within two years</a:t>
            </a:r>
          </a:p>
        </p:txBody>
      </p:sp>
      <p:sp>
        <p:nvSpPr>
          <p:cNvPr id="2" name="Title rule">
            <a:extLst xmlns:a="http://schemas.openxmlformats.org/drawingml/2006/main">
              <a:ext uri="{FF2B5EF4-FFF2-40B4-BE49-F238E27FC236}">
                <a16:creationId xmlns:a16="http://schemas.microsoft.com/office/drawing/2014/main" id="{42DAC435-411D-4FCF-AF6E-FF7818E4DA39}"/>
              </a:ext>
            </a:extLst>
          </p:cNvPr>
          <p:cNvSpPr>
            <a:spLocks xmlns:a="http://schemas.openxmlformats.org/drawingml/2006/main" noGrp="1"/>
          </p:cNvSpPr>
          <p:nvPr/>
        </p:nvSpPr>
        <p:spPr>
          <a:xfrm xmlns:a="http://schemas.openxmlformats.org/drawingml/2006/main">
            <a:off x="609600" y="1562100"/>
            <a:ext cx="14020800" cy="19050"/>
          </a:xfrm>
          <a:prstGeom xmlns:a="http://schemas.openxmlformats.org/drawingml/2006/main" prst="rect">
            <a:avLst/>
          </a:prstGeom>
          <a:solidFill xmlns:a="http://schemas.openxmlformats.org/drawingml/2006/main">
            <a:srgbClr val="0067A6"/>
          </a:solidFill>
          <a:ln xmlns:a="http://schemas.openxmlformats.org/drawingml/2006/main" w="0">
            <a:noFill/>
            <a:prstDash val="solid"/>
          </a:ln>
        </p:spPr>
      </p:sp>
      <p:sp>
        <p:nvSpPr>
          <p:cNvPr id="3" name="Chart1 title">
            <a:extLst xmlns:a="http://schemas.openxmlformats.org/drawingml/2006/main">
              <a:ext uri="{FF2B5EF4-FFF2-40B4-BE49-F238E27FC236}">
                <a16:creationId xmlns:a16="http://schemas.microsoft.com/office/drawing/2014/main" id="{03365CBC-5F26-446F-9504-81F0D2C261BE}"/>
              </a:ext>
            </a:extLst>
          </p:cNvPr>
          <p:cNvSpPr>
            <a:spLocks xmlns:a="http://schemas.openxmlformats.org/drawingml/2006/main" noGrp="1"/>
          </p:cNvSpPr>
          <p:nvPr/>
        </p:nvSpPr>
        <p:spPr>
          <a:xfrm xmlns:a="http://schemas.openxmlformats.org/drawingml/2006/main">
            <a:off x="609600" y="1819275"/>
            <a:ext cx="685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00446C"/>
                </a:solidFill>
                <a:latin typeface="Nimbus Sans"/>
                <a:ea typeface="Nimbus Sans"/>
                <a:cs typeface="Nimbus Sans"/>
              </a:defRPr>
            </a:defPPr>
            <a:lvl1pPr algn="l">
              <a:defRPr sz="2100" b="1">
                <a:solidFill>
                  <a:srgbClr val="00446C"/>
                </a:solidFill>
                <a:latin typeface="Nimbus Sans"/>
                <a:ea typeface="Nimbus Sans"/>
                <a:cs typeface="Nimbus Sans"/>
              </a:defRPr>
            </a:lvl1pPr>
            <a:lvl2pPr algn="l">
              <a:defRPr sz="2100" b="1">
                <a:solidFill>
                  <a:srgbClr val="00446C"/>
                </a:solidFill>
                <a:latin typeface="Nimbus Sans"/>
                <a:ea typeface="Nimbus Sans"/>
                <a:cs typeface="Nimbus Sans"/>
              </a:defRPr>
            </a:lvl2pPr>
            <a:lvl3pPr algn="l">
              <a:defRPr sz="2100" b="1">
                <a:solidFill>
                  <a:srgbClr val="00446C"/>
                </a:solidFill>
                <a:latin typeface="Nimbus Sans"/>
                <a:ea typeface="Nimbus Sans"/>
                <a:cs typeface="Nimbus Sans"/>
              </a:defRPr>
            </a:lvl3pPr>
            <a:lvl4pPr algn="l">
              <a:defRPr sz="2100" b="1">
                <a:solidFill>
                  <a:srgbClr val="00446C"/>
                </a:solidFill>
                <a:latin typeface="Nimbus Sans"/>
                <a:ea typeface="Nimbus Sans"/>
                <a:cs typeface="Nimbus Sans"/>
              </a:defRPr>
            </a:lvl4pPr>
            <a:lvl5pPr algn="l">
              <a:defRPr sz="2100" b="1">
                <a:solidFill>
                  <a:srgbClr val="00446C"/>
                </a:solidFill>
                <a:latin typeface="Nimbus Sans"/>
                <a:ea typeface="Nimbus Sans"/>
                <a:cs typeface="Nimbus Sans"/>
              </a:defRPr>
            </a:lvl5pPr>
            <a:lvl6pPr algn="l">
              <a:defRPr sz="2100" b="1">
                <a:solidFill>
                  <a:srgbClr val="00446C"/>
                </a:solidFill>
                <a:latin typeface="Nimbus Sans"/>
                <a:ea typeface="Nimbus Sans"/>
                <a:cs typeface="Nimbus Sans"/>
              </a:defRPr>
            </a:lvl6pPr>
            <a:lvl7pPr algn="l">
              <a:defRPr sz="2100" b="1">
                <a:solidFill>
                  <a:srgbClr val="00446C"/>
                </a:solidFill>
                <a:latin typeface="Nimbus Sans"/>
                <a:ea typeface="Nimbus Sans"/>
                <a:cs typeface="Nimbus Sans"/>
              </a:defRPr>
            </a:lvl7pPr>
            <a:lvl8pPr algn="l">
              <a:defRPr sz="2100" b="1">
                <a:solidFill>
                  <a:srgbClr val="00446C"/>
                </a:solidFill>
                <a:latin typeface="Nimbus Sans"/>
                <a:ea typeface="Nimbus Sans"/>
                <a:cs typeface="Nimbus Sans"/>
              </a:defRPr>
            </a:lvl8pPr>
            <a:lvl9pPr algn="l">
              <a:defRPr sz="2100" b="1">
                <a:solidFill>
                  <a:srgbClr val="00446C"/>
                </a:solidFill>
                <a:latin typeface="Nimbus Sans"/>
                <a:ea typeface="Nimbus Sans"/>
                <a:cs typeface="Nimbus Sans"/>
              </a:defRPr>
            </a:lvl9pPr>
          </a:lstStyle>
          <a:p xmlns:a="http://schemas.openxmlformats.org/drawingml/2006/main">
            <a:pPr algn="l">
              <a:lnSpc>
                <a:spcPct val="108000"/>
              </a:lnSpc>
              <a:buNone/>
              <a:defRPr sz="2100" b="1">
                <a:solidFill>
                  <a:srgbClr val="00446C"/>
                </a:solidFill>
                <a:latin typeface="Nimbus Sans"/>
                <a:ea typeface="Nimbus Sans"/>
                <a:cs typeface="Nimbus Sans"/>
              </a:defRPr>
            </a:pPr>
            <a:r>
              <a:rPr sz="2100" b="1">
                <a:solidFill>
                  <a:srgbClr val="00446C"/>
                </a:solidFill>
                <a:latin typeface="Nimbus Sans"/>
                <a:ea typeface="Nimbus Sans"/>
                <a:cs typeface="Nimbus Sans"/>
              </a:rPr>
              <a:t>Share of global Phase III registrations</a:t>
            </a:r>
          </a:p>
          <a:p xmlns:a="http://schemas.openxmlformats.org/drawingml/2006/main">
            <a:pPr algn="l">
              <a:lnSpc>
                <a:spcPct val="108000"/>
              </a:lnSpc>
              <a:buNone/>
              <a:defRPr sz="2100" b="1">
                <a:solidFill>
                  <a:srgbClr val="00446C"/>
                </a:solidFill>
                <a:latin typeface="Nimbus Sans"/>
                <a:ea typeface="Nimbus Sans"/>
                <a:cs typeface="Nimbus Sans"/>
              </a:defRPr>
            </a:pPr>
            <a:r>
              <a:rPr sz="2100" b="1">
                <a:solidFill>
                  <a:srgbClr val="00446C"/>
                </a:solidFill>
                <a:latin typeface="Nimbus Sans"/>
                <a:ea typeface="Nimbus Sans"/>
                <a:cs typeface="Nimbus Sans"/>
              </a:rPr>
              <a:t>that list India sites, by sponsor group</a:t>
            </a:r>
          </a:p>
        </p:txBody>
      </p:sp>
      <p:sp>
        <p:nvSpPr>
          <p:cNvPr id="4" name="Weighted India share">
            <a:extLst xmlns:a="http://schemas.openxmlformats.org/drawingml/2006/main">
              <a:ext uri="{FF2B5EF4-FFF2-40B4-BE49-F238E27FC236}">
                <a16:creationId xmlns:a16="http://schemas.microsoft.com/office/drawing/2014/main" id="{8A67223D-21EC-4735-BA9C-109896EF589A}"/>
              </a:ext>
            </a:extLst>
          </p:cNvPr>
          <p:cNvSpPr>
            <a:spLocks xmlns:a="http://schemas.openxmlformats.org/drawingml/2006/main" noGrp="1"/>
          </p:cNvSpPr>
          <p:nvPr/>
        </p:nvSpPr>
        <p:spPr>
          <a:xfrm xmlns:a="http://schemas.openxmlformats.org/drawingml/2006/main">
            <a:off x="609600" y="267652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450" b="1">
                <a:solidFill>
                  <a:srgbClr val="0067A6"/>
                </a:solidFill>
                <a:latin typeface="Nimbus Sans"/>
                <a:ea typeface="Nimbus Sans"/>
                <a:cs typeface="Nimbus Sans"/>
              </a:defRPr>
            </a:defPPr>
            <a:lvl1pPr algn="l">
              <a:defRPr sz="3450" b="1">
                <a:solidFill>
                  <a:srgbClr val="0067A6"/>
                </a:solidFill>
                <a:latin typeface="Nimbus Sans"/>
                <a:ea typeface="Nimbus Sans"/>
                <a:cs typeface="Nimbus Sans"/>
              </a:defRPr>
            </a:lvl1pPr>
            <a:lvl2pPr algn="l">
              <a:defRPr sz="3450" b="1">
                <a:solidFill>
                  <a:srgbClr val="0067A6"/>
                </a:solidFill>
                <a:latin typeface="Nimbus Sans"/>
                <a:ea typeface="Nimbus Sans"/>
                <a:cs typeface="Nimbus Sans"/>
              </a:defRPr>
            </a:lvl2pPr>
            <a:lvl3pPr algn="l">
              <a:defRPr sz="3450" b="1">
                <a:solidFill>
                  <a:srgbClr val="0067A6"/>
                </a:solidFill>
                <a:latin typeface="Nimbus Sans"/>
                <a:ea typeface="Nimbus Sans"/>
                <a:cs typeface="Nimbus Sans"/>
              </a:defRPr>
            </a:lvl3pPr>
            <a:lvl4pPr algn="l">
              <a:defRPr sz="3450" b="1">
                <a:solidFill>
                  <a:srgbClr val="0067A6"/>
                </a:solidFill>
                <a:latin typeface="Nimbus Sans"/>
                <a:ea typeface="Nimbus Sans"/>
                <a:cs typeface="Nimbus Sans"/>
              </a:defRPr>
            </a:lvl4pPr>
            <a:lvl5pPr algn="l">
              <a:defRPr sz="3450" b="1">
                <a:solidFill>
                  <a:srgbClr val="0067A6"/>
                </a:solidFill>
                <a:latin typeface="Nimbus Sans"/>
                <a:ea typeface="Nimbus Sans"/>
                <a:cs typeface="Nimbus Sans"/>
              </a:defRPr>
            </a:lvl5pPr>
            <a:lvl6pPr algn="l">
              <a:defRPr sz="3450" b="1">
                <a:solidFill>
                  <a:srgbClr val="0067A6"/>
                </a:solidFill>
                <a:latin typeface="Nimbus Sans"/>
                <a:ea typeface="Nimbus Sans"/>
                <a:cs typeface="Nimbus Sans"/>
              </a:defRPr>
            </a:lvl6pPr>
            <a:lvl7pPr algn="l">
              <a:defRPr sz="3450" b="1">
                <a:solidFill>
                  <a:srgbClr val="0067A6"/>
                </a:solidFill>
                <a:latin typeface="Nimbus Sans"/>
                <a:ea typeface="Nimbus Sans"/>
                <a:cs typeface="Nimbus Sans"/>
              </a:defRPr>
            </a:lvl7pPr>
            <a:lvl8pPr algn="l">
              <a:defRPr sz="3450" b="1">
                <a:solidFill>
                  <a:srgbClr val="0067A6"/>
                </a:solidFill>
                <a:latin typeface="Nimbus Sans"/>
                <a:ea typeface="Nimbus Sans"/>
                <a:cs typeface="Nimbus Sans"/>
              </a:defRPr>
            </a:lvl8pPr>
            <a:lvl9pPr algn="l">
              <a:defRPr sz="3450" b="1">
                <a:solidFill>
                  <a:srgbClr val="0067A6"/>
                </a:solidFill>
                <a:latin typeface="Nimbus Sans"/>
                <a:ea typeface="Nimbus Sans"/>
                <a:cs typeface="Nimbus Sans"/>
              </a:defRPr>
            </a:lvl9pPr>
          </a:lstStyle>
          <a:p xmlns:a="http://schemas.openxmlformats.org/drawingml/2006/main">
            <a:pPr algn="l">
              <a:lnSpc>
                <a:spcPct val="108000"/>
              </a:lnSpc>
              <a:buNone/>
              <a:defRPr sz="3450" b="1">
                <a:solidFill>
                  <a:srgbClr val="0067A6"/>
                </a:solidFill>
                <a:latin typeface="Nimbus Sans"/>
                <a:ea typeface="Nimbus Sans"/>
                <a:cs typeface="Nimbus Sans"/>
              </a:defRPr>
            </a:pPr>
            <a:r>
              <a:rPr sz="3450" b="1">
                <a:solidFill>
                  <a:srgbClr val="0067A6"/>
                </a:solidFill>
                <a:latin typeface="Nimbus Sans"/>
                <a:ea typeface="Nimbus Sans"/>
                <a:cs typeface="Nimbus Sans"/>
              </a:rPr>
              <a:t>14.9% to 28.0%</a:t>
            </a:r>
          </a:p>
        </p:txBody>
      </p:sp>
      <p:sp>
        <p:nvSpPr>
          <p:cNvPr id="5" name="Weighted qualifier">
            <a:extLst xmlns:a="http://schemas.openxmlformats.org/drawingml/2006/main">
              <a:ext uri="{FF2B5EF4-FFF2-40B4-BE49-F238E27FC236}">
                <a16:creationId xmlns:a16="http://schemas.microsoft.com/office/drawing/2014/main" id="{8DF80436-775D-49D3-B129-265942163CD0}"/>
              </a:ext>
            </a:extLst>
          </p:cNvPr>
          <p:cNvSpPr>
            <a:spLocks xmlns:a="http://schemas.openxmlformats.org/drawingml/2006/main" noGrp="1"/>
          </p:cNvSpPr>
          <p:nvPr/>
        </p:nvSpPr>
        <p:spPr>
          <a:xfrm xmlns:a="http://schemas.openxmlformats.org/drawingml/2006/main">
            <a:off x="609600" y="32194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57682"/>
                </a:solidFill>
                <a:latin typeface="Nimbus Sans"/>
                <a:ea typeface="Nimbus Sans"/>
                <a:cs typeface="Nimbus Sans"/>
              </a:defRPr>
            </a:defPPr>
            <a:lvl1pPr algn="l">
              <a:defRPr sz="1500" b="0">
                <a:solidFill>
                  <a:srgbClr val="657682"/>
                </a:solidFill>
                <a:latin typeface="Nimbus Sans"/>
                <a:ea typeface="Nimbus Sans"/>
                <a:cs typeface="Nimbus Sans"/>
              </a:defRPr>
            </a:lvl1pPr>
            <a:lvl2pPr algn="l">
              <a:defRPr sz="1500" b="0">
                <a:solidFill>
                  <a:srgbClr val="657682"/>
                </a:solidFill>
                <a:latin typeface="Nimbus Sans"/>
                <a:ea typeface="Nimbus Sans"/>
                <a:cs typeface="Nimbus Sans"/>
              </a:defRPr>
            </a:lvl2pPr>
            <a:lvl3pPr algn="l">
              <a:defRPr sz="1500" b="0">
                <a:solidFill>
                  <a:srgbClr val="657682"/>
                </a:solidFill>
                <a:latin typeface="Nimbus Sans"/>
                <a:ea typeface="Nimbus Sans"/>
                <a:cs typeface="Nimbus Sans"/>
              </a:defRPr>
            </a:lvl3pPr>
            <a:lvl4pPr algn="l">
              <a:defRPr sz="1500" b="0">
                <a:solidFill>
                  <a:srgbClr val="657682"/>
                </a:solidFill>
                <a:latin typeface="Nimbus Sans"/>
                <a:ea typeface="Nimbus Sans"/>
                <a:cs typeface="Nimbus Sans"/>
              </a:defRPr>
            </a:lvl4pPr>
            <a:lvl5pPr algn="l">
              <a:defRPr sz="1500" b="0">
                <a:solidFill>
                  <a:srgbClr val="657682"/>
                </a:solidFill>
                <a:latin typeface="Nimbus Sans"/>
                <a:ea typeface="Nimbus Sans"/>
                <a:cs typeface="Nimbus Sans"/>
              </a:defRPr>
            </a:lvl5pPr>
            <a:lvl6pPr algn="l">
              <a:defRPr sz="1500" b="0">
                <a:solidFill>
                  <a:srgbClr val="657682"/>
                </a:solidFill>
                <a:latin typeface="Nimbus Sans"/>
                <a:ea typeface="Nimbus Sans"/>
                <a:cs typeface="Nimbus Sans"/>
              </a:defRPr>
            </a:lvl6pPr>
            <a:lvl7pPr algn="l">
              <a:defRPr sz="1500" b="0">
                <a:solidFill>
                  <a:srgbClr val="657682"/>
                </a:solidFill>
                <a:latin typeface="Nimbus Sans"/>
                <a:ea typeface="Nimbus Sans"/>
                <a:cs typeface="Nimbus Sans"/>
              </a:defRPr>
            </a:lvl7pPr>
            <a:lvl8pPr algn="l">
              <a:defRPr sz="1500" b="0">
                <a:solidFill>
                  <a:srgbClr val="657682"/>
                </a:solidFill>
                <a:latin typeface="Nimbus Sans"/>
                <a:ea typeface="Nimbus Sans"/>
                <a:cs typeface="Nimbus Sans"/>
              </a:defRPr>
            </a:lvl8pPr>
            <a:lvl9pPr algn="l">
              <a:defRPr sz="1500" b="0">
                <a:solidFill>
                  <a:srgbClr val="657682"/>
                </a:solidFill>
                <a:latin typeface="Nimbus Sans"/>
                <a:ea typeface="Nimbus Sans"/>
                <a:cs typeface="Nimbus Sans"/>
              </a:defRPr>
            </a:lvl9pPr>
          </a:lstStyle>
          <a:p xmlns:a="http://schemas.openxmlformats.org/drawingml/2006/main">
            <a:pPr algn="l">
              <a:lnSpc>
                <a:spcPct val="108000"/>
              </a:lnSpc>
              <a:buNone/>
              <a:defRPr sz="1500" b="0">
                <a:solidFill>
                  <a:srgbClr val="657682"/>
                </a:solidFill>
                <a:latin typeface="Nimbus Sans"/>
                <a:ea typeface="Nimbus Sans"/>
                <a:cs typeface="Nimbus Sans"/>
              </a:defRPr>
            </a:pPr>
            <a:r>
              <a:rPr sz="1500" b="0">
                <a:solidFill>
                  <a:srgbClr val="657682"/>
                </a:solidFill>
                <a:latin typeface="Nimbus Sans"/>
                <a:ea typeface="Nimbus Sans"/>
                <a:cs typeface="Nimbus Sans"/>
              </a:rPr>
              <a:t>Six-group weighted share</a:t>
            </a:r>
          </a:p>
        </p:txBody>
      </p:sp>
      <p:sp>
        <p:nvSpPr>
          <p:cNvPr id="6" name="Divider">
            <a:extLst xmlns:a="http://schemas.openxmlformats.org/drawingml/2006/main">
              <a:ext uri="{FF2B5EF4-FFF2-40B4-BE49-F238E27FC236}">
                <a16:creationId xmlns:a16="http://schemas.microsoft.com/office/drawing/2014/main" id="{34A3D6A5-DC09-4050-AD74-F29F52CBE311}"/>
              </a:ext>
            </a:extLst>
          </p:cNvPr>
          <p:cNvSpPr>
            <a:spLocks xmlns:a="http://schemas.openxmlformats.org/drawingml/2006/main" noGrp="1"/>
          </p:cNvSpPr>
          <p:nvPr/>
        </p:nvSpPr>
        <p:spPr>
          <a:xfrm xmlns:a="http://schemas.openxmlformats.org/drawingml/2006/main">
            <a:off x="7667625" y="1838325"/>
            <a:ext cx="9525" cy="5334000"/>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7" name="Chart2 title">
            <a:extLst xmlns:a="http://schemas.openxmlformats.org/drawingml/2006/main">
              <a:ext uri="{FF2B5EF4-FFF2-40B4-BE49-F238E27FC236}">
                <a16:creationId xmlns:a16="http://schemas.microsoft.com/office/drawing/2014/main" id="{E946AC40-648F-4A54-BA83-EF739CDFB148}"/>
              </a:ext>
            </a:extLst>
          </p:cNvPr>
          <p:cNvSpPr>
            <a:spLocks xmlns:a="http://schemas.openxmlformats.org/drawingml/2006/main" noGrp="1"/>
          </p:cNvSpPr>
          <p:nvPr/>
        </p:nvSpPr>
        <p:spPr>
          <a:xfrm xmlns:a="http://schemas.openxmlformats.org/drawingml/2006/main">
            <a:off x="8086725" y="1819275"/>
            <a:ext cx="6543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00446C"/>
                </a:solidFill>
                <a:latin typeface="Nimbus Sans"/>
                <a:ea typeface="Nimbus Sans"/>
                <a:cs typeface="Nimbus Sans"/>
              </a:defRPr>
            </a:defPPr>
            <a:lvl1pPr algn="l">
              <a:defRPr sz="2100" b="1">
                <a:solidFill>
                  <a:srgbClr val="00446C"/>
                </a:solidFill>
                <a:latin typeface="Nimbus Sans"/>
                <a:ea typeface="Nimbus Sans"/>
                <a:cs typeface="Nimbus Sans"/>
              </a:defRPr>
            </a:lvl1pPr>
            <a:lvl2pPr algn="l">
              <a:defRPr sz="2100" b="1">
                <a:solidFill>
                  <a:srgbClr val="00446C"/>
                </a:solidFill>
                <a:latin typeface="Nimbus Sans"/>
                <a:ea typeface="Nimbus Sans"/>
                <a:cs typeface="Nimbus Sans"/>
              </a:defRPr>
            </a:lvl2pPr>
            <a:lvl3pPr algn="l">
              <a:defRPr sz="2100" b="1">
                <a:solidFill>
                  <a:srgbClr val="00446C"/>
                </a:solidFill>
                <a:latin typeface="Nimbus Sans"/>
                <a:ea typeface="Nimbus Sans"/>
                <a:cs typeface="Nimbus Sans"/>
              </a:defRPr>
            </a:lvl3pPr>
            <a:lvl4pPr algn="l">
              <a:defRPr sz="2100" b="1">
                <a:solidFill>
                  <a:srgbClr val="00446C"/>
                </a:solidFill>
                <a:latin typeface="Nimbus Sans"/>
                <a:ea typeface="Nimbus Sans"/>
                <a:cs typeface="Nimbus Sans"/>
              </a:defRPr>
            </a:lvl4pPr>
            <a:lvl5pPr algn="l">
              <a:defRPr sz="2100" b="1">
                <a:solidFill>
                  <a:srgbClr val="00446C"/>
                </a:solidFill>
                <a:latin typeface="Nimbus Sans"/>
                <a:ea typeface="Nimbus Sans"/>
                <a:cs typeface="Nimbus Sans"/>
              </a:defRPr>
            </a:lvl5pPr>
            <a:lvl6pPr algn="l">
              <a:defRPr sz="2100" b="1">
                <a:solidFill>
                  <a:srgbClr val="00446C"/>
                </a:solidFill>
                <a:latin typeface="Nimbus Sans"/>
                <a:ea typeface="Nimbus Sans"/>
                <a:cs typeface="Nimbus Sans"/>
              </a:defRPr>
            </a:lvl6pPr>
            <a:lvl7pPr algn="l">
              <a:defRPr sz="2100" b="1">
                <a:solidFill>
                  <a:srgbClr val="00446C"/>
                </a:solidFill>
                <a:latin typeface="Nimbus Sans"/>
                <a:ea typeface="Nimbus Sans"/>
                <a:cs typeface="Nimbus Sans"/>
              </a:defRPr>
            </a:lvl7pPr>
            <a:lvl8pPr algn="l">
              <a:defRPr sz="2100" b="1">
                <a:solidFill>
                  <a:srgbClr val="00446C"/>
                </a:solidFill>
                <a:latin typeface="Nimbus Sans"/>
                <a:ea typeface="Nimbus Sans"/>
                <a:cs typeface="Nimbus Sans"/>
              </a:defRPr>
            </a:lvl8pPr>
            <a:lvl9pPr algn="l">
              <a:defRPr sz="2100" b="1">
                <a:solidFill>
                  <a:srgbClr val="00446C"/>
                </a:solidFill>
                <a:latin typeface="Nimbus Sans"/>
                <a:ea typeface="Nimbus Sans"/>
                <a:cs typeface="Nimbus Sans"/>
              </a:defRPr>
            </a:lvl9pPr>
          </a:lstStyle>
          <a:p xmlns:a="http://schemas.openxmlformats.org/drawingml/2006/main">
            <a:pPr algn="l">
              <a:lnSpc>
                <a:spcPct val="108000"/>
              </a:lnSpc>
              <a:buNone/>
              <a:defRPr sz="2100" b="1">
                <a:solidFill>
                  <a:srgbClr val="00446C"/>
                </a:solidFill>
                <a:latin typeface="Nimbus Sans"/>
                <a:ea typeface="Nimbus Sans"/>
                <a:cs typeface="Nimbus Sans"/>
              </a:defRPr>
            </a:pPr>
            <a:r>
              <a:rPr sz="2100" b="1">
                <a:solidFill>
                  <a:srgbClr val="00446C"/>
                </a:solidFill>
                <a:latin typeface="Nimbus Sans"/>
                <a:ea typeface="Nimbus Sans"/>
                <a:cs typeface="Nimbus Sans"/>
              </a:rPr>
              <a:t>Selected assets: major-market-to-India</a:t>
            </a:r>
          </a:p>
          <a:p xmlns:a="http://schemas.openxmlformats.org/drawingml/2006/main">
            <a:pPr algn="l">
              <a:lnSpc>
                <a:spcPct val="108000"/>
              </a:lnSpc>
              <a:buNone/>
              <a:defRPr sz="2100" b="1">
                <a:solidFill>
                  <a:srgbClr val="00446C"/>
                </a:solidFill>
                <a:latin typeface="Nimbus Sans"/>
                <a:ea typeface="Nimbus Sans"/>
                <a:cs typeface="Nimbus Sans"/>
              </a:defRPr>
            </a:pPr>
            <a:r>
              <a:rPr sz="2100" b="1">
                <a:solidFill>
                  <a:srgbClr val="00446C"/>
                </a:solidFill>
                <a:latin typeface="Nimbus Sans"/>
                <a:ea typeface="Nimbus Sans"/>
                <a:cs typeface="Nimbus Sans"/>
              </a:rPr>
              <a:t>approval lag, in months</a:t>
            </a:r>
          </a:p>
        </p:txBody>
      </p:sp>
      <p:sp>
        <p:nvSpPr>
          <p:cNvPr id="8" name="Lag median">
            <a:extLst xmlns:a="http://schemas.openxmlformats.org/drawingml/2006/main">
              <a:ext uri="{FF2B5EF4-FFF2-40B4-BE49-F238E27FC236}">
                <a16:creationId xmlns:a16="http://schemas.microsoft.com/office/drawing/2014/main" id="{652D4A5E-C2FE-48AA-87F5-28E24EB00848}"/>
              </a:ext>
            </a:extLst>
          </p:cNvPr>
          <p:cNvSpPr>
            <a:spLocks xmlns:a="http://schemas.openxmlformats.org/drawingml/2006/main" noGrp="1"/>
          </p:cNvSpPr>
          <p:nvPr/>
        </p:nvSpPr>
        <p:spPr>
          <a:xfrm xmlns:a="http://schemas.openxmlformats.org/drawingml/2006/main">
            <a:off x="8086725" y="2676525"/>
            <a:ext cx="4286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450" b="1">
                <a:solidFill>
                  <a:srgbClr val="0067A6"/>
                </a:solidFill>
                <a:latin typeface="Nimbus Sans"/>
                <a:ea typeface="Nimbus Sans"/>
                <a:cs typeface="Nimbus Sans"/>
              </a:defRPr>
            </a:defPPr>
            <a:lvl1pPr algn="l">
              <a:defRPr sz="3450" b="1">
                <a:solidFill>
                  <a:srgbClr val="0067A6"/>
                </a:solidFill>
                <a:latin typeface="Nimbus Sans"/>
                <a:ea typeface="Nimbus Sans"/>
                <a:cs typeface="Nimbus Sans"/>
              </a:defRPr>
            </a:lvl1pPr>
            <a:lvl2pPr algn="l">
              <a:defRPr sz="3450" b="1">
                <a:solidFill>
                  <a:srgbClr val="0067A6"/>
                </a:solidFill>
                <a:latin typeface="Nimbus Sans"/>
                <a:ea typeface="Nimbus Sans"/>
                <a:cs typeface="Nimbus Sans"/>
              </a:defRPr>
            </a:lvl2pPr>
            <a:lvl3pPr algn="l">
              <a:defRPr sz="3450" b="1">
                <a:solidFill>
                  <a:srgbClr val="0067A6"/>
                </a:solidFill>
                <a:latin typeface="Nimbus Sans"/>
                <a:ea typeface="Nimbus Sans"/>
                <a:cs typeface="Nimbus Sans"/>
              </a:defRPr>
            </a:lvl3pPr>
            <a:lvl4pPr algn="l">
              <a:defRPr sz="3450" b="1">
                <a:solidFill>
                  <a:srgbClr val="0067A6"/>
                </a:solidFill>
                <a:latin typeface="Nimbus Sans"/>
                <a:ea typeface="Nimbus Sans"/>
                <a:cs typeface="Nimbus Sans"/>
              </a:defRPr>
            </a:lvl4pPr>
            <a:lvl5pPr algn="l">
              <a:defRPr sz="3450" b="1">
                <a:solidFill>
                  <a:srgbClr val="0067A6"/>
                </a:solidFill>
                <a:latin typeface="Nimbus Sans"/>
                <a:ea typeface="Nimbus Sans"/>
                <a:cs typeface="Nimbus Sans"/>
              </a:defRPr>
            </a:lvl5pPr>
            <a:lvl6pPr algn="l">
              <a:defRPr sz="3450" b="1">
                <a:solidFill>
                  <a:srgbClr val="0067A6"/>
                </a:solidFill>
                <a:latin typeface="Nimbus Sans"/>
                <a:ea typeface="Nimbus Sans"/>
                <a:cs typeface="Nimbus Sans"/>
              </a:defRPr>
            </a:lvl6pPr>
            <a:lvl7pPr algn="l">
              <a:defRPr sz="3450" b="1">
                <a:solidFill>
                  <a:srgbClr val="0067A6"/>
                </a:solidFill>
                <a:latin typeface="Nimbus Sans"/>
                <a:ea typeface="Nimbus Sans"/>
                <a:cs typeface="Nimbus Sans"/>
              </a:defRPr>
            </a:lvl7pPr>
            <a:lvl8pPr algn="l">
              <a:defRPr sz="3450" b="1">
                <a:solidFill>
                  <a:srgbClr val="0067A6"/>
                </a:solidFill>
                <a:latin typeface="Nimbus Sans"/>
                <a:ea typeface="Nimbus Sans"/>
                <a:cs typeface="Nimbus Sans"/>
              </a:defRPr>
            </a:lvl8pPr>
            <a:lvl9pPr algn="l">
              <a:defRPr sz="3450" b="1">
                <a:solidFill>
                  <a:srgbClr val="0067A6"/>
                </a:solidFill>
                <a:latin typeface="Nimbus Sans"/>
                <a:ea typeface="Nimbus Sans"/>
                <a:cs typeface="Nimbus Sans"/>
              </a:defRPr>
            </a:lvl9pPr>
          </a:lstStyle>
          <a:p xmlns:a="http://schemas.openxmlformats.org/drawingml/2006/main">
            <a:pPr algn="l">
              <a:lnSpc>
                <a:spcPct val="108000"/>
              </a:lnSpc>
              <a:buNone/>
              <a:defRPr sz="3450" b="1">
                <a:solidFill>
                  <a:srgbClr val="0067A6"/>
                </a:solidFill>
                <a:latin typeface="Nimbus Sans"/>
                <a:ea typeface="Nimbus Sans"/>
                <a:cs typeface="Nimbus Sans"/>
              </a:defRPr>
            </a:pPr>
            <a:r>
              <a:rPr sz="3450" b="1">
                <a:solidFill>
                  <a:srgbClr val="0067A6"/>
                </a:solidFill>
                <a:latin typeface="Nimbus Sans"/>
                <a:ea typeface="Nimbus Sans"/>
                <a:cs typeface="Nimbus Sans"/>
              </a:rPr>
              <a:t>~17 months</a:t>
            </a:r>
          </a:p>
        </p:txBody>
      </p:sp>
      <p:sp>
        <p:nvSpPr>
          <p:cNvPr id="9" name="Lag sample scope">
            <a:extLst xmlns:a="http://schemas.openxmlformats.org/drawingml/2006/main">
              <a:ext uri="{FF2B5EF4-FFF2-40B4-BE49-F238E27FC236}">
                <a16:creationId xmlns:a16="http://schemas.microsoft.com/office/drawing/2014/main" id="{58522EEA-A930-48CF-A2FD-F99B20FF5C9D}"/>
              </a:ext>
            </a:extLst>
          </p:cNvPr>
          <p:cNvSpPr>
            <a:spLocks xmlns:a="http://schemas.openxmlformats.org/drawingml/2006/main" noGrp="1"/>
          </p:cNvSpPr>
          <p:nvPr/>
        </p:nvSpPr>
        <p:spPr>
          <a:xfrm xmlns:a="http://schemas.openxmlformats.org/drawingml/2006/main">
            <a:off x="8086725" y="3219450"/>
            <a:ext cx="6543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57682"/>
                </a:solidFill>
                <a:latin typeface="Nimbus Sans"/>
                <a:ea typeface="Nimbus Sans"/>
                <a:cs typeface="Nimbus Sans"/>
              </a:defRPr>
            </a:defPPr>
            <a:lvl1pPr algn="l">
              <a:defRPr sz="1500" b="0">
                <a:solidFill>
                  <a:srgbClr val="657682"/>
                </a:solidFill>
                <a:latin typeface="Nimbus Sans"/>
                <a:ea typeface="Nimbus Sans"/>
                <a:cs typeface="Nimbus Sans"/>
              </a:defRPr>
            </a:lvl1pPr>
            <a:lvl2pPr algn="l">
              <a:defRPr sz="1500" b="0">
                <a:solidFill>
                  <a:srgbClr val="657682"/>
                </a:solidFill>
                <a:latin typeface="Nimbus Sans"/>
                <a:ea typeface="Nimbus Sans"/>
                <a:cs typeface="Nimbus Sans"/>
              </a:defRPr>
            </a:lvl2pPr>
            <a:lvl3pPr algn="l">
              <a:defRPr sz="1500" b="0">
                <a:solidFill>
                  <a:srgbClr val="657682"/>
                </a:solidFill>
                <a:latin typeface="Nimbus Sans"/>
                <a:ea typeface="Nimbus Sans"/>
                <a:cs typeface="Nimbus Sans"/>
              </a:defRPr>
            </a:lvl3pPr>
            <a:lvl4pPr algn="l">
              <a:defRPr sz="1500" b="0">
                <a:solidFill>
                  <a:srgbClr val="657682"/>
                </a:solidFill>
                <a:latin typeface="Nimbus Sans"/>
                <a:ea typeface="Nimbus Sans"/>
                <a:cs typeface="Nimbus Sans"/>
              </a:defRPr>
            </a:lvl4pPr>
            <a:lvl5pPr algn="l">
              <a:defRPr sz="1500" b="0">
                <a:solidFill>
                  <a:srgbClr val="657682"/>
                </a:solidFill>
                <a:latin typeface="Nimbus Sans"/>
                <a:ea typeface="Nimbus Sans"/>
                <a:cs typeface="Nimbus Sans"/>
              </a:defRPr>
            </a:lvl5pPr>
            <a:lvl6pPr algn="l">
              <a:defRPr sz="1500" b="0">
                <a:solidFill>
                  <a:srgbClr val="657682"/>
                </a:solidFill>
                <a:latin typeface="Nimbus Sans"/>
                <a:ea typeface="Nimbus Sans"/>
                <a:cs typeface="Nimbus Sans"/>
              </a:defRPr>
            </a:lvl6pPr>
            <a:lvl7pPr algn="l">
              <a:defRPr sz="1500" b="0">
                <a:solidFill>
                  <a:srgbClr val="657682"/>
                </a:solidFill>
                <a:latin typeface="Nimbus Sans"/>
                <a:ea typeface="Nimbus Sans"/>
                <a:cs typeface="Nimbus Sans"/>
              </a:defRPr>
            </a:lvl7pPr>
            <a:lvl8pPr algn="l">
              <a:defRPr sz="1500" b="0">
                <a:solidFill>
                  <a:srgbClr val="657682"/>
                </a:solidFill>
                <a:latin typeface="Nimbus Sans"/>
                <a:ea typeface="Nimbus Sans"/>
                <a:cs typeface="Nimbus Sans"/>
              </a:defRPr>
            </a:lvl8pPr>
            <a:lvl9pPr algn="l">
              <a:defRPr sz="1500" b="0">
                <a:solidFill>
                  <a:srgbClr val="657682"/>
                </a:solidFill>
                <a:latin typeface="Nimbus Sans"/>
                <a:ea typeface="Nimbus Sans"/>
                <a:cs typeface="Nimbus Sans"/>
              </a:defRPr>
            </a:lvl9pPr>
          </a:lstStyle>
          <a:p xmlns:a="http://schemas.openxmlformats.org/drawingml/2006/main">
            <a:pPr algn="l">
              <a:lnSpc>
                <a:spcPct val="108000"/>
              </a:lnSpc>
              <a:buNone/>
              <a:defRPr sz="1500" b="0">
                <a:solidFill>
                  <a:srgbClr val="657682"/>
                </a:solidFill>
                <a:latin typeface="Nimbus Sans"/>
                <a:ea typeface="Nimbus Sans"/>
                <a:cs typeface="Nimbus Sans"/>
              </a:defRPr>
            </a:pPr>
            <a:r>
              <a:rPr sz="1500" b="0">
                <a:solidFill>
                  <a:srgbClr val="657682"/>
                </a:solidFill>
                <a:latin typeface="Nimbus Sans"/>
                <a:ea typeface="Nimbus Sans"/>
                <a:cs typeface="Nimbus Sans"/>
              </a:rPr>
              <a:t>Median of six selected assets / regimens</a:t>
            </a:r>
          </a:p>
        </p:txBody>
      </p:sp>
      <p:graphicFrame>
        <p:nvGraphicFramePr>
          <p:cNvPr id="10" name="Chart">
            <a:extLst xmlns:a="http://schemas.openxmlformats.org/drawingml/2006/main">
              <a:ext uri="{FF2B5EF4-FFF2-40B4-BE49-F238E27FC236}">
                <a16:creationId xmlns:a16="http://schemas.microsoft.com/office/drawing/2014/main" id="{B47B9371-4CDA-4312-BE80-A934A48BC720}"/>
              </a:ext>
            </a:extLst>
          </p:cNvPr>
          <p:cNvGraphicFramePr/>
          <p:nvPr/>
        </p:nvGraphicFramePr>
        <p:xfrm>
          <a:off xmlns:a="http://schemas.openxmlformats.org/drawingml/2006/main" x="514350" y="3695700"/>
          <a:ext xmlns:a="http://schemas.openxmlformats.org/drawingml/2006/main" cx="6972300" cy="2895600"/>
        </p:xfrm>
        <a:graphic xmlns:a="http://schemas.openxmlformats.org/drawingml/2006/main">
          <a:graphicData uri="http://schemas.openxmlformats.org/drawingml/2006/chart">
            <c:chart xmlns:r="http://schemas.openxmlformats.org/officeDocument/2006/relationships" xmlns:c="http://schemas.openxmlformats.org/drawingml/2006/chart" r:id="Rc6a91f7087374d23"/>
          </a:graphicData>
        </a:graphic>
      </p:graphicFrame>
      <p:graphicFrame>
        <p:nvGraphicFramePr>
          <p:cNvPr id="11" name="Chart">
            <a:extLst xmlns:a="http://schemas.openxmlformats.org/drawingml/2006/main">
              <a:ext uri="{FF2B5EF4-FFF2-40B4-BE49-F238E27FC236}">
                <a16:creationId xmlns:a16="http://schemas.microsoft.com/office/drawing/2014/main" id="{DCB149BD-05B0-4467-AD4C-F591DF90A573}"/>
              </a:ext>
            </a:extLst>
          </p:cNvPr>
          <p:cNvGraphicFramePr/>
          <p:nvPr/>
        </p:nvGraphicFramePr>
        <p:xfrm>
          <a:off xmlns:a="http://schemas.openxmlformats.org/drawingml/2006/main" x="7991475" y="3695700"/>
          <a:ext xmlns:a="http://schemas.openxmlformats.org/drawingml/2006/main" cx="6734175" cy="2895600"/>
        </p:xfrm>
        <a:graphic xmlns:a="http://schemas.openxmlformats.org/drawingml/2006/main">
          <a:graphicData uri="http://schemas.openxmlformats.org/drawingml/2006/chart">
            <c:chart xmlns:r="http://schemas.openxmlformats.org/officeDocument/2006/relationships" xmlns:c="http://schemas.openxmlformats.org/drawingml/2006/chart" r:id="R2202e7ced8534cc4"/>
          </a:graphicData>
        </a:graphic>
      </p:graphicFrame>
      <p:sp>
        <p:nvSpPr>
          <p:cNvPr id="12" name="Count driver">
            <a:extLst xmlns:a="http://schemas.openxmlformats.org/drawingml/2006/main">
              <a:ext uri="{FF2B5EF4-FFF2-40B4-BE49-F238E27FC236}">
                <a16:creationId xmlns:a16="http://schemas.microsoft.com/office/drawing/2014/main" id="{3469D6C6-F50B-4ECC-B5B6-578D92E6195C}"/>
              </a:ext>
            </a:extLst>
          </p:cNvPr>
          <p:cNvSpPr>
            <a:spLocks xmlns:a="http://schemas.openxmlformats.org/drawingml/2006/main" noGrp="1"/>
          </p:cNvSpPr>
          <p:nvPr/>
        </p:nvSpPr>
        <p:spPr>
          <a:xfrm xmlns:a="http://schemas.openxmlformats.org/drawingml/2006/main">
            <a:off x="609600" y="6781800"/>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243746"/>
                </a:solidFill>
                <a:latin typeface="Nimbus Sans"/>
                <a:ea typeface="Nimbus Sans"/>
                <a:cs typeface="Nimbus Sans"/>
              </a:defRPr>
            </a:defPPr>
            <a:lvl1pPr algn="l">
              <a:defRPr sz="1650" b="1">
                <a:solidFill>
                  <a:srgbClr val="243746"/>
                </a:solidFill>
                <a:latin typeface="Nimbus Sans"/>
                <a:ea typeface="Nimbus Sans"/>
                <a:cs typeface="Nimbus Sans"/>
              </a:defRPr>
            </a:lvl1pPr>
            <a:lvl2pPr algn="l">
              <a:defRPr sz="1650" b="1">
                <a:solidFill>
                  <a:srgbClr val="243746"/>
                </a:solidFill>
                <a:latin typeface="Nimbus Sans"/>
                <a:ea typeface="Nimbus Sans"/>
                <a:cs typeface="Nimbus Sans"/>
              </a:defRPr>
            </a:lvl2pPr>
            <a:lvl3pPr algn="l">
              <a:defRPr sz="1650" b="1">
                <a:solidFill>
                  <a:srgbClr val="243746"/>
                </a:solidFill>
                <a:latin typeface="Nimbus Sans"/>
                <a:ea typeface="Nimbus Sans"/>
                <a:cs typeface="Nimbus Sans"/>
              </a:defRPr>
            </a:lvl3pPr>
            <a:lvl4pPr algn="l">
              <a:defRPr sz="1650" b="1">
                <a:solidFill>
                  <a:srgbClr val="243746"/>
                </a:solidFill>
                <a:latin typeface="Nimbus Sans"/>
                <a:ea typeface="Nimbus Sans"/>
                <a:cs typeface="Nimbus Sans"/>
              </a:defRPr>
            </a:lvl4pPr>
            <a:lvl5pPr algn="l">
              <a:defRPr sz="1650" b="1">
                <a:solidFill>
                  <a:srgbClr val="243746"/>
                </a:solidFill>
                <a:latin typeface="Nimbus Sans"/>
                <a:ea typeface="Nimbus Sans"/>
                <a:cs typeface="Nimbus Sans"/>
              </a:defRPr>
            </a:lvl5pPr>
            <a:lvl6pPr algn="l">
              <a:defRPr sz="1650" b="1">
                <a:solidFill>
                  <a:srgbClr val="243746"/>
                </a:solidFill>
                <a:latin typeface="Nimbus Sans"/>
                <a:ea typeface="Nimbus Sans"/>
                <a:cs typeface="Nimbus Sans"/>
              </a:defRPr>
            </a:lvl6pPr>
            <a:lvl7pPr algn="l">
              <a:defRPr sz="1650" b="1">
                <a:solidFill>
                  <a:srgbClr val="243746"/>
                </a:solidFill>
                <a:latin typeface="Nimbus Sans"/>
                <a:ea typeface="Nimbus Sans"/>
                <a:cs typeface="Nimbus Sans"/>
              </a:defRPr>
            </a:lvl7pPr>
            <a:lvl8pPr algn="l">
              <a:defRPr sz="1650" b="1">
                <a:solidFill>
                  <a:srgbClr val="243746"/>
                </a:solidFill>
                <a:latin typeface="Nimbus Sans"/>
                <a:ea typeface="Nimbus Sans"/>
                <a:cs typeface="Nimbus Sans"/>
              </a:defRPr>
            </a:lvl8pPr>
            <a:lvl9pPr algn="l">
              <a:defRPr sz="1650" b="1">
                <a:solidFill>
                  <a:srgbClr val="243746"/>
                </a:solidFill>
                <a:latin typeface="Nimbus Sans"/>
                <a:ea typeface="Nimbus Sans"/>
                <a:cs typeface="Nimbus Sans"/>
              </a:defRPr>
            </a:lvl9pPr>
          </a:lstStyle>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India records rose 60% to 160, while global</a:t>
            </a:r>
          </a:p>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registrations fell 15% to 572 across these groups</a:t>
            </a:r>
          </a:p>
        </p:txBody>
      </p:sp>
      <p:sp>
        <p:nvSpPr>
          <p:cNvPr id="13" name="Lag interpretation">
            <a:extLst xmlns:a="http://schemas.openxmlformats.org/drawingml/2006/main">
              <a:ext uri="{FF2B5EF4-FFF2-40B4-BE49-F238E27FC236}">
                <a16:creationId xmlns:a16="http://schemas.microsoft.com/office/drawing/2014/main" id="{0BA06A79-BC34-4A44-BC2D-83B35DE56316}"/>
              </a:ext>
            </a:extLst>
          </p:cNvPr>
          <p:cNvSpPr>
            <a:spLocks xmlns:a="http://schemas.openxmlformats.org/drawingml/2006/main" noGrp="1"/>
          </p:cNvSpPr>
          <p:nvPr/>
        </p:nvSpPr>
        <p:spPr>
          <a:xfrm xmlns:a="http://schemas.openxmlformats.org/drawingml/2006/main">
            <a:off x="8086725" y="6781800"/>
            <a:ext cx="654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243746"/>
                </a:solidFill>
                <a:latin typeface="Nimbus Sans"/>
                <a:ea typeface="Nimbus Sans"/>
                <a:cs typeface="Nimbus Sans"/>
              </a:defRPr>
            </a:defPPr>
            <a:lvl1pPr algn="l">
              <a:defRPr sz="1650" b="1">
                <a:solidFill>
                  <a:srgbClr val="243746"/>
                </a:solidFill>
                <a:latin typeface="Nimbus Sans"/>
                <a:ea typeface="Nimbus Sans"/>
                <a:cs typeface="Nimbus Sans"/>
              </a:defRPr>
            </a:lvl1pPr>
            <a:lvl2pPr algn="l">
              <a:defRPr sz="1650" b="1">
                <a:solidFill>
                  <a:srgbClr val="243746"/>
                </a:solidFill>
                <a:latin typeface="Nimbus Sans"/>
                <a:ea typeface="Nimbus Sans"/>
                <a:cs typeface="Nimbus Sans"/>
              </a:defRPr>
            </a:lvl2pPr>
            <a:lvl3pPr algn="l">
              <a:defRPr sz="1650" b="1">
                <a:solidFill>
                  <a:srgbClr val="243746"/>
                </a:solidFill>
                <a:latin typeface="Nimbus Sans"/>
                <a:ea typeface="Nimbus Sans"/>
                <a:cs typeface="Nimbus Sans"/>
              </a:defRPr>
            </a:lvl3pPr>
            <a:lvl4pPr algn="l">
              <a:defRPr sz="1650" b="1">
                <a:solidFill>
                  <a:srgbClr val="243746"/>
                </a:solidFill>
                <a:latin typeface="Nimbus Sans"/>
                <a:ea typeface="Nimbus Sans"/>
                <a:cs typeface="Nimbus Sans"/>
              </a:defRPr>
            </a:lvl4pPr>
            <a:lvl5pPr algn="l">
              <a:defRPr sz="1650" b="1">
                <a:solidFill>
                  <a:srgbClr val="243746"/>
                </a:solidFill>
                <a:latin typeface="Nimbus Sans"/>
                <a:ea typeface="Nimbus Sans"/>
                <a:cs typeface="Nimbus Sans"/>
              </a:defRPr>
            </a:lvl5pPr>
            <a:lvl6pPr algn="l">
              <a:defRPr sz="1650" b="1">
                <a:solidFill>
                  <a:srgbClr val="243746"/>
                </a:solidFill>
                <a:latin typeface="Nimbus Sans"/>
                <a:ea typeface="Nimbus Sans"/>
                <a:cs typeface="Nimbus Sans"/>
              </a:defRPr>
            </a:lvl6pPr>
            <a:lvl7pPr algn="l">
              <a:defRPr sz="1650" b="1">
                <a:solidFill>
                  <a:srgbClr val="243746"/>
                </a:solidFill>
                <a:latin typeface="Nimbus Sans"/>
                <a:ea typeface="Nimbus Sans"/>
                <a:cs typeface="Nimbus Sans"/>
              </a:defRPr>
            </a:lvl7pPr>
            <a:lvl8pPr algn="l">
              <a:defRPr sz="1650" b="1">
                <a:solidFill>
                  <a:srgbClr val="243746"/>
                </a:solidFill>
                <a:latin typeface="Nimbus Sans"/>
                <a:ea typeface="Nimbus Sans"/>
                <a:cs typeface="Nimbus Sans"/>
              </a:defRPr>
            </a:lvl8pPr>
            <a:lvl9pPr algn="l">
              <a:defRPr sz="1650" b="1">
                <a:solidFill>
                  <a:srgbClr val="243746"/>
                </a:solidFill>
                <a:latin typeface="Nimbus Sans"/>
                <a:ea typeface="Nimbus Sans"/>
                <a:cs typeface="Nimbus Sans"/>
              </a:defRPr>
            </a:lvl9pPr>
          </a:lstStyle>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Five of six approvals within 24 months.</a:t>
            </a:r>
          </a:p>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Blenrep measures the new combination regimen</a:t>
            </a:r>
          </a:p>
        </p:txBody>
      </p:sp>
      <p:sp>
        <p:nvSpPr>
          <p:cNvPr id="14" name="Niche separator">
            <a:extLst xmlns:a="http://schemas.openxmlformats.org/drawingml/2006/main">
              <a:ext uri="{FF2B5EF4-FFF2-40B4-BE49-F238E27FC236}">
                <a16:creationId xmlns:a16="http://schemas.microsoft.com/office/drawing/2014/main" id="{394B35C5-CC35-4448-B622-C24C17C77ED0}"/>
              </a:ext>
            </a:extLst>
          </p:cNvPr>
          <p:cNvSpPr>
            <a:spLocks xmlns:a="http://schemas.openxmlformats.org/drawingml/2006/main" noGrp="1"/>
          </p:cNvSpPr>
          <p:nvPr/>
        </p:nvSpPr>
        <p:spPr>
          <a:xfrm xmlns:a="http://schemas.openxmlformats.org/drawingml/2006/main">
            <a:off x="609600" y="7429500"/>
            <a:ext cx="14020800" cy="95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15" name="Niche programmes">
            <a:extLst xmlns:a="http://schemas.openxmlformats.org/drawingml/2006/main">
              <a:ext uri="{FF2B5EF4-FFF2-40B4-BE49-F238E27FC236}">
                <a16:creationId xmlns:a16="http://schemas.microsoft.com/office/drawing/2014/main" id="{61BDD817-C3E2-4E54-8619-0D3FA96C227D}"/>
              </a:ext>
            </a:extLst>
          </p:cNvPr>
          <p:cNvSpPr>
            <a:spLocks xmlns:a="http://schemas.openxmlformats.org/drawingml/2006/main" noGrp="1"/>
          </p:cNvSpPr>
          <p:nvPr/>
        </p:nvSpPr>
        <p:spPr>
          <a:xfrm xmlns:a="http://schemas.openxmlformats.org/drawingml/2006/main">
            <a:off x="609600" y="7562850"/>
            <a:ext cx="1402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0067A6"/>
                </a:solidFill>
                <a:latin typeface="Nimbus Sans"/>
                <a:ea typeface="Nimbus Sans"/>
                <a:cs typeface="Nimbus Sans"/>
              </a:defRPr>
            </a:defPPr>
            <a:lvl1pPr algn="l">
              <a:defRPr sz="1575" b="0">
                <a:solidFill>
                  <a:srgbClr val="0067A6"/>
                </a:solidFill>
                <a:latin typeface="Nimbus Sans"/>
                <a:ea typeface="Nimbus Sans"/>
                <a:cs typeface="Nimbus Sans"/>
              </a:defRPr>
            </a:lvl1pPr>
            <a:lvl2pPr algn="l">
              <a:defRPr sz="1575" b="0">
                <a:solidFill>
                  <a:srgbClr val="0067A6"/>
                </a:solidFill>
                <a:latin typeface="Nimbus Sans"/>
                <a:ea typeface="Nimbus Sans"/>
                <a:cs typeface="Nimbus Sans"/>
              </a:defRPr>
            </a:lvl2pPr>
            <a:lvl3pPr algn="l">
              <a:defRPr sz="1575" b="0">
                <a:solidFill>
                  <a:srgbClr val="0067A6"/>
                </a:solidFill>
                <a:latin typeface="Nimbus Sans"/>
                <a:ea typeface="Nimbus Sans"/>
                <a:cs typeface="Nimbus Sans"/>
              </a:defRPr>
            </a:lvl3pPr>
            <a:lvl4pPr algn="l">
              <a:defRPr sz="1575" b="0">
                <a:solidFill>
                  <a:srgbClr val="0067A6"/>
                </a:solidFill>
                <a:latin typeface="Nimbus Sans"/>
                <a:ea typeface="Nimbus Sans"/>
                <a:cs typeface="Nimbus Sans"/>
              </a:defRPr>
            </a:lvl4pPr>
            <a:lvl5pPr algn="l">
              <a:defRPr sz="1575" b="0">
                <a:solidFill>
                  <a:srgbClr val="0067A6"/>
                </a:solidFill>
                <a:latin typeface="Nimbus Sans"/>
                <a:ea typeface="Nimbus Sans"/>
                <a:cs typeface="Nimbus Sans"/>
              </a:defRPr>
            </a:lvl5pPr>
            <a:lvl6pPr algn="l">
              <a:defRPr sz="1575" b="0">
                <a:solidFill>
                  <a:srgbClr val="0067A6"/>
                </a:solidFill>
                <a:latin typeface="Nimbus Sans"/>
                <a:ea typeface="Nimbus Sans"/>
                <a:cs typeface="Nimbus Sans"/>
              </a:defRPr>
            </a:lvl6pPr>
            <a:lvl7pPr algn="l">
              <a:defRPr sz="1575" b="0">
                <a:solidFill>
                  <a:srgbClr val="0067A6"/>
                </a:solidFill>
                <a:latin typeface="Nimbus Sans"/>
                <a:ea typeface="Nimbus Sans"/>
                <a:cs typeface="Nimbus Sans"/>
              </a:defRPr>
            </a:lvl7pPr>
            <a:lvl8pPr algn="l">
              <a:defRPr sz="1575" b="0">
                <a:solidFill>
                  <a:srgbClr val="0067A6"/>
                </a:solidFill>
                <a:latin typeface="Nimbus Sans"/>
                <a:ea typeface="Nimbus Sans"/>
                <a:cs typeface="Nimbus Sans"/>
              </a:defRPr>
            </a:lvl8pPr>
            <a:lvl9pPr algn="l">
              <a:defRPr sz="1575" b="0">
                <a:solidFill>
                  <a:srgbClr val="0067A6"/>
                </a:solidFill>
                <a:latin typeface="Nimbus Sans"/>
                <a:ea typeface="Nimbus Sans"/>
                <a:cs typeface="Nimbus Sans"/>
              </a:defRPr>
            </a:lvl9pPr>
          </a:lstStyle>
          <a:p xmlns:a="http://schemas.openxmlformats.org/drawingml/2006/main">
            <a:pPr algn="l">
              <a:lnSpc>
                <a:spcPct val="108000"/>
              </a:lnSpc>
              <a:buNone/>
              <a:defRPr sz="1575" b="0">
                <a:solidFill>
                  <a:srgbClr val="0067A6"/>
                </a:solidFill>
                <a:latin typeface="Nimbus Sans"/>
                <a:ea typeface="Nimbus Sans"/>
                <a:cs typeface="Nimbus Sans"/>
              </a:defRPr>
            </a:pPr>
            <a:r>
              <a:rPr sz="1575" b="0">
                <a:solidFill>
                  <a:srgbClr val="0067A6"/>
                </a:solidFill>
                <a:latin typeface="Nimbus Sans"/>
                <a:ea typeface="Nimbus Sans"/>
                <a:cs typeface="Nimbus Sans"/>
              </a:rPr>
              <a:t>India sites participate in complement inhibition for C3G, antisense therapy for hepatitis B,</a:t>
            </a:r>
          </a:p>
          <a:p xmlns:a="http://schemas.openxmlformats.org/drawingml/2006/main">
            <a:pPr algn="l">
              <a:lnSpc>
                <a:spcPct val="108000"/>
              </a:lnSpc>
              <a:buNone/>
              <a:defRPr sz="1575" b="0">
                <a:solidFill>
                  <a:srgbClr val="0067A6"/>
                </a:solidFill>
                <a:latin typeface="Nimbus Sans"/>
                <a:ea typeface="Nimbus Sans"/>
                <a:cs typeface="Nimbus Sans"/>
              </a:defRPr>
            </a:pPr>
            <a:r>
              <a:rPr sz="1575" b="0">
                <a:solidFill>
                  <a:srgbClr val="0067A6"/>
                </a:solidFill>
                <a:latin typeface="Nimbus Sans"/>
                <a:ea typeface="Nimbus Sans"/>
                <a:cs typeface="Nimbus Sans"/>
              </a:rPr>
              <a:t>anti-CD40L therapy for multiple sclerosis and anti-TFPI therapy for haemophilia</a:t>
            </a:r>
          </a:p>
        </p:txBody>
      </p:sp>
      <p:sp>
        <p:nvSpPr>
          <p:cNvPr id="16" name="Source footnote">
            <a:extLst xmlns:a="http://schemas.openxmlformats.org/drawingml/2006/main">
              <a:ext uri="{FF2B5EF4-FFF2-40B4-BE49-F238E27FC236}">
                <a16:creationId xmlns:a16="http://schemas.microsoft.com/office/drawing/2014/main" id="{0F96D37E-0AA9-4F93-BA30-F49999185528}"/>
              </a:ext>
            </a:extLst>
          </p:cNvPr>
          <p:cNvSpPr>
            <a:spLocks xmlns:a="http://schemas.openxmlformats.org/drawingml/2006/main" noGrp="1"/>
          </p:cNvSpPr>
          <p:nvPr/>
        </p:nvSpPr>
        <p:spPr>
          <a:xfrm xmlns:a="http://schemas.openxmlformats.org/drawingml/2006/main">
            <a:off x="609600" y="8086725"/>
            <a:ext cx="14020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657682"/>
                </a:solidFill>
                <a:latin typeface="Nimbus Sans"/>
                <a:ea typeface="Nimbus Sans"/>
                <a:cs typeface="Nimbus Sans"/>
              </a:defRPr>
            </a:defPPr>
            <a:lvl1pPr algn="l">
              <a:defRPr sz="1125" b="0">
                <a:solidFill>
                  <a:srgbClr val="657682"/>
                </a:solidFill>
                <a:latin typeface="Nimbus Sans"/>
                <a:ea typeface="Nimbus Sans"/>
                <a:cs typeface="Nimbus Sans"/>
              </a:defRPr>
            </a:lvl1pPr>
            <a:lvl2pPr algn="l">
              <a:defRPr sz="1125" b="0">
                <a:solidFill>
                  <a:srgbClr val="657682"/>
                </a:solidFill>
                <a:latin typeface="Nimbus Sans"/>
                <a:ea typeface="Nimbus Sans"/>
                <a:cs typeface="Nimbus Sans"/>
              </a:defRPr>
            </a:lvl2pPr>
            <a:lvl3pPr algn="l">
              <a:defRPr sz="1125" b="0">
                <a:solidFill>
                  <a:srgbClr val="657682"/>
                </a:solidFill>
                <a:latin typeface="Nimbus Sans"/>
                <a:ea typeface="Nimbus Sans"/>
                <a:cs typeface="Nimbus Sans"/>
              </a:defRPr>
            </a:lvl3pPr>
            <a:lvl4pPr algn="l">
              <a:defRPr sz="1125" b="0">
                <a:solidFill>
                  <a:srgbClr val="657682"/>
                </a:solidFill>
                <a:latin typeface="Nimbus Sans"/>
                <a:ea typeface="Nimbus Sans"/>
                <a:cs typeface="Nimbus Sans"/>
              </a:defRPr>
            </a:lvl4pPr>
            <a:lvl5pPr algn="l">
              <a:defRPr sz="1125" b="0">
                <a:solidFill>
                  <a:srgbClr val="657682"/>
                </a:solidFill>
                <a:latin typeface="Nimbus Sans"/>
                <a:ea typeface="Nimbus Sans"/>
                <a:cs typeface="Nimbus Sans"/>
              </a:defRPr>
            </a:lvl5pPr>
            <a:lvl6pPr algn="l">
              <a:defRPr sz="1125" b="0">
                <a:solidFill>
                  <a:srgbClr val="657682"/>
                </a:solidFill>
                <a:latin typeface="Nimbus Sans"/>
                <a:ea typeface="Nimbus Sans"/>
                <a:cs typeface="Nimbus Sans"/>
              </a:defRPr>
            </a:lvl6pPr>
            <a:lvl7pPr algn="l">
              <a:defRPr sz="1125" b="0">
                <a:solidFill>
                  <a:srgbClr val="657682"/>
                </a:solidFill>
                <a:latin typeface="Nimbus Sans"/>
                <a:ea typeface="Nimbus Sans"/>
                <a:cs typeface="Nimbus Sans"/>
              </a:defRPr>
            </a:lvl7pPr>
            <a:lvl8pPr algn="l">
              <a:defRPr sz="1125" b="0">
                <a:solidFill>
                  <a:srgbClr val="657682"/>
                </a:solidFill>
                <a:latin typeface="Nimbus Sans"/>
                <a:ea typeface="Nimbus Sans"/>
                <a:cs typeface="Nimbus Sans"/>
              </a:defRPr>
            </a:lvl8pPr>
            <a:lvl9pPr algn="l">
              <a:defRPr sz="1125" b="0">
                <a:solidFill>
                  <a:srgbClr val="657682"/>
                </a:solidFill>
                <a:latin typeface="Nimbus Sans"/>
                <a:ea typeface="Nimbus Sans"/>
                <a:cs typeface="Nimbus Sans"/>
              </a:defRPr>
            </a:lvl9pPr>
          </a:lstStyle>
          <a:p xmlns:a="http://schemas.openxmlformats.org/drawingml/2006/main">
            <a:pPr algn="l">
              <a:lnSpc>
                <a:spcPct val="108000"/>
              </a:lnSpc>
              <a:buNone/>
              <a:defRPr sz="1125" b="0">
                <a:solidFill>
                  <a:srgbClr val="657682"/>
                </a:solidFill>
                <a:latin typeface="Nimbus Sans"/>
                <a:ea typeface="Nimbus Sans"/>
                <a:cs typeface="Nimbus Sans"/>
              </a:defRPr>
            </a:pPr>
            <a:r>
              <a:rPr sz="1125" b="0">
                <a:solidFill>
                  <a:srgbClr val="657682"/>
                </a:solidFill>
                <a:latin typeface="Nimbus Sans"/>
                <a:ea typeface="Nimbus Sans"/>
                <a:cs typeface="Nimbus Sans"/>
              </a:rPr>
              <a:t>Source: ClinicalTrials.gov API, CDSCO, FDA, MHRA, EMA and company disclosures, 21 Oct 2026. Trial series is not a full CTRI census.</a:t>
            </a:r>
          </a:p>
        </p:txBody>
      </p:sp>
      <p:sp>
        <p:nvSpPr>
          <p:cNvPr id="17" name="Scope footnote">
            <a:extLst xmlns:a="http://schemas.openxmlformats.org/drawingml/2006/main">
              <a:ext uri="{FF2B5EF4-FFF2-40B4-BE49-F238E27FC236}">
                <a16:creationId xmlns:a16="http://schemas.microsoft.com/office/drawing/2014/main" id="{79672B94-B408-43FB-8AF7-D3B788F08805}"/>
              </a:ext>
            </a:extLst>
          </p:cNvPr>
          <p:cNvSpPr>
            <a:spLocks xmlns:a="http://schemas.openxmlformats.org/drawingml/2006/main" noGrp="1"/>
          </p:cNvSpPr>
          <p:nvPr/>
        </p:nvSpPr>
        <p:spPr>
          <a:xfrm xmlns:a="http://schemas.openxmlformats.org/drawingml/2006/main">
            <a:off x="609600" y="8305800"/>
            <a:ext cx="14020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a:solidFill>
                  <a:srgbClr val="657682"/>
                </a:solidFill>
                <a:latin typeface="Nimbus Sans"/>
                <a:ea typeface="Nimbus Sans"/>
                <a:cs typeface="Nimbus Sans"/>
              </a:defRPr>
            </a:defPPr>
            <a:lvl1pPr algn="l">
              <a:defRPr sz="1050" b="0">
                <a:solidFill>
                  <a:srgbClr val="657682"/>
                </a:solidFill>
                <a:latin typeface="Nimbus Sans"/>
                <a:ea typeface="Nimbus Sans"/>
                <a:cs typeface="Nimbus Sans"/>
              </a:defRPr>
            </a:lvl1pPr>
            <a:lvl2pPr algn="l">
              <a:defRPr sz="1050" b="0">
                <a:solidFill>
                  <a:srgbClr val="657682"/>
                </a:solidFill>
                <a:latin typeface="Nimbus Sans"/>
                <a:ea typeface="Nimbus Sans"/>
                <a:cs typeface="Nimbus Sans"/>
              </a:defRPr>
            </a:lvl2pPr>
            <a:lvl3pPr algn="l">
              <a:defRPr sz="1050" b="0">
                <a:solidFill>
                  <a:srgbClr val="657682"/>
                </a:solidFill>
                <a:latin typeface="Nimbus Sans"/>
                <a:ea typeface="Nimbus Sans"/>
                <a:cs typeface="Nimbus Sans"/>
              </a:defRPr>
            </a:lvl3pPr>
            <a:lvl4pPr algn="l">
              <a:defRPr sz="1050" b="0">
                <a:solidFill>
                  <a:srgbClr val="657682"/>
                </a:solidFill>
                <a:latin typeface="Nimbus Sans"/>
                <a:ea typeface="Nimbus Sans"/>
                <a:cs typeface="Nimbus Sans"/>
              </a:defRPr>
            </a:lvl4pPr>
            <a:lvl5pPr algn="l">
              <a:defRPr sz="1050" b="0">
                <a:solidFill>
                  <a:srgbClr val="657682"/>
                </a:solidFill>
                <a:latin typeface="Nimbus Sans"/>
                <a:ea typeface="Nimbus Sans"/>
                <a:cs typeface="Nimbus Sans"/>
              </a:defRPr>
            </a:lvl5pPr>
            <a:lvl6pPr algn="l">
              <a:defRPr sz="1050" b="0">
                <a:solidFill>
                  <a:srgbClr val="657682"/>
                </a:solidFill>
                <a:latin typeface="Nimbus Sans"/>
                <a:ea typeface="Nimbus Sans"/>
                <a:cs typeface="Nimbus Sans"/>
              </a:defRPr>
            </a:lvl6pPr>
            <a:lvl7pPr algn="l">
              <a:defRPr sz="1050" b="0">
                <a:solidFill>
                  <a:srgbClr val="657682"/>
                </a:solidFill>
                <a:latin typeface="Nimbus Sans"/>
                <a:ea typeface="Nimbus Sans"/>
                <a:cs typeface="Nimbus Sans"/>
              </a:defRPr>
            </a:lvl7pPr>
            <a:lvl8pPr algn="l">
              <a:defRPr sz="1050" b="0">
                <a:solidFill>
                  <a:srgbClr val="657682"/>
                </a:solidFill>
                <a:latin typeface="Nimbus Sans"/>
                <a:ea typeface="Nimbus Sans"/>
                <a:cs typeface="Nimbus Sans"/>
              </a:defRPr>
            </a:lvl8pPr>
            <a:lvl9pPr algn="l">
              <a:defRPr sz="1050" b="0">
                <a:solidFill>
                  <a:srgbClr val="657682"/>
                </a:solidFill>
                <a:latin typeface="Nimbus Sans"/>
                <a:ea typeface="Nimbus Sans"/>
                <a:cs typeface="Nimbus Sans"/>
              </a:defRPr>
            </a:lvl9pPr>
          </a:lstStyle>
          <a:p xmlns:a="http://schemas.openxmlformats.org/drawingml/2006/main">
            <a:pPr algn="l">
              <a:lnSpc>
                <a:spcPct val="108000"/>
              </a:lnSpc>
              <a:buNone/>
              <a:defRPr sz="1050" b="0">
                <a:solidFill>
                  <a:srgbClr val="657682"/>
                </a:solidFill>
                <a:latin typeface="Nimbus Sans"/>
                <a:ea typeface="Nimbus Sans"/>
                <a:cs typeface="Nimbus Sans"/>
              </a:defRPr>
            </a:pPr>
            <a:r>
              <a:rPr sz="1050" b="0">
                <a:solidFill>
                  <a:srgbClr val="657682"/>
                </a:solidFill>
                <a:latin typeface="Nimbus Sans"/>
                <a:ea typeface="Nimbus Sans"/>
                <a:cs typeface="Nimbus Sans"/>
              </a:rPr>
              <a:t>Posting cohorts use current sponsor and site listings. Selected approval cases are not an industry average. Approval dates differ from commercial launches.</a:t>
            </a:r>
          </a:p>
        </p:txBody>
      </p:sp>
    </p:spTree>
    <p:extLst>
      <p:ext uri="{BB962C8B-B14F-4D97-AF65-F5344CB8AC3E}">
        <p14:creationId xmlns:p14="http://schemas.microsoft.com/office/powerpoint/2010/main" val="2095490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2026-10-21T11:00:18.2680000Z</dcterms:created>
  <dcterms:modified xsi:type="dcterms:W3CDTF">2026-10-21T11:00:18.2680000Z</dcterms:modified>
</coreProperties>
</file>