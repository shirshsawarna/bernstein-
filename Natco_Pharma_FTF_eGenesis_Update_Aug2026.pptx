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e93d92153f447c" /><Relationship Type="http://schemas.openxmlformats.org/officeDocument/2006/relationships/extended-properties" Target="/docProps/app.xml" Id="R4d73e23941cd403b" /><Relationship Type="http://schemas.openxmlformats.org/officeDocument/2006/relationships/officeDocument" Target="/ppt/presentation.xml" Id="R000899d3fee74d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ecb413f6394c56"/>
  </p:sldMasterIdLst>
  <p:notesMasterIdLst>
    <p:notesMasterId xmlns:r="http://schemas.openxmlformats.org/officeDocument/2006/relationships" r:id="R00cb56334e90403e"/>
  </p:notesMasterIdLst>
  <p:sldIdLst>
    <p:sldId xmlns:r="http://schemas.openxmlformats.org/officeDocument/2006/relationships" id="256" r:id="R8f8c1494abbd4770"/>
    <p:sldId xmlns:r="http://schemas.openxmlformats.org/officeDocument/2006/relationships" id="257" r:id="Rd35dbba6e3e443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685faf7a1f43ce" /><Relationship Type="http://schemas.openxmlformats.org/officeDocument/2006/relationships/slideMaster" Target="/ppt/slideMasters/slideMaster1.xml" Id="R5fecb413f6394c56" /><Relationship Type="http://schemas.openxmlformats.org/officeDocument/2006/relationships/notesMaster" Target="/ppt/notesMasters/notesMaster1.xml" Id="R00cb56334e90403e" /><Relationship Type="http://schemas.openxmlformats.org/officeDocument/2006/relationships/presProps" Target="/ppt/presProps.xml" Id="Rcf29b9769b3742d5" /><Relationship Type="http://schemas.openxmlformats.org/officeDocument/2006/relationships/tableStyles" Target="/ppt/tableStyles.xml" Id="R6753d0b80a2342a7" /><Relationship Type="http://schemas.openxmlformats.org/officeDocument/2006/relationships/slide" Target="/ppt/slides/slide1.xml" Id="R8f8c1494abbd4770" /><Relationship Type="http://schemas.openxmlformats.org/officeDocument/2006/relationships/slide" Target="/ppt/slides/slide2.xml" Id="Rd35dbba6e3e443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d01dc4d94741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3be7dc80864b26" /><Relationship Type="http://schemas.openxmlformats.org/officeDocument/2006/relationships/notesMaster" Target="/ppt/notesMasters/notesMaster1.xml" Id="Rec8c3aa92ae646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000db47a004fae" /><Relationship Type="http://schemas.openxmlformats.org/officeDocument/2006/relationships/notesMaster" Target="/ppt/notesMasters/notesMaster1.xml" Id="R2f3499bbacfc4d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NATCO investor presentation, 19 Aug 2026: https://admin.natcopharma.co.in/wp-content/uploads/2026/08/InvestorPresentation19082026.pdf</a:t>
            </a:r>
          </a:p>
          <a:p xmlns:a="http://schemas.openxmlformats.org/drawingml/2006/main">
            <a:r>
              <a:t>- NATCO Q1 FY27 earnings call transcript, 14 Aug 2026: https://nsearchives.nseindia.com/corporate/NATCOPHARM_18082026123626_Q1EarningscallTranscript.pdf</a:t>
            </a:r>
          </a:p>
          <a:p xmlns:a="http://schemas.openxmlformats.org/drawingml/2006/main">
            <a:r>
              <a:t>- NATCO Q4 FY26 call, pomalidomide competitiveness: https://www.alphaspread.com/security/nse/natcopharm/investor-relations/earnings-call/q4-2026</a:t>
            </a:r>
          </a:p>
          <a:p xmlns:a="http://schemas.openxmlformats.org/drawingml/2006/main">
            <a:r>
              <a:t>- FDA first generic approvals: https://www.fda.gov/drugs/drug-and-biologic-approval-and-ind-activity-reports/first-generic-drug-approvals</a:t>
            </a:r>
          </a:p>
          <a:p xmlns:a="http://schemas.openxmlformats.org/drawingml/2006/main">
            <a:r>
              <a:t>- FDA tentative approval definition: https://www.fda.gov/drugs/abbreviated-new-drug-application-anda/generic-drugs-program-activities-report-fy-2024-monthly-performance</a:t>
            </a:r>
          </a:p>
          <a:p xmlns:a="http://schemas.openxmlformats.org/drawingml/2006/main">
            <a:r>
              <a:t>- Carfilzomib settlement / approval: https://breckenridgepharma.com/carfilzomib-approval-generic-kyprolis/</a:t>
            </a:r>
          </a:p>
          <a:p xmlns:a="http://schemas.openxmlformats.org/drawingml/2006/main">
            <a:r>
              <a:t>- Carfilzomib settlement launch timing: https://economictimes.indiatimes.com/industry/healthcare/biotech/pharmaceuticals/natco-onyx-settle-cancer-drug-patent-litigation/articleshow/69591844.cms</a:t>
            </a:r>
          </a:p>
          <a:p xmlns:a="http://schemas.openxmlformats.org/drawingml/2006/main">
            <a:r>
              <a:t>- Amgen 2025 10-K (Kyprolis US sales): https://www.sec.gov/Archives/edgar/data/318154/000031815426000010/amgn-20251231.htm</a:t>
            </a:r>
          </a:p>
          <a:p xmlns:a="http://schemas.openxmlformats.org/drawingml/2006/main">
            <a:r>
              <a:t>- Olaparib TA / sales: https://www.ndtvprofit.com/markets/natco-pharma-shares-rise-1-5-after-us-fda-tentative-approval-for-generic-cancer-drug-11794266</a:t>
            </a:r>
          </a:p>
          <a:p xmlns:a="http://schemas.openxmlformats.org/drawingml/2006/main">
            <a:r>
              <a:t>- Olaparib FTF filing: https://health.economictimes.indiatimes.com/news/pharma/natco-pharma-submits-application-with-usfda-for-generic-cancer-drug/97864131</a:t>
            </a:r>
          </a:p>
          <a:p xmlns:a="http://schemas.openxmlformats.org/drawingml/2006/main">
            <a:r>
              <a:t>- Ibrutinib TA / sole FTF: https://www.business-standard.com/article/news-cm/natco-receives-usfda-tentative-approval-for-ibrutinib-tablets-121041200338_1.html</a:t>
            </a:r>
          </a:p>
          <a:p xmlns:a="http://schemas.openxmlformats.org/drawingml/2006/main">
            <a:r>
              <a:t>- AbbVie 2025 10-K (Imbruvica US sales): https://www.sec.gov/Archives/edgar/data/1551152/000155115226000008/abbv-20251231.htm</a:t>
            </a:r>
          </a:p>
          <a:p xmlns:a="http://schemas.openxmlformats.org/drawingml/2006/main">
            <a:r>
              <a:t>- Erdafitinib TA / sales: https://www.business-standard.com/markets/capital-market-news/natco-pharma-receives-usfda-tentative-approval-for-erdafitinib-tablets-126020301532_1.html</a:t>
            </a:r>
          </a:p>
          <a:p xmlns:a="http://schemas.openxmlformats.org/drawingml/2006/main">
            <a:r>
              <a:t>- Capmatinib P-IV / claimed sole FTF: https://pharma.economictimes.indiatimes.com/news/pharma-industry/natco-pharma-submits-abbreviated-new-drug-application-with-usfda-for-generic-cancer-drug/112903521</a:t>
            </a:r>
          </a:p>
          <a:p xmlns:a="http://schemas.openxmlformats.org/drawingml/2006/main">
            <a:r>
              <a:t>- Capmatinib patents / no generic approval: https://www.drugs.com/availability/generic-tabrecta.html</a:t>
            </a:r>
          </a:p>
          <a:p xmlns:a="http://schemas.openxmlformats.org/drawingml/2006/main">
            <a:r>
              <a:t>- Semaglutide settlement / FTF context: https://www.fiercepharma.com/pharma/novos-patent-litigation-settlement-mylan-could-pave-way-cheaper-ozempic-generics</a:t>
            </a:r>
          </a:p>
          <a:p xmlns:a="http://schemas.openxmlformats.org/drawingml/2006/main">
            <a:r>
              <a:t>- Novo Nordisk 2025 semaglutide sales: https://www.vcbeathealth.com/article/31222</a:t>
            </a:r>
          </a:p>
          <a:p xmlns:a="http://schemas.openxmlformats.org/drawingml/2006/main">
            <a:r>
              <a:t>- Pomalidomide launch / sales: https://www.ibef.org/news/natco-pharma-launches-generic-blood-cancer-treatment-medicine-in-us</a:t>
            </a:r>
          </a:p>
          <a:p xmlns:a="http://schemas.openxmlformats.org/drawingml/2006/main">
            <a:r>
              <a:t>- Analyst sensitivity: product gross = annual brand sales × 0.5 × 40–60% unit capture × 35–50% net price; NATCO-equivalent uses an explicit 50% convention, not disclosed partner terms.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NATCO investor presentation, 19 Aug 2026: https://admin.natcopharma.co.in/wp-content/uploads/2026/08/InvestorPresentation19082026.pdf</a:t>
            </a:r>
          </a:p>
          <a:p xmlns:a="http://schemas.openxmlformats.org/drawingml/2006/main">
            <a:r>
              <a:t>- Initial US$8m eGenesis investment: https://www.business-standard.com/markets/capital-market-news/natco-pharma-canada-arm-invests-8-mln-in-egenesis-124090400378_1.html</a:t>
            </a:r>
          </a:p>
          <a:p xmlns:a="http://schemas.openxmlformats.org/drawingml/2006/main">
            <a:r>
              <a:t>- eGenesis US$191m Series D: https://egenesisbio.com/news-media/press-releases/egenesis-raises-191-million-series-d-financing-to-advance-lead-program-for-kidney-transplant</a:t>
            </a:r>
          </a:p>
          <a:p xmlns:a="http://schemas.openxmlformats.org/drawingml/2006/main">
            <a:r>
              <a:t>- Additional US$14m convertible-note investment: https://pharma.economictimes.indiatimes.com/news/pharma-industry/natco-to-infuse-14-million-in-us-biotech-egenesis/133527535</a:t>
            </a:r>
          </a:p>
          <a:p xmlns:a="http://schemas.openxmlformats.org/drawingml/2006/main">
            <a:r>
              <a:t>- Investment subsidiaries / completion timing: https://www.business-standard.com/amp/industry/news/natco-pharma-to-invest-14-mn-in-us-based-biotechnology-firm-egenesis-inc-126082500639_1.html</a:t>
            </a:r>
          </a:p>
          <a:p xmlns:a="http://schemas.openxmlformats.org/drawingml/2006/main">
            <a:r>
              <a:t>- eGenesis kidney IND / edits / patient data / unmet need: https://egenesisbio.com/news-media/press-releases/egenesis-announces-ind-clearance-for-egen-2784-in-kidney-transplant-and-landmark-patient-updates-in-ongoing-expanded-access-study</a:t>
            </a:r>
          </a:p>
          <a:p xmlns:a="http://schemas.openxmlformats.org/drawingml/2006/main">
            <a:r>
              <a:t>- eGenesis pipeline: https://egenesisbio.com/pipeline</a:t>
            </a:r>
          </a:p>
          <a:p xmlns:a="http://schemas.openxmlformats.org/drawingml/2006/main">
            <a:r>
              <a:t>- eGenesis liver IND / study / unmet need: https://egenesisbio.com/news-media/press-releases/egenesis-and-organox-announce-u-s-fda-clearance-of-ind-application-for-the-treatment-of-patients-with-acute-on-chronic-liver-failure</a:t>
            </a:r>
          </a:p>
          <a:p xmlns:a="http://schemas.openxmlformats.org/drawingml/2006/main">
            <a:r>
              <a:t>- eGenesis patient durability context: https://egenesisbio.com/patient-stories/andrews</a:t>
            </a:r>
          </a:p>
          <a:p xmlns:a="http://schemas.openxmlformats.org/drawingml/2006/main">
            <a:r>
              <a:t>- Interpretation: NATCO disclosures describe preferred equity and convertible notes; ownership percentage, conversion terms, valuation and explicit product/geography rights were not disclosed.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9a658eae943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6a968f9a7c4237" /><Relationship Type="http://schemas.openxmlformats.org/officeDocument/2006/relationships/slideLayout" Target="/ppt/slideLayouts/slideLayout1.xml" Id="R9ae739610d6b43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e739610d6b43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5e8b1fc164e79" /><Relationship Type="http://schemas.openxmlformats.org/officeDocument/2006/relationships/notesSlide" Target="/ppt/notesSlides/notesSlide1.xml" Id="Rbce45f89588d42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d42987cea42d1" /><Relationship Type="http://schemas.openxmlformats.org/officeDocument/2006/relationships/notesSlide" Target="/ppt/notesSlides/notesSlide2.xml" Id="Rb0d66f823eea47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97AD0B3-4DBE-4BBE-89F6-37A46AE5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NATCO PHARMA | INVESTOR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B51F9-032F-41E4-91B3-040FD4D0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62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2738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27381"/>
                </a:solidFill>
                <a:latin typeface="Arial"/>
                <a:ea typeface="Arial"/>
                <a:cs typeface="Arial"/>
              </a:rPr>
              <a:t>US PARAGRAPH IV / FIRST-TO-FILE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F1CA6-3B6F-414A-9A0F-BA80E7AB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A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55B20-45F7-45DD-9469-7789DB5E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6273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38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5B242-6F66-412F-855A-2F6FBB2E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6273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381"/>
                </a:solidFill>
                <a:latin typeface="Arial"/>
                <a:ea typeface="Arial"/>
                <a:cs typeface="Arial"/>
              </a:rPr>
              <a:t>26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4B9E1-B265-4556-9909-A408363D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6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FTF update: FY28 launch names remain confidential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6269A-C1DF-4E66-88B9-C9DB4F52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2738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381"/>
                </a:solidFill>
                <a:latin typeface="Arial"/>
                <a:ea typeface="Arial"/>
                <a:cs typeface="Arial"/>
              </a:rPr>
              <a:t>FDA milestones are landing, but approval ≠ launch | TA = tentative approval; P-IV = Paragraph IV patent challenge; FTF can be sole or shared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AA9DF-4CB5-4EA8-AEAD-E338ADA1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80486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00483-D2CC-4639-BCB0-BDCD6C0A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MOLECULE / BRAND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EA61F-B26A-4D02-935C-5E4DFE0A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24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LATEST FDA + FTF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B954C-9C65-455F-AAB1-A2FB8242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24000"/>
            <a:ext cx="1800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EARLIEST DISCLOSED LAUNCH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CFF49-6CD5-491C-8272-CE315601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5240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BRAND SALES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10AF6-A8F7-4779-8D2D-C4C6F115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8048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236B6-153B-4BCD-A251-97106556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Pomalidomide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Pomalyst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8D867-7A09-490F-AC2B-AE792C82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907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56623-D253-4960-8D34-920FC50E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57375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Final; launched Mar-26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Shared FTF (4–5 filers)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8889D-C82B-4FCC-B9BD-9DA327B5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C5847-1C3D-4F96-8583-71D52656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57375"/>
            <a:ext cx="1800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Launched Mar-26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No earnings bump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3FA06E-39E2-4F94-9391-63B37049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7907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C9A0F-6FD4-4412-9038-1B49104C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857375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$3.2bn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MAT Sep-25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CE8E37-7152-417D-ADF9-E034EC8A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8048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1"/>
          </a:solidFill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42D69-AE9A-465C-B48A-C40F712D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Carfilzomib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Kyprolis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30217F-0A35-4738-82BB-FD9B2E39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860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195108-54A2-4D3D-BDFC-9DD4F20C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52675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Final 10/60mg; TA 30mg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Sole FTF 10mg; shared 60mg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0C532E-4C5F-4875-86E1-031697B0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860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3FDE32-BB0D-420D-B047-4FAB1680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52675"/>
            <a:ext cx="1800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Confidential date in 2027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—or sooner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1725D8-D918-4A29-AB0B-794F6D41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2860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A0E183-0DE8-4DE8-AC5C-898D4259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52675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$913m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CY25 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37C82D-DF30-4A3D-8DEC-A36013F3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8048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66C5D4-2D42-4884-A6E3-1906E48E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Olaparib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Lynparza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D92F36-9CBF-4374-BE46-0999D423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55C990-5FE9-456D-84AC-20FFE4E6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TA Jul-26; possible sole FTF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P-IV litigation ongoing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EABF30-2C81-43B5-BB1E-40CB1D75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89DFBE-7F5F-49DA-9636-C4059207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47975"/>
            <a:ext cx="1800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Undisclosed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Not FY28 base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49832A-2B27-4BAC-9AE0-CF610E9D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7813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121E1F-5F32-4F8F-8310-A1F3E8AC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47975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$1.4bn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MAT Mar-26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2AC500-2CC4-4B3C-93BB-F7D4A187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8048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1"/>
          </a:solidFill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9E4446-C6A8-4963-91F8-7E21C8F7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43275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Erdafitinib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Balversa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F896C3-EEBF-4411-81E5-B746E8E5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766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13908F-FE1D-43D8-8D7C-51BB205D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43275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TA Feb-26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Possible sole FTF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FF9711-98B6-4CE6-A2B4-C1AF5173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766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EF29FC-FD81-4FFC-8D92-C6074FE0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43275"/>
            <a:ext cx="1800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Patent litigation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No launch date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29345E-9FB4-4EB0-8CE1-6CAF2C77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2766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975286-CFBB-4375-B230-1B8300D1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343275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$60m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MAT Sep-25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B72E28-CA86-4609-8AEC-A6CB3052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8048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51372D-16E1-4826-A639-31A39824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38575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Idelalisib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Zydelig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8A8786-F356-469A-B4E1-5121D53A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719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D553EC-CD4A-4006-8899-86376D48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38575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Final Feb-26; first generic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Company lists solo FTF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856D58-2F74-4A9E-AB69-E972F20E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719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0949A9-E59A-4A3E-B87C-92DD1286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38575"/>
            <a:ext cx="1800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Final approval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Availability unconfirmed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559A13-43DD-4ECB-9949-D4370747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7719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422F75-6D46-499F-88E6-EEF023F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838575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N/D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Small / legacy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3A6722-266F-4F3C-8535-19159177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8048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1"/>
          </a:solidFill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B48ABF-39E3-4FF7-8A62-B755C760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Ibrutinib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Imbruvica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563428-C9E5-4070-90E1-420A2F7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672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673375-60E2-4793-94E2-2ACE18D5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33875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TA Apr-21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Sole FTF, all tablet strengths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4E1346-6834-432C-AC4F-4DF902DB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672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189569-8AA8-4905-B0F7-DFA25984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33875"/>
            <a:ext cx="1800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Long-dated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Timing undisclosed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006CE23-3835-4256-9A54-97C8482B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2672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08E2CD0-1788-4FA1-BE1A-A72FCB41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333875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$2.05bn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CY25 US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F281C3-355A-437D-9BD7-6B3B9723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8048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A6DF809-554C-43ED-BB32-2F4E1375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Capmatinib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Tabrecta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09231D-6A40-445F-9EC0-4CCE750A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BF449CF-9A7B-4B94-9294-736D86B1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29175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ANDA P-IV Aug-24; claimed sole FTF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No FDA approval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182BE6D-6753-42AA-B7F5-5661567E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7625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C395DD9-D06D-4A28-B5D7-D35F66E8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29175"/>
            <a:ext cx="1800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Litigation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Patents to 2035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E069B93-A244-4515-A827-C715A872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7625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3E7AAB7-1D1F-4BE2-88B2-16FECF22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829175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$126m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CY23 US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19D8E43-9F49-4B51-BB93-4801D58D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8048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1"/>
          </a:solidFill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5B64A0-8A97-45E5-BE86-CC6499D5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24475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Semaglutide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Ozempic / Wegovy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5D34A9D-2C33-487C-B587-DD38363B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578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53D474E-79CF-4336-83D5-9E1B2D7D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24475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Solo FTF claims; no US approval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Ozempic settled; Wegovy in suit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0EC3EBF-05F2-45B5-B75D-0FE59B0F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578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8BD3BCE-CD66-4E6F-B721-6F99A3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24475"/>
            <a:ext cx="1800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Confidential / long-dated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Not FY28 base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3AA2625-D984-4DE6-A373-4BA6038D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2578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A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FE0E7F0-4DBA-4584-90E3-0ED5F9C9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324475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$34.6bn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63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CY25 global*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9DE3E9D-9FBD-41D3-BCF5-329426B4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4382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How FTF converts to cash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22C19C1-016F-4739-ACB0-E4829074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75260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A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80FD293-F044-4002-825D-9433E1EB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57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4E1F74D-8499-4EC1-9DDE-8A41ACD1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47850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P-IV ANDA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B06F4FB-6391-4617-9562-64A3F3E1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478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88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Challenge an Orange Book patent as invalid / not infringed.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87E8EDD-8C80-4BB5-ADD0-D43FA4FE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00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1AFD9C0-48B9-4D7F-9550-AA04EA43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90775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First eligible filer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5882B06-5041-48DF-8137-3898A96C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908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88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Gets 180 days versus later ANDAs—but exclusivity may be shared.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08FF7C1-D3D8-44F6-B5EC-51DA0A21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43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9DD88EB-4E55-4184-9C51-AAFF1B26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33700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Launch gate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EBE07A3-4558-4E17-95D9-4CF1C5A5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337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88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Needs final FDA approval plus patent, stay or settlement clearance. TA is not launch.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9ED1E1D-AF64-415B-9A89-239324DF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590925"/>
            <a:ext cx="3000375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4E6DE"/>
          </a:solidFill>
          <a:ln xmlns:a="http://schemas.openxmlformats.org/drawingml/2006/main" w="9525">
            <a:solidFill>
              <a:srgbClr val="E5C7B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A615239-C628-496D-ADF5-A169D6B8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714750"/>
            <a:ext cx="2733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B85C38"/>
                </a:solidFill>
                <a:latin typeface="Arial"/>
                <a:ea typeface="Arial"/>
                <a:cs typeface="Arial"/>
              </a:rPr>
              <a:t>FY28 read-through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5A359D4-CC2D-4871-B4F0-47C90A10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00500"/>
            <a:ext cx="2733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1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• Management: two exclusivity launches; names confidential.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01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• Carfilzomib is most identifiable (2027 settlement date—or sooner).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01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• Inference—not company confirmation.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B1B5699-EC01-4AD4-B18F-EF514F54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848225"/>
            <a:ext cx="30003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DEDEA"/>
          </a:solidFill>
          <a:ln xmlns:a="http://schemas.openxmlformats.org/drawingml/2006/main" w="9525">
            <a:solidFill>
              <a:srgbClr val="B9D8D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2E12F58-B44F-4B88-A9EE-A257D058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962525"/>
            <a:ext cx="2733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180-day sizing | illustrative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AF92900-F158-4767-8DD0-8CD75EEF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238750"/>
            <a:ext cx="2733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Gross = annual brand × 0.5 × 40–60% units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9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× 35–50% net price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7E9F83E-1400-4748-8A83-E3C25AFB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619750"/>
            <a:ext cx="1257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CARFILZOMIB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312E043-6093-4B22-BBFE-7BD1EBF7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800725"/>
            <a:ext cx="1257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01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$64–137m gross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01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$32–68m NATCO†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0D7D354-9C1A-42D7-8B51-A81AD956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619750"/>
            <a:ext cx="1257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OLAPARIB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E323EE7-8E03-4A77-944F-4A5F4FB4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800725"/>
            <a:ext cx="1257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01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$98–210m gross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01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$49–105m NATCO†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1CBC164-2688-43E4-A414-109CE1DC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3" b="0" i="0">
                <a:solidFill>
                  <a:srgbClr val="627381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627381"/>
                </a:solidFill>
                <a:latin typeface="Arial"/>
                <a:ea typeface="Arial"/>
                <a:cs typeface="Arial"/>
              </a:rPr>
              <a:t>* Global Ozempic + Wegovy + Rybelsus portfolio. †Assumes 50% economics only for sizing; partner split and strength mix are confidential. Pomalidomide shows that shared FTF can still be immaterial.</a:t>
            </a:r>
          </a:p>
        </p:txBody>
      </p:sp>
    </p:spTree>
    <p:extLst>
      <p:ext uri="{BB962C8B-B14F-4D97-AF65-F5344CB8AC3E}">
        <p14:creationId xmlns:p14="http://schemas.microsoft.com/office/powerpoint/2010/main" val="956202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E79C00A-E05D-424F-8DC2-55DE8952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NATCO PHARMA | INVESTOR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B6C5B-D67B-43E1-821D-952E07C7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62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2738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27381"/>
                </a:solidFill>
                <a:latin typeface="Arial"/>
                <a:ea typeface="Arial"/>
                <a:cs typeface="Arial"/>
              </a:rPr>
              <a:t>eGENESIS / XENOTRANSPLANTATION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8133F-F3A3-4262-8B18-D87662E4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A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1CB81-C0CA-41D5-A47F-751734E0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6273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38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41481-26C6-42DC-8BCA-F264B673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6273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381"/>
                </a:solidFill>
                <a:latin typeface="Arial"/>
                <a:ea typeface="Arial"/>
                <a:cs typeface="Arial"/>
              </a:rPr>
              <a:t>26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71B78-1BE2-4D49-A398-CFA7C43A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6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eGenesis: US$22m buys option value in engineered pig organs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EA4B1-3B2E-4978-B954-8A7472D2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2738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381"/>
                </a:solidFill>
                <a:latin typeface="Arial"/>
                <a:ea typeface="Arial"/>
                <a:cs typeface="Arial"/>
              </a:rPr>
              <a:t>A pre-revenue, clinical-stage bet—not an FY27–28 earnings bridge | US$8m preferred equity + US$14m convertible notes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FACB4-4B0D-4CE5-B317-EA29E7F2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97A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10363-1540-4453-B6D3-B0EC2CA8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859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SEP 2024 | $8m EQUITY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95FAC-11C3-46BD-865D-6C87B1E1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1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40.63m preferred shares; part of eGenesis’s $191m Series D financing.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B1CAA-8AF6-4CD7-9EFA-5D496D08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85925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A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20A63-CBCA-4D2C-B923-636F7221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859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AUG 2026 | $14m CONVERTIBLE NOTES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802AF-A3C2-4761-93AA-71985699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526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1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8% compounded rate; $9.5m via NATCO Canada + $4.5m via NATCO South Africa; expected completion by 30 Sep 2026.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5EA42-FA05-4057-BA0F-6C947B28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85925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A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D4E42-6FF2-4BA4-B881-C94AE7F1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8592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85C38"/>
                </a:solidFill>
                <a:latin typeface="Arial"/>
                <a:ea typeface="Arial"/>
                <a:cs typeface="Arial"/>
              </a:rPr>
              <a:t>TOTAL EXPOSURE | $22m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34887-B8EA-4862-91D4-DB04D4F8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1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Ownership %, conversion terms, valuation and product / geography rights are not publicly disclosed.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1BAEC-C29B-4C18-BC7E-38E3918F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557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the platform does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55B3B-84A6-442A-BEA8-8AB8CD1D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A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1B39D-5A7D-4D1C-AF91-49D0B729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4200"/>
            <a:ext cx="3257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Xenotransplantation = using an animal organ to replace or support a failing human organ.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06AAE-F14E-49F1-A9AF-7B9DAC72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FCF63F-80DC-4098-8A04-761816FE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76650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REMOVE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C5F3A5-5164-4482-A260-3BD47A4F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676650"/>
            <a:ext cx="2200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3 pig glycan antigens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A34866-C899-4DB9-8345-C2364565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14775"/>
            <a:ext cx="2886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88" b="0" i="0">
                <a:solidFill>
                  <a:srgbClr val="627381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627381"/>
                </a:solidFill>
                <a:latin typeface="Arial"/>
                <a:ea typeface="Arial"/>
                <a:cs typeface="Arial"/>
              </a:rPr>
              <a:t>Reduce immediate antibody attack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EA97E4-702F-4B9E-8661-2E9B41C1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091F26-7E8B-4E3D-86F9-BE8A94C1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86250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F7C6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F7C62"/>
                </a:solidFill>
                <a:latin typeface="Arial"/>
                <a:ea typeface="Arial"/>
                <a:cs typeface="Arial"/>
              </a:rPr>
              <a:t>ADD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B7B79E-43C9-4D66-A9C6-5364596B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286250"/>
            <a:ext cx="2200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7 human protective genes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5D2F60-9091-462D-8E31-8D48C09E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24375"/>
            <a:ext cx="2886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88" b="0" i="0">
                <a:solidFill>
                  <a:srgbClr val="627381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627381"/>
                </a:solidFill>
                <a:latin typeface="Arial"/>
                <a:ea typeface="Arial"/>
                <a:cs typeface="Arial"/>
              </a:rPr>
              <a:t>Manage complement, coagulation, inflammation and immune mismatch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70C26D-9B9A-42AD-A10C-8ABFBEC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4EB9E4-99E1-4ADF-924B-1A4D7D71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95850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85C38"/>
                </a:solidFill>
                <a:latin typeface="Arial"/>
                <a:ea typeface="Arial"/>
                <a:cs typeface="Arial"/>
              </a:rPr>
              <a:t>SILENCE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CFD75C-453E-4DC6-9ADD-061EAF2E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895850"/>
            <a:ext cx="2200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PERV sequences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ED23E3-9C00-4A99-BC68-FEF74617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33975"/>
            <a:ext cx="2886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88" b="0" i="0">
                <a:solidFill>
                  <a:srgbClr val="627381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627381"/>
                </a:solidFill>
                <a:latin typeface="Arial"/>
                <a:ea typeface="Arial"/>
                <a:cs typeface="Arial"/>
              </a:rPr>
              <a:t>Reduce endogenous retrovirus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D333D4-5F0C-45E7-A2A9-0C541EBC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32575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CDD9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25F0B7-3672-48E5-ADF6-5240DB3C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Capability acquired?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F865C3-18D4-4639-8DCA-C86FE602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13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Financial investment; no disclosed transfer of genome-editing IP or operating control.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61D68E-4616-4800-B3FB-2B19DA3C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95575"/>
            <a:ext cx="4695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Pipeline and human proof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D12BA5-4626-47B9-8CB5-20C429C4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9900"/>
            <a:ext cx="4695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AD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BA8D28-855E-41FE-9BBE-793AAEC3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24200"/>
            <a:ext cx="4695825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DEDEA"/>
          </a:solidFill>
          <a:ln xmlns:a="http://schemas.openxmlformats.org/drawingml/2006/main" w="7620">
            <a:solidFill>
              <a:srgbClr val="D7DA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BEA340-4597-42CF-BD03-BFF2FF90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2420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9A2CF8-DCE7-4D35-A6CA-D35600D3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28975"/>
            <a:ext cx="433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CLINICAL | LEAD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D36A39-D214-4380-9326-6A56B383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290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EGEN-2784 kidney transplant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96309D-0778-4EE1-BA9D-C2CEF6B2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705225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88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3 expanded-access patients; 2 &gt;8 months off dialysis. FDA-cleared Phase 1/2/3; NATCO says a 33-patient registration study starts early 2027. Primary read at 24 weeks.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5384C1-6AEF-40BC-AC9F-49C4FA87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4695825" cy="1057275"/>
          </a:xfrm>
          <a:prstGeom xmlns:a="http://schemas.openxmlformats.org/drawingml/2006/main" prst="roundRect">
            <a:avLst>
              <a:gd name="adj" fmla="val 6306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7620">
            <a:solidFill>
              <a:srgbClr val="D7DA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627D8E-CC99-4D47-B6AA-4F9C819C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57150" cy="1057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0CE23A-9D90-4445-804F-F4F1F9B4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391025"/>
            <a:ext cx="433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4F7C6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F7C62"/>
                </a:solidFill>
                <a:latin typeface="Arial"/>
                <a:ea typeface="Arial"/>
                <a:cs typeface="Arial"/>
              </a:rPr>
              <a:t>CLINICAL | IND CLEARED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FE2BB8-0E09-49A9-BC62-99C5A5D6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5910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EGEN-5784 liver + OrganOx ELC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62A47B-1954-4B2A-B4D6-7BDE15D8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867275"/>
            <a:ext cx="433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88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Extracorporeal support—not implanted. FDA-cleared Phase 1 plans up to 20 ACLF patients ineligible for transplant; bridge to recovery or an allograft.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A64F27-E35C-450B-B6F7-08CE6018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38775"/>
            <a:ext cx="4695825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4EAD3"/>
          </a:solidFill>
          <a:ln xmlns:a="http://schemas.openxmlformats.org/drawingml/2006/main" w="7620">
            <a:solidFill>
              <a:srgbClr val="D7DA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333004-7B93-43F8-9354-2D646C1D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38775"/>
            <a:ext cx="5715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84042E-70CB-4E5D-A0B2-497B907C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543550"/>
            <a:ext cx="433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A7B2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A7B20"/>
                </a:solidFill>
                <a:latin typeface="Arial"/>
                <a:ea typeface="Arial"/>
                <a:cs typeface="Arial"/>
              </a:rPr>
              <a:t>PRECLINICAL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7B91D2-3CD5-4D53-AD5B-7D685373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743575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EGEN-4467 heart transplant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EB72F7-1C4F-4A03-86A4-BF987B09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6019800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88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Earlier-stage; published infant bridge-to-allotransplant model.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6231AB-9F7F-407C-9AD9-242E0FD9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95575"/>
            <a:ext cx="2752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Investment read-through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ECF3B3-1A2A-40F9-AD2B-5C628CD1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09900"/>
            <a:ext cx="2752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A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802EF2-87AD-49D2-B6D8-22D5B18C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162300"/>
            <a:ext cx="114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&gt;800k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94259C-C8C3-4F18-9780-BAA5CD72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62300"/>
            <a:ext cx="1790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88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Americans with end-stage kidney disease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D9BBEE-4E2F-40EA-9CA3-C5404211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76650"/>
            <a:ext cx="114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7A73"/>
                </a:solidFill>
                <a:latin typeface="Arial"/>
                <a:ea typeface="Arial"/>
                <a:cs typeface="Arial"/>
              </a:rPr>
              <a:t>28k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CBC2A2-1B4C-4613-BD06-628F80AD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05225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kidney transplants in 2024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D35528C-4ED1-45E0-A3BC-59F3F9DB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191000"/>
            <a:ext cx="114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B85C38"/>
                </a:solidFill>
                <a:latin typeface="Arial"/>
                <a:ea typeface="Arial"/>
                <a:cs typeface="Arial"/>
              </a:rPr>
              <a:t>&gt;50%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C0F70B-5D49-468B-B410-CECAC5BE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219575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five-year mortality on dialysis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486FA4-C114-40EB-B9C7-6DC30C8A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724400"/>
            <a:ext cx="2752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A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5045A71-6A02-4686-AD81-B62561B9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57750"/>
            <a:ext cx="2752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5C38"/>
                </a:solidFill>
                <a:latin typeface="Arial"/>
                <a:ea typeface="Arial"/>
                <a:cs typeface="Arial"/>
              </a:rPr>
              <a:t>WHAT MUST GO RIGHT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AFF345-ACED-4FF6-853F-CDAF60E4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124450"/>
            <a:ext cx="2752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• Durability + rejection / infection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• Pathogen-free organ supply at scale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• Ethics, consent and reimbursement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BF3031-0D7F-44DB-9938-3CD57601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695950"/>
            <a:ext cx="2752725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6DE"/>
          </a:solidFill>
          <a:ln xmlns:a="http://schemas.openxmlformats.org/drawingml/2006/main" w="9525">
            <a:solidFill>
              <a:srgbClr val="E5C7B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22896B9-C7D9-4A32-9A8E-13ABFCD7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781675"/>
            <a:ext cx="24860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 i="0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B85C38"/>
                </a:solidFill>
                <a:latin typeface="Arial"/>
                <a:ea typeface="Arial"/>
                <a:cs typeface="Arial"/>
              </a:rPr>
              <a:t>FUND-MANAGER FRAMING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99846A-EB6D-4D0B-8754-5F9D549B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991225"/>
            <a:ext cx="2486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Venture option; kidney is the catalyst.</a:t>
            </a:r>
          </a:p>
        </p:txBody>
      </p:sp>
    </p:spTree>
    <p:extLst>
      <p:ext uri="{BB962C8B-B14F-4D97-AF65-F5344CB8AC3E}">
        <p14:creationId xmlns:p14="http://schemas.microsoft.com/office/powerpoint/2010/main" val="1304025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2026-08-26T10:34:36.5380000Z</dcterms:created>
  <dcterms:modified xsi:type="dcterms:W3CDTF">2026-08-26T10:34:36.5380000Z</dcterms:modified>
</coreProperties>
</file>