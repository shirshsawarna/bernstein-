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75794ffffd24ac0" /><Relationship Type="http://schemas.openxmlformats.org/officeDocument/2006/relationships/extended-properties" Target="/docProps/app.xml" Id="Rc0ed60eddaeb443c" /><Relationship Type="http://schemas.openxmlformats.org/officeDocument/2006/relationships/officeDocument" Target="/ppt/presentation.xml" Id="Rf796e2c9f47a4707" /></Relationships>
</file>

<file path=ppt/presentation.xml><?xml version="1.0" encoding="utf-8"?>
<p:presentation xmlns:p="http://schemas.openxmlformats.org/presentationml/2006/main">
  <p:sldMasterIdLst>
    <p:sldMasterId xmlns:r="http://schemas.openxmlformats.org/officeDocument/2006/relationships" id="2147483648" r:id="R2048bf622e964b74"/>
  </p:sldMasterIdLst>
  <p:notesMasterIdLst>
    <p:notesMasterId xmlns:r="http://schemas.openxmlformats.org/officeDocument/2006/relationships" r:id="Rcd82fb9dae754e27"/>
  </p:notesMasterIdLst>
  <p:sldIdLst>
    <p:sldId xmlns:r="http://schemas.openxmlformats.org/officeDocument/2006/relationships" id="256" r:id="R37c54404b6194d2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58cd12361a4923" /><Relationship Type="http://schemas.openxmlformats.org/officeDocument/2006/relationships/slideMaster" Target="/ppt/slideMasters/slideMaster1.xml" Id="R2048bf622e964b74" /><Relationship Type="http://schemas.openxmlformats.org/officeDocument/2006/relationships/notesMaster" Target="/ppt/notesMasters/notesMaster1.xml" Id="Rcd82fb9dae754e27" /><Relationship Type="http://schemas.openxmlformats.org/officeDocument/2006/relationships/presProps" Target="/ppt/presProps.xml" Id="R7640edaa99d14385" /><Relationship Type="http://schemas.openxmlformats.org/officeDocument/2006/relationships/tableStyles" Target="/ppt/tableStyles.xml" Id="Rff892d67f5e44ba6" /><Relationship Type="http://schemas.openxmlformats.org/officeDocument/2006/relationships/slide" Target="/ppt/slides/slide1.xml" Id="R37c54404b6194d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be230ddb5849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db7db0145d41d1" /><Relationship Type="http://schemas.openxmlformats.org/officeDocument/2006/relationships/notesMaster" Target="/ppt/notesMasters/notesMaster1.xml" Id="Rf2fa2811ad734f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THESIS AND STATUS</a:t>
            </a:r>
          </a:p>
          <a:p xmlns:a="http://schemas.openxmlformats.org/drawingml/2006/main">
            <a:r>
              <a:t>The 17 October 2026 government notification regulates the combined trade spread for 137 identified non-scheduled anti-cancer medicines. Prices apply from 9 November 2026. The Supreme Court's reported questions on broader drug and device pricing are distinct from this notified scope. Further hearing is scheduled for 27 October 2026. This slide establishes a conditional access mechanism, not demonstrated volume growth or an MNC-versus-domestic growth advantage.</a:t>
            </a:r>
          </a:p>
          <a:p xmlns:a="http://schemas.openxmlformats.org/drawingml/2006/main">
            <a:r>
              <a:t/>
            </a:r>
          </a:p>
          <a:p xmlns:a="http://schemas.openxmlformats.org/drawingml/2006/main">
            <a:r>
              <a:t>PRIMARY NOTIFICATION</a:t>
            </a:r>
          </a:p>
          <a:p xmlns:a="http://schemas.openxmlformats.org/drawingml/2006/main">
            <a:r>
              <a:t>NPPA S.O. 5690(E), 17 October 2026. https://egazette.gov.in/WriteReadData/2026/277271.pdf . Official mirror: https://nppa.gov.in/storage/uploads/tender/277271-17-10-2026.pdf . Official endpoints intermittently failed. Notification text inspected via https://gazettetracker.com/g/CG-DL-E-17102026-277271 .</a:t>
            </a:r>
          </a:p>
          <a:p xmlns:a="http://schemas.openxmlformats.org/drawingml/2006/main">
            <a:r>
              <a:t>Table A sets pre-GST MRP = PTS/PTD / (1 - 30%). The 30% applies to MRP, equivalent to 42.86% markup on first-sale price. Base prices use March 2026 average net first-sale realisation, or FY26 if March sales are absent. Post-March launches use current PTS/PTD. Government sales and qualifying free patient-assistance quantities have stated exclusions. A direct hospital sale uses the hospital as first buyer. Existing lower MRPs remain lower. Patented drugs are included unless an applicable Paragraph 32 exemption has been approved. Molecular inclusion does not establish the exemption status of every brand.</a:t>
            </a:r>
          </a:p>
          <a:p xmlns:a="http://schemas.openxmlformats.org/drawingml/2006/main">
            <a:r>
              <a:t/>
            </a:r>
          </a:p>
          <a:p xmlns:a="http://schemas.openxmlformats.org/drawingml/2006/main">
            <a:r>
              <a:t>CHART 1</a:t>
            </a:r>
          </a:p>
          <a:p xmlns:a="http://schemas.openxmlformats.org/drawingml/2006/main">
            <a:r>
              <a:t>Official note (j) worked example: old MRP300, first-sale price70, revised ceiling100. Before:70manufacturer+230channel=300. After:70manufacturer+30channel=100. MRPdecline66.6667%. All values exclude GST. Holding the first-sale price constant illustrates the arithmetic and is not a guarantee about current or future manufacturer realisation. This is an example, not an observed average or an actual GSK product. Actual patient payments may already reflect discounts, insurance packages or PAP supplies.</a:t>
            </a:r>
          </a:p>
          <a:p xmlns:a="http://schemas.openxmlformats.org/drawingml/2006/main">
            <a:r>
              <a:t/>
            </a:r>
          </a:p>
          <a:p xmlns:a="http://schemas.openxmlformats.org/drawingml/2006/main">
            <a:r>
              <a:t>CHART 2</a:t>
            </a:r>
          </a:p>
          <a:p xmlns:a="http://schemas.openxmlformats.org/drawingml/2006/main">
            <a:r>
              <a:t>Analyst-authored sensitivity, not a forecast. Growth=(1+paid unit volume growth)*(1-net realised price decline)-1. Volume scenarios0/10/20/30%. No price cut gives0/10/20/30%revenuegrowth. 5%pricecutgives-5/4.5/14/23.5%. 10%pricecutgives-10/-1/8/17%. Break-even volume gain for a5%pricecut=5.263%, for10%=11.111%. No fixed demand elasticity is assumed and this is not EPS growth. Product mix heldconstant.</a:t>
            </a:r>
          </a:p>
          <a:p xmlns:a="http://schemas.openxmlformats.org/drawingml/2006/main">
            <a:r>
              <a:t/>
            </a:r>
          </a:p>
          <a:p xmlns:a="http://schemas.openxmlformats.org/drawingml/2006/main">
            <a:r>
              <a:t>GSK RELEVANCE</a:t>
            </a:r>
          </a:p>
          <a:p xmlns:a="http://schemas.openxmlformats.org/drawingml/2006/main">
            <a:r>
              <a:t>Table B names belantamab mafodotin serial15, dostarlimab41 and niraparib84. GSK FY26 results corroborate India oncology business led by Jemperli and Zejula: https://india-pharma.gsk.com/en-in/media/press-releases/gsk-india-builds-momentum-with-innovative-portfolio-reports-continued-profitable-growth-for-year-ended-31st-march-2026/ . Blenrep India prescribing information has importpermissionIMP/BIO/26/000039dated10April2026 https://india-pharma.gsk.com/media/u1tlj13l/blenrep.pdf . Permission does not establish commercial launch or revenue. No brand-specific Paragraph32exemptionstatus or actual November revised MRP established here. Trelegy ingredients, mepolizumab and GSK vaccine products do not appear in the notified137-moleculelist. The notification can apply to other uses of a listed molecule, so the general label oncology does not itself exempt all non-oncology uses.</a:t>
            </a:r>
          </a:p>
          <a:p xmlns:a="http://schemas.openxmlformats.org/drawingml/2006/main">
            <a:r>
              <a:t/>
            </a:r>
          </a:p>
          <a:p xmlns:a="http://schemas.openxmlformats.org/drawingml/2006/main">
            <a:r>
              <a:t>INDUSTRY INTERPRETATION</a:t>
            </a:r>
          </a:p>
          <a:p xmlns:a="http://schemas.openxmlformats.org/drawingml/2006/main">
            <a:r>
              <a:t>Lower channel spreads can reduce procurement preferences funded by generous markups. Clinical differentiation may become more relevant. This is an inference and efficient domestic generic or biosimilar companies can gain too. No evidence here proves a nationality-based advantage. Manufacturer net prices, channel service levels, PAP design, hospital billing offsets and paid treatment conversion determine the result.</a:t>
            </a:r>
          </a:p>
          <a:p xmlns:a="http://schemas.openxmlformats.org/drawingml/2006/main">
            <a:r>
              <a:t/>
            </a:r>
          </a:p>
          <a:p xmlns:a="http://schemas.openxmlformats.org/drawingml/2006/main">
            <a:r>
              <a:t>GOVERNMENT CORROBORATION</a:t>
            </a:r>
          </a:p>
          <a:p xmlns:a="http://schemas.openxmlformats.org/drawingml/2006/main">
            <a:r>
              <a:t>PIB DepartmentofPharmaceuticals17October2026 https://www.pib.gov.in/PressReleasePage.aspx?PRID=2324743 describes affordability, channel margin compression and safeguarding legitimate manufacturer revenues. This is policy intent, not a guaranteed earnings outcome.</a:t>
            </a:r>
          </a:p>
          <a:p xmlns:a="http://schemas.openxmlformats.org/drawingml/2006/main">
            <a:r>
              <a:t/>
            </a:r>
          </a:p>
          <a:p xmlns:a="http://schemas.openxmlformats.org/drawingml/2006/main">
            <a:r>
              <a:t>COURT REPORTING</a:t>
            </a:r>
          </a:p>
          <a:p xmlns:a="http://schemas.openxmlformats.org/drawingml/2006/main">
            <a:r>
              <a:t>LiveLaw12October2026 https://www.livelaw.in/top-stories/after-supreme-court-push-centre-to-cap-cancer-drug-margins-at-30-554311 , KishanChandJainvEthicsandMedicalRegistrationBoard,W.P.(C)794/2023. Broaderextensionisunderreview,notestablishedaslawbythecitedreport.</a:t>
            </a:r>
          </a:p>
          <a:p xmlns:a="http://schemas.openxmlformats.org/drawingml/2006/main">
            <a:r>
              <a:t/>
            </a:r>
          </a:p>
          <a:p xmlns:a="http://schemas.openxmlformats.org/drawingml/2006/main">
            <a:r>
              <a:t>EDITABILITY</a:t>
            </a:r>
          </a:p>
          <a:p xmlns:a="http://schemas.openxmlformats.org/drawingml/2006/main">
            <a:r>
              <a:t>Both charts and all text are native editable objects. Chart workbooks are literal data snapshots. Full editable formulas and qualifications are in the accompanying Excel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b97686280548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2b69b469af49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a3307cd6ab47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e0584d94874d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4af4a2174448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3fd20aaea842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66F32-1DE1-46C0-A8FD-613CFB91648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3AD8FD-5CA1-4B51-8203-F674AE7F961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C89F9-ECD6-4AC5-B945-B2BF6D4EA66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A73A9-B597-4FD0-B1BC-3CC40FB2602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61F54E-D883-49DD-B9EC-46A2807D913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336A0B-35CA-4DB5-AD72-98B556B0BC9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1E6898-A890-4FA9-824E-9C52E930B95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94D89F-500A-4DA4-AC01-EA2E2567E2C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7ABAF-A484-4463-9081-B09C83EF782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919632-6508-4C2A-AE36-878EE53C476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bb00742f8a466d" /><Relationship Type="http://schemas.openxmlformats.org/officeDocument/2006/relationships/slideLayout" Target="/ppt/slideLayouts/slideLayout1.xml" Id="R834612e230984e5a" /><Relationship Type="http://schemas.openxmlformats.org/officeDocument/2006/relationships/slideLayout" Target="/ppt/slideLayouts/slideLayout2.xml" Id="R230fb16bfaff460c" /><Relationship Type="http://schemas.openxmlformats.org/officeDocument/2006/relationships/slideLayout" Target="/ppt/slideLayouts/slideLayout3.xml" Id="Re759216754c14808" /><Relationship Type="http://schemas.openxmlformats.org/officeDocument/2006/relationships/slideLayout" Target="/ppt/slideLayouts/slideLayout4.xml" Id="Rf84df9c239f548fd" /><Relationship Type="http://schemas.openxmlformats.org/officeDocument/2006/relationships/slideLayout" Target="/ppt/slideLayouts/slideLayout5.xml" Id="Rf60e7822023144de" /><Relationship Type="http://schemas.openxmlformats.org/officeDocument/2006/relationships/slideLayout" Target="/ppt/slideLayouts/slideLayout6.xml" Id="R040c5e5a8acc4e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4612e230984e5a"/>
    <p:sldLayoutId xmlns:r="http://schemas.openxmlformats.org/officeDocument/2006/relationships" id="2147483650" r:id="R230fb16bfaff460c"/>
    <p:sldLayoutId xmlns:r="http://schemas.openxmlformats.org/officeDocument/2006/relationships" id="2147483651" r:id="Re759216754c14808"/>
    <p:sldLayoutId xmlns:r="http://schemas.openxmlformats.org/officeDocument/2006/relationships" id="2147483652" r:id="Rf84df9c239f548fd"/>
    <p:sldLayoutId xmlns:r="http://schemas.openxmlformats.org/officeDocument/2006/relationships" id="2147483653" r:id="Rf60e7822023144de"/>
    <p:sldLayoutId xmlns:r="http://schemas.openxmlformats.org/officeDocument/2006/relationships" id="2147483654" r:id="R040c5e5a8acc4e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758c3a5cfe4c0b" /><Relationship Type="http://schemas.openxmlformats.org/officeDocument/2006/relationships/chart" Target="/ppt/slides/charts/chart1.xml" Id="Ra2cf443a5b894005" /><Relationship Type="http://schemas.openxmlformats.org/officeDocument/2006/relationships/chart" Target="/ppt/slides/charts/chart2.xml" Id="R48e2926364e14250" /><Relationship Type="http://schemas.openxmlformats.org/officeDocument/2006/relationships/notesSlide" Target="/ppt/notesSlides/notesSlide1.xml" Id="R7c0a6452c9e74c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Manufacturer first-sale price</c:v>
          </c:tx>
          <c:spPr>
            <a:solidFill xmlns:a="http://schemas.openxmlformats.org/drawingml/2006/main">
              <a:srgbClr val="0067A6"/>
            </a:solidFill>
          </c:spPr>
          <c:invertIfNegative val="0"/>
          <c:cat>
            <c:strRef>
              <c:f>'Chart Data'!$A$2:$A$3</c:f>
              <c:strCache>
                <c:ptCount val="2"/>
                <c:pt idx="0">
                  <c:v>Before cap</c:v>
                </c:pt>
                <c:pt idx="1">
                  <c:v>At cap</c:v>
                </c:pt>
              </c:strCache>
            </c:strRef>
          </c:cat>
          <c:val>
            <c:numRef>
              <c:f>'Chart Data'!$B$2:$B$3</c:f>
              <c:numCache>
                <c:formatCode>0</c:formatCode>
                <c:ptCount val="2"/>
                <c:pt idx="0">
                  <c:v>70</c:v>
                </c:pt>
                <c:pt idx="1">
                  <c:v>70</c:v>
                </c:pt>
              </c:numCache>
            </c:numRef>
          </c:val>
        </c:ser>
        <c:ser>
          <c:idx val="1"/>
          <c:order val="1"/>
          <c:tx>
            <c:v>Combined channel spread</c:v>
          </c:tx>
          <c:spPr>
            <a:solidFill xmlns:a="http://schemas.openxmlformats.org/drawingml/2006/main">
              <a:srgbClr val="A5C9DD"/>
            </a:solidFill>
          </c:spPr>
          <c:invertIfNegative val="0"/>
          <c:cat>
            <c:strRef>
              <c:f>'Chart Data'!$C$2:$C$3</c:f>
              <c:strCache>
                <c:ptCount val="2"/>
                <c:pt idx="0">
                  <c:v>Before cap</c:v>
                </c:pt>
                <c:pt idx="1">
                  <c:v>At cap</c:v>
                </c:pt>
              </c:strCache>
            </c:strRef>
          </c:cat>
          <c:val>
            <c:numRef>
              <c:f>'Chart Data'!$D$2:$D$3</c:f>
              <c:numCache>
                <c:formatCode>0</c:formatCode>
                <c:ptCount val="2"/>
                <c:pt idx="0">
                  <c:v>230</c:v>
                </c:pt>
                <c:pt idx="1">
                  <c:v>30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00446C"/>
                  </a:solidFill>
                  <a:latin typeface="Nimbus Sans"/>
                  <a:ea typeface="Nimbus Sans"/>
                  <a:cs typeface="Nimbus Sans"/>
                </a:defRPr>
              </a:pPr>
            </a:p>
          </c:txPr>
          <c:dLblPos val="ctr"/>
          <c:showLegendKey val="0"/>
          <c:showVal val="1"/>
          <c:showCatName val="0"/>
          <c:showSerName val="0"/>
          <c:showPercent val="0"/>
          <c:showBubbleSize val="0"/>
          <c:showLeaderLines val="0"/>
        </c:dLbls>
        <c:gapWidth val="16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425">
                <a:solidFill>
                  <a:srgbClr val="657682"/>
                </a:solidFill>
                <a:latin typeface="Nimbus Sans"/>
                <a:ea typeface="Nimbus Sans"/>
                <a:cs typeface="Nimbus Sans"/>
              </a:defRPr>
            </a:pPr>
          </a:p>
        </c:txPr>
        <c:crossAx val="48672768"/>
      </c:catAx>
      <c:valAx>
        <c:axId val="48672768"/>
        <c:scaling>
          <c:orientation val="minMax"/>
          <c:max val="350"/>
          <c:min val="0"/>
        </c:scaling>
        <c:delete val="0"/>
        <c:axPos val="l"/>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657682"/>
                </a:solidFill>
                <a:latin typeface="Nimbus Sans"/>
                <a:ea typeface="Nimbus Sans"/>
                <a:cs typeface="Nimbus Sans"/>
              </a:defRPr>
            </a:pPr>
          </a:p>
        </c:txPr>
        <c:crossAx val="48650112"/>
        <c:crossBetween val="between"/>
        <c:majorUnit val="100"/>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43746"/>
              </a:solidFill>
              <a:latin typeface="Nimbus Sans"/>
              <a:ea typeface="Nimbus Sans"/>
              <a:cs typeface="Nimbus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No net-price cut</c:v>
          </c:tx>
          <c:spPr>
            <a:ln xmlns:a="http://schemas.openxmlformats.org/drawingml/2006/main" w="33338">
              <a:solidFill>
                <a:srgbClr val="0067A6"/>
              </a:solidFill>
              <a:prstDash val="solid"/>
            </a:ln>
          </c:spPr>
          <c:marker>
            <c:symbol val="none"/>
          </c:marker>
          <c:cat>
            <c:strRef>
              <c:f>'Chart Data'!$A$2:$A$5</c:f>
              <c:strCache>
                <c:ptCount val="4"/>
                <c:pt idx="0">
                  <c:v>0%</c:v>
                </c:pt>
                <c:pt idx="1">
                  <c:v>10%</c:v>
                </c:pt>
                <c:pt idx="2">
                  <c:v>20%</c:v>
                </c:pt>
                <c:pt idx="3">
                  <c:v>30%</c:v>
                </c:pt>
              </c:strCache>
            </c:strRef>
          </c:cat>
          <c:val>
            <c:numRef>
              <c:f>'Chart Data'!$B$2:$B$5</c:f>
              <c:numCache>
                <c:formatCode>0%;(0%);0%</c:formatCode>
                <c:ptCount val="4"/>
                <c:pt idx="0">
                  <c:v>0</c:v>
                </c:pt>
                <c:pt idx="1">
                  <c:v>0.1</c:v>
                </c:pt>
                <c:pt idx="2">
                  <c:v>0.2</c:v>
                </c:pt>
                <c:pt idx="3">
                  <c:v>0.3</c:v>
                </c:pt>
              </c:numCache>
            </c:numRef>
          </c:val>
          <c:smooth val="0"/>
        </c:ser>
        <c:ser>
          <c:idx val="1"/>
          <c:order val="1"/>
          <c:tx>
            <c:v>5% cut</c:v>
          </c:tx>
          <c:spPr>
            <a:ln xmlns:a="http://schemas.openxmlformats.org/drawingml/2006/main" w="28575">
              <a:solidFill>
                <a:srgbClr val="5096BD"/>
              </a:solidFill>
              <a:prstDash val="solid"/>
            </a:ln>
          </c:spPr>
          <c:marker>
            <c:symbol val="none"/>
          </c:marker>
          <c:cat>
            <c:strRef>
              <c:f>'Chart Data'!$C$2:$C$5</c:f>
              <c:strCache>
                <c:ptCount val="4"/>
                <c:pt idx="0">
                  <c:v>0%</c:v>
                </c:pt>
                <c:pt idx="1">
                  <c:v>10%</c:v>
                </c:pt>
                <c:pt idx="2">
                  <c:v>20%</c:v>
                </c:pt>
                <c:pt idx="3">
                  <c:v>30%</c:v>
                </c:pt>
              </c:strCache>
            </c:strRef>
          </c:cat>
          <c:val>
            <c:numRef>
              <c:f>'Chart Data'!$D$2:$D$5</c:f>
              <c:numCache>
                <c:formatCode>0%;(0%);0%</c:formatCode>
                <c:ptCount val="4"/>
                <c:pt idx="0">
                  <c:v>-0.05</c:v>
                </c:pt>
                <c:pt idx="1">
                  <c:v>0.045</c:v>
                </c:pt>
                <c:pt idx="2">
                  <c:v>0.14</c:v>
                </c:pt>
                <c:pt idx="3">
                  <c:v>0.235</c:v>
                </c:pt>
              </c:numCache>
            </c:numRef>
          </c:val>
          <c:smooth val="0"/>
        </c:ser>
        <c:ser>
          <c:idx val="2"/>
          <c:order val="2"/>
          <c:tx>
            <c:v>10% cut</c:v>
          </c:tx>
          <c:spPr>
            <a:ln xmlns:a="http://schemas.openxmlformats.org/drawingml/2006/main" w="28575">
              <a:solidFill>
                <a:srgbClr val="A5C9DD"/>
              </a:solidFill>
              <a:prstDash val="solid"/>
            </a:ln>
          </c:spPr>
          <c:marker>
            <c:symbol val="none"/>
          </c:marker>
          <c:cat>
            <c:strRef>
              <c:f>'Chart Data'!$E$2:$E$5</c:f>
              <c:strCache>
                <c:ptCount val="4"/>
                <c:pt idx="0">
                  <c:v>0%</c:v>
                </c:pt>
                <c:pt idx="1">
                  <c:v>10%</c:v>
                </c:pt>
                <c:pt idx="2">
                  <c:v>20%</c:v>
                </c:pt>
                <c:pt idx="3">
                  <c:v>30%</c:v>
                </c:pt>
              </c:strCache>
            </c:strRef>
          </c:cat>
          <c:val>
            <c:numRef>
              <c:f>'Chart Data'!$F$2:$F$5</c:f>
              <c:numCache>
                <c:formatCode>0%;(0%);0%</c:formatCode>
                <c:ptCount val="4"/>
                <c:pt idx="0">
                  <c:v>-0.1</c:v>
                </c:pt>
                <c:pt idx="1">
                  <c:v>-0.01</c:v>
                </c:pt>
                <c:pt idx="2">
                  <c:v>0.08</c:v>
                </c:pt>
                <c:pt idx="3">
                  <c:v>0.17</c:v>
                </c:pt>
              </c:numCache>
            </c:numRef>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425">
                <a:solidFill>
                  <a:srgbClr val="657682"/>
                </a:solidFill>
                <a:latin typeface="Nimbus Sans"/>
                <a:ea typeface="Nimbus Sans"/>
                <a:cs typeface="Nimbus Sans"/>
              </a:defRPr>
            </a:pPr>
          </a:p>
        </c:txPr>
        <c:crossAx val="48672768"/>
      </c:catAx>
      <c:valAx>
        <c:axId val="48672768"/>
        <c:scaling>
          <c:orientation val="minMax"/>
          <c:max val="0.3"/>
          <c:min val="-0.1"/>
        </c:scaling>
        <c:delete val="0"/>
        <c:axPos val="l"/>
        <c:majorGridlines>
          <c:spPr>
            <a:ln xmlns:a="http://schemas.openxmlformats.org/drawingml/2006/main" w="6668">
              <a:solidFill>
                <a:srgbClr val="D8E2E9"/>
              </a:solidFill>
              <a:prstDash val="solid"/>
            </a:ln>
          </c:spPr>
        </c:majorGridlines>
        <c:numFmt formatCode="0%;(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657682"/>
                </a:solidFill>
                <a:latin typeface="Nimbus Sans"/>
                <a:ea typeface="Nimbus Sans"/>
                <a:cs typeface="Nimbus Sans"/>
              </a:defRPr>
            </a:pPr>
          </a:p>
        </c:txPr>
        <c:crossAx val="48650112"/>
        <c:crossBetween val="between"/>
        <c:majorUnit val="0.1"/>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43746"/>
              </a:solidFill>
              <a:latin typeface="Nimbus Sans"/>
              <a:ea typeface="Nimbus Sans"/>
              <a:cs typeface="Nimbus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Headline">
            <a:extLst xmlns:a="http://schemas.openxmlformats.org/drawingml/2006/main">
              <a:ext uri="{FF2B5EF4-FFF2-40B4-BE49-F238E27FC236}">
                <a16:creationId xmlns:a16="http://schemas.microsoft.com/office/drawing/2014/main" id="{15745849-9BF3-4F11-8F13-FB38BCC3D5AD}"/>
              </a:ext>
            </a:extLst>
          </p:cNvPr>
          <p:cNvSpPr>
            <a:spLocks xmlns:a="http://schemas.openxmlformats.org/drawingml/2006/main" noGrp="1"/>
          </p:cNvSpPr>
          <p:nvPr/>
        </p:nvSpPr>
        <p:spPr>
          <a:xfrm xmlns:a="http://schemas.openxmlformats.org/drawingml/2006/main">
            <a:off x="609600" y="342900"/>
            <a:ext cx="14020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a:solidFill>
                  <a:srgbClr val="00446C"/>
                </a:solidFill>
                <a:latin typeface="Nimbus Sans"/>
                <a:ea typeface="Nimbus Sans"/>
                <a:cs typeface="Nimbus Sans"/>
              </a:defRPr>
            </a:defPPr>
            <a:lvl1pPr algn="l">
              <a:defRPr sz="3225" b="1">
                <a:solidFill>
                  <a:srgbClr val="00446C"/>
                </a:solidFill>
                <a:latin typeface="Nimbus Sans"/>
                <a:ea typeface="Nimbus Sans"/>
                <a:cs typeface="Nimbus Sans"/>
              </a:defRPr>
            </a:lvl1pPr>
            <a:lvl2pPr algn="l">
              <a:defRPr sz="3225" b="1">
                <a:solidFill>
                  <a:srgbClr val="00446C"/>
                </a:solidFill>
                <a:latin typeface="Nimbus Sans"/>
                <a:ea typeface="Nimbus Sans"/>
                <a:cs typeface="Nimbus Sans"/>
              </a:defRPr>
            </a:lvl2pPr>
            <a:lvl3pPr algn="l">
              <a:defRPr sz="3225" b="1">
                <a:solidFill>
                  <a:srgbClr val="00446C"/>
                </a:solidFill>
                <a:latin typeface="Nimbus Sans"/>
                <a:ea typeface="Nimbus Sans"/>
                <a:cs typeface="Nimbus Sans"/>
              </a:defRPr>
            </a:lvl3pPr>
            <a:lvl4pPr algn="l">
              <a:defRPr sz="3225" b="1">
                <a:solidFill>
                  <a:srgbClr val="00446C"/>
                </a:solidFill>
                <a:latin typeface="Nimbus Sans"/>
                <a:ea typeface="Nimbus Sans"/>
                <a:cs typeface="Nimbus Sans"/>
              </a:defRPr>
            </a:lvl4pPr>
            <a:lvl5pPr algn="l">
              <a:defRPr sz="3225" b="1">
                <a:solidFill>
                  <a:srgbClr val="00446C"/>
                </a:solidFill>
                <a:latin typeface="Nimbus Sans"/>
                <a:ea typeface="Nimbus Sans"/>
                <a:cs typeface="Nimbus Sans"/>
              </a:defRPr>
            </a:lvl5pPr>
            <a:lvl6pPr algn="l">
              <a:defRPr sz="3225" b="1">
                <a:solidFill>
                  <a:srgbClr val="00446C"/>
                </a:solidFill>
                <a:latin typeface="Nimbus Sans"/>
                <a:ea typeface="Nimbus Sans"/>
                <a:cs typeface="Nimbus Sans"/>
              </a:defRPr>
            </a:lvl6pPr>
            <a:lvl7pPr algn="l">
              <a:defRPr sz="3225" b="1">
                <a:solidFill>
                  <a:srgbClr val="00446C"/>
                </a:solidFill>
                <a:latin typeface="Nimbus Sans"/>
                <a:ea typeface="Nimbus Sans"/>
                <a:cs typeface="Nimbus Sans"/>
              </a:defRPr>
            </a:lvl7pPr>
            <a:lvl8pPr algn="l">
              <a:defRPr sz="3225" b="1">
                <a:solidFill>
                  <a:srgbClr val="00446C"/>
                </a:solidFill>
                <a:latin typeface="Nimbus Sans"/>
                <a:ea typeface="Nimbus Sans"/>
                <a:cs typeface="Nimbus Sans"/>
              </a:defRPr>
            </a:lvl8pPr>
            <a:lvl9pPr algn="l">
              <a:defRPr sz="3225" b="1">
                <a:solidFill>
                  <a:srgbClr val="00446C"/>
                </a:solidFill>
                <a:latin typeface="Nimbus Sans"/>
                <a:ea typeface="Nimbus Sans"/>
                <a:cs typeface="Nimbus Sans"/>
              </a:defRPr>
            </a:lvl9pPr>
          </a:lstStyle>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Oncology trade-margin caps can improve access</a:t>
            </a:r>
          </a:p>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while preserving manufacturer economics</a:t>
            </a:r>
          </a:p>
        </p:txBody>
      </p:sp>
      <p:sp>
        <p:nvSpPr>
          <p:cNvPr id="2" name="Policy scope">
            <a:extLst xmlns:a="http://schemas.openxmlformats.org/drawingml/2006/main">
              <a:ext uri="{FF2B5EF4-FFF2-40B4-BE49-F238E27FC236}">
                <a16:creationId xmlns:a16="http://schemas.microsoft.com/office/drawing/2014/main" id="{F46032E9-D6E3-4D09-AF06-424E3587798E}"/>
              </a:ext>
            </a:extLst>
          </p:cNvPr>
          <p:cNvSpPr>
            <a:spLocks xmlns:a="http://schemas.openxmlformats.org/drawingml/2006/main" noGrp="1"/>
          </p:cNvSpPr>
          <p:nvPr/>
        </p:nvSpPr>
        <p:spPr>
          <a:xfrm xmlns:a="http://schemas.openxmlformats.org/drawingml/2006/main">
            <a:off x="609600" y="1390650"/>
            <a:ext cx="1402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682"/>
                </a:solidFill>
                <a:latin typeface="Nimbus Sans"/>
                <a:ea typeface="Nimbus Sans"/>
                <a:cs typeface="Nimbus Sans"/>
              </a:defRPr>
            </a:defPPr>
            <a:lvl1pPr algn="l">
              <a:defRPr sz="1725" b="0">
                <a:solidFill>
                  <a:srgbClr val="657682"/>
                </a:solidFill>
                <a:latin typeface="Nimbus Sans"/>
                <a:ea typeface="Nimbus Sans"/>
                <a:cs typeface="Nimbus Sans"/>
              </a:defRPr>
            </a:lvl1pPr>
            <a:lvl2pPr algn="l">
              <a:defRPr sz="1725" b="0">
                <a:solidFill>
                  <a:srgbClr val="657682"/>
                </a:solidFill>
                <a:latin typeface="Nimbus Sans"/>
                <a:ea typeface="Nimbus Sans"/>
                <a:cs typeface="Nimbus Sans"/>
              </a:defRPr>
            </a:lvl2pPr>
            <a:lvl3pPr algn="l">
              <a:defRPr sz="1725" b="0">
                <a:solidFill>
                  <a:srgbClr val="657682"/>
                </a:solidFill>
                <a:latin typeface="Nimbus Sans"/>
                <a:ea typeface="Nimbus Sans"/>
                <a:cs typeface="Nimbus Sans"/>
              </a:defRPr>
            </a:lvl3pPr>
            <a:lvl4pPr algn="l">
              <a:defRPr sz="1725" b="0">
                <a:solidFill>
                  <a:srgbClr val="657682"/>
                </a:solidFill>
                <a:latin typeface="Nimbus Sans"/>
                <a:ea typeface="Nimbus Sans"/>
                <a:cs typeface="Nimbus Sans"/>
              </a:defRPr>
            </a:lvl4pPr>
            <a:lvl5pPr algn="l">
              <a:defRPr sz="1725" b="0">
                <a:solidFill>
                  <a:srgbClr val="657682"/>
                </a:solidFill>
                <a:latin typeface="Nimbus Sans"/>
                <a:ea typeface="Nimbus Sans"/>
                <a:cs typeface="Nimbus Sans"/>
              </a:defRPr>
            </a:lvl5pPr>
            <a:lvl6pPr algn="l">
              <a:defRPr sz="1725" b="0">
                <a:solidFill>
                  <a:srgbClr val="657682"/>
                </a:solidFill>
                <a:latin typeface="Nimbus Sans"/>
                <a:ea typeface="Nimbus Sans"/>
                <a:cs typeface="Nimbus Sans"/>
              </a:defRPr>
            </a:lvl6pPr>
            <a:lvl7pPr algn="l">
              <a:defRPr sz="1725" b="0">
                <a:solidFill>
                  <a:srgbClr val="657682"/>
                </a:solidFill>
                <a:latin typeface="Nimbus Sans"/>
                <a:ea typeface="Nimbus Sans"/>
                <a:cs typeface="Nimbus Sans"/>
              </a:defRPr>
            </a:lvl7pPr>
            <a:lvl8pPr algn="l">
              <a:defRPr sz="1725" b="0">
                <a:solidFill>
                  <a:srgbClr val="657682"/>
                </a:solidFill>
                <a:latin typeface="Nimbus Sans"/>
                <a:ea typeface="Nimbus Sans"/>
                <a:cs typeface="Nimbus Sans"/>
              </a:defRPr>
            </a:lvl8pPr>
            <a:lvl9pPr algn="l">
              <a:defRPr sz="1725" b="0">
                <a:solidFill>
                  <a:srgbClr val="657682"/>
                </a:solidFill>
                <a:latin typeface="Nimbus Sans"/>
                <a:ea typeface="Nimbus Sans"/>
                <a:cs typeface="Nimbus Sans"/>
              </a:defRPr>
            </a:lvl9pPr>
          </a:lstStyle>
          <a:p xmlns:a="http://schemas.openxmlformats.org/drawingml/2006/main">
            <a:pPr algn="l">
              <a:lnSpc>
                <a:spcPct val="108000"/>
              </a:lnSpc>
              <a:buNone/>
              <a:defRPr sz="1725" b="0">
                <a:solidFill>
                  <a:srgbClr val="657682"/>
                </a:solidFill>
                <a:latin typeface="Nimbus Sans"/>
                <a:ea typeface="Nimbus Sans"/>
                <a:cs typeface="Nimbus Sans"/>
              </a:defRPr>
            </a:pPr>
            <a:r>
              <a:rPr sz="1725" b="0">
                <a:solidFill>
                  <a:srgbClr val="657682"/>
                </a:solidFill>
                <a:latin typeface="Nimbus Sans"/>
                <a:ea typeface="Nimbus Sans"/>
                <a:cs typeface="Nimbus Sans"/>
              </a:rPr>
              <a:t>137 medicines. Combined channel margin capped at 30% of MRP. Effective 9 November 2026.</a:t>
            </a:r>
          </a:p>
        </p:txBody>
      </p:sp>
      <p:sp>
        <p:nvSpPr>
          <p:cNvPr id="3" name="Title rule">
            <a:extLst xmlns:a="http://schemas.openxmlformats.org/drawingml/2006/main">
              <a:ext uri="{FF2B5EF4-FFF2-40B4-BE49-F238E27FC236}">
                <a16:creationId xmlns:a16="http://schemas.microsoft.com/office/drawing/2014/main" id="{86B1F40A-72D7-43DA-B2F6-13260EB03F2C}"/>
              </a:ext>
            </a:extLst>
          </p:cNvPr>
          <p:cNvSpPr>
            <a:spLocks xmlns:a="http://schemas.openxmlformats.org/drawingml/2006/main" noGrp="1"/>
          </p:cNvSpPr>
          <p:nvPr/>
        </p:nvSpPr>
        <p:spPr>
          <a:xfrm xmlns:a="http://schemas.openxmlformats.org/drawingml/2006/main">
            <a:off x="609600" y="1809750"/>
            <a:ext cx="14020800" cy="19050"/>
          </a:xfrm>
          <a:prstGeom xmlns:a="http://schemas.openxmlformats.org/drawingml/2006/main" prst="rect">
            <a:avLst/>
          </a:prstGeom>
          <a:solidFill xmlns:a="http://schemas.openxmlformats.org/drawingml/2006/main">
            <a:srgbClr val="0067A6"/>
          </a:solidFill>
          <a:ln xmlns:a="http://schemas.openxmlformats.org/drawingml/2006/main" w="0">
            <a:noFill/>
            <a:prstDash val="solid"/>
          </a:ln>
        </p:spPr>
      </p:sp>
      <p:sp>
        <p:nvSpPr>
          <p:cNvPr id="4" name="Chart1 title">
            <a:extLst xmlns:a="http://schemas.openxmlformats.org/drawingml/2006/main">
              <a:ext uri="{FF2B5EF4-FFF2-40B4-BE49-F238E27FC236}">
                <a16:creationId xmlns:a16="http://schemas.microsoft.com/office/drawing/2014/main" id="{CE278366-35D8-481B-B5E7-0449A825DE92}"/>
              </a:ext>
            </a:extLst>
          </p:cNvPr>
          <p:cNvSpPr>
            <a:spLocks xmlns:a="http://schemas.openxmlformats.org/drawingml/2006/main" noGrp="1"/>
          </p:cNvSpPr>
          <p:nvPr/>
        </p:nvSpPr>
        <p:spPr>
          <a:xfrm xmlns:a="http://schemas.openxmlformats.org/drawingml/2006/main">
            <a:off x="609600" y="2057400"/>
            <a:ext cx="676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0446C"/>
                </a:solidFill>
                <a:latin typeface="Nimbus Sans"/>
                <a:ea typeface="Nimbus Sans"/>
                <a:cs typeface="Nimbus Sans"/>
              </a:defRPr>
            </a:defPPr>
            <a:lvl1pPr algn="l">
              <a:defRPr sz="2250" b="1">
                <a:solidFill>
                  <a:srgbClr val="00446C"/>
                </a:solidFill>
                <a:latin typeface="Nimbus Sans"/>
                <a:ea typeface="Nimbus Sans"/>
                <a:cs typeface="Nimbus Sans"/>
              </a:defRPr>
            </a:lvl1pPr>
            <a:lvl2pPr algn="l">
              <a:defRPr sz="2250" b="1">
                <a:solidFill>
                  <a:srgbClr val="00446C"/>
                </a:solidFill>
                <a:latin typeface="Nimbus Sans"/>
                <a:ea typeface="Nimbus Sans"/>
                <a:cs typeface="Nimbus Sans"/>
              </a:defRPr>
            </a:lvl2pPr>
            <a:lvl3pPr algn="l">
              <a:defRPr sz="2250" b="1">
                <a:solidFill>
                  <a:srgbClr val="00446C"/>
                </a:solidFill>
                <a:latin typeface="Nimbus Sans"/>
                <a:ea typeface="Nimbus Sans"/>
                <a:cs typeface="Nimbus Sans"/>
              </a:defRPr>
            </a:lvl3pPr>
            <a:lvl4pPr algn="l">
              <a:defRPr sz="2250" b="1">
                <a:solidFill>
                  <a:srgbClr val="00446C"/>
                </a:solidFill>
                <a:latin typeface="Nimbus Sans"/>
                <a:ea typeface="Nimbus Sans"/>
                <a:cs typeface="Nimbus Sans"/>
              </a:defRPr>
            </a:lvl4pPr>
            <a:lvl5pPr algn="l">
              <a:defRPr sz="2250" b="1">
                <a:solidFill>
                  <a:srgbClr val="00446C"/>
                </a:solidFill>
                <a:latin typeface="Nimbus Sans"/>
                <a:ea typeface="Nimbus Sans"/>
                <a:cs typeface="Nimbus Sans"/>
              </a:defRPr>
            </a:lvl5pPr>
            <a:lvl6pPr algn="l">
              <a:defRPr sz="2250" b="1">
                <a:solidFill>
                  <a:srgbClr val="00446C"/>
                </a:solidFill>
                <a:latin typeface="Nimbus Sans"/>
                <a:ea typeface="Nimbus Sans"/>
                <a:cs typeface="Nimbus Sans"/>
              </a:defRPr>
            </a:lvl6pPr>
            <a:lvl7pPr algn="l">
              <a:defRPr sz="2250" b="1">
                <a:solidFill>
                  <a:srgbClr val="00446C"/>
                </a:solidFill>
                <a:latin typeface="Nimbus Sans"/>
                <a:ea typeface="Nimbus Sans"/>
                <a:cs typeface="Nimbus Sans"/>
              </a:defRPr>
            </a:lvl7pPr>
            <a:lvl8pPr algn="l">
              <a:defRPr sz="2250" b="1">
                <a:solidFill>
                  <a:srgbClr val="00446C"/>
                </a:solidFill>
                <a:latin typeface="Nimbus Sans"/>
                <a:ea typeface="Nimbus Sans"/>
                <a:cs typeface="Nimbus Sans"/>
              </a:defRPr>
            </a:lvl8pPr>
            <a:lvl9pPr algn="l">
              <a:defRPr sz="2250" b="1">
                <a:solidFill>
                  <a:srgbClr val="00446C"/>
                </a:solidFill>
                <a:latin typeface="Nimbus Sans"/>
                <a:ea typeface="Nimbus Sans"/>
                <a:cs typeface="Nimbus Sans"/>
              </a:defRPr>
            </a:lvl9pPr>
          </a:lstStyle>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Patient MRP falls as the</a:t>
            </a:r>
          </a:p>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channel spread narrows</a:t>
            </a:r>
          </a:p>
        </p:txBody>
      </p:sp>
      <p:sp>
        <p:nvSpPr>
          <p:cNvPr id="5" name="Chart1 definition">
            <a:extLst xmlns:a="http://schemas.openxmlformats.org/drawingml/2006/main">
              <a:ext uri="{FF2B5EF4-FFF2-40B4-BE49-F238E27FC236}">
                <a16:creationId xmlns:a16="http://schemas.microsoft.com/office/drawing/2014/main" id="{286C9E65-27C0-49CB-8518-87DEF268B40D}"/>
              </a:ext>
            </a:extLst>
          </p:cNvPr>
          <p:cNvSpPr>
            <a:spLocks xmlns:a="http://schemas.openxmlformats.org/drawingml/2006/main" noGrp="1"/>
          </p:cNvSpPr>
          <p:nvPr/>
        </p:nvSpPr>
        <p:spPr>
          <a:xfrm xmlns:a="http://schemas.openxmlformats.org/drawingml/2006/main">
            <a:off x="609600" y="28384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657682"/>
                </a:solidFill>
                <a:latin typeface="Nimbus Sans"/>
                <a:ea typeface="Nimbus Sans"/>
                <a:cs typeface="Nimbus Sans"/>
              </a:defRPr>
            </a:defPPr>
            <a:lvl1pPr algn="l">
              <a:defRPr sz="1575" b="0">
                <a:solidFill>
                  <a:srgbClr val="657682"/>
                </a:solidFill>
                <a:latin typeface="Nimbus Sans"/>
                <a:ea typeface="Nimbus Sans"/>
                <a:cs typeface="Nimbus Sans"/>
              </a:defRPr>
            </a:lvl1pPr>
            <a:lvl2pPr algn="l">
              <a:defRPr sz="1575" b="0">
                <a:solidFill>
                  <a:srgbClr val="657682"/>
                </a:solidFill>
                <a:latin typeface="Nimbus Sans"/>
                <a:ea typeface="Nimbus Sans"/>
                <a:cs typeface="Nimbus Sans"/>
              </a:defRPr>
            </a:lvl2pPr>
            <a:lvl3pPr algn="l">
              <a:defRPr sz="1575" b="0">
                <a:solidFill>
                  <a:srgbClr val="657682"/>
                </a:solidFill>
                <a:latin typeface="Nimbus Sans"/>
                <a:ea typeface="Nimbus Sans"/>
                <a:cs typeface="Nimbus Sans"/>
              </a:defRPr>
            </a:lvl3pPr>
            <a:lvl4pPr algn="l">
              <a:defRPr sz="1575" b="0">
                <a:solidFill>
                  <a:srgbClr val="657682"/>
                </a:solidFill>
                <a:latin typeface="Nimbus Sans"/>
                <a:ea typeface="Nimbus Sans"/>
                <a:cs typeface="Nimbus Sans"/>
              </a:defRPr>
            </a:lvl4pPr>
            <a:lvl5pPr algn="l">
              <a:defRPr sz="1575" b="0">
                <a:solidFill>
                  <a:srgbClr val="657682"/>
                </a:solidFill>
                <a:latin typeface="Nimbus Sans"/>
                <a:ea typeface="Nimbus Sans"/>
                <a:cs typeface="Nimbus Sans"/>
              </a:defRPr>
            </a:lvl5pPr>
            <a:lvl6pPr algn="l">
              <a:defRPr sz="1575" b="0">
                <a:solidFill>
                  <a:srgbClr val="657682"/>
                </a:solidFill>
                <a:latin typeface="Nimbus Sans"/>
                <a:ea typeface="Nimbus Sans"/>
                <a:cs typeface="Nimbus Sans"/>
              </a:defRPr>
            </a:lvl6pPr>
            <a:lvl7pPr algn="l">
              <a:defRPr sz="1575" b="0">
                <a:solidFill>
                  <a:srgbClr val="657682"/>
                </a:solidFill>
                <a:latin typeface="Nimbus Sans"/>
                <a:ea typeface="Nimbus Sans"/>
                <a:cs typeface="Nimbus Sans"/>
              </a:defRPr>
            </a:lvl7pPr>
            <a:lvl8pPr algn="l">
              <a:defRPr sz="1575" b="0">
                <a:solidFill>
                  <a:srgbClr val="657682"/>
                </a:solidFill>
                <a:latin typeface="Nimbus Sans"/>
                <a:ea typeface="Nimbus Sans"/>
                <a:cs typeface="Nimbus Sans"/>
              </a:defRPr>
            </a:lvl8pPr>
            <a:lvl9pPr algn="l">
              <a:defRPr sz="1575" b="0">
                <a:solidFill>
                  <a:srgbClr val="657682"/>
                </a:solidFill>
                <a:latin typeface="Nimbus Sans"/>
                <a:ea typeface="Nimbus Sans"/>
                <a:cs typeface="Nimbus Sans"/>
              </a:defRPr>
            </a:lvl9pPr>
          </a:lstStyle>
          <a:p xmlns:a="http://schemas.openxmlformats.org/drawingml/2006/main">
            <a:pPr algn="l">
              <a:lnSpc>
                <a:spcPct val="108000"/>
              </a:lnSpc>
              <a:buNone/>
              <a:defRPr sz="1575" b="0">
                <a:solidFill>
                  <a:srgbClr val="657682"/>
                </a:solidFill>
                <a:latin typeface="Nimbus Sans"/>
                <a:ea typeface="Nimbus Sans"/>
                <a:cs typeface="Nimbus Sans"/>
              </a:defRPr>
            </a:pPr>
            <a:r>
              <a:rPr sz="1575" b="0">
                <a:solidFill>
                  <a:srgbClr val="657682"/>
                </a:solidFill>
                <a:latin typeface="Nimbus Sans"/>
                <a:ea typeface="Nimbus Sans"/>
                <a:cs typeface="Nimbus Sans"/>
              </a:rPr>
              <a:t>Gazette worked example, Rs per unit, excluding GST</a:t>
            </a:r>
          </a:p>
        </p:txBody>
      </p:sp>
      <p:sp>
        <p:nvSpPr>
          <p:cNvPr id="6" name="Chart2 title">
            <a:extLst xmlns:a="http://schemas.openxmlformats.org/drawingml/2006/main">
              <a:ext uri="{FF2B5EF4-FFF2-40B4-BE49-F238E27FC236}">
                <a16:creationId xmlns:a16="http://schemas.microsoft.com/office/drawing/2014/main" id="{B41FB97A-45FC-4E28-A25E-58C691D69333}"/>
              </a:ext>
            </a:extLst>
          </p:cNvPr>
          <p:cNvSpPr>
            <a:spLocks xmlns:a="http://schemas.openxmlformats.org/drawingml/2006/main" noGrp="1"/>
          </p:cNvSpPr>
          <p:nvPr/>
        </p:nvSpPr>
        <p:spPr>
          <a:xfrm xmlns:a="http://schemas.openxmlformats.org/drawingml/2006/main">
            <a:off x="8086725" y="2057400"/>
            <a:ext cx="65436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0446C"/>
                </a:solidFill>
                <a:latin typeface="Nimbus Sans"/>
                <a:ea typeface="Nimbus Sans"/>
                <a:cs typeface="Nimbus Sans"/>
              </a:defRPr>
            </a:defPPr>
            <a:lvl1pPr algn="l">
              <a:defRPr sz="2250" b="1">
                <a:solidFill>
                  <a:srgbClr val="00446C"/>
                </a:solidFill>
                <a:latin typeface="Nimbus Sans"/>
                <a:ea typeface="Nimbus Sans"/>
                <a:cs typeface="Nimbus Sans"/>
              </a:defRPr>
            </a:lvl1pPr>
            <a:lvl2pPr algn="l">
              <a:defRPr sz="2250" b="1">
                <a:solidFill>
                  <a:srgbClr val="00446C"/>
                </a:solidFill>
                <a:latin typeface="Nimbus Sans"/>
                <a:ea typeface="Nimbus Sans"/>
                <a:cs typeface="Nimbus Sans"/>
              </a:defRPr>
            </a:lvl2pPr>
            <a:lvl3pPr algn="l">
              <a:defRPr sz="2250" b="1">
                <a:solidFill>
                  <a:srgbClr val="00446C"/>
                </a:solidFill>
                <a:latin typeface="Nimbus Sans"/>
                <a:ea typeface="Nimbus Sans"/>
                <a:cs typeface="Nimbus Sans"/>
              </a:defRPr>
            </a:lvl3pPr>
            <a:lvl4pPr algn="l">
              <a:defRPr sz="2250" b="1">
                <a:solidFill>
                  <a:srgbClr val="00446C"/>
                </a:solidFill>
                <a:latin typeface="Nimbus Sans"/>
                <a:ea typeface="Nimbus Sans"/>
                <a:cs typeface="Nimbus Sans"/>
              </a:defRPr>
            </a:lvl4pPr>
            <a:lvl5pPr algn="l">
              <a:defRPr sz="2250" b="1">
                <a:solidFill>
                  <a:srgbClr val="00446C"/>
                </a:solidFill>
                <a:latin typeface="Nimbus Sans"/>
                <a:ea typeface="Nimbus Sans"/>
                <a:cs typeface="Nimbus Sans"/>
              </a:defRPr>
            </a:lvl5pPr>
            <a:lvl6pPr algn="l">
              <a:defRPr sz="2250" b="1">
                <a:solidFill>
                  <a:srgbClr val="00446C"/>
                </a:solidFill>
                <a:latin typeface="Nimbus Sans"/>
                <a:ea typeface="Nimbus Sans"/>
                <a:cs typeface="Nimbus Sans"/>
              </a:defRPr>
            </a:lvl6pPr>
            <a:lvl7pPr algn="l">
              <a:defRPr sz="2250" b="1">
                <a:solidFill>
                  <a:srgbClr val="00446C"/>
                </a:solidFill>
                <a:latin typeface="Nimbus Sans"/>
                <a:ea typeface="Nimbus Sans"/>
                <a:cs typeface="Nimbus Sans"/>
              </a:defRPr>
            </a:lvl7pPr>
            <a:lvl8pPr algn="l">
              <a:defRPr sz="2250" b="1">
                <a:solidFill>
                  <a:srgbClr val="00446C"/>
                </a:solidFill>
                <a:latin typeface="Nimbus Sans"/>
                <a:ea typeface="Nimbus Sans"/>
                <a:cs typeface="Nimbus Sans"/>
              </a:defRPr>
            </a:lvl8pPr>
            <a:lvl9pPr algn="l">
              <a:defRPr sz="2250" b="1">
                <a:solidFill>
                  <a:srgbClr val="00446C"/>
                </a:solidFill>
                <a:latin typeface="Nimbus Sans"/>
                <a:ea typeface="Nimbus Sans"/>
                <a:cs typeface="Nimbus Sans"/>
              </a:defRPr>
            </a:lvl9pPr>
          </a:lstStyle>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Volume growth can support sales</a:t>
            </a:r>
          </a:p>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even with some net-price erosion</a:t>
            </a:r>
          </a:p>
        </p:txBody>
      </p:sp>
      <p:sp>
        <p:nvSpPr>
          <p:cNvPr id="7" name="Chart2 definition">
            <a:extLst xmlns:a="http://schemas.openxmlformats.org/drawingml/2006/main">
              <a:ext uri="{FF2B5EF4-FFF2-40B4-BE49-F238E27FC236}">
                <a16:creationId xmlns:a16="http://schemas.microsoft.com/office/drawing/2014/main" id="{DF2AACEB-8B88-49C9-A91F-987E6D364EBC}"/>
              </a:ext>
            </a:extLst>
          </p:cNvPr>
          <p:cNvSpPr>
            <a:spLocks xmlns:a="http://schemas.openxmlformats.org/drawingml/2006/main" noGrp="1"/>
          </p:cNvSpPr>
          <p:nvPr/>
        </p:nvSpPr>
        <p:spPr>
          <a:xfrm xmlns:a="http://schemas.openxmlformats.org/drawingml/2006/main">
            <a:off x="8086725" y="2838450"/>
            <a:ext cx="6543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657682"/>
                </a:solidFill>
                <a:latin typeface="Nimbus Sans"/>
                <a:ea typeface="Nimbus Sans"/>
                <a:cs typeface="Nimbus Sans"/>
              </a:defRPr>
            </a:defPPr>
            <a:lvl1pPr algn="l">
              <a:defRPr sz="1575" b="0">
                <a:solidFill>
                  <a:srgbClr val="657682"/>
                </a:solidFill>
                <a:latin typeface="Nimbus Sans"/>
                <a:ea typeface="Nimbus Sans"/>
                <a:cs typeface="Nimbus Sans"/>
              </a:defRPr>
            </a:lvl1pPr>
            <a:lvl2pPr algn="l">
              <a:defRPr sz="1575" b="0">
                <a:solidFill>
                  <a:srgbClr val="657682"/>
                </a:solidFill>
                <a:latin typeface="Nimbus Sans"/>
                <a:ea typeface="Nimbus Sans"/>
                <a:cs typeface="Nimbus Sans"/>
              </a:defRPr>
            </a:lvl2pPr>
            <a:lvl3pPr algn="l">
              <a:defRPr sz="1575" b="0">
                <a:solidFill>
                  <a:srgbClr val="657682"/>
                </a:solidFill>
                <a:latin typeface="Nimbus Sans"/>
                <a:ea typeface="Nimbus Sans"/>
                <a:cs typeface="Nimbus Sans"/>
              </a:defRPr>
            </a:lvl3pPr>
            <a:lvl4pPr algn="l">
              <a:defRPr sz="1575" b="0">
                <a:solidFill>
                  <a:srgbClr val="657682"/>
                </a:solidFill>
                <a:latin typeface="Nimbus Sans"/>
                <a:ea typeface="Nimbus Sans"/>
                <a:cs typeface="Nimbus Sans"/>
              </a:defRPr>
            </a:lvl4pPr>
            <a:lvl5pPr algn="l">
              <a:defRPr sz="1575" b="0">
                <a:solidFill>
                  <a:srgbClr val="657682"/>
                </a:solidFill>
                <a:latin typeface="Nimbus Sans"/>
                <a:ea typeface="Nimbus Sans"/>
                <a:cs typeface="Nimbus Sans"/>
              </a:defRPr>
            </a:lvl5pPr>
            <a:lvl6pPr algn="l">
              <a:defRPr sz="1575" b="0">
                <a:solidFill>
                  <a:srgbClr val="657682"/>
                </a:solidFill>
                <a:latin typeface="Nimbus Sans"/>
                <a:ea typeface="Nimbus Sans"/>
                <a:cs typeface="Nimbus Sans"/>
              </a:defRPr>
            </a:lvl6pPr>
            <a:lvl7pPr algn="l">
              <a:defRPr sz="1575" b="0">
                <a:solidFill>
                  <a:srgbClr val="657682"/>
                </a:solidFill>
                <a:latin typeface="Nimbus Sans"/>
                <a:ea typeface="Nimbus Sans"/>
                <a:cs typeface="Nimbus Sans"/>
              </a:defRPr>
            </a:lvl7pPr>
            <a:lvl8pPr algn="l">
              <a:defRPr sz="1575" b="0">
                <a:solidFill>
                  <a:srgbClr val="657682"/>
                </a:solidFill>
                <a:latin typeface="Nimbus Sans"/>
                <a:ea typeface="Nimbus Sans"/>
                <a:cs typeface="Nimbus Sans"/>
              </a:defRPr>
            </a:lvl8pPr>
            <a:lvl9pPr algn="l">
              <a:defRPr sz="1575" b="0">
                <a:solidFill>
                  <a:srgbClr val="657682"/>
                </a:solidFill>
                <a:latin typeface="Nimbus Sans"/>
                <a:ea typeface="Nimbus Sans"/>
                <a:cs typeface="Nimbus Sans"/>
              </a:defRPr>
            </a:lvl9pPr>
          </a:lstStyle>
          <a:p xmlns:a="http://schemas.openxmlformats.org/drawingml/2006/main">
            <a:pPr algn="l">
              <a:lnSpc>
                <a:spcPct val="108000"/>
              </a:lnSpc>
              <a:buNone/>
              <a:defRPr sz="1575" b="0">
                <a:solidFill>
                  <a:srgbClr val="657682"/>
                </a:solidFill>
                <a:latin typeface="Nimbus Sans"/>
                <a:ea typeface="Nimbus Sans"/>
                <a:cs typeface="Nimbus Sans"/>
              </a:defRPr>
            </a:pPr>
            <a:r>
              <a:rPr sz="1575" b="0">
                <a:solidFill>
                  <a:srgbClr val="657682"/>
                </a:solidFill>
                <a:latin typeface="Nimbus Sans"/>
                <a:ea typeface="Nimbus Sans"/>
                <a:cs typeface="Nimbus Sans"/>
              </a:rPr>
              <a:t>Illustrative manufacturer revenue sensitivity, %</a:t>
            </a:r>
          </a:p>
        </p:txBody>
      </p:sp>
      <p:sp>
        <p:nvSpPr>
          <p:cNvPr id="8" name="Divider">
            <a:extLst xmlns:a="http://schemas.openxmlformats.org/drawingml/2006/main">
              <a:ext uri="{FF2B5EF4-FFF2-40B4-BE49-F238E27FC236}">
                <a16:creationId xmlns:a16="http://schemas.microsoft.com/office/drawing/2014/main" id="{4BF95CD5-B01B-42F1-8D14-B14A0B50D2F3}"/>
              </a:ext>
            </a:extLst>
          </p:cNvPr>
          <p:cNvSpPr>
            <a:spLocks xmlns:a="http://schemas.openxmlformats.org/drawingml/2006/main" noGrp="1"/>
          </p:cNvSpPr>
          <p:nvPr/>
        </p:nvSpPr>
        <p:spPr>
          <a:xfrm xmlns:a="http://schemas.openxmlformats.org/drawingml/2006/main">
            <a:off x="7667625" y="2057400"/>
            <a:ext cx="9525" cy="47339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graphicFrame>
        <p:nvGraphicFramePr>
          <p:cNvPr id="9" name="Chart">
            <a:extLst xmlns:a="http://schemas.openxmlformats.org/drawingml/2006/main">
              <a:ext uri="{FF2B5EF4-FFF2-40B4-BE49-F238E27FC236}">
                <a16:creationId xmlns:a16="http://schemas.microsoft.com/office/drawing/2014/main" id="{3521427F-56E3-4BD0-BD04-EB80FAD92226}"/>
              </a:ext>
            </a:extLst>
          </p:cNvPr>
          <p:cNvGraphicFramePr/>
          <p:nvPr/>
        </p:nvGraphicFramePr>
        <p:xfrm>
          <a:off xmlns:a="http://schemas.openxmlformats.org/drawingml/2006/main" x="514350" y="3276600"/>
          <a:ext xmlns:a="http://schemas.openxmlformats.org/drawingml/2006/main" cx="6972300" cy="3048000"/>
        </p:xfrm>
        <a:graphic xmlns:a="http://schemas.openxmlformats.org/drawingml/2006/main">
          <a:graphicData uri="http://schemas.openxmlformats.org/drawingml/2006/chart">
            <c:chart xmlns:r="http://schemas.openxmlformats.org/officeDocument/2006/relationships" xmlns:c="http://schemas.openxmlformats.org/drawingml/2006/chart" r:id="Ra2cf443a5b894005"/>
          </a:graphicData>
        </a:graphic>
      </p:graphicFrame>
      <p:graphicFrame>
        <p:nvGraphicFramePr>
          <p:cNvPr id="10" name="Chart">
            <a:extLst xmlns:a="http://schemas.openxmlformats.org/drawingml/2006/main">
              <a:ext uri="{FF2B5EF4-FFF2-40B4-BE49-F238E27FC236}">
                <a16:creationId xmlns:a16="http://schemas.microsoft.com/office/drawing/2014/main" id="{41C1B768-25CF-419B-9E05-E21896C29231}"/>
              </a:ext>
            </a:extLst>
          </p:cNvPr>
          <p:cNvGraphicFramePr/>
          <p:nvPr/>
        </p:nvGraphicFramePr>
        <p:xfrm>
          <a:off xmlns:a="http://schemas.openxmlformats.org/drawingml/2006/main" x="7991475" y="3276600"/>
          <a:ext xmlns:a="http://schemas.openxmlformats.org/drawingml/2006/main" cx="6734175" cy="3048000"/>
        </p:xfrm>
        <a:graphic xmlns:a="http://schemas.openxmlformats.org/drawingml/2006/main">
          <a:graphicData uri="http://schemas.openxmlformats.org/drawingml/2006/chart">
            <c:chart xmlns:r="http://schemas.openxmlformats.org/officeDocument/2006/relationships" xmlns:c="http://schemas.openxmlformats.org/drawingml/2006/chart" r:id="R48e2926364e14250"/>
          </a:graphicData>
        </a:graphic>
      </p:graphicFrame>
      <p:sp>
        <p:nvSpPr>
          <p:cNvPr id="11" name="X axis label">
            <a:extLst xmlns:a="http://schemas.openxmlformats.org/drawingml/2006/main">
              <a:ext uri="{FF2B5EF4-FFF2-40B4-BE49-F238E27FC236}">
                <a16:creationId xmlns:a16="http://schemas.microsoft.com/office/drawing/2014/main" id="{A65F7C47-5245-492C-AE4C-80A5DDC81BBB}"/>
              </a:ext>
            </a:extLst>
          </p:cNvPr>
          <p:cNvSpPr>
            <a:spLocks xmlns:a="http://schemas.openxmlformats.org/drawingml/2006/main" noGrp="1"/>
          </p:cNvSpPr>
          <p:nvPr/>
        </p:nvSpPr>
        <p:spPr>
          <a:xfrm xmlns:a="http://schemas.openxmlformats.org/drawingml/2006/main">
            <a:off x="10115550" y="634365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57682"/>
                </a:solidFill>
                <a:latin typeface="Nimbus Sans"/>
                <a:ea typeface="Nimbus Sans"/>
                <a:cs typeface="Nimbus Sans"/>
              </a:defRPr>
            </a:defPPr>
            <a:lvl1pPr algn="l">
              <a:defRPr sz="1500" b="0">
                <a:solidFill>
                  <a:srgbClr val="657682"/>
                </a:solidFill>
                <a:latin typeface="Nimbus Sans"/>
                <a:ea typeface="Nimbus Sans"/>
                <a:cs typeface="Nimbus Sans"/>
              </a:defRPr>
            </a:lvl1pPr>
            <a:lvl2pPr algn="l">
              <a:defRPr sz="1500" b="0">
                <a:solidFill>
                  <a:srgbClr val="657682"/>
                </a:solidFill>
                <a:latin typeface="Nimbus Sans"/>
                <a:ea typeface="Nimbus Sans"/>
                <a:cs typeface="Nimbus Sans"/>
              </a:defRPr>
            </a:lvl2pPr>
            <a:lvl3pPr algn="l">
              <a:defRPr sz="1500" b="0">
                <a:solidFill>
                  <a:srgbClr val="657682"/>
                </a:solidFill>
                <a:latin typeface="Nimbus Sans"/>
                <a:ea typeface="Nimbus Sans"/>
                <a:cs typeface="Nimbus Sans"/>
              </a:defRPr>
            </a:lvl3pPr>
            <a:lvl4pPr algn="l">
              <a:defRPr sz="1500" b="0">
                <a:solidFill>
                  <a:srgbClr val="657682"/>
                </a:solidFill>
                <a:latin typeface="Nimbus Sans"/>
                <a:ea typeface="Nimbus Sans"/>
                <a:cs typeface="Nimbus Sans"/>
              </a:defRPr>
            </a:lvl4pPr>
            <a:lvl5pPr algn="l">
              <a:defRPr sz="1500" b="0">
                <a:solidFill>
                  <a:srgbClr val="657682"/>
                </a:solidFill>
                <a:latin typeface="Nimbus Sans"/>
                <a:ea typeface="Nimbus Sans"/>
                <a:cs typeface="Nimbus Sans"/>
              </a:defRPr>
            </a:lvl5pPr>
            <a:lvl6pPr algn="l">
              <a:defRPr sz="1500" b="0">
                <a:solidFill>
                  <a:srgbClr val="657682"/>
                </a:solidFill>
                <a:latin typeface="Nimbus Sans"/>
                <a:ea typeface="Nimbus Sans"/>
                <a:cs typeface="Nimbus Sans"/>
              </a:defRPr>
            </a:lvl6pPr>
            <a:lvl7pPr algn="l">
              <a:defRPr sz="1500" b="0">
                <a:solidFill>
                  <a:srgbClr val="657682"/>
                </a:solidFill>
                <a:latin typeface="Nimbus Sans"/>
                <a:ea typeface="Nimbus Sans"/>
                <a:cs typeface="Nimbus Sans"/>
              </a:defRPr>
            </a:lvl7pPr>
            <a:lvl8pPr algn="l">
              <a:defRPr sz="1500" b="0">
                <a:solidFill>
                  <a:srgbClr val="657682"/>
                </a:solidFill>
                <a:latin typeface="Nimbus Sans"/>
                <a:ea typeface="Nimbus Sans"/>
                <a:cs typeface="Nimbus Sans"/>
              </a:defRPr>
            </a:lvl8pPr>
            <a:lvl9pPr algn="l">
              <a:defRPr sz="1500" b="0">
                <a:solidFill>
                  <a:srgbClr val="657682"/>
                </a:solidFill>
                <a:latin typeface="Nimbus Sans"/>
                <a:ea typeface="Nimbus Sans"/>
                <a:cs typeface="Nimbus Sans"/>
              </a:defRPr>
            </a:lvl9pPr>
          </a:lstStyle>
          <a:p xmlns:a="http://schemas.openxmlformats.org/drawingml/2006/main">
            <a:pPr algn="l">
              <a:lnSpc>
                <a:spcPct val="108000"/>
              </a:lnSpc>
              <a:buNone/>
              <a:defRPr sz="1500" b="0">
                <a:solidFill>
                  <a:srgbClr val="657682"/>
                </a:solidFill>
                <a:latin typeface="Nimbus Sans"/>
                <a:ea typeface="Nimbus Sans"/>
                <a:cs typeface="Nimbus Sans"/>
              </a:defRPr>
            </a:pPr>
            <a:r>
              <a:rPr sz="1500" b="0">
                <a:solidFill>
                  <a:srgbClr val="657682"/>
                </a:solidFill>
                <a:latin typeface="Nimbus Sans"/>
                <a:ea typeface="Nimbus Sans"/>
                <a:cs typeface="Nimbus Sans"/>
              </a:rPr>
              <a:t>Paid unit volume growth</a:t>
            </a:r>
          </a:p>
        </p:txBody>
      </p:sp>
      <p:sp>
        <p:nvSpPr>
          <p:cNvPr id="12" name="Price implication">
            <a:extLst xmlns:a="http://schemas.openxmlformats.org/drawingml/2006/main">
              <a:ext uri="{FF2B5EF4-FFF2-40B4-BE49-F238E27FC236}">
                <a16:creationId xmlns:a16="http://schemas.microsoft.com/office/drawing/2014/main" id="{56DF23A3-1BE3-4C9D-8A7D-5DA43665101D}"/>
              </a:ext>
            </a:extLst>
          </p:cNvPr>
          <p:cNvSpPr>
            <a:spLocks xmlns:a="http://schemas.openxmlformats.org/drawingml/2006/main" noGrp="1"/>
          </p:cNvSpPr>
          <p:nvPr/>
        </p:nvSpPr>
        <p:spPr>
          <a:xfrm xmlns:a="http://schemas.openxmlformats.org/drawingml/2006/main">
            <a:off x="609600" y="6448425"/>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0067A6"/>
                </a:solidFill>
                <a:latin typeface="Nimbus Sans"/>
                <a:ea typeface="Nimbus Sans"/>
                <a:cs typeface="Nimbus Sans"/>
              </a:defRPr>
            </a:defPPr>
            <a:lvl1pPr algn="l">
              <a:defRPr sz="1800" b="1">
                <a:solidFill>
                  <a:srgbClr val="0067A6"/>
                </a:solidFill>
                <a:latin typeface="Nimbus Sans"/>
                <a:ea typeface="Nimbus Sans"/>
                <a:cs typeface="Nimbus Sans"/>
              </a:defRPr>
            </a:lvl1pPr>
            <a:lvl2pPr algn="l">
              <a:defRPr sz="1800" b="1">
                <a:solidFill>
                  <a:srgbClr val="0067A6"/>
                </a:solidFill>
                <a:latin typeface="Nimbus Sans"/>
                <a:ea typeface="Nimbus Sans"/>
                <a:cs typeface="Nimbus Sans"/>
              </a:defRPr>
            </a:lvl2pPr>
            <a:lvl3pPr algn="l">
              <a:defRPr sz="1800" b="1">
                <a:solidFill>
                  <a:srgbClr val="0067A6"/>
                </a:solidFill>
                <a:latin typeface="Nimbus Sans"/>
                <a:ea typeface="Nimbus Sans"/>
                <a:cs typeface="Nimbus Sans"/>
              </a:defRPr>
            </a:lvl3pPr>
            <a:lvl4pPr algn="l">
              <a:defRPr sz="1800" b="1">
                <a:solidFill>
                  <a:srgbClr val="0067A6"/>
                </a:solidFill>
                <a:latin typeface="Nimbus Sans"/>
                <a:ea typeface="Nimbus Sans"/>
                <a:cs typeface="Nimbus Sans"/>
              </a:defRPr>
            </a:lvl4pPr>
            <a:lvl5pPr algn="l">
              <a:defRPr sz="1800" b="1">
                <a:solidFill>
                  <a:srgbClr val="0067A6"/>
                </a:solidFill>
                <a:latin typeface="Nimbus Sans"/>
                <a:ea typeface="Nimbus Sans"/>
                <a:cs typeface="Nimbus Sans"/>
              </a:defRPr>
            </a:lvl5pPr>
            <a:lvl6pPr algn="l">
              <a:defRPr sz="1800" b="1">
                <a:solidFill>
                  <a:srgbClr val="0067A6"/>
                </a:solidFill>
                <a:latin typeface="Nimbus Sans"/>
                <a:ea typeface="Nimbus Sans"/>
                <a:cs typeface="Nimbus Sans"/>
              </a:defRPr>
            </a:lvl6pPr>
            <a:lvl7pPr algn="l">
              <a:defRPr sz="1800" b="1">
                <a:solidFill>
                  <a:srgbClr val="0067A6"/>
                </a:solidFill>
                <a:latin typeface="Nimbus Sans"/>
                <a:ea typeface="Nimbus Sans"/>
                <a:cs typeface="Nimbus Sans"/>
              </a:defRPr>
            </a:lvl7pPr>
            <a:lvl8pPr algn="l">
              <a:defRPr sz="1800" b="1">
                <a:solidFill>
                  <a:srgbClr val="0067A6"/>
                </a:solidFill>
                <a:latin typeface="Nimbus Sans"/>
                <a:ea typeface="Nimbus Sans"/>
                <a:cs typeface="Nimbus Sans"/>
              </a:defRPr>
            </a:lvl8pPr>
            <a:lvl9pPr algn="l">
              <a:defRPr sz="1800" b="1">
                <a:solidFill>
                  <a:srgbClr val="0067A6"/>
                </a:solidFill>
                <a:latin typeface="Nimbus Sans"/>
                <a:ea typeface="Nimbus Sans"/>
                <a:cs typeface="Nimbus Sans"/>
              </a:defRPr>
            </a:lvl9pPr>
          </a:lstStyle>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MRP: Rs300 to Rs100 (−67%)</a:t>
            </a:r>
          </a:p>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First-sale price: Rs70 in both bars</a:t>
            </a:r>
          </a:p>
        </p:txBody>
      </p:sp>
      <p:sp>
        <p:nvSpPr>
          <p:cNvPr id="13" name="Sales implication">
            <a:extLst xmlns:a="http://schemas.openxmlformats.org/drawingml/2006/main">
              <a:ext uri="{FF2B5EF4-FFF2-40B4-BE49-F238E27FC236}">
                <a16:creationId xmlns:a16="http://schemas.microsoft.com/office/drawing/2014/main" id="{33A3C37E-E841-44A4-8CC6-642487327E57}"/>
              </a:ext>
            </a:extLst>
          </p:cNvPr>
          <p:cNvSpPr>
            <a:spLocks xmlns:a="http://schemas.openxmlformats.org/drawingml/2006/main" noGrp="1"/>
          </p:cNvSpPr>
          <p:nvPr/>
        </p:nvSpPr>
        <p:spPr>
          <a:xfrm xmlns:a="http://schemas.openxmlformats.org/drawingml/2006/main">
            <a:off x="8086725" y="6724650"/>
            <a:ext cx="65436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0067A6"/>
                </a:solidFill>
                <a:latin typeface="Nimbus Sans"/>
                <a:ea typeface="Nimbus Sans"/>
                <a:cs typeface="Nimbus Sans"/>
              </a:defRPr>
            </a:defPPr>
            <a:lvl1pPr algn="l">
              <a:defRPr sz="1725" b="1">
                <a:solidFill>
                  <a:srgbClr val="0067A6"/>
                </a:solidFill>
                <a:latin typeface="Nimbus Sans"/>
                <a:ea typeface="Nimbus Sans"/>
                <a:cs typeface="Nimbus Sans"/>
              </a:defRPr>
            </a:lvl1pPr>
            <a:lvl2pPr algn="l">
              <a:defRPr sz="1725" b="1">
                <a:solidFill>
                  <a:srgbClr val="0067A6"/>
                </a:solidFill>
                <a:latin typeface="Nimbus Sans"/>
                <a:ea typeface="Nimbus Sans"/>
                <a:cs typeface="Nimbus Sans"/>
              </a:defRPr>
            </a:lvl2pPr>
            <a:lvl3pPr algn="l">
              <a:defRPr sz="1725" b="1">
                <a:solidFill>
                  <a:srgbClr val="0067A6"/>
                </a:solidFill>
                <a:latin typeface="Nimbus Sans"/>
                <a:ea typeface="Nimbus Sans"/>
                <a:cs typeface="Nimbus Sans"/>
              </a:defRPr>
            </a:lvl3pPr>
            <a:lvl4pPr algn="l">
              <a:defRPr sz="1725" b="1">
                <a:solidFill>
                  <a:srgbClr val="0067A6"/>
                </a:solidFill>
                <a:latin typeface="Nimbus Sans"/>
                <a:ea typeface="Nimbus Sans"/>
                <a:cs typeface="Nimbus Sans"/>
              </a:defRPr>
            </a:lvl4pPr>
            <a:lvl5pPr algn="l">
              <a:defRPr sz="1725" b="1">
                <a:solidFill>
                  <a:srgbClr val="0067A6"/>
                </a:solidFill>
                <a:latin typeface="Nimbus Sans"/>
                <a:ea typeface="Nimbus Sans"/>
                <a:cs typeface="Nimbus Sans"/>
              </a:defRPr>
            </a:lvl5pPr>
            <a:lvl6pPr algn="l">
              <a:defRPr sz="1725" b="1">
                <a:solidFill>
                  <a:srgbClr val="0067A6"/>
                </a:solidFill>
                <a:latin typeface="Nimbus Sans"/>
                <a:ea typeface="Nimbus Sans"/>
                <a:cs typeface="Nimbus Sans"/>
              </a:defRPr>
            </a:lvl6pPr>
            <a:lvl7pPr algn="l">
              <a:defRPr sz="1725" b="1">
                <a:solidFill>
                  <a:srgbClr val="0067A6"/>
                </a:solidFill>
                <a:latin typeface="Nimbus Sans"/>
                <a:ea typeface="Nimbus Sans"/>
                <a:cs typeface="Nimbus Sans"/>
              </a:defRPr>
            </a:lvl7pPr>
            <a:lvl8pPr algn="l">
              <a:defRPr sz="1725" b="1">
                <a:solidFill>
                  <a:srgbClr val="0067A6"/>
                </a:solidFill>
                <a:latin typeface="Nimbus Sans"/>
                <a:ea typeface="Nimbus Sans"/>
                <a:cs typeface="Nimbus Sans"/>
              </a:defRPr>
            </a:lvl8pPr>
            <a:lvl9pPr algn="l">
              <a:defRPr sz="1725" b="1">
                <a:solidFill>
                  <a:srgbClr val="0067A6"/>
                </a:solidFill>
                <a:latin typeface="Nimbus Sans"/>
                <a:ea typeface="Nimbus Sans"/>
                <a:cs typeface="Nimbus Sans"/>
              </a:defRPr>
            </a:lvl9pPr>
          </a:lstStyle>
          <a:p xmlns:a="http://schemas.openxmlformats.org/drawingml/2006/main">
            <a:pPr algn="l">
              <a:lnSpc>
                <a:spcPct val="108000"/>
              </a:lnSpc>
              <a:buNone/>
              <a:defRPr sz="1725" b="1">
                <a:solidFill>
                  <a:srgbClr val="0067A6"/>
                </a:solidFill>
                <a:latin typeface="Nimbus Sans"/>
                <a:ea typeface="Nimbus Sans"/>
                <a:cs typeface="Nimbus Sans"/>
              </a:defRPr>
            </a:pPr>
            <a:r>
              <a:rPr sz="1725" b="1">
                <a:solidFill>
                  <a:srgbClr val="0067A6"/>
                </a:solidFill>
                <a:latin typeface="Nimbus Sans"/>
                <a:ea typeface="Nimbus Sans"/>
                <a:cs typeface="Nimbus Sans"/>
              </a:rPr>
              <a:t>20% volume growth and a 5% net-price cut</a:t>
            </a:r>
          </a:p>
          <a:p xmlns:a="http://schemas.openxmlformats.org/drawingml/2006/main">
            <a:pPr algn="l">
              <a:lnSpc>
                <a:spcPct val="108000"/>
              </a:lnSpc>
              <a:buNone/>
              <a:defRPr sz="1725" b="1">
                <a:solidFill>
                  <a:srgbClr val="0067A6"/>
                </a:solidFill>
                <a:latin typeface="Nimbus Sans"/>
                <a:ea typeface="Nimbus Sans"/>
                <a:cs typeface="Nimbus Sans"/>
              </a:defRPr>
            </a:pPr>
            <a:r>
              <a:rPr sz="1725" b="1">
                <a:solidFill>
                  <a:srgbClr val="0067A6"/>
                </a:solidFill>
                <a:latin typeface="Nimbus Sans"/>
                <a:ea typeface="Nimbus Sans"/>
                <a:cs typeface="Nimbus Sans"/>
              </a:rPr>
              <a:t>yield 14% manufacturer sales growth</a:t>
            </a:r>
          </a:p>
        </p:txBody>
      </p:sp>
      <p:sp>
        <p:nvSpPr>
          <p:cNvPr id="14" name="GSK separator">
            <a:extLst xmlns:a="http://schemas.openxmlformats.org/drawingml/2006/main">
              <a:ext uri="{FF2B5EF4-FFF2-40B4-BE49-F238E27FC236}">
                <a16:creationId xmlns:a16="http://schemas.microsoft.com/office/drawing/2014/main" id="{74AEAA9C-7B02-40A3-ACC5-F8F87A4DBCBD}"/>
              </a:ext>
            </a:extLst>
          </p:cNvPr>
          <p:cNvSpPr>
            <a:spLocks xmlns:a="http://schemas.openxmlformats.org/drawingml/2006/main" noGrp="1"/>
          </p:cNvSpPr>
          <p:nvPr/>
        </p:nvSpPr>
        <p:spPr>
          <a:xfrm xmlns:a="http://schemas.openxmlformats.org/drawingml/2006/main">
            <a:off x="609600" y="7467600"/>
            <a:ext cx="14020800" cy="95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15" name="GSK relevance">
            <a:extLst xmlns:a="http://schemas.openxmlformats.org/drawingml/2006/main">
              <a:ext uri="{FF2B5EF4-FFF2-40B4-BE49-F238E27FC236}">
                <a16:creationId xmlns:a16="http://schemas.microsoft.com/office/drawing/2014/main" id="{87BA1EB8-883F-4688-B98D-70B6538AF078}"/>
              </a:ext>
            </a:extLst>
          </p:cNvPr>
          <p:cNvSpPr>
            <a:spLocks xmlns:a="http://schemas.openxmlformats.org/drawingml/2006/main" noGrp="1"/>
          </p:cNvSpPr>
          <p:nvPr/>
        </p:nvSpPr>
        <p:spPr>
          <a:xfrm xmlns:a="http://schemas.openxmlformats.org/drawingml/2006/main">
            <a:off x="609600" y="7581900"/>
            <a:ext cx="14020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243746"/>
                </a:solidFill>
                <a:latin typeface="Nimbus Sans"/>
                <a:ea typeface="Nimbus Sans"/>
                <a:cs typeface="Nimbus Sans"/>
              </a:defRPr>
            </a:defPPr>
            <a:lvl1pPr algn="l">
              <a:defRPr sz="1725" b="1">
                <a:solidFill>
                  <a:srgbClr val="243746"/>
                </a:solidFill>
                <a:latin typeface="Nimbus Sans"/>
                <a:ea typeface="Nimbus Sans"/>
                <a:cs typeface="Nimbus Sans"/>
              </a:defRPr>
            </a:lvl1pPr>
            <a:lvl2pPr algn="l">
              <a:defRPr sz="1725" b="1">
                <a:solidFill>
                  <a:srgbClr val="243746"/>
                </a:solidFill>
                <a:latin typeface="Nimbus Sans"/>
                <a:ea typeface="Nimbus Sans"/>
                <a:cs typeface="Nimbus Sans"/>
              </a:defRPr>
            </a:lvl2pPr>
            <a:lvl3pPr algn="l">
              <a:defRPr sz="1725" b="1">
                <a:solidFill>
                  <a:srgbClr val="243746"/>
                </a:solidFill>
                <a:latin typeface="Nimbus Sans"/>
                <a:ea typeface="Nimbus Sans"/>
                <a:cs typeface="Nimbus Sans"/>
              </a:defRPr>
            </a:lvl3pPr>
            <a:lvl4pPr algn="l">
              <a:defRPr sz="1725" b="1">
                <a:solidFill>
                  <a:srgbClr val="243746"/>
                </a:solidFill>
                <a:latin typeface="Nimbus Sans"/>
                <a:ea typeface="Nimbus Sans"/>
                <a:cs typeface="Nimbus Sans"/>
              </a:defRPr>
            </a:lvl4pPr>
            <a:lvl5pPr algn="l">
              <a:defRPr sz="1725" b="1">
                <a:solidFill>
                  <a:srgbClr val="243746"/>
                </a:solidFill>
                <a:latin typeface="Nimbus Sans"/>
                <a:ea typeface="Nimbus Sans"/>
                <a:cs typeface="Nimbus Sans"/>
              </a:defRPr>
            </a:lvl5pPr>
            <a:lvl6pPr algn="l">
              <a:defRPr sz="1725" b="1">
                <a:solidFill>
                  <a:srgbClr val="243746"/>
                </a:solidFill>
                <a:latin typeface="Nimbus Sans"/>
                <a:ea typeface="Nimbus Sans"/>
                <a:cs typeface="Nimbus Sans"/>
              </a:defRPr>
            </a:lvl6pPr>
            <a:lvl7pPr algn="l">
              <a:defRPr sz="1725" b="1">
                <a:solidFill>
                  <a:srgbClr val="243746"/>
                </a:solidFill>
                <a:latin typeface="Nimbus Sans"/>
                <a:ea typeface="Nimbus Sans"/>
                <a:cs typeface="Nimbus Sans"/>
              </a:defRPr>
            </a:lvl7pPr>
            <a:lvl8pPr algn="l">
              <a:defRPr sz="1725" b="1">
                <a:solidFill>
                  <a:srgbClr val="243746"/>
                </a:solidFill>
                <a:latin typeface="Nimbus Sans"/>
                <a:ea typeface="Nimbus Sans"/>
                <a:cs typeface="Nimbus Sans"/>
              </a:defRPr>
            </a:lvl8pPr>
            <a:lvl9pPr algn="l">
              <a:defRPr sz="1725" b="1">
                <a:solidFill>
                  <a:srgbClr val="243746"/>
                </a:solidFill>
                <a:latin typeface="Nimbus Sans"/>
                <a:ea typeface="Nimbus Sans"/>
                <a:cs typeface="Nimbus Sans"/>
              </a:defRPr>
            </a:lvl9pPr>
          </a:lstStyle>
          <a:p xmlns:a="http://schemas.openxmlformats.org/drawingml/2006/main">
            <a:pPr algn="l">
              <a:lnSpc>
                <a:spcPct val="108000"/>
              </a:lnSpc>
              <a:buNone/>
              <a:defRPr sz="1725" b="1">
                <a:solidFill>
                  <a:srgbClr val="243746"/>
                </a:solidFill>
                <a:latin typeface="Nimbus Sans"/>
                <a:ea typeface="Nimbus Sans"/>
                <a:cs typeface="Nimbus Sans"/>
              </a:defRPr>
            </a:pPr>
            <a:r>
              <a:rPr sz="1725" b="1">
                <a:solidFill>
                  <a:srgbClr val="243746"/>
                </a:solidFill>
                <a:latin typeface="Nimbus Sans"/>
                <a:ea typeface="Nimbus Sans"/>
                <a:cs typeface="Nimbus Sans"/>
              </a:rPr>
              <a:t>GSK: Jemperli, Zejula and Blenrep molecules appear in the list, subject to exemptions.</a:t>
            </a:r>
          </a:p>
          <a:p xmlns:a="http://schemas.openxmlformats.org/drawingml/2006/main">
            <a:pPr algn="l">
              <a:lnSpc>
                <a:spcPct val="108000"/>
              </a:lnSpc>
              <a:buNone/>
              <a:defRPr sz="1725" b="1">
                <a:solidFill>
                  <a:srgbClr val="243746"/>
                </a:solidFill>
                <a:latin typeface="Nimbus Sans"/>
                <a:ea typeface="Nimbus Sans"/>
                <a:cs typeface="Nimbus Sans"/>
              </a:defRPr>
            </a:pPr>
            <a:r>
              <a:rPr sz="1725" b="1">
                <a:solidFill>
                  <a:srgbClr val="243746"/>
                </a:solidFill>
                <a:latin typeface="Nimbus Sans"/>
                <a:ea typeface="Nimbus Sans"/>
                <a:cs typeface="Nimbus Sans"/>
              </a:rPr>
              <a:t>The present list does not establish a direct benefit for GSK respiratory or vaccines.</a:t>
            </a:r>
          </a:p>
        </p:txBody>
      </p:sp>
      <p:sp>
        <p:nvSpPr>
          <p:cNvPr id="16" name="Source">
            <a:extLst xmlns:a="http://schemas.openxmlformats.org/drawingml/2006/main">
              <a:ext uri="{FF2B5EF4-FFF2-40B4-BE49-F238E27FC236}">
                <a16:creationId xmlns:a16="http://schemas.microsoft.com/office/drawing/2014/main" id="{B52353EB-0276-4EFC-9862-3285B50E3125}"/>
              </a:ext>
            </a:extLst>
          </p:cNvPr>
          <p:cNvSpPr>
            <a:spLocks xmlns:a="http://schemas.openxmlformats.org/drawingml/2006/main" noGrp="1"/>
          </p:cNvSpPr>
          <p:nvPr/>
        </p:nvSpPr>
        <p:spPr>
          <a:xfrm xmlns:a="http://schemas.openxmlformats.org/drawingml/2006/main">
            <a:off x="609600" y="8105775"/>
            <a:ext cx="14020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657682"/>
                </a:solidFill>
                <a:latin typeface="Nimbus Sans"/>
                <a:ea typeface="Nimbus Sans"/>
                <a:cs typeface="Nimbus Sans"/>
              </a:defRPr>
            </a:defPPr>
            <a:lvl1pPr algn="l">
              <a:defRPr sz="1125" b="0">
                <a:solidFill>
                  <a:srgbClr val="657682"/>
                </a:solidFill>
                <a:latin typeface="Nimbus Sans"/>
                <a:ea typeface="Nimbus Sans"/>
                <a:cs typeface="Nimbus Sans"/>
              </a:defRPr>
            </a:lvl1pPr>
            <a:lvl2pPr algn="l">
              <a:defRPr sz="1125" b="0">
                <a:solidFill>
                  <a:srgbClr val="657682"/>
                </a:solidFill>
                <a:latin typeface="Nimbus Sans"/>
                <a:ea typeface="Nimbus Sans"/>
                <a:cs typeface="Nimbus Sans"/>
              </a:defRPr>
            </a:lvl2pPr>
            <a:lvl3pPr algn="l">
              <a:defRPr sz="1125" b="0">
                <a:solidFill>
                  <a:srgbClr val="657682"/>
                </a:solidFill>
                <a:latin typeface="Nimbus Sans"/>
                <a:ea typeface="Nimbus Sans"/>
                <a:cs typeface="Nimbus Sans"/>
              </a:defRPr>
            </a:lvl3pPr>
            <a:lvl4pPr algn="l">
              <a:defRPr sz="1125" b="0">
                <a:solidFill>
                  <a:srgbClr val="657682"/>
                </a:solidFill>
                <a:latin typeface="Nimbus Sans"/>
                <a:ea typeface="Nimbus Sans"/>
                <a:cs typeface="Nimbus Sans"/>
              </a:defRPr>
            </a:lvl4pPr>
            <a:lvl5pPr algn="l">
              <a:defRPr sz="1125" b="0">
                <a:solidFill>
                  <a:srgbClr val="657682"/>
                </a:solidFill>
                <a:latin typeface="Nimbus Sans"/>
                <a:ea typeface="Nimbus Sans"/>
                <a:cs typeface="Nimbus Sans"/>
              </a:defRPr>
            </a:lvl5pPr>
            <a:lvl6pPr algn="l">
              <a:defRPr sz="1125" b="0">
                <a:solidFill>
                  <a:srgbClr val="657682"/>
                </a:solidFill>
                <a:latin typeface="Nimbus Sans"/>
                <a:ea typeface="Nimbus Sans"/>
                <a:cs typeface="Nimbus Sans"/>
              </a:defRPr>
            </a:lvl6pPr>
            <a:lvl7pPr algn="l">
              <a:defRPr sz="1125" b="0">
                <a:solidFill>
                  <a:srgbClr val="657682"/>
                </a:solidFill>
                <a:latin typeface="Nimbus Sans"/>
                <a:ea typeface="Nimbus Sans"/>
                <a:cs typeface="Nimbus Sans"/>
              </a:defRPr>
            </a:lvl7pPr>
            <a:lvl8pPr algn="l">
              <a:defRPr sz="1125" b="0">
                <a:solidFill>
                  <a:srgbClr val="657682"/>
                </a:solidFill>
                <a:latin typeface="Nimbus Sans"/>
                <a:ea typeface="Nimbus Sans"/>
                <a:cs typeface="Nimbus Sans"/>
              </a:defRPr>
            </a:lvl8pPr>
            <a:lvl9pPr algn="l">
              <a:defRPr sz="1125" b="0">
                <a:solidFill>
                  <a:srgbClr val="657682"/>
                </a:solidFill>
                <a:latin typeface="Nimbus Sans"/>
                <a:ea typeface="Nimbus Sans"/>
                <a:cs typeface="Nimbus Sans"/>
              </a:defRPr>
            </a:lvl9pPr>
          </a:lstStyle>
          <a:p xmlns:a="http://schemas.openxmlformats.org/drawingml/2006/main">
            <a:pPr algn="l">
              <a:lnSpc>
                <a:spcPct val="108000"/>
              </a:lnSpc>
              <a:buNone/>
              <a:defRPr sz="1125" b="0">
                <a:solidFill>
                  <a:srgbClr val="657682"/>
                </a:solidFill>
                <a:latin typeface="Nimbus Sans"/>
                <a:ea typeface="Nimbus Sans"/>
                <a:cs typeface="Nimbus Sans"/>
              </a:defRPr>
            </a:pPr>
            <a:r>
              <a:rPr sz="1125" b="0">
                <a:solidFill>
                  <a:srgbClr val="657682"/>
                </a:solidFill>
                <a:latin typeface="Nimbus Sans"/>
                <a:ea typeface="Nimbus Sans"/>
                <a:cs typeface="Nimbus Sans"/>
              </a:rPr>
              <a:t>Source: NPPA S.O. 5690(E), 17 Oct 2026, Table A, Table B and note (j). Analyst sensitivity. As of 21 Oct 2026.</a:t>
            </a:r>
          </a:p>
        </p:txBody>
      </p:sp>
      <p:sp>
        <p:nvSpPr>
          <p:cNvPr id="17" name="Qualification">
            <a:extLst xmlns:a="http://schemas.openxmlformats.org/drawingml/2006/main">
              <a:ext uri="{FF2B5EF4-FFF2-40B4-BE49-F238E27FC236}">
                <a16:creationId xmlns:a16="http://schemas.microsoft.com/office/drawing/2014/main" id="{93C756BE-4F71-453D-926F-815E083B47AA}"/>
              </a:ext>
            </a:extLst>
          </p:cNvPr>
          <p:cNvSpPr>
            <a:spLocks xmlns:a="http://schemas.openxmlformats.org/drawingml/2006/main" noGrp="1"/>
          </p:cNvSpPr>
          <p:nvPr/>
        </p:nvSpPr>
        <p:spPr>
          <a:xfrm xmlns:a="http://schemas.openxmlformats.org/drawingml/2006/main">
            <a:off x="609600" y="8315325"/>
            <a:ext cx="14020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a:solidFill>
                  <a:srgbClr val="657682"/>
                </a:solidFill>
                <a:latin typeface="Nimbus Sans"/>
                <a:ea typeface="Nimbus Sans"/>
                <a:cs typeface="Nimbus Sans"/>
              </a:defRPr>
            </a:defPPr>
            <a:lvl1pPr algn="l">
              <a:defRPr sz="1050" b="0">
                <a:solidFill>
                  <a:srgbClr val="657682"/>
                </a:solidFill>
                <a:latin typeface="Nimbus Sans"/>
                <a:ea typeface="Nimbus Sans"/>
                <a:cs typeface="Nimbus Sans"/>
              </a:defRPr>
            </a:lvl1pPr>
            <a:lvl2pPr algn="l">
              <a:defRPr sz="1050" b="0">
                <a:solidFill>
                  <a:srgbClr val="657682"/>
                </a:solidFill>
                <a:latin typeface="Nimbus Sans"/>
                <a:ea typeface="Nimbus Sans"/>
                <a:cs typeface="Nimbus Sans"/>
              </a:defRPr>
            </a:lvl2pPr>
            <a:lvl3pPr algn="l">
              <a:defRPr sz="1050" b="0">
                <a:solidFill>
                  <a:srgbClr val="657682"/>
                </a:solidFill>
                <a:latin typeface="Nimbus Sans"/>
                <a:ea typeface="Nimbus Sans"/>
                <a:cs typeface="Nimbus Sans"/>
              </a:defRPr>
            </a:lvl3pPr>
            <a:lvl4pPr algn="l">
              <a:defRPr sz="1050" b="0">
                <a:solidFill>
                  <a:srgbClr val="657682"/>
                </a:solidFill>
                <a:latin typeface="Nimbus Sans"/>
                <a:ea typeface="Nimbus Sans"/>
                <a:cs typeface="Nimbus Sans"/>
              </a:defRPr>
            </a:lvl4pPr>
            <a:lvl5pPr algn="l">
              <a:defRPr sz="1050" b="0">
                <a:solidFill>
                  <a:srgbClr val="657682"/>
                </a:solidFill>
                <a:latin typeface="Nimbus Sans"/>
                <a:ea typeface="Nimbus Sans"/>
                <a:cs typeface="Nimbus Sans"/>
              </a:defRPr>
            </a:lvl5pPr>
            <a:lvl6pPr algn="l">
              <a:defRPr sz="1050" b="0">
                <a:solidFill>
                  <a:srgbClr val="657682"/>
                </a:solidFill>
                <a:latin typeface="Nimbus Sans"/>
                <a:ea typeface="Nimbus Sans"/>
                <a:cs typeface="Nimbus Sans"/>
              </a:defRPr>
            </a:lvl6pPr>
            <a:lvl7pPr algn="l">
              <a:defRPr sz="1050" b="0">
                <a:solidFill>
                  <a:srgbClr val="657682"/>
                </a:solidFill>
                <a:latin typeface="Nimbus Sans"/>
                <a:ea typeface="Nimbus Sans"/>
                <a:cs typeface="Nimbus Sans"/>
              </a:defRPr>
            </a:lvl7pPr>
            <a:lvl8pPr algn="l">
              <a:defRPr sz="1050" b="0">
                <a:solidFill>
                  <a:srgbClr val="657682"/>
                </a:solidFill>
                <a:latin typeface="Nimbus Sans"/>
                <a:ea typeface="Nimbus Sans"/>
                <a:cs typeface="Nimbus Sans"/>
              </a:defRPr>
            </a:lvl8pPr>
            <a:lvl9pPr algn="l">
              <a:defRPr sz="1050" b="0">
                <a:solidFill>
                  <a:srgbClr val="657682"/>
                </a:solidFill>
                <a:latin typeface="Nimbus Sans"/>
                <a:ea typeface="Nimbus Sans"/>
                <a:cs typeface="Nimbus Sans"/>
              </a:defRPr>
            </a:lvl9pPr>
          </a:lstStyle>
          <a:p xmlns:a="http://schemas.openxmlformats.org/drawingml/2006/main">
            <a:pPr algn="l">
              <a:lnSpc>
                <a:spcPct val="108000"/>
              </a:lnSpc>
              <a:buNone/>
              <a:defRPr sz="1050" b="0">
                <a:solidFill>
                  <a:srgbClr val="657682"/>
                </a:solidFill>
                <a:latin typeface="Nimbus Sans"/>
                <a:ea typeface="Nimbus Sans"/>
                <a:cs typeface="Nimbus Sans"/>
              </a:defRPr>
            </a:pPr>
            <a:r>
              <a:rPr sz="1050" b="0">
                <a:solidFill>
                  <a:srgbClr val="657682"/>
                </a:solidFill>
                <a:latin typeface="Nimbus Sans"/>
                <a:ea typeface="Nimbus Sans"/>
                <a:cs typeface="Nimbus Sans"/>
              </a:rPr>
              <a:t>Worked example is not a GSK price forecast. Net realisation and paid volume gains remain unverified. Domestic oncology suppliers may also benefit.</a:t>
            </a:r>
          </a:p>
        </p:txBody>
      </p:sp>
    </p:spTree>
    <p:extLst>
      <p:ext uri="{BB962C8B-B14F-4D97-AF65-F5344CB8AC3E}">
        <p14:creationId xmlns:p14="http://schemas.microsoft.com/office/powerpoint/2010/main" val="2447623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2026-10-21T15:27:43.6680000Z</dcterms:created>
  <dcterms:modified xsi:type="dcterms:W3CDTF">2026-10-21T15:27:43.6680000Z</dcterms:modified>
</coreProperties>
</file>