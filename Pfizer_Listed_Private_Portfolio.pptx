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ec4df167142d1" /><Relationship Type="http://schemas.openxmlformats.org/officeDocument/2006/relationships/extended-properties" Target="/docProps/app.xml" Id="R681169f5d12b4891" /><Relationship Type="http://schemas.openxmlformats.org/officeDocument/2006/relationships/officeDocument" Target="/ppt/presentation.xml" Id="R2b34a2e846984e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94f226d6034329"/>
  </p:sldMasterIdLst>
  <p:notesMasterIdLst>
    <p:notesMasterId xmlns:r="http://schemas.openxmlformats.org/officeDocument/2006/relationships" r:id="Rc8717cf0dde94529"/>
  </p:notesMasterIdLst>
  <p:sldIdLst>
    <p:sldId xmlns:r="http://schemas.openxmlformats.org/officeDocument/2006/relationships" id="256" r:id="R2bad074d0c434696"/>
    <p:sldId xmlns:r="http://schemas.openxmlformats.org/officeDocument/2006/relationships" id="257" r:id="R076096f356044ab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27c828fef4d87" /><Relationship Type="http://schemas.openxmlformats.org/officeDocument/2006/relationships/slideMaster" Target="/ppt/slideMasters/slideMaster1.xml" Id="Rf894f226d6034329" /><Relationship Type="http://schemas.openxmlformats.org/officeDocument/2006/relationships/notesMaster" Target="/ppt/notesMasters/notesMaster1.xml" Id="Rc8717cf0dde94529" /><Relationship Type="http://schemas.openxmlformats.org/officeDocument/2006/relationships/presProps" Target="/ppt/presProps.xml" Id="Ra9408ecf84c34041" /><Relationship Type="http://schemas.openxmlformats.org/officeDocument/2006/relationships/tableStyles" Target="/ppt/tableStyles.xml" Id="R558a3ad0e1354161" /><Relationship Type="http://schemas.openxmlformats.org/officeDocument/2006/relationships/slide" Target="/ppt/slides/slide1.xml" Id="R2bad074d0c434696" /><Relationship Type="http://schemas.openxmlformats.org/officeDocument/2006/relationships/slide" Target="/ppt/slides/slide2.xml" Id="R076096f356044a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d559a77e83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63292218c4941" /><Relationship Type="http://schemas.openxmlformats.org/officeDocument/2006/relationships/notesMaster" Target="/ppt/notesMasters/notesMaster1.xml" Id="R5c8b597add2c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203b2eb3484238" /><Relationship Type="http://schemas.openxmlformats.org/officeDocument/2006/relationships/notesMaster" Target="/ppt/notesMasters/notesMaster1.xml" Id="R3382b2c9fd1241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Entity allocation: https://www.pfizerltd.co.in/files/Pfizer_Ltd_Price_List_-_Effective_October_23rd_2026.pdf</a:t>
            </a:r>
          </a:p>
          <a:p xmlns:a="http://schemas.openxmlformats.org/drawingml/2006/main">
            <a:r>
              <a:t>Private entity allocation: https://www.pfizer.co.in/files/Pfizer_India_Price_List_-_TMR_Order_Update.pdf</a:t>
            </a:r>
          </a:p>
          <a:p xmlns:a="http://schemas.openxmlformats.org/drawingml/2006/main">
            <a:r>
              <a:t>Cipla: https://www.expresspharma.in/pfizer-india-partners-with-cipla-for-marketing-and-distribution-of-select-brands/</a:t>
            </a:r>
          </a:p>
          <a:p xmlns:a="http://schemas.openxmlformats.org/drawingml/2006/main">
            <a:r>
              <a:t>Legal entities: https://www.pfizer.co.in/about-us/pfizer-in-india</a:t>
            </a:r>
          </a:p>
          <a:p xmlns:a="http://schemas.openxmlformats.org/drawingml/2006/main">
            <a:r>
              <a:t>Ticks show selected portfolio presence, not quantified market leadership. A dash highlights no comparable franchise in the selected comparison, not zero sales. PPIPL is distinct from Pfizer Healthcare India Pvt Ltd. No confirmed transfer pipeline is asserted.</a:t>
            </a:r>
          </a:p>
          <a:p xmlns:a="http://schemas.openxmlformats.org/drawingml/2006/main">
            <a:r>
              <a:t>Image sources:</a:t>
            </a:r>
          </a:p>
          <a:p xmlns:a="http://schemas.openxmlformats.org/drawingml/2006/main">
            <a:r>
              <a:t>Prevenar 13: https://cdn.pixelbin.io/v2/plain-cake-860195/netmed/wrkr/products/assets/item/free/original/PKHwKeEri4-prevenar_13_vaccine_0_5ml_0.jpg</a:t>
            </a:r>
          </a:p>
          <a:p xmlns:a="http://schemas.openxmlformats.org/drawingml/2006/main">
            <a:r>
              <a:t>Eliquis: https://images.apollo247.in/pub/media/catalog/product/E/L/ELI0077_1_1.jpg</a:t>
            </a:r>
          </a:p>
          <a:p xmlns:a="http://schemas.openxmlformats.org/drawingml/2006/main">
            <a:r>
              <a:t>Becosules: https://i.ebayimg.com/images/g/ZCcAAOSwQaBnOv5g/s-l1200.jpg</a:t>
            </a:r>
          </a:p>
          <a:p xmlns:a="http://schemas.openxmlformats.org/drawingml/2006/main">
            <a:r>
              <a:t>Palbace: https://www.amariindia.com/media/images/PALBACE_125MG_-_PALBOCICLIB_CAPSULES_RIG9bPO.original.jpg</a:t>
            </a:r>
          </a:p>
          <a:p xmlns:a="http://schemas.openxmlformats.org/drawingml/2006/main">
            <a:r>
              <a:t>Lorbriqua: https://img3.exportersindia.com/product_images/bc-full/2025/7/1369709/lorbriqua-100-mg-tablet-1752663176-8205570.jpeg</a:t>
            </a:r>
          </a:p>
          <a:p xmlns:a="http://schemas.openxmlformats.org/drawingml/2006/main">
            <a:r>
              <a:t>VyndaMx: https://onemg.gumlet.io/l_watermark_346/a_ignore%2Cc_fit%2Cq_auto%2Cf_auto/ed1768c8-aeab-4fd6-8fe9-59f217f6dbd0.jpeg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brands on this slide are allocated to PPIPL in the official current schedule: https://www.pfizer.co.in/files/Pfizer_India_Price_List_-_TMR_Order_Update.pdf</a:t>
            </a:r>
          </a:p>
          <a:p xmlns:a="http://schemas.openxmlformats.org/drawingml/2006/main">
            <a:r>
              <a:t>Product references:</a:t>
            </a:r>
          </a:p>
          <a:p xmlns:a="http://schemas.openxmlformats.org/drawingml/2006/main">
            <a:r>
              <a:t>Palbace: https://labeling.pfizer.com/ShowLabeling.aspx?id=16266</a:t>
            </a:r>
          </a:p>
          <a:p xmlns:a="http://schemas.openxmlformats.org/drawingml/2006/main">
            <a:r>
              <a:t>Lorbriqua: https://labeling.pfizer.com/ShowLabeling.aspx?id=16261</a:t>
            </a:r>
          </a:p>
          <a:p xmlns:a="http://schemas.openxmlformats.org/drawingml/2006/main">
            <a:r>
              <a:t>Inonza: https://labeling.pfizer.com/ShowLabeling.aspx?id=16264</a:t>
            </a:r>
          </a:p>
          <a:p xmlns:a="http://schemas.openxmlformats.org/drawingml/2006/main">
            <a:r>
              <a:t>Cibinqo: https://www.pfizer.co.in/files/Press-Release_Pfizer-Glenmark-Partnership-to-launch-Abrocitinib-in-India.pdf</a:t>
            </a:r>
          </a:p>
          <a:p xmlns:a="http://schemas.openxmlformats.org/drawingml/2006/main">
            <a:r>
              <a:t>Genryzon: https://labeling.pfizer.com/ShowLabeling.aspx?id=19566</a:t>
            </a:r>
          </a:p>
          <a:p xmlns:a="http://schemas.openxmlformats.org/drawingml/2006/main">
            <a:r>
              <a:t>VyndaMx: https://www.pfizer.co.in/our-science/product-list</a:t>
            </a:r>
          </a:p>
          <a:p xmlns:a="http://schemas.openxmlformats.org/drawingml/2006/main">
            <a:r>
              <a:t>Tafamidis indication cross-check: https://labeling.pfizer.com/ShowLabeling.aspx?id=11685</a:t>
            </a:r>
          </a:p>
          <a:p xmlns:a="http://schemas.openxmlformats.org/drawingml/2006/main">
            <a:r>
              <a:t>Contribution column is analyst interpretation. No announced transfer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a8c87cd6641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afe78495245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a05de4f8d42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1081cac534e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f3a1cbf5846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830f28de645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43AE67-2C34-4775-B72D-2D2D01FF1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7B7A99-42CC-43F8-9A62-414DFFE98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F94CC4-7ADE-4ED2-B78C-D161F5749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745377-B168-447E-A9C4-B6C6F2D6C0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5CADF6-E1EE-49E5-8950-2686FE19AC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386FDC-A135-4FD1-95CD-30D8DF346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6026D0-037F-4023-8001-E8E657D941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D1C249-FF5D-4B41-9F06-5099B9DADA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7B79CF-0F6C-4AA2-BA5F-ACC10CE03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5438B9-AADC-4BCC-8989-19D9080968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af6a7aa6cd4cde" /><Relationship Type="http://schemas.openxmlformats.org/officeDocument/2006/relationships/slideLayout" Target="/ppt/slideLayouts/slideLayout1.xml" Id="R7a0bfafa545e4ad7" /><Relationship Type="http://schemas.openxmlformats.org/officeDocument/2006/relationships/slideLayout" Target="/ppt/slideLayouts/slideLayout2.xml" Id="Rd64d9f2af47f494d" /><Relationship Type="http://schemas.openxmlformats.org/officeDocument/2006/relationships/slideLayout" Target="/ppt/slideLayouts/slideLayout3.xml" Id="R7e2c150d263a4611" /><Relationship Type="http://schemas.openxmlformats.org/officeDocument/2006/relationships/slideLayout" Target="/ppt/slideLayouts/slideLayout4.xml" Id="R565eaf48cdf54257" /><Relationship Type="http://schemas.openxmlformats.org/officeDocument/2006/relationships/slideLayout" Target="/ppt/slideLayouts/slideLayout5.xml" Id="R9f1ca5c30420486a" /><Relationship Type="http://schemas.openxmlformats.org/officeDocument/2006/relationships/slideLayout" Target="/ppt/slideLayouts/slideLayout6.xml" Id="Re4b220cc2f444f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0bfafa545e4ad7"/>
    <p:sldLayoutId xmlns:r="http://schemas.openxmlformats.org/officeDocument/2006/relationships" id="2147483650" r:id="Rd64d9f2af47f494d"/>
    <p:sldLayoutId xmlns:r="http://schemas.openxmlformats.org/officeDocument/2006/relationships" id="2147483651" r:id="R7e2c150d263a4611"/>
    <p:sldLayoutId xmlns:r="http://schemas.openxmlformats.org/officeDocument/2006/relationships" id="2147483652" r:id="R565eaf48cdf54257"/>
    <p:sldLayoutId xmlns:r="http://schemas.openxmlformats.org/officeDocument/2006/relationships" id="2147483653" r:id="R9f1ca5c30420486a"/>
    <p:sldLayoutId xmlns:r="http://schemas.openxmlformats.org/officeDocument/2006/relationships" id="2147483654" r:id="Re4b220cc2f444f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2c9390f1c4590" /><Relationship Type="http://schemas.openxmlformats.org/officeDocument/2006/relationships/image" Target="/ppt/media/image.jpeg" Id="Rad684233dd7f4cdc" /><Relationship Type="http://schemas.openxmlformats.org/officeDocument/2006/relationships/image" Target="/ppt/media/image2.jpeg" Id="R37644e249e4b4980" /><Relationship Type="http://schemas.openxmlformats.org/officeDocument/2006/relationships/image" Target="/ppt/media/image3.jpeg" Id="Rf14b0b508eb548fb" /><Relationship Type="http://schemas.openxmlformats.org/officeDocument/2006/relationships/image" Target="/ppt/media/image4.jpeg" Id="R469e45290a234770" /><Relationship Type="http://schemas.openxmlformats.org/officeDocument/2006/relationships/image" Target="/ppt/media/image5.jpeg" Id="Ra52baacfda99420b" /><Relationship Type="http://schemas.openxmlformats.org/officeDocument/2006/relationships/image" Target="/ppt/media/image6.jpeg" Id="R6a5eb8c2c9004ad2" /><Relationship Type="http://schemas.openxmlformats.org/officeDocument/2006/relationships/notesSlide" Target="/ppt/notesSlides/notesSlide1.xml" Id="R21237a8343994a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280e88e914266" /><Relationship Type="http://schemas.openxmlformats.org/officeDocument/2006/relationships/notesSlide" Target="/ppt/notesSlides/notesSlide2.xml" Id="R1b46348236aa4f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CC39D3D2-E64E-4653-952C-7AA8A40F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1428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003B71"/>
                </a:solidFill>
                <a:latin typeface="Nimbus Sans"/>
                <a:ea typeface="Nimbus Sans"/>
                <a:cs typeface="Nimbus Sans"/>
              </a:rPr>
              <a:t>Private-company franchises could broaden listed Pfizer’s specialty portfolio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309D36E5-9AA7-4FDC-B100-270C86EA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9150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Selected therapy franchises and representative brands, as of 25 October 2026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3CE42-323F-4ED4-8977-4F03DB7849BD}"/>
              </a:ext>
            </a:extLst>
          </p:cNvPr>
          <p:cNvGraphicFramePr/>
          <p:nvPr/>
        </p:nvGraphicFramePr>
        <p:xfrm>
          <a:off xmlns:a="http://schemas.openxmlformats.org/drawingml/2006/main" x="476250" y="1257300"/>
          <a:ext xmlns:a="http://schemas.openxmlformats.org/drawingml/2006/main" cx="14287500" cy="5086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5286375"/>
                <a:gridCol w="5953125"/>
              </a:tblGrid>
              <a:tr h="514350">
                <a:tc>
                  <a:txBody>
                    <a:bodyPr wrap="square" lIns="114300" tIns="47625" rIns="95250" bIns="4762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Therapy / category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T w="5715">
                      <a:solidFill>
                        <a:srgbClr val="D9E4ED"/>
                      </a:solidFill>
                      <a:prstDash val="solid"/>
                    </a:lnT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Pfizer Limited (listed)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T w="5715">
                      <a:solidFill>
                        <a:srgbClr val="D9E4ED"/>
                      </a:solidFill>
                      <a:prstDash val="solid"/>
                    </a:lnT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Pfizer Products India Pvt. Ltd. (private)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T w="5715">
                      <a:solidFill>
                        <a:srgbClr val="D9E4ED"/>
                      </a:solidFill>
                      <a:prstDash val="solid"/>
                    </a:lnT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003B71"/>
                    </a:solidFill>
                  </a:tcPr>
                </a:tc>
              </a:tr>
              <a:tr h="4191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Vaccines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Prevenar 13, Prevenar 20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Vitamins and nutrition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Becosules, Folvite, Autrin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191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Gastrointestinal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Gelusil, Mucaine, Neksium*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Cardiovascular / anticoagulation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Eliquis, Targit, Lopid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Fragmin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191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Immunology / dermatology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Enbrel, Betrecep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Cibinqo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Hospital anti-infectives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Magnex, Meronem, Zavicefta, Emblaveo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Cresemba, Vfend, Eraxis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191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Cough and pain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Corex DX / LS*, Dolonex*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Neurology / migraine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Nurtec ODT, Prestiq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62865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Oncology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003B7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Palbace, Lorbriqua, Crizalk, Inlyta,</a:t>
                      </a:r>
                    </a:p>
                    <a:p>
                      <a:r>
                        <a:rPr sz="1575" b="1">
                          <a:solidFill>
                            <a:srgbClr val="003B7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Sutent, Inonza, Elduxio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9055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Rare diseases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003B7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✓  Genotropin, Genryzon, BeneFIX,</a:t>
                      </a:r>
                    </a:p>
                    <a:p>
                      <a:r>
                        <a:rPr sz="1575" b="1">
                          <a:solidFill>
                            <a:srgbClr val="003B7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Xynthophilia, VyndaMx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B217F-6A88-4AA1-AB30-213F18246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84233dd7f4cdc"/>
          <a:stretch xmlns:a="http://schemas.openxmlformats.org/drawingml/2006/main"/>
        </p:blipFill>
        <p:spPr>
          <a:xfrm xmlns:a="http://schemas.openxmlformats.org/drawingml/2006/main">
            <a:off x="3914775" y="648652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5" name="brand-prevenar">
            <a:extLst xmlns:a="http://schemas.openxmlformats.org/drawingml/2006/main">
              <a:ext uri="{FF2B5EF4-FFF2-40B4-BE49-F238E27FC236}">
                <a16:creationId xmlns:a16="http://schemas.microsoft.com/office/drawing/2014/main" id="{591B0839-C313-4EE6-9C03-0D1DE0F6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5819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Prevenar 13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F95BA-496D-4ACA-A619-6F53502A9A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44e249e4b4980"/>
          <a:stretch xmlns:a="http://schemas.openxmlformats.org/drawingml/2006/main"/>
        </p:blipFill>
        <p:spPr>
          <a:xfrm xmlns:a="http://schemas.openxmlformats.org/drawingml/2006/main">
            <a:off x="5200650" y="648652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7" name="brand-eliquis">
            <a:extLst xmlns:a="http://schemas.openxmlformats.org/drawingml/2006/main">
              <a:ext uri="{FF2B5EF4-FFF2-40B4-BE49-F238E27FC236}">
                <a16:creationId xmlns:a16="http://schemas.microsoft.com/office/drawing/2014/main" id="{853D13B6-6131-4DAC-BEFA-7081A364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5819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Eliquis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0C5BC-4113-4F72-A0AB-09D687CFB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b0b508eb548fb"/>
          <a:stretch xmlns:a="http://schemas.openxmlformats.org/drawingml/2006/main"/>
        </p:blipFill>
        <p:spPr>
          <a:xfrm xmlns:a="http://schemas.openxmlformats.org/drawingml/2006/main">
            <a:off x="6486525" y="648652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9" name="brand-becosules">
            <a:extLst xmlns:a="http://schemas.openxmlformats.org/drawingml/2006/main">
              <a:ext uri="{FF2B5EF4-FFF2-40B4-BE49-F238E27FC236}">
                <a16:creationId xmlns:a16="http://schemas.microsoft.com/office/drawing/2014/main" id="{646D70CB-F867-438A-B6FC-15C56B5F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5819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Becosules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79863-1B4F-4930-9ABE-D570BB93E3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e45290a234770"/>
          <a:stretch xmlns:a="http://schemas.openxmlformats.org/drawingml/2006/main"/>
        </p:blipFill>
        <p:spPr>
          <a:xfrm xmlns:a="http://schemas.openxmlformats.org/drawingml/2006/main">
            <a:off x="9820275" y="648652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1" name="brand-palbace">
            <a:extLst xmlns:a="http://schemas.openxmlformats.org/drawingml/2006/main">
              <a:ext uri="{FF2B5EF4-FFF2-40B4-BE49-F238E27FC236}">
                <a16:creationId xmlns:a16="http://schemas.microsoft.com/office/drawing/2014/main" id="{9DC9FBC8-8176-4387-9A0E-952C010C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5819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Palbace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941C9-C36C-4A66-B5D6-07F2C7BC73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baacfda99420b"/>
          <a:stretch xmlns:a="http://schemas.openxmlformats.org/drawingml/2006/main"/>
        </p:blipFill>
        <p:spPr>
          <a:xfrm xmlns:a="http://schemas.openxmlformats.org/drawingml/2006/main">
            <a:off x="11201400" y="648652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3" name="brand-lorbriqua">
            <a:extLst xmlns:a="http://schemas.openxmlformats.org/drawingml/2006/main">
              <a:ext uri="{FF2B5EF4-FFF2-40B4-BE49-F238E27FC236}">
                <a16:creationId xmlns:a16="http://schemas.microsoft.com/office/drawing/2014/main" id="{D2B09E41-C1C1-41DF-8B78-31AE5D9A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75819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Lorbriqua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69287-1DD9-4698-A80B-37E95F6565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eb8c2c9004ad2"/>
          <a:stretch xmlns:a="http://schemas.openxmlformats.org/drawingml/2006/main"/>
        </p:blipFill>
        <p:spPr>
          <a:xfrm xmlns:a="http://schemas.openxmlformats.org/drawingml/2006/main">
            <a:off x="12573000" y="6620777"/>
            <a:ext cx="1123950" cy="836396"/>
          </a:xfrm>
          <a:prstGeom xmlns:a="http://schemas.openxmlformats.org/drawingml/2006/main" prst="rect">
            <a:avLst/>
          </a:prstGeom>
        </p:spPr>
      </p:pic>
      <p:sp>
        <p:nvSpPr>
          <p:cNvPr id="15" name="brand-vyndamx">
            <a:extLst xmlns:a="http://schemas.openxmlformats.org/drawingml/2006/main">
              <a:ext uri="{FF2B5EF4-FFF2-40B4-BE49-F238E27FC236}">
                <a16:creationId xmlns:a16="http://schemas.microsoft.com/office/drawing/2014/main" id="{E33F7969-5B23-4F28-A6FB-103747AF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75819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VyndaMx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07385D05-49D8-4D26-8B6C-2B8475A9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77175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3B71"/>
                </a:solidFill>
                <a:latin typeface="Nimbus Sans"/>
                <a:ea typeface="Nimbus Sans"/>
                <a:cs typeface="Nimbus Sans"/>
              </a:rPr>
              <a:t>Potential expansion centres on oncology and rare diseases. The listed company already has chronic and specialty products.</a:t>
            </a:r>
          </a:p>
        </p:txBody>
      </p:sp>
      <p:sp>
        <p:nvSpPr>
          <p:cNvPr id="17" name="footnote">
            <a:extLst xmlns:a="http://schemas.openxmlformats.org/drawingml/2006/main">
              <a:ext uri="{FF2B5EF4-FFF2-40B4-BE49-F238E27FC236}">
                <a16:creationId xmlns:a16="http://schemas.microsoft.com/office/drawing/2014/main" id="{CB963E81-707D-40E9-AF10-6694AA4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220075"/>
            <a:ext cx="1428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✓ Portfolio presence, not market-share ranking. * Cipla markets/distributes these listed-company brands. Sources: Pfizer price lists effective 23 October 2026. No transfer assumed.</a:t>
            </a:r>
          </a:p>
        </p:txBody>
      </p:sp>
    </p:spTree>
    <p:extLst>
      <p:ext uri="{BB962C8B-B14F-4D97-AF65-F5344CB8AC3E}">
        <p14:creationId xmlns:p14="http://schemas.microsoft.com/office/powerpoint/2010/main" val="1795429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209F032-480B-4E02-98CF-09F3B52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428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003B71"/>
                </a:solidFill>
                <a:latin typeface="Nimbus Sans"/>
                <a:ea typeface="Nimbus Sans"/>
                <a:cs typeface="Nimbus Sans"/>
              </a:rPr>
              <a:t>Private-company brands span targeted oncology and rare diseases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87ECF0F5-6239-4332-AA03-C00A38CA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1428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Selected brands explain the potential portfolio contribution to Pfizer Limited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B7C22-03A3-4CDA-87CA-B3A08F32DAA7}"/>
              </a:ext>
            </a:extLst>
          </p:cNvPr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4287500" cy="4667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3143250"/>
                <a:gridCol w="4238625"/>
                <a:gridCol w="4905375"/>
              </a:tblGrid>
              <a:tr h="552450">
                <a:tc>
                  <a:txBody>
                    <a:bodyPr wrap="square" lIns="114300" tIns="47625" rIns="95250" bIns="4762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Private brand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T w="5715">
                      <a:solidFill>
                        <a:srgbClr val="D9E4ED"/>
                      </a:solidFill>
                      <a:prstDash val="solid"/>
                    </a:lnT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Molecule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T w="5715">
                      <a:solidFill>
                        <a:srgbClr val="D9E4ED"/>
                      </a:solidFill>
                      <a:prstDash val="solid"/>
                    </a:lnT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Clinical area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T w="5715">
                      <a:solidFill>
                        <a:srgbClr val="D9E4ED"/>
                      </a:solidFill>
                      <a:prstDash val="solid"/>
                    </a:lnT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Potential contribution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T w="5715">
                      <a:solidFill>
                        <a:srgbClr val="D9E4ED"/>
                      </a:solidFill>
                      <a:prstDash val="solid"/>
                    </a:lnT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003B71"/>
                    </a:solidFill>
                  </a:tcPr>
                </a:tc>
              </a:tr>
              <a:tr h="6858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Palbace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Palbociclib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Targeted oncology franchise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Lorbriqua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Lorlatinib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ALK-positive metastatic NSCLC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Precision lung-cancer treatment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Inonza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Inotuzumab ozogamicin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Relapsed / refractory B-cell ALL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Antibody-drug conjugate in haematology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Cibinqo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Abrocitinib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Moderate-to-severe atopic dermatitis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Deepens advanced dermatology exposure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Genryzon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Somatrogon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Paediatric growth-hormone deficiency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Once-weekly specialist endocrine treatment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1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VyndaMx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4ED"/>
                      </a:solidFill>
                      <a:prstDash val="solid"/>
                    </a:lnL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Tafamidis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Transthyretin amyloid cardiomyopathy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 lIns="114300" tIns="47625" rIns="95250" bIns="47625"/>
                    <a:lstStyle/>
                    <a:p>
                      <a:r>
                        <a:rPr sz="1575" b="0">
                          <a:solidFill>
                            <a:srgbClr val="142C4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Adds rare-disease cardiology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4ED"/>
                      </a:solidFill>
                      <a:prstDash val="solid"/>
                    </a:lnR>
                    <a:lnB w="5715">
                      <a:solidFill>
                        <a:srgbClr val="D9E4ED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0F862569-051A-4FCD-ACE0-05B02A1A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003B71"/>
                </a:solidFill>
                <a:latin typeface="Nimbus Sans"/>
                <a:ea typeface="Nimbus Sans"/>
                <a:cs typeface="Nimbus Sans"/>
              </a:rPr>
              <a:t>Any expansion depends on parent allocation decisions and the economics agreed with the listed company.</a:t>
            </a:r>
          </a:p>
        </p:txBody>
      </p:sp>
      <p:sp>
        <p:nvSpPr>
          <p:cNvPr id="5" name="caveat">
            <a:extLst xmlns:a="http://schemas.openxmlformats.org/drawingml/2006/main">
              <a:ext uri="{FF2B5EF4-FFF2-40B4-BE49-F238E27FC236}">
                <a16:creationId xmlns:a16="http://schemas.microsoft.com/office/drawing/2014/main" id="{E4822335-C350-4BC4-B1D5-7556B743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372350"/>
            <a:ext cx="1428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Current portfolio placement establishes a potential source of products. It does not establish a transfer timetable or revenue forecast.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0A860C1-2D26-4612-936F-3DCDE90B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53400"/>
            <a:ext cx="1428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86D82"/>
                </a:solidFill>
                <a:latin typeface="Nimbus Sans"/>
                <a:ea typeface="Nimbus Sans"/>
                <a:cs typeface="Nimbus Sans"/>
              </a:rPr>
              <a:t>Sources: Pfizer India price lists and product information. Full URLs and clinical-area references are in the slide notes and Excel.</a:t>
            </a:r>
          </a:p>
        </p:txBody>
      </p:sp>
    </p:spTree>
    <p:extLst>
      <p:ext uri="{BB962C8B-B14F-4D97-AF65-F5344CB8AC3E}">
        <p14:creationId xmlns:p14="http://schemas.microsoft.com/office/powerpoint/2010/main" val="791458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2026-10-25T08:07:06.8720000Z</dcterms:created>
  <dcterms:modified xsi:type="dcterms:W3CDTF">2026-10-25T08:07:06.8720000Z</dcterms:modified>
</coreProperties>
</file>