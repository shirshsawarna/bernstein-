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144761af17343bb" /><Relationship Type="http://schemas.openxmlformats.org/officeDocument/2006/relationships/extended-properties" Target="/docProps/app.xml" Id="R3ea07ef0a9de4d74" /><Relationship Type="http://schemas.openxmlformats.org/officeDocument/2006/relationships/officeDocument" Target="/ppt/presentation.xml" Id="R6f53b972dfed4e90" /></Relationships>
</file>

<file path=ppt/presentation.xml><?xml version="1.0" encoding="utf-8"?>
<p:presentation xmlns:p="http://schemas.openxmlformats.org/presentationml/2006/main">
  <p:sldMasterIdLst>
    <p:sldMasterId xmlns:r="http://schemas.openxmlformats.org/officeDocument/2006/relationships" id="2147483648" r:id="R7805a82a9be04276"/>
  </p:sldMasterIdLst>
  <p:notesMasterIdLst>
    <p:notesMasterId xmlns:r="http://schemas.openxmlformats.org/officeDocument/2006/relationships" r:id="R6d0b79d085de40e3"/>
  </p:notesMasterIdLst>
  <p:sldIdLst>
    <p:sldId xmlns:r="http://schemas.openxmlformats.org/officeDocument/2006/relationships" id="256" r:id="Rb20389e0f034487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7c040f69cd4e57" /><Relationship Type="http://schemas.openxmlformats.org/officeDocument/2006/relationships/slideMaster" Target="/ppt/slideMasters/slideMaster1.xml" Id="R7805a82a9be04276" /><Relationship Type="http://schemas.openxmlformats.org/officeDocument/2006/relationships/notesMaster" Target="/ppt/notesMasters/notesMaster1.xml" Id="R6d0b79d085de40e3" /><Relationship Type="http://schemas.openxmlformats.org/officeDocument/2006/relationships/presProps" Target="/ppt/presProps.xml" Id="R679a4d497583471c" /><Relationship Type="http://schemas.openxmlformats.org/officeDocument/2006/relationships/tableStyles" Target="/ppt/tableStyles.xml" Id="Re2fe18c808aa4da1" /><Relationship Type="http://schemas.openxmlformats.org/officeDocument/2006/relationships/slide" Target="/ppt/slides/slide1.xml" Id="Rb20389e0f03448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b3e139289640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bdddcf59b640dc" /><Relationship Type="http://schemas.openxmlformats.org/officeDocument/2006/relationships/notesMaster" Target="/ppt/notesMasters/notesMaster1.xml" Id="Rd287c63e78964a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CONCLUSION</a:t>
            </a:r>
          </a:p>
          <a:p xmlns:a="http://schemas.openxmlformats.org/drawingml/2006/main">
            <a:r>
              <a:t/>
            </a:r>
          </a:p>
          <a:p xmlns:a="http://schemas.openxmlformats.org/drawingml/2006/main">
            <a:r>
              <a:t>Affordability reform has two commercial mechanisms. Tax reductions lower the patient price while preserving the pre-tax retail price. Trade-margin rationalisation limits the gross income available to finance procurement preferences. The advantage depends on product differentiation, net-price retention, paid treatment conversion and the alternatives available to patients. The evidence does not establish a uniform MNC-versus-domestic growth advantage.</a:t>
            </a:r>
          </a:p>
          <a:p xmlns:a="http://schemas.openxmlformats.org/drawingml/2006/main">
            <a:r>
              <a:t/>
            </a:r>
          </a:p>
          <a:p xmlns:a="http://schemas.openxmlformats.org/drawingml/2006/main">
            <a:r>
              <a:t>CHART 1: OBSERVED COMPANY DATA</a:t>
            </a:r>
          </a:p>
          <a:p xmlns:a="http://schemas.openxmlformats.org/drawingml/2006/main">
            <a:r>
              <a:t/>
            </a:r>
          </a:p>
          <a:p xmlns:a="http://schemas.openxmlformats.org/drawingml/2006/main">
            <a:r>
              <a:t>GSK circular dated 19 September 2025, effective 22 September 2025:</a:t>
            </a:r>
          </a:p>
          <a:p xmlns:a="http://schemas.openxmlformats.org/drawingml/2006/main">
            <a:r>
              <a:t>https://india-pharma.gsk.com/media/o2qfyufn/trade-circular-revised-mrp.pdf</a:t>
            </a:r>
          </a:p>
          <a:p xmlns:a="http://schemas.openxmlformats.org/drawingml/2006/main">
            <a:r>
              <a:t/>
            </a:r>
          </a:p>
          <a:p xmlns:a="http://schemas.openxmlformats.org/drawingml/2006/main">
            <a:r>
              <a:t>Annexure A, PDF page 7, lists the following old and new MRPs in rupees:</a:t>
            </a:r>
          </a:p>
          <a:p xmlns:a="http://schemas.openxmlformats.org/drawingml/2006/main">
            <a:r>
              <a:t>Trelegy, 30 doses: 3,105.23 and 2,911.15.</a:t>
            </a:r>
          </a:p>
          <a:p xmlns:a="http://schemas.openxmlformats.org/drawingml/2006/main">
            <a:r>
              <a:t>Jemperli, 50mg/mL, 10mL vial: 416,738.00 and 390,691.88.</a:t>
            </a:r>
          </a:p>
          <a:p xmlns:a="http://schemas.openxmlformats.org/drawingml/2006/main">
            <a:r>
              <a:t>Zejula, supplier-listed 100mg retail pack: 76,581.75 and 71,795.39.</a:t>
            </a:r>
          </a:p>
          <a:p xmlns:a="http://schemas.openxmlformats.org/drawingml/2006/main">
            <a:r>
              <a:t>Menveo, 0.5mL vial: 4,299.00 and 4,030.31.</a:t>
            </a:r>
          </a:p>
          <a:p xmlns:a="http://schemas.openxmlformats.org/drawingml/2006/main">
            <a:r>
              <a:t>These rows move from 12% GST to 5%, giving an approximately 6.25% MRP reduction.</a:t>
            </a:r>
          </a:p>
          <a:p xmlns:a="http://schemas.openxmlformats.org/drawingml/2006/main">
            <a:r>
              <a:t/>
            </a:r>
          </a:p>
          <a:p xmlns:a="http://schemas.openxmlformats.org/drawingml/2006/main">
            <a:r>
              <a:t>Annexure B, PDF page 8, lists Nucala AI 100mg/mL at 84,749.00 before and 75,668.75 after the change from 12% GST to nil, a 10.7143% reduction. A separate Nucala vial presentation also appears in the circular. Annexure C, PDF page 9, lists Shingrix at 10,999.00, unchanged because it was already at 5% GST.</a:t>
            </a:r>
          </a:p>
          <a:p xmlns:a="http://schemas.openxmlformats.org/drawingml/2006/main">
            <a:r>
              <a:t/>
            </a:r>
          </a:p>
          <a:p xmlns:a="http://schemas.openxmlformats.org/drawingml/2006/main">
            <a:r>
              <a:t>The pre-GST retail prices remain unchanged to currency rounding. This is not a disclosure of manufacturer net selling prices, rebates or realised revenue. These historical prices are not current October 2026 transaction prices or new trade-margin-cap filings. Packs are not clinically equivalent. Do not extrapolate Zejula's ambiguous supplier pack description to a monthly treatment cost.</a:t>
            </a:r>
          </a:p>
          <a:p xmlns:a="http://schemas.openxmlformats.org/drawingml/2006/main">
            <a:r>
              <a:t/>
            </a:r>
          </a:p>
          <a:p xmlns:a="http://schemas.openxmlformats.org/drawingml/2006/main">
            <a:r>
              <a:t>CHART 2: PROCUREMENT INCENTIVE ILLUSTRATION</a:t>
            </a:r>
          </a:p>
          <a:p xmlns:a="http://schemas.openxmlformats.org/drawingml/2006/main">
            <a:r>
              <a:t/>
            </a:r>
          </a:p>
          <a:p xmlns:a="http://schemas.openxmlformats.org/drawingml/2006/main">
            <a:r>
              <a:t>All inputs are hypothetical and normalised, excluding GST. No actual company or brand is assigned these margins. The labels do not indicate clinical quality, patent status or nationality.</a:t>
            </a:r>
          </a:p>
          <a:p xmlns:a="http://schemas.openxmlformats.org/drawingml/2006/main">
            <a:r>
              <a:t/>
            </a:r>
          </a:p>
          <a:p xmlns:a="http://schemas.openxmlformats.org/drawingml/2006/main">
            <a:r>
              <a:t>Assume two interchangeable brands each have an old MRP of 100. The premium brand's manufacturer first-sale price is 60 and its combined channel income is 40. The high-spread brand's first-sale price is 20 and its channel income is 80. Hold both manufacturer prices constant.</a:t>
            </a:r>
          </a:p>
          <a:p xmlns:a="http://schemas.openxmlformats.org/drawingml/2006/main">
            <a:r>
              <a:t/>
            </a:r>
          </a:p>
          <a:p xmlns:a="http://schemas.openxmlformats.org/drawingml/2006/main">
            <a:r>
              <a:t>At a cap of 30% of MRP:</a:t>
            </a:r>
          </a:p>
          <a:p xmlns:a="http://schemas.openxmlformats.org/drawingml/2006/main">
            <a:r>
              <a:t>Premium brand: new MRP 60/0.70 = 85.7143, channel income 25.7143.</a:t>
            </a:r>
          </a:p>
          <a:p xmlns:a="http://schemas.openxmlformats.org/drawingml/2006/main">
            <a:r>
              <a:t>High-spread brand: new MRP 20/0.70 = 28.5714, channel income 8.5714.</a:t>
            </a:r>
          </a:p>
          <a:p xmlns:a="http://schemas.openxmlformats.org/drawingml/2006/main">
            <a:r>
              <a:t/>
            </a:r>
          </a:p>
          <a:p xmlns:a="http://schemas.openxmlformats.org/drawingml/2006/main">
            <a:r>
              <a:t>Before the cap, the high-spread brand provides twice the channel income of the premium brand. After the cap, the premium brand provides three times the channel income of the other brand. The general result, when the cap binds, is channel income = manufacturer first-sale price x 30/70.</a:t>
            </a:r>
          </a:p>
          <a:p xmlns:a="http://schemas.openxmlformats.org/drawingml/2006/main">
            <a:r>
              <a:t/>
            </a:r>
          </a:p>
          <a:p xmlns:a="http://schemas.openxmlformats.org/drawingml/2006/main">
            <a:r>
              <a:t>This is a change in the relative incentive, not a prediction of procurement or market share. The lower-priced brand becomes much cheaper to patients. Insurers, tenders and informed patients may favour it. Different distribution costs, channel allocations and negotiated prices can change stocking decisions. The policy regulates the combined channel spread and does not guarantee the hospital itself a separate 30% margin.</a:t>
            </a:r>
          </a:p>
          <a:p xmlns:a="http://schemas.openxmlformats.org/drawingml/2006/main">
            <a:r>
              <a:t/>
            </a:r>
          </a:p>
          <a:p xmlns:a="http://schemas.openxmlformats.org/drawingml/2006/main">
            <a:r>
              <a:t>Policy source: NPPA S.O. 5690(E), 17 October 2026, Table A, effective 9 November 2026.</a:t>
            </a:r>
          </a:p>
          <a:p xmlns:a="http://schemas.openxmlformats.org/drawingml/2006/main">
            <a:r>
              <a:t>https://egazette.gov.in/WriteReadData/2026/277271.pdf</a:t>
            </a:r>
          </a:p>
          <a:p xmlns:a="http://schemas.openxmlformats.org/drawingml/2006/main">
            <a:r>
              <a:t>Official endpoints were intermittently unavailable. Full notification text inspected at:</a:t>
            </a:r>
          </a:p>
          <a:p xmlns:a="http://schemas.openxmlformats.org/drawingml/2006/main">
            <a:r>
              <a:t>https://gazettetracker.com/g/CG-DL-E-17102026-277271</a:t>
            </a:r>
          </a:p>
          <a:p xmlns:a="http://schemas.openxmlformats.org/drawingml/2006/main">
            <a:r>
              <a:t/>
            </a:r>
          </a:p>
          <a:p xmlns:a="http://schemas.openxmlformats.org/drawingml/2006/main">
            <a:r>
              <a:t>Reference prices generally use March 2026 average net first-sale realisation, with alternative rules for no sales in March and later launches. Government sales and qualifying free patient-assistance quantities have specified exclusions. Existing lower MRPs remain lower. Applicable Paragraph 32 exemptions require brand-level verification. Patents alone do not establish exemption.</a:t>
            </a:r>
          </a:p>
          <a:p xmlns:a="http://schemas.openxmlformats.org/drawingml/2006/main">
            <a:r>
              <a:t/>
            </a:r>
          </a:p>
          <a:p xmlns:a="http://schemas.openxmlformats.org/drawingml/2006/main">
            <a:r>
              <a:t>GSK EARNINGS TRANSMISSION</a:t>
            </a:r>
          </a:p>
          <a:p xmlns:a="http://schemas.openxmlformats.org/drawingml/2006/main">
            <a:r>
              <a:t/>
            </a:r>
          </a:p>
          <a:p xmlns:a="http://schemas.openxmlformats.org/drawingml/2006/main">
            <a:r>
              <a:t>GSK's 13 May 2026 presentation, slide 6, reports innovation at 6% of Q4FY26 revenue. The basket includes oncology, Shingrix and new respiratory.</a:t>
            </a:r>
          </a:p>
          <a:p xmlns:a="http://schemas.openxmlformats.org/drawingml/2006/main">
            <a:r>
              <a:t>https://india-pharma.gsk.com/media/inhdnswz/analyst-meet-may-2026.pdf</a:t>
            </a:r>
          </a:p>
          <a:p xmlns:a="http://schemas.openxmlformats.org/drawingml/2006/main">
            <a:r>
              <a:t/>
            </a:r>
          </a:p>
          <a:p xmlns:a="http://schemas.openxmlformats.org/drawingml/2006/main">
            <a:r>
              <a:t>At that static mix, a 20% additional sales uplift through paid volume across the whole innovation portfolio contributes 6% x 20% = 1.2% to group sales, all else unchanged. Oncology is a subset. This is not an annual FY27 forecast, an EPS estimate or an upper bound after new launches.</a:t>
            </a:r>
          </a:p>
          <a:p xmlns:a="http://schemas.openxmlformats.org/drawingml/2006/main">
            <a:r>
              <a:t/>
            </a:r>
          </a:p>
          <a:p xmlns:a="http://schemas.openxmlformats.org/drawingml/2006/main">
            <a:r>
              <a:t>The same presentation estimates Jemperli's eligible pool at approximately 800 patients in second line and approximately 6,000 across first plus second line after label broadening, a 7.5x increase. Eligibility expansion and affordability are separate drivers. Their growth percentages must not be added, and the eligible pool is not actual patients treated or captured by GSK.</a:t>
            </a:r>
          </a:p>
          <a:p xmlns:a="http://schemas.openxmlformats.org/drawingml/2006/main">
            <a:r>
              <a:t/>
            </a:r>
          </a:p>
          <a:p xmlns:a="http://schemas.openxmlformats.org/drawingml/2006/main">
            <a:r>
              <a:t>Manufacturer revenue depends on eligible patients, diagnosis/referral, initiation, brand share, paid-treatment share, duration and net realisation. More patients receiving free assistance may not generate additional paid sales. Incremental EBIT also depends on product costs, import costs or royalties, and support expenditure. No operating-margin improvement is assumed.</a:t>
            </a:r>
          </a:p>
          <a:p xmlns:a="http://schemas.openxmlformats.org/drawingml/2006/main">
            <a:r>
              <a:t/>
            </a:r>
          </a:p>
          <a:p xmlns:a="http://schemas.openxmlformats.org/drawingml/2006/main">
            <a:r>
              <a:t>GSK RELEVANCE AND INDUSTRY BOUNDARIES</a:t>
            </a:r>
          </a:p>
          <a:p xmlns:a="http://schemas.openxmlformats.org/drawingml/2006/main">
            <a:r>
              <a:t/>
            </a:r>
          </a:p>
          <a:p xmlns:a="http://schemas.openxmlformats.org/drawingml/2006/main">
            <a:r>
              <a:t>The notified list names dostarlimab, niraparib and belantamab mafodotin, corresponding to Jemperli, Zejula and Blenrep, subject to applicable exemptions. Trelegy ingredients, mepolizumab and GSK vaccines do not appear in the list. The respiratory affordability evidence in this slide therefore comes from tax reform. Blenrep approval does not by itself establish commercial launch or sales.</a:t>
            </a:r>
          </a:p>
          <a:p xmlns:a="http://schemas.openxmlformats.org/drawingml/2006/main">
            <a:r>
              <a:t/>
            </a:r>
          </a:p>
          <a:p xmlns:a="http://schemas.openxmlformats.org/drawingml/2006/main">
            <a:r>
              <a:t>Selected AstraZeneca, Novartis and Pfizer group oncology molecules also appear in the list. Listed Indian entities can book different products from their global parents. Entity-level attribution must precede any earnings conclusion. Domestic suppliers with low costs or differentiated licensed assets can also benefit from improved access.</a:t>
            </a:r>
          </a:p>
          <a:p xmlns:a="http://schemas.openxmlformats.org/drawingml/2006/main">
            <a:r>
              <a:t/>
            </a:r>
          </a:p>
          <a:p xmlns:a="http://schemas.openxmlformats.org/drawingml/2006/main">
            <a:r>
              <a:t>Court reporting describes questions about extending action beyond cancer medicines, with a further hearing scheduled for 27 October 2026. These observations are distinct from a notified blanket cap on all medicines, devices or hospital services.</a:t>
            </a:r>
          </a:p>
          <a:p xmlns:a="http://schemas.openxmlformats.org/drawingml/2006/main">
            <a:r>
              <a:t>https://www.livelaw.in/top-stories/after-supreme-court-push-centre-to-cap-cancer-drug-margins-at-30-554311</a:t>
            </a:r>
          </a:p>
          <a:p xmlns:a="http://schemas.openxmlformats.org/drawingml/2006/main">
            <a:r>
              <a:t/>
            </a:r>
          </a:p>
          <a:p xmlns:a="http://schemas.openxmlformats.org/drawingml/2006/main">
            <a:r>
              <a:t>Both charts and text remain editable. Embedded chart workbooks contain literal data snapshots. The accompanying Excel contains source inputs, editable calculations and the driver assessment.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04a2e557d04a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571f1631f346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887e2cf61e4ca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d3f26afcab4b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b51d577259e4d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b97152443d4a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1B5B64-784B-4C9F-B1E4-D0BEB6AC4BE2}"/>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EC1BDD-1337-438B-BA58-5DFC0EED0E7F}"/>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2BEA5C-984F-40AA-B1B2-DCC1B7CF2EA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1A3C7A-4B5A-4774-9B04-3512B0B91B4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65090D-EB4A-455A-8785-5016C2E39675}"/>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CFF5B2-9914-4114-B71E-4559E02E42D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719707-3A8C-45DC-BCB4-08747E55076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710256-81D8-4315-B10A-200A8AC947D8}"/>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1A8E62-C9FD-48B7-97A0-19EB3988D0CD}"/>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EA1951-A484-40A4-9E24-72DF6F59375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49d70439d14832" /><Relationship Type="http://schemas.openxmlformats.org/officeDocument/2006/relationships/slideLayout" Target="/ppt/slideLayouts/slideLayout1.xml" Id="R1f11263f0d3a4a11" /><Relationship Type="http://schemas.openxmlformats.org/officeDocument/2006/relationships/slideLayout" Target="/ppt/slideLayouts/slideLayout2.xml" Id="Rfb2387c805fa4f77" /><Relationship Type="http://schemas.openxmlformats.org/officeDocument/2006/relationships/slideLayout" Target="/ppt/slideLayouts/slideLayout3.xml" Id="R4dca40577fd14888" /><Relationship Type="http://schemas.openxmlformats.org/officeDocument/2006/relationships/slideLayout" Target="/ppt/slideLayouts/slideLayout4.xml" Id="R29754fddf0f042d4" /><Relationship Type="http://schemas.openxmlformats.org/officeDocument/2006/relationships/slideLayout" Target="/ppt/slideLayouts/slideLayout5.xml" Id="Rc3fa62c22fa24dfb" /><Relationship Type="http://schemas.openxmlformats.org/officeDocument/2006/relationships/slideLayout" Target="/ppt/slideLayouts/slideLayout6.xml" Id="R6e46c11a7bd74d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11263f0d3a4a11"/>
    <p:sldLayoutId xmlns:r="http://schemas.openxmlformats.org/officeDocument/2006/relationships" id="2147483650" r:id="Rfb2387c805fa4f77"/>
    <p:sldLayoutId xmlns:r="http://schemas.openxmlformats.org/officeDocument/2006/relationships" id="2147483651" r:id="R4dca40577fd14888"/>
    <p:sldLayoutId xmlns:r="http://schemas.openxmlformats.org/officeDocument/2006/relationships" id="2147483652" r:id="R29754fddf0f042d4"/>
    <p:sldLayoutId xmlns:r="http://schemas.openxmlformats.org/officeDocument/2006/relationships" id="2147483653" r:id="Rc3fa62c22fa24dfb"/>
    <p:sldLayoutId xmlns:r="http://schemas.openxmlformats.org/officeDocument/2006/relationships" id="2147483654" r:id="R6e46c11a7bd74d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6b9c22597f4256" /><Relationship Type="http://schemas.openxmlformats.org/officeDocument/2006/relationships/chart" Target="/ppt/slides/charts/chart1.xml" Id="Rc3d112d5847e4769" /><Relationship Type="http://schemas.openxmlformats.org/officeDocument/2006/relationships/chart" Target="/ppt/slides/charts/chart2.xml" Id="R2104bbbceaa34d74" /><Relationship Type="http://schemas.openxmlformats.org/officeDocument/2006/relationships/notesSlide" Target="/ppt/notesSlides/notesSlide1.xml" Id="R83a16babb83444b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MRP reduction</c:v>
          </c:tx>
          <c:spPr>
            <a:solidFill xmlns:a="http://schemas.openxmlformats.org/drawingml/2006/main">
              <a:srgbClr val="0067A6"/>
            </a:solidFill>
          </c:spPr>
          <c:invertIfNegative val="0"/>
          <c:cat>
            <c:strRef>
              <c:f>'Chart Data'!$A$2:$A$7</c:f>
              <c:strCache>
                <c:ptCount val="6"/>
                <c:pt idx="0">
                  <c:v>Shingrix</c:v>
                </c:pt>
                <c:pt idx="1">
                  <c:v>Menveo</c:v>
                </c:pt>
                <c:pt idx="2">
                  <c:v>Zejula</c:v>
                </c:pt>
                <c:pt idx="3">
                  <c:v>Jemperli</c:v>
                </c:pt>
                <c:pt idx="4">
                  <c:v>Trelegy</c:v>
                </c:pt>
                <c:pt idx="5">
                  <c:v>Nucala</c:v>
                </c:pt>
              </c:strCache>
            </c:strRef>
          </c:cat>
          <c:val>
            <c:numRef>
              <c:f>'Chart Data'!$B$2:$B$7</c:f>
              <c:numCache>
                <c:formatCode>0%</c:formatCode>
                <c:ptCount val="6"/>
                <c:pt idx="0">
                  <c:v>0</c:v>
                </c:pt>
                <c:pt idx="1">
                  <c:v>0.06250058</c:v>
                </c:pt>
                <c:pt idx="2">
                  <c:v>0.06250001</c:v>
                </c:pt>
                <c:pt idx="3">
                  <c:v>0.06249999</c:v>
                </c:pt>
                <c:pt idx="4">
                  <c:v>0.06250101</c:v>
                </c:pt>
                <c:pt idx="5">
                  <c:v>0.10714286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243746"/>
                  </a:solidFill>
                  <a:latin typeface="Nimbus Sans"/>
                  <a:ea typeface="Nimbus Sans"/>
                  <a:cs typeface="Nimbus San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8E2E9"/>
            </a:solidFill>
            <a:prstDash val="solid"/>
          </a:ln>
        </c:spPr>
        <c:txPr>
          <a:bodyPr xmlns:a="http://schemas.openxmlformats.org/drawingml/2006/main" anchorCtr="1"/>
          <a:lstStyle xmlns:a="http://schemas.openxmlformats.org/drawingml/2006/main"/>
          <a:p xmlns:a="http://schemas.openxmlformats.org/drawingml/2006/main">
            <a:pPr>
              <a:defRPr sz="1500">
                <a:solidFill>
                  <a:srgbClr val="657682"/>
                </a:solidFill>
                <a:latin typeface="Nimbus Sans"/>
                <a:ea typeface="Nimbus Sans"/>
                <a:cs typeface="Nimbus Sans"/>
              </a:defRPr>
            </a:pPr>
          </a:p>
        </c:txPr>
        <c:crossAx val="48672768"/>
      </c:catAx>
      <c:valAx>
        <c:axId val="48672768"/>
        <c:scaling>
          <c:orientation val="minMax"/>
          <c:max val="0.14"/>
          <c:min val="0"/>
        </c:scaling>
        <c:delete val="0"/>
        <c:axPos val="b"/>
        <c:majorGridlines>
          <c:spPr>
            <a:ln xmlns:a="http://schemas.openxmlformats.org/drawingml/2006/main" w="6668">
              <a:solidFill>
                <a:srgbClr val="D8E2E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57682"/>
                </a:solidFill>
                <a:latin typeface="Nimbus Sans"/>
                <a:ea typeface="Nimbus Sans"/>
                <a:cs typeface="Nimbus Sans"/>
              </a:defRPr>
            </a:pPr>
          </a:p>
        </c:txPr>
        <c:crossAx val="48650112"/>
        <c:crossBetween val="between"/>
        <c:majorUnit val="0.04"/>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 cap</c:v>
          </c:tx>
          <c:spPr>
            <a:solidFill xmlns:a="http://schemas.openxmlformats.org/drawingml/2006/main">
              <a:srgbClr val="A5C9DD"/>
            </a:solidFill>
          </c:spPr>
          <c:invertIfNegative val="0"/>
          <c:cat>
            <c:strRef>
              <c:f>'Chart Data'!$A$2:$A$3</c:f>
              <c:strCache>
                <c:ptCount val="2"/>
                <c:pt idx="0">
                  <c:v>Premium brand</c:v>
                </c:pt>
                <c:pt idx="1">
                  <c:v>High-spread brand</c:v>
                </c:pt>
              </c:strCache>
            </c:strRef>
          </c:cat>
          <c:val>
            <c:numRef>
              <c:f>'Chart Data'!$B$2:$B$3</c:f>
              <c:numCache>
                <c:formatCode>0</c:formatCode>
                <c:ptCount val="2"/>
                <c:pt idx="0">
                  <c:v>40</c:v>
                </c:pt>
                <c:pt idx="1">
                  <c:v>80</c:v>
                </c:pt>
              </c:numCache>
            </c:numRef>
          </c:val>
        </c:ser>
        <c:ser>
          <c:idx val="1"/>
          <c:order val="1"/>
          <c:tx>
            <c:v>After cap</c:v>
          </c:tx>
          <c:spPr>
            <a:solidFill xmlns:a="http://schemas.openxmlformats.org/drawingml/2006/main">
              <a:srgbClr val="0067A6"/>
            </a:solidFill>
          </c:spPr>
          <c:invertIfNegative val="0"/>
          <c:cat>
            <c:strRef>
              <c:f>'Chart Data'!$C$2:$C$3</c:f>
              <c:strCache>
                <c:ptCount val="2"/>
                <c:pt idx="0">
                  <c:v>Premium brand</c:v>
                </c:pt>
                <c:pt idx="1">
                  <c:v>High-spread brand</c:v>
                </c:pt>
              </c:strCache>
            </c:strRef>
          </c:cat>
          <c:val>
            <c:numRef>
              <c:f>'Chart Data'!$D$2:$D$3</c:f>
              <c:numCache>
                <c:formatCode>0</c:formatCode>
                <c:ptCount val="2"/>
                <c:pt idx="0">
                  <c:v>25.71428571</c:v>
                </c:pt>
                <c:pt idx="1">
                  <c:v>8.57142857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243746"/>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E2E9"/>
            </a:solidFill>
            <a:prstDash val="solid"/>
          </a:ln>
        </c:spPr>
        <c:txPr>
          <a:bodyPr xmlns:a="http://schemas.openxmlformats.org/drawingml/2006/main" anchorCtr="1"/>
          <a:lstStyle xmlns:a="http://schemas.openxmlformats.org/drawingml/2006/main"/>
          <a:p xmlns:a="http://schemas.openxmlformats.org/drawingml/2006/main">
            <a:pPr>
              <a:defRPr sz="1500">
                <a:solidFill>
                  <a:srgbClr val="657682"/>
                </a:solidFill>
                <a:latin typeface="Nimbus Sans"/>
                <a:ea typeface="Nimbus Sans"/>
                <a:cs typeface="Nimbus Sans"/>
              </a:defRPr>
            </a:pPr>
          </a:p>
        </c:txPr>
        <c:crossAx val="48672768"/>
      </c:catAx>
      <c:valAx>
        <c:axId val="48672768"/>
        <c:scaling>
          <c:orientation val="minMax"/>
          <c:max val="100"/>
          <c:min val="0"/>
        </c:scaling>
        <c:delete val="0"/>
        <c:axPos val="l"/>
        <c:majorGridlines>
          <c:spPr>
            <a:ln xmlns:a="http://schemas.openxmlformats.org/drawingml/2006/main" w="6668">
              <a:solidFill>
                <a:srgbClr val="D8E2E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57682"/>
                </a:solidFill>
                <a:latin typeface="Nimbus Sans"/>
                <a:ea typeface="Nimbus Sans"/>
                <a:cs typeface="Nimbus Sans"/>
              </a:defRPr>
            </a:pPr>
          </a:p>
        </c:txPr>
        <c:crossAx val="48650112"/>
        <c:crossBetween val="between"/>
        <c:majorUnit val="25"/>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3746"/>
              </a:solidFill>
              <a:latin typeface="Nimbus Sans"/>
              <a:ea typeface="Nimbus Sans"/>
              <a:cs typeface="Nimbus Sans"/>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Headline">
            <a:extLst xmlns:a="http://schemas.openxmlformats.org/drawingml/2006/main">
              <a:ext uri="{FF2B5EF4-FFF2-40B4-BE49-F238E27FC236}">
                <a16:creationId xmlns:a16="http://schemas.microsoft.com/office/drawing/2014/main" id="{DB07C3E7-8281-4906-BA06-5EA73B1DB0AE}"/>
              </a:ext>
            </a:extLst>
          </p:cNvPr>
          <p:cNvSpPr>
            <a:spLocks xmlns:a="http://schemas.openxmlformats.org/drawingml/2006/main" noGrp="1"/>
          </p:cNvSpPr>
          <p:nvPr/>
        </p:nvSpPr>
        <p:spPr>
          <a:xfrm xmlns:a="http://schemas.openxmlformats.org/drawingml/2006/main">
            <a:off x="609600" y="342900"/>
            <a:ext cx="140208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075" b="1">
                <a:solidFill>
                  <a:srgbClr val="00446C"/>
                </a:solidFill>
                <a:latin typeface="Nimbus Sans"/>
                <a:ea typeface="Nimbus Sans"/>
                <a:cs typeface="Nimbus Sans"/>
              </a:defRPr>
            </a:defPPr>
            <a:lvl1pPr algn="l">
              <a:defRPr sz="3075" b="1">
                <a:solidFill>
                  <a:srgbClr val="00446C"/>
                </a:solidFill>
                <a:latin typeface="Nimbus Sans"/>
                <a:ea typeface="Nimbus Sans"/>
                <a:cs typeface="Nimbus Sans"/>
              </a:defRPr>
            </a:lvl1pPr>
            <a:lvl2pPr algn="l">
              <a:defRPr sz="3075" b="1">
                <a:solidFill>
                  <a:srgbClr val="00446C"/>
                </a:solidFill>
                <a:latin typeface="Nimbus Sans"/>
                <a:ea typeface="Nimbus Sans"/>
                <a:cs typeface="Nimbus Sans"/>
              </a:defRPr>
            </a:lvl2pPr>
            <a:lvl3pPr algn="l">
              <a:defRPr sz="3075" b="1">
                <a:solidFill>
                  <a:srgbClr val="00446C"/>
                </a:solidFill>
                <a:latin typeface="Nimbus Sans"/>
                <a:ea typeface="Nimbus Sans"/>
                <a:cs typeface="Nimbus Sans"/>
              </a:defRPr>
            </a:lvl3pPr>
            <a:lvl4pPr algn="l">
              <a:defRPr sz="3075" b="1">
                <a:solidFill>
                  <a:srgbClr val="00446C"/>
                </a:solidFill>
                <a:latin typeface="Nimbus Sans"/>
                <a:ea typeface="Nimbus Sans"/>
                <a:cs typeface="Nimbus Sans"/>
              </a:defRPr>
            </a:lvl4pPr>
            <a:lvl5pPr algn="l">
              <a:defRPr sz="3075" b="1">
                <a:solidFill>
                  <a:srgbClr val="00446C"/>
                </a:solidFill>
                <a:latin typeface="Nimbus Sans"/>
                <a:ea typeface="Nimbus Sans"/>
                <a:cs typeface="Nimbus Sans"/>
              </a:defRPr>
            </a:lvl5pPr>
            <a:lvl6pPr algn="l">
              <a:defRPr sz="3075" b="1">
                <a:solidFill>
                  <a:srgbClr val="00446C"/>
                </a:solidFill>
                <a:latin typeface="Nimbus Sans"/>
                <a:ea typeface="Nimbus Sans"/>
                <a:cs typeface="Nimbus Sans"/>
              </a:defRPr>
            </a:lvl6pPr>
            <a:lvl7pPr algn="l">
              <a:defRPr sz="3075" b="1">
                <a:solidFill>
                  <a:srgbClr val="00446C"/>
                </a:solidFill>
                <a:latin typeface="Nimbus Sans"/>
                <a:ea typeface="Nimbus Sans"/>
                <a:cs typeface="Nimbus Sans"/>
              </a:defRPr>
            </a:lvl7pPr>
            <a:lvl8pPr algn="l">
              <a:defRPr sz="3075" b="1">
                <a:solidFill>
                  <a:srgbClr val="00446C"/>
                </a:solidFill>
                <a:latin typeface="Nimbus Sans"/>
                <a:ea typeface="Nimbus Sans"/>
                <a:cs typeface="Nimbus Sans"/>
              </a:defRPr>
            </a:lvl8pPr>
            <a:lvl9pPr algn="l">
              <a:defRPr sz="3075" b="1">
                <a:solidFill>
                  <a:srgbClr val="00446C"/>
                </a:solidFill>
                <a:latin typeface="Nimbus Sans"/>
                <a:ea typeface="Nimbus Sans"/>
                <a:cs typeface="Nimbus Sans"/>
              </a:defRPr>
            </a:lvl9pPr>
          </a:lstStyle>
          <a:p xmlns:a="http://schemas.openxmlformats.org/drawingml/2006/main">
            <a:pPr algn="l">
              <a:lnSpc>
                <a:spcPct val="108000"/>
              </a:lnSpc>
              <a:buNone/>
              <a:defRPr sz="3075" b="1">
                <a:solidFill>
                  <a:srgbClr val="00446C"/>
                </a:solidFill>
                <a:latin typeface="Nimbus Sans"/>
                <a:ea typeface="Nimbus Sans"/>
                <a:cs typeface="Nimbus Sans"/>
              </a:defRPr>
            </a:pPr>
            <a:r>
              <a:rPr sz="3075" b="1">
                <a:solidFill>
                  <a:srgbClr val="00446C"/>
                </a:solidFill>
                <a:latin typeface="Nimbus Sans"/>
                <a:ea typeface="Nimbus Sans"/>
                <a:cs typeface="Nimbus Sans"/>
              </a:rPr>
              <a:t>Affordability reform can support innovative pharma</a:t>
            </a:r>
          </a:p>
          <a:p xmlns:a="http://schemas.openxmlformats.org/drawingml/2006/main">
            <a:pPr algn="l">
              <a:lnSpc>
                <a:spcPct val="108000"/>
              </a:lnSpc>
              <a:buNone/>
              <a:defRPr sz="3075" b="1">
                <a:solidFill>
                  <a:srgbClr val="00446C"/>
                </a:solidFill>
                <a:latin typeface="Nimbus Sans"/>
                <a:ea typeface="Nimbus Sans"/>
                <a:cs typeface="Nimbus Sans"/>
              </a:defRPr>
            </a:pPr>
            <a:r>
              <a:rPr sz="3075" b="1">
                <a:solidFill>
                  <a:srgbClr val="00446C"/>
                </a:solidFill>
                <a:latin typeface="Nimbus Sans"/>
                <a:ea typeface="Nimbus Sans"/>
                <a:cs typeface="Nimbus Sans"/>
              </a:rPr>
              <a:t>through lower patient bills and weaker trade incentives</a:t>
            </a:r>
          </a:p>
        </p:txBody>
      </p:sp>
      <p:sp>
        <p:nvSpPr>
          <p:cNvPr id="2" name="Scope">
            <a:extLst xmlns:a="http://schemas.openxmlformats.org/drawingml/2006/main">
              <a:ext uri="{FF2B5EF4-FFF2-40B4-BE49-F238E27FC236}">
                <a16:creationId xmlns:a16="http://schemas.microsoft.com/office/drawing/2014/main" id="{444569A3-3B3B-4F79-8A11-5AC834669881}"/>
              </a:ext>
            </a:extLst>
          </p:cNvPr>
          <p:cNvSpPr>
            <a:spLocks xmlns:a="http://schemas.openxmlformats.org/drawingml/2006/main" noGrp="1"/>
          </p:cNvSpPr>
          <p:nvPr/>
        </p:nvSpPr>
        <p:spPr>
          <a:xfrm xmlns:a="http://schemas.openxmlformats.org/drawingml/2006/main">
            <a:off x="609600" y="1438275"/>
            <a:ext cx="1402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57682"/>
                </a:solidFill>
                <a:latin typeface="Nimbus Sans"/>
                <a:ea typeface="Nimbus Sans"/>
                <a:cs typeface="Nimbus Sans"/>
              </a:defRPr>
            </a:defPPr>
            <a:lvl1pPr algn="l">
              <a:defRPr sz="1650" b="0">
                <a:solidFill>
                  <a:srgbClr val="657682"/>
                </a:solidFill>
                <a:latin typeface="Nimbus Sans"/>
                <a:ea typeface="Nimbus Sans"/>
                <a:cs typeface="Nimbus Sans"/>
              </a:defRPr>
            </a:lvl1pPr>
            <a:lvl2pPr algn="l">
              <a:defRPr sz="1650" b="0">
                <a:solidFill>
                  <a:srgbClr val="657682"/>
                </a:solidFill>
                <a:latin typeface="Nimbus Sans"/>
                <a:ea typeface="Nimbus Sans"/>
                <a:cs typeface="Nimbus Sans"/>
              </a:defRPr>
            </a:lvl2pPr>
            <a:lvl3pPr algn="l">
              <a:defRPr sz="1650" b="0">
                <a:solidFill>
                  <a:srgbClr val="657682"/>
                </a:solidFill>
                <a:latin typeface="Nimbus Sans"/>
                <a:ea typeface="Nimbus Sans"/>
                <a:cs typeface="Nimbus Sans"/>
              </a:defRPr>
            </a:lvl3pPr>
            <a:lvl4pPr algn="l">
              <a:defRPr sz="1650" b="0">
                <a:solidFill>
                  <a:srgbClr val="657682"/>
                </a:solidFill>
                <a:latin typeface="Nimbus Sans"/>
                <a:ea typeface="Nimbus Sans"/>
                <a:cs typeface="Nimbus Sans"/>
              </a:defRPr>
            </a:lvl4pPr>
            <a:lvl5pPr algn="l">
              <a:defRPr sz="1650" b="0">
                <a:solidFill>
                  <a:srgbClr val="657682"/>
                </a:solidFill>
                <a:latin typeface="Nimbus Sans"/>
                <a:ea typeface="Nimbus Sans"/>
                <a:cs typeface="Nimbus Sans"/>
              </a:defRPr>
            </a:lvl5pPr>
            <a:lvl6pPr algn="l">
              <a:defRPr sz="1650" b="0">
                <a:solidFill>
                  <a:srgbClr val="657682"/>
                </a:solidFill>
                <a:latin typeface="Nimbus Sans"/>
                <a:ea typeface="Nimbus Sans"/>
                <a:cs typeface="Nimbus Sans"/>
              </a:defRPr>
            </a:lvl6pPr>
            <a:lvl7pPr algn="l">
              <a:defRPr sz="1650" b="0">
                <a:solidFill>
                  <a:srgbClr val="657682"/>
                </a:solidFill>
                <a:latin typeface="Nimbus Sans"/>
                <a:ea typeface="Nimbus Sans"/>
                <a:cs typeface="Nimbus Sans"/>
              </a:defRPr>
            </a:lvl7pPr>
            <a:lvl8pPr algn="l">
              <a:defRPr sz="1650" b="0">
                <a:solidFill>
                  <a:srgbClr val="657682"/>
                </a:solidFill>
                <a:latin typeface="Nimbus Sans"/>
                <a:ea typeface="Nimbus Sans"/>
                <a:cs typeface="Nimbus Sans"/>
              </a:defRPr>
            </a:lvl8pPr>
            <a:lvl9pPr algn="l">
              <a:defRPr sz="1650" b="0">
                <a:solidFill>
                  <a:srgbClr val="657682"/>
                </a:solidFill>
                <a:latin typeface="Nimbus Sans"/>
                <a:ea typeface="Nimbus Sans"/>
                <a:cs typeface="Nimbus Sans"/>
              </a:defRPr>
            </a:lvl9pPr>
          </a:lstStyle>
          <a:p xmlns:a="http://schemas.openxmlformats.org/drawingml/2006/main">
            <a:pPr algn="l">
              <a:lnSpc>
                <a:spcPct val="108000"/>
              </a:lnSpc>
              <a:buNone/>
              <a:defRPr sz="1650" b="0">
                <a:solidFill>
                  <a:srgbClr val="657682"/>
                </a:solidFill>
                <a:latin typeface="Nimbus Sans"/>
                <a:ea typeface="Nimbus Sans"/>
                <a:cs typeface="Nimbus Sans"/>
              </a:defRPr>
            </a:pPr>
            <a:r>
              <a:rPr sz="1650" b="0">
                <a:solidFill>
                  <a:srgbClr val="657682"/>
                </a:solidFill>
                <a:latin typeface="Nimbus Sans"/>
                <a:ea typeface="Nimbus Sans"/>
                <a:cs typeface="Nimbus Sans"/>
              </a:rPr>
              <a:t>India pharma policy: observed tax pass-through and the economics of the new oncology trade-margin cap</a:t>
            </a:r>
          </a:p>
        </p:txBody>
      </p:sp>
      <p:sp>
        <p:nvSpPr>
          <p:cNvPr id="3" name="Top rule">
            <a:extLst xmlns:a="http://schemas.openxmlformats.org/drawingml/2006/main">
              <a:ext uri="{FF2B5EF4-FFF2-40B4-BE49-F238E27FC236}">
                <a16:creationId xmlns:a16="http://schemas.microsoft.com/office/drawing/2014/main" id="{3FA590B8-307C-441A-B3B6-B70E651B071F}"/>
              </a:ext>
            </a:extLst>
          </p:cNvPr>
          <p:cNvSpPr>
            <a:spLocks xmlns:a="http://schemas.openxmlformats.org/drawingml/2006/main" noGrp="1"/>
          </p:cNvSpPr>
          <p:nvPr/>
        </p:nvSpPr>
        <p:spPr>
          <a:xfrm xmlns:a="http://schemas.openxmlformats.org/drawingml/2006/main">
            <a:off x="609600" y="1809750"/>
            <a:ext cx="14020800" cy="19050"/>
          </a:xfrm>
          <a:prstGeom xmlns:a="http://schemas.openxmlformats.org/drawingml/2006/main" prst="rect">
            <a:avLst/>
          </a:prstGeom>
          <a:solidFill xmlns:a="http://schemas.openxmlformats.org/drawingml/2006/main">
            <a:srgbClr val="0067A6"/>
          </a:solidFill>
          <a:ln xmlns:a="http://schemas.openxmlformats.org/drawingml/2006/main" w="0">
            <a:noFill/>
            <a:prstDash val="solid"/>
          </a:ln>
        </p:spPr>
      </p:sp>
      <p:sp>
        <p:nvSpPr>
          <p:cNvPr id="4" name="Left title">
            <a:extLst xmlns:a="http://schemas.openxmlformats.org/drawingml/2006/main">
              <a:ext uri="{FF2B5EF4-FFF2-40B4-BE49-F238E27FC236}">
                <a16:creationId xmlns:a16="http://schemas.microsoft.com/office/drawing/2014/main" id="{B3CF507C-F7D1-4C28-8814-3319FB5D22D2}"/>
              </a:ext>
            </a:extLst>
          </p:cNvPr>
          <p:cNvSpPr>
            <a:spLocks xmlns:a="http://schemas.openxmlformats.org/drawingml/2006/main" noGrp="1"/>
          </p:cNvSpPr>
          <p:nvPr/>
        </p:nvSpPr>
        <p:spPr>
          <a:xfrm xmlns:a="http://schemas.openxmlformats.org/drawingml/2006/main">
            <a:off x="609600" y="2066925"/>
            <a:ext cx="676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0446C"/>
                </a:solidFill>
                <a:latin typeface="Nimbus Sans"/>
                <a:ea typeface="Nimbus Sans"/>
                <a:cs typeface="Nimbus Sans"/>
              </a:defRPr>
            </a:defPPr>
            <a:lvl1pPr algn="l">
              <a:defRPr sz="2250" b="1">
                <a:solidFill>
                  <a:srgbClr val="00446C"/>
                </a:solidFill>
                <a:latin typeface="Nimbus Sans"/>
                <a:ea typeface="Nimbus Sans"/>
                <a:cs typeface="Nimbus Sans"/>
              </a:defRPr>
            </a:lvl1pPr>
            <a:lvl2pPr algn="l">
              <a:defRPr sz="2250" b="1">
                <a:solidFill>
                  <a:srgbClr val="00446C"/>
                </a:solidFill>
                <a:latin typeface="Nimbus Sans"/>
                <a:ea typeface="Nimbus Sans"/>
                <a:cs typeface="Nimbus Sans"/>
              </a:defRPr>
            </a:lvl2pPr>
            <a:lvl3pPr algn="l">
              <a:defRPr sz="2250" b="1">
                <a:solidFill>
                  <a:srgbClr val="00446C"/>
                </a:solidFill>
                <a:latin typeface="Nimbus Sans"/>
                <a:ea typeface="Nimbus Sans"/>
                <a:cs typeface="Nimbus Sans"/>
              </a:defRPr>
            </a:lvl3pPr>
            <a:lvl4pPr algn="l">
              <a:defRPr sz="2250" b="1">
                <a:solidFill>
                  <a:srgbClr val="00446C"/>
                </a:solidFill>
                <a:latin typeface="Nimbus Sans"/>
                <a:ea typeface="Nimbus Sans"/>
                <a:cs typeface="Nimbus Sans"/>
              </a:defRPr>
            </a:lvl4pPr>
            <a:lvl5pPr algn="l">
              <a:defRPr sz="2250" b="1">
                <a:solidFill>
                  <a:srgbClr val="00446C"/>
                </a:solidFill>
                <a:latin typeface="Nimbus Sans"/>
                <a:ea typeface="Nimbus Sans"/>
                <a:cs typeface="Nimbus Sans"/>
              </a:defRPr>
            </a:lvl5pPr>
            <a:lvl6pPr algn="l">
              <a:defRPr sz="2250" b="1">
                <a:solidFill>
                  <a:srgbClr val="00446C"/>
                </a:solidFill>
                <a:latin typeface="Nimbus Sans"/>
                <a:ea typeface="Nimbus Sans"/>
                <a:cs typeface="Nimbus Sans"/>
              </a:defRPr>
            </a:lvl6pPr>
            <a:lvl7pPr algn="l">
              <a:defRPr sz="2250" b="1">
                <a:solidFill>
                  <a:srgbClr val="00446C"/>
                </a:solidFill>
                <a:latin typeface="Nimbus Sans"/>
                <a:ea typeface="Nimbus Sans"/>
                <a:cs typeface="Nimbus Sans"/>
              </a:defRPr>
            </a:lvl7pPr>
            <a:lvl8pPr algn="l">
              <a:defRPr sz="2250" b="1">
                <a:solidFill>
                  <a:srgbClr val="00446C"/>
                </a:solidFill>
                <a:latin typeface="Nimbus Sans"/>
                <a:ea typeface="Nimbus Sans"/>
                <a:cs typeface="Nimbus Sans"/>
              </a:defRPr>
            </a:lvl8pPr>
            <a:lvl9pPr algn="l">
              <a:defRPr sz="2250" b="1">
                <a:solidFill>
                  <a:srgbClr val="00446C"/>
                </a:solidFill>
                <a:latin typeface="Nimbus Sans"/>
                <a:ea typeface="Nimbus Sans"/>
                <a:cs typeface="Nimbus Sans"/>
              </a:defRPr>
            </a:lvl9pPr>
          </a:lstStyle>
          <a:p xmlns:a="http://schemas.openxmlformats.org/drawingml/2006/main">
            <a:pPr algn="l">
              <a:lnSpc>
                <a:spcPct val="108000"/>
              </a:lnSpc>
              <a:buNone/>
              <a:defRPr sz="2250" b="1">
                <a:solidFill>
                  <a:srgbClr val="00446C"/>
                </a:solidFill>
                <a:latin typeface="Nimbus Sans"/>
                <a:ea typeface="Nimbus Sans"/>
                <a:cs typeface="Nimbus Sans"/>
              </a:defRPr>
            </a:pPr>
            <a:r>
              <a:rPr sz="2250" b="1">
                <a:solidFill>
                  <a:srgbClr val="00446C"/>
                </a:solidFill>
                <a:latin typeface="Nimbus Sans"/>
                <a:ea typeface="Nimbus Sans"/>
                <a:cs typeface="Nimbus Sans"/>
              </a:rPr>
              <a:t>Tax reform has already lowered</a:t>
            </a:r>
          </a:p>
          <a:p xmlns:a="http://schemas.openxmlformats.org/drawingml/2006/main">
            <a:pPr algn="l">
              <a:lnSpc>
                <a:spcPct val="108000"/>
              </a:lnSpc>
              <a:buNone/>
              <a:defRPr sz="2250" b="1">
                <a:solidFill>
                  <a:srgbClr val="00446C"/>
                </a:solidFill>
                <a:latin typeface="Nimbus Sans"/>
                <a:ea typeface="Nimbus Sans"/>
                <a:cs typeface="Nimbus Sans"/>
              </a:defRPr>
            </a:pPr>
            <a:r>
              <a:rPr sz="2250" b="1">
                <a:solidFill>
                  <a:srgbClr val="00446C"/>
                </a:solidFill>
                <a:latin typeface="Nimbus Sans"/>
                <a:ea typeface="Nimbus Sans"/>
                <a:cs typeface="Nimbus Sans"/>
              </a:rPr>
              <a:t>prices of selected GSK products</a:t>
            </a:r>
          </a:p>
        </p:txBody>
      </p:sp>
      <p:sp>
        <p:nvSpPr>
          <p:cNvPr id="5" name="Left qualifier">
            <a:extLst xmlns:a="http://schemas.openxmlformats.org/drawingml/2006/main">
              <a:ext uri="{FF2B5EF4-FFF2-40B4-BE49-F238E27FC236}">
                <a16:creationId xmlns:a16="http://schemas.microsoft.com/office/drawing/2014/main" id="{9A543D8D-DC9A-44F3-8A83-7653F8686603}"/>
              </a:ext>
            </a:extLst>
          </p:cNvPr>
          <p:cNvSpPr>
            <a:spLocks xmlns:a="http://schemas.openxmlformats.org/drawingml/2006/main" noGrp="1"/>
          </p:cNvSpPr>
          <p:nvPr/>
        </p:nvSpPr>
        <p:spPr>
          <a:xfrm xmlns:a="http://schemas.openxmlformats.org/drawingml/2006/main">
            <a:off x="609600" y="2838450"/>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657682"/>
                </a:solidFill>
                <a:latin typeface="Nimbus Sans"/>
                <a:ea typeface="Nimbus Sans"/>
                <a:cs typeface="Nimbus Sans"/>
              </a:defRPr>
            </a:defPPr>
            <a:lvl1pPr algn="l">
              <a:defRPr sz="1575" b="0">
                <a:solidFill>
                  <a:srgbClr val="657682"/>
                </a:solidFill>
                <a:latin typeface="Nimbus Sans"/>
                <a:ea typeface="Nimbus Sans"/>
                <a:cs typeface="Nimbus Sans"/>
              </a:defRPr>
            </a:lvl1pPr>
            <a:lvl2pPr algn="l">
              <a:defRPr sz="1575" b="0">
                <a:solidFill>
                  <a:srgbClr val="657682"/>
                </a:solidFill>
                <a:latin typeface="Nimbus Sans"/>
                <a:ea typeface="Nimbus Sans"/>
                <a:cs typeface="Nimbus Sans"/>
              </a:defRPr>
            </a:lvl2pPr>
            <a:lvl3pPr algn="l">
              <a:defRPr sz="1575" b="0">
                <a:solidFill>
                  <a:srgbClr val="657682"/>
                </a:solidFill>
                <a:latin typeface="Nimbus Sans"/>
                <a:ea typeface="Nimbus Sans"/>
                <a:cs typeface="Nimbus Sans"/>
              </a:defRPr>
            </a:lvl3pPr>
            <a:lvl4pPr algn="l">
              <a:defRPr sz="1575" b="0">
                <a:solidFill>
                  <a:srgbClr val="657682"/>
                </a:solidFill>
                <a:latin typeface="Nimbus Sans"/>
                <a:ea typeface="Nimbus Sans"/>
                <a:cs typeface="Nimbus Sans"/>
              </a:defRPr>
            </a:lvl4pPr>
            <a:lvl5pPr algn="l">
              <a:defRPr sz="1575" b="0">
                <a:solidFill>
                  <a:srgbClr val="657682"/>
                </a:solidFill>
                <a:latin typeface="Nimbus Sans"/>
                <a:ea typeface="Nimbus Sans"/>
                <a:cs typeface="Nimbus Sans"/>
              </a:defRPr>
            </a:lvl5pPr>
            <a:lvl6pPr algn="l">
              <a:defRPr sz="1575" b="0">
                <a:solidFill>
                  <a:srgbClr val="657682"/>
                </a:solidFill>
                <a:latin typeface="Nimbus Sans"/>
                <a:ea typeface="Nimbus Sans"/>
                <a:cs typeface="Nimbus Sans"/>
              </a:defRPr>
            </a:lvl6pPr>
            <a:lvl7pPr algn="l">
              <a:defRPr sz="1575" b="0">
                <a:solidFill>
                  <a:srgbClr val="657682"/>
                </a:solidFill>
                <a:latin typeface="Nimbus Sans"/>
                <a:ea typeface="Nimbus Sans"/>
                <a:cs typeface="Nimbus Sans"/>
              </a:defRPr>
            </a:lvl7pPr>
            <a:lvl8pPr algn="l">
              <a:defRPr sz="1575" b="0">
                <a:solidFill>
                  <a:srgbClr val="657682"/>
                </a:solidFill>
                <a:latin typeface="Nimbus Sans"/>
                <a:ea typeface="Nimbus Sans"/>
                <a:cs typeface="Nimbus Sans"/>
              </a:defRPr>
            </a:lvl8pPr>
            <a:lvl9pPr algn="l">
              <a:defRPr sz="1575" b="0">
                <a:solidFill>
                  <a:srgbClr val="657682"/>
                </a:solidFill>
                <a:latin typeface="Nimbus Sans"/>
                <a:ea typeface="Nimbus Sans"/>
                <a:cs typeface="Nimbus Sans"/>
              </a:defRPr>
            </a:lvl9pPr>
          </a:lstStyle>
          <a:p xmlns:a="http://schemas.openxmlformats.org/drawingml/2006/main">
            <a:pPr algn="l">
              <a:lnSpc>
                <a:spcPct val="108000"/>
              </a:lnSpc>
              <a:buNone/>
              <a:defRPr sz="1575" b="0">
                <a:solidFill>
                  <a:srgbClr val="657682"/>
                </a:solidFill>
                <a:latin typeface="Nimbus Sans"/>
                <a:ea typeface="Nimbus Sans"/>
                <a:cs typeface="Nimbus Sans"/>
              </a:defRPr>
            </a:pPr>
            <a:r>
              <a:rPr sz="1575" b="0">
                <a:solidFill>
                  <a:srgbClr val="657682"/>
                </a:solidFill>
                <a:latin typeface="Nimbus Sans"/>
                <a:ea typeface="Nimbus Sans"/>
                <a:cs typeface="Nimbus Sans"/>
              </a:rPr>
              <a:t>Observed September 2025 MRP reductions, %</a:t>
            </a:r>
          </a:p>
        </p:txBody>
      </p:sp>
      <p:sp>
        <p:nvSpPr>
          <p:cNvPr id="6" name="Right title">
            <a:extLst xmlns:a="http://schemas.openxmlformats.org/drawingml/2006/main">
              <a:ext uri="{FF2B5EF4-FFF2-40B4-BE49-F238E27FC236}">
                <a16:creationId xmlns:a16="http://schemas.microsoft.com/office/drawing/2014/main" id="{32439455-B2B3-47EE-8BA2-7DEB3E85EAD4}"/>
              </a:ext>
            </a:extLst>
          </p:cNvPr>
          <p:cNvSpPr>
            <a:spLocks xmlns:a="http://schemas.openxmlformats.org/drawingml/2006/main" noGrp="1"/>
          </p:cNvSpPr>
          <p:nvPr/>
        </p:nvSpPr>
        <p:spPr>
          <a:xfrm xmlns:a="http://schemas.openxmlformats.org/drawingml/2006/main">
            <a:off x="8086725" y="2066925"/>
            <a:ext cx="65436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00446C"/>
                </a:solidFill>
                <a:latin typeface="Nimbus Sans"/>
                <a:ea typeface="Nimbus Sans"/>
                <a:cs typeface="Nimbus Sans"/>
              </a:defRPr>
            </a:defPPr>
            <a:lvl1pPr algn="l">
              <a:defRPr sz="2250" b="1">
                <a:solidFill>
                  <a:srgbClr val="00446C"/>
                </a:solidFill>
                <a:latin typeface="Nimbus Sans"/>
                <a:ea typeface="Nimbus Sans"/>
                <a:cs typeface="Nimbus Sans"/>
              </a:defRPr>
            </a:lvl1pPr>
            <a:lvl2pPr algn="l">
              <a:defRPr sz="2250" b="1">
                <a:solidFill>
                  <a:srgbClr val="00446C"/>
                </a:solidFill>
                <a:latin typeface="Nimbus Sans"/>
                <a:ea typeface="Nimbus Sans"/>
                <a:cs typeface="Nimbus Sans"/>
              </a:defRPr>
            </a:lvl2pPr>
            <a:lvl3pPr algn="l">
              <a:defRPr sz="2250" b="1">
                <a:solidFill>
                  <a:srgbClr val="00446C"/>
                </a:solidFill>
                <a:latin typeface="Nimbus Sans"/>
                <a:ea typeface="Nimbus Sans"/>
                <a:cs typeface="Nimbus Sans"/>
              </a:defRPr>
            </a:lvl3pPr>
            <a:lvl4pPr algn="l">
              <a:defRPr sz="2250" b="1">
                <a:solidFill>
                  <a:srgbClr val="00446C"/>
                </a:solidFill>
                <a:latin typeface="Nimbus Sans"/>
                <a:ea typeface="Nimbus Sans"/>
                <a:cs typeface="Nimbus Sans"/>
              </a:defRPr>
            </a:lvl4pPr>
            <a:lvl5pPr algn="l">
              <a:defRPr sz="2250" b="1">
                <a:solidFill>
                  <a:srgbClr val="00446C"/>
                </a:solidFill>
                <a:latin typeface="Nimbus Sans"/>
                <a:ea typeface="Nimbus Sans"/>
                <a:cs typeface="Nimbus Sans"/>
              </a:defRPr>
            </a:lvl5pPr>
            <a:lvl6pPr algn="l">
              <a:defRPr sz="2250" b="1">
                <a:solidFill>
                  <a:srgbClr val="00446C"/>
                </a:solidFill>
                <a:latin typeface="Nimbus Sans"/>
                <a:ea typeface="Nimbus Sans"/>
                <a:cs typeface="Nimbus Sans"/>
              </a:defRPr>
            </a:lvl6pPr>
            <a:lvl7pPr algn="l">
              <a:defRPr sz="2250" b="1">
                <a:solidFill>
                  <a:srgbClr val="00446C"/>
                </a:solidFill>
                <a:latin typeface="Nimbus Sans"/>
                <a:ea typeface="Nimbus Sans"/>
                <a:cs typeface="Nimbus Sans"/>
              </a:defRPr>
            </a:lvl7pPr>
            <a:lvl8pPr algn="l">
              <a:defRPr sz="2250" b="1">
                <a:solidFill>
                  <a:srgbClr val="00446C"/>
                </a:solidFill>
                <a:latin typeface="Nimbus Sans"/>
                <a:ea typeface="Nimbus Sans"/>
                <a:cs typeface="Nimbus Sans"/>
              </a:defRPr>
            </a:lvl8pPr>
            <a:lvl9pPr algn="l">
              <a:defRPr sz="2250" b="1">
                <a:solidFill>
                  <a:srgbClr val="00446C"/>
                </a:solidFill>
                <a:latin typeface="Nimbus Sans"/>
                <a:ea typeface="Nimbus Sans"/>
                <a:cs typeface="Nimbus Sans"/>
              </a:defRPr>
            </a:lvl9pPr>
          </a:lstStyle>
          <a:p xmlns:a="http://schemas.openxmlformats.org/drawingml/2006/main">
            <a:pPr algn="l">
              <a:lnSpc>
                <a:spcPct val="108000"/>
              </a:lnSpc>
              <a:buNone/>
              <a:defRPr sz="2250" b="1">
                <a:solidFill>
                  <a:srgbClr val="00446C"/>
                </a:solidFill>
                <a:latin typeface="Nimbus Sans"/>
                <a:ea typeface="Nimbus Sans"/>
                <a:cs typeface="Nimbus Sans"/>
              </a:defRPr>
            </a:pPr>
            <a:r>
              <a:rPr sz="2250" b="1">
                <a:solidFill>
                  <a:srgbClr val="00446C"/>
                </a:solidFill>
                <a:latin typeface="Nimbus Sans"/>
                <a:ea typeface="Nimbus Sans"/>
                <a:cs typeface="Nimbus Sans"/>
              </a:rPr>
              <a:t>The cap can reverse procurement</a:t>
            </a:r>
          </a:p>
          <a:p xmlns:a="http://schemas.openxmlformats.org/drawingml/2006/main">
            <a:pPr algn="l">
              <a:lnSpc>
                <a:spcPct val="108000"/>
              </a:lnSpc>
              <a:buNone/>
              <a:defRPr sz="2250" b="1">
                <a:solidFill>
                  <a:srgbClr val="00446C"/>
                </a:solidFill>
                <a:latin typeface="Nimbus Sans"/>
                <a:ea typeface="Nimbus Sans"/>
                <a:cs typeface="Nimbus Sans"/>
              </a:defRPr>
            </a:pPr>
            <a:r>
              <a:rPr sz="2250" b="1">
                <a:solidFill>
                  <a:srgbClr val="00446C"/>
                </a:solidFill>
                <a:latin typeface="Nimbus Sans"/>
                <a:ea typeface="Nimbus Sans"/>
                <a:cs typeface="Nimbus Sans"/>
              </a:rPr>
              <a:t>incentives driven by a large spread</a:t>
            </a:r>
          </a:p>
        </p:txBody>
      </p:sp>
      <p:sp>
        <p:nvSpPr>
          <p:cNvPr id="7" name="Right qualifier">
            <a:extLst xmlns:a="http://schemas.openxmlformats.org/drawingml/2006/main">
              <a:ext uri="{FF2B5EF4-FFF2-40B4-BE49-F238E27FC236}">
                <a16:creationId xmlns:a16="http://schemas.microsoft.com/office/drawing/2014/main" id="{3AEB264F-47E7-4E72-AD53-632518FA46D1}"/>
              </a:ext>
            </a:extLst>
          </p:cNvPr>
          <p:cNvSpPr>
            <a:spLocks xmlns:a="http://schemas.openxmlformats.org/drawingml/2006/main" noGrp="1"/>
          </p:cNvSpPr>
          <p:nvPr/>
        </p:nvSpPr>
        <p:spPr>
          <a:xfrm xmlns:a="http://schemas.openxmlformats.org/drawingml/2006/main">
            <a:off x="8086725" y="2838450"/>
            <a:ext cx="65436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0">
                <a:solidFill>
                  <a:srgbClr val="657682"/>
                </a:solidFill>
                <a:latin typeface="Nimbus Sans"/>
                <a:ea typeface="Nimbus Sans"/>
                <a:cs typeface="Nimbus Sans"/>
              </a:defRPr>
            </a:defPPr>
            <a:lvl1pPr algn="l">
              <a:defRPr sz="1575" b="0">
                <a:solidFill>
                  <a:srgbClr val="657682"/>
                </a:solidFill>
                <a:latin typeface="Nimbus Sans"/>
                <a:ea typeface="Nimbus Sans"/>
                <a:cs typeface="Nimbus Sans"/>
              </a:defRPr>
            </a:lvl1pPr>
            <a:lvl2pPr algn="l">
              <a:defRPr sz="1575" b="0">
                <a:solidFill>
                  <a:srgbClr val="657682"/>
                </a:solidFill>
                <a:latin typeface="Nimbus Sans"/>
                <a:ea typeface="Nimbus Sans"/>
                <a:cs typeface="Nimbus Sans"/>
              </a:defRPr>
            </a:lvl2pPr>
            <a:lvl3pPr algn="l">
              <a:defRPr sz="1575" b="0">
                <a:solidFill>
                  <a:srgbClr val="657682"/>
                </a:solidFill>
                <a:latin typeface="Nimbus Sans"/>
                <a:ea typeface="Nimbus Sans"/>
                <a:cs typeface="Nimbus Sans"/>
              </a:defRPr>
            </a:lvl3pPr>
            <a:lvl4pPr algn="l">
              <a:defRPr sz="1575" b="0">
                <a:solidFill>
                  <a:srgbClr val="657682"/>
                </a:solidFill>
                <a:latin typeface="Nimbus Sans"/>
                <a:ea typeface="Nimbus Sans"/>
                <a:cs typeface="Nimbus Sans"/>
              </a:defRPr>
            </a:lvl4pPr>
            <a:lvl5pPr algn="l">
              <a:defRPr sz="1575" b="0">
                <a:solidFill>
                  <a:srgbClr val="657682"/>
                </a:solidFill>
                <a:latin typeface="Nimbus Sans"/>
                <a:ea typeface="Nimbus Sans"/>
                <a:cs typeface="Nimbus Sans"/>
              </a:defRPr>
            </a:lvl5pPr>
            <a:lvl6pPr algn="l">
              <a:defRPr sz="1575" b="0">
                <a:solidFill>
                  <a:srgbClr val="657682"/>
                </a:solidFill>
                <a:latin typeface="Nimbus Sans"/>
                <a:ea typeface="Nimbus Sans"/>
                <a:cs typeface="Nimbus Sans"/>
              </a:defRPr>
            </a:lvl6pPr>
            <a:lvl7pPr algn="l">
              <a:defRPr sz="1575" b="0">
                <a:solidFill>
                  <a:srgbClr val="657682"/>
                </a:solidFill>
                <a:latin typeface="Nimbus Sans"/>
                <a:ea typeface="Nimbus Sans"/>
                <a:cs typeface="Nimbus Sans"/>
              </a:defRPr>
            </a:lvl7pPr>
            <a:lvl8pPr algn="l">
              <a:defRPr sz="1575" b="0">
                <a:solidFill>
                  <a:srgbClr val="657682"/>
                </a:solidFill>
                <a:latin typeface="Nimbus Sans"/>
                <a:ea typeface="Nimbus Sans"/>
                <a:cs typeface="Nimbus Sans"/>
              </a:defRPr>
            </a:lvl8pPr>
            <a:lvl9pPr algn="l">
              <a:defRPr sz="1575" b="0">
                <a:solidFill>
                  <a:srgbClr val="657682"/>
                </a:solidFill>
                <a:latin typeface="Nimbus Sans"/>
                <a:ea typeface="Nimbus Sans"/>
                <a:cs typeface="Nimbus Sans"/>
              </a:defRPr>
            </a:lvl9pPr>
          </a:lstStyle>
          <a:p xmlns:a="http://schemas.openxmlformats.org/drawingml/2006/main">
            <a:pPr algn="l">
              <a:lnSpc>
                <a:spcPct val="108000"/>
              </a:lnSpc>
              <a:buNone/>
              <a:defRPr sz="1575" b="0">
                <a:solidFill>
                  <a:srgbClr val="657682"/>
                </a:solidFill>
                <a:latin typeface="Nimbus Sans"/>
                <a:ea typeface="Nimbus Sans"/>
                <a:cs typeface="Nimbus Sans"/>
              </a:defRPr>
            </a:pPr>
            <a:r>
              <a:rPr sz="1575" b="0">
                <a:solidFill>
                  <a:srgbClr val="657682"/>
                </a:solidFill>
                <a:latin typeface="Nimbus Sans"/>
                <a:ea typeface="Nimbus Sans"/>
                <a:cs typeface="Nimbus Sans"/>
              </a:rPr>
              <a:t>Illustrative combined channel income, Rs per unit</a:t>
            </a:r>
          </a:p>
        </p:txBody>
      </p:sp>
      <p:sp>
        <p:nvSpPr>
          <p:cNvPr id="8" name="Divider">
            <a:extLst xmlns:a="http://schemas.openxmlformats.org/drawingml/2006/main">
              <a:ext uri="{FF2B5EF4-FFF2-40B4-BE49-F238E27FC236}">
                <a16:creationId xmlns:a16="http://schemas.microsoft.com/office/drawing/2014/main" id="{D5BC57F6-E422-4D50-9B16-A5A9D33AB737}"/>
              </a:ext>
            </a:extLst>
          </p:cNvPr>
          <p:cNvSpPr>
            <a:spLocks xmlns:a="http://schemas.openxmlformats.org/drawingml/2006/main" noGrp="1"/>
          </p:cNvSpPr>
          <p:nvPr/>
        </p:nvSpPr>
        <p:spPr>
          <a:xfrm xmlns:a="http://schemas.openxmlformats.org/drawingml/2006/main">
            <a:off x="7667625" y="2076450"/>
            <a:ext cx="9525" cy="4943475"/>
          </a:xfrm>
          <a:prstGeom xmlns:a="http://schemas.openxmlformats.org/drawingml/2006/main" prst="rect">
            <a:avLst/>
          </a:prstGeom>
          <a:solidFill xmlns:a="http://schemas.openxmlformats.org/drawingml/2006/main">
            <a:srgbClr val="D8E2E9"/>
          </a:solidFill>
          <a:ln xmlns:a="http://schemas.openxmlformats.org/drawingml/2006/main" w="0">
            <a:noFill/>
            <a:prstDash val="solid"/>
          </a:ln>
        </p:spPr>
      </p:sp>
      <p:graphicFrame>
        <p:nvGraphicFramePr>
          <p:cNvPr id="9" name="Chart">
            <a:extLst xmlns:a="http://schemas.openxmlformats.org/drawingml/2006/main">
              <a:ext uri="{FF2B5EF4-FFF2-40B4-BE49-F238E27FC236}">
                <a16:creationId xmlns:a16="http://schemas.microsoft.com/office/drawing/2014/main" id="{F14B463D-6749-4D5C-B6BB-AA3BA2D88E1F}"/>
              </a:ext>
            </a:extLst>
          </p:cNvPr>
          <p:cNvGraphicFramePr/>
          <p:nvPr/>
        </p:nvGraphicFramePr>
        <p:xfrm>
          <a:off xmlns:a="http://schemas.openxmlformats.org/drawingml/2006/main" x="514350" y="3314700"/>
          <a:ext xmlns:a="http://schemas.openxmlformats.org/drawingml/2006/main" cx="6972300" cy="2933700"/>
        </p:xfrm>
        <a:graphic xmlns:a="http://schemas.openxmlformats.org/drawingml/2006/main">
          <a:graphicData uri="http://schemas.openxmlformats.org/drawingml/2006/chart">
            <c:chart xmlns:r="http://schemas.openxmlformats.org/officeDocument/2006/relationships" xmlns:c="http://schemas.openxmlformats.org/drawingml/2006/chart" r:id="Rc3d112d5847e4769"/>
          </a:graphicData>
        </a:graphic>
      </p:graphicFrame>
      <p:graphicFrame>
        <p:nvGraphicFramePr>
          <p:cNvPr id="10" name="Chart">
            <a:extLst xmlns:a="http://schemas.openxmlformats.org/drawingml/2006/main">
              <a:ext uri="{FF2B5EF4-FFF2-40B4-BE49-F238E27FC236}">
                <a16:creationId xmlns:a16="http://schemas.microsoft.com/office/drawing/2014/main" id="{7854BA8A-9C95-440F-A380-902DD4A2C450}"/>
              </a:ext>
            </a:extLst>
          </p:cNvPr>
          <p:cNvGraphicFramePr/>
          <p:nvPr/>
        </p:nvGraphicFramePr>
        <p:xfrm>
          <a:off xmlns:a="http://schemas.openxmlformats.org/drawingml/2006/main" x="7991475" y="3314700"/>
          <a:ext xmlns:a="http://schemas.openxmlformats.org/drawingml/2006/main" cx="6734175" cy="2933700"/>
        </p:xfrm>
        <a:graphic xmlns:a="http://schemas.openxmlformats.org/drawingml/2006/main">
          <a:graphicData uri="http://schemas.openxmlformats.org/drawingml/2006/chart">
            <c:chart xmlns:r="http://schemas.openxmlformats.org/officeDocument/2006/relationships" xmlns:c="http://schemas.openxmlformats.org/drawingml/2006/chart" r:id="R2104bbbceaa34d74"/>
          </a:graphicData>
        </a:graphic>
      </p:graphicFrame>
      <p:sp>
        <p:nvSpPr>
          <p:cNvPr id="11" name="Tax conclusion">
            <a:extLst xmlns:a="http://schemas.openxmlformats.org/drawingml/2006/main">
              <a:ext uri="{FF2B5EF4-FFF2-40B4-BE49-F238E27FC236}">
                <a16:creationId xmlns:a16="http://schemas.microsoft.com/office/drawing/2014/main" id="{EBCFC56F-078A-4C67-A15D-0FF67A448996}"/>
              </a:ext>
            </a:extLst>
          </p:cNvPr>
          <p:cNvSpPr>
            <a:spLocks xmlns:a="http://schemas.openxmlformats.org/drawingml/2006/main" noGrp="1"/>
          </p:cNvSpPr>
          <p:nvPr/>
        </p:nvSpPr>
        <p:spPr>
          <a:xfrm xmlns:a="http://schemas.openxmlformats.org/drawingml/2006/main">
            <a:off x="609600" y="6429375"/>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0067A6"/>
                </a:solidFill>
                <a:latin typeface="Nimbus Sans"/>
                <a:ea typeface="Nimbus Sans"/>
                <a:cs typeface="Nimbus Sans"/>
              </a:defRPr>
            </a:defPPr>
            <a:lvl1pPr algn="l">
              <a:defRPr sz="1725" b="1">
                <a:solidFill>
                  <a:srgbClr val="0067A6"/>
                </a:solidFill>
                <a:latin typeface="Nimbus Sans"/>
                <a:ea typeface="Nimbus Sans"/>
                <a:cs typeface="Nimbus Sans"/>
              </a:defRPr>
            </a:lvl1pPr>
            <a:lvl2pPr algn="l">
              <a:defRPr sz="1725" b="1">
                <a:solidFill>
                  <a:srgbClr val="0067A6"/>
                </a:solidFill>
                <a:latin typeface="Nimbus Sans"/>
                <a:ea typeface="Nimbus Sans"/>
                <a:cs typeface="Nimbus Sans"/>
              </a:defRPr>
            </a:lvl2pPr>
            <a:lvl3pPr algn="l">
              <a:defRPr sz="1725" b="1">
                <a:solidFill>
                  <a:srgbClr val="0067A6"/>
                </a:solidFill>
                <a:latin typeface="Nimbus Sans"/>
                <a:ea typeface="Nimbus Sans"/>
                <a:cs typeface="Nimbus Sans"/>
              </a:defRPr>
            </a:lvl3pPr>
            <a:lvl4pPr algn="l">
              <a:defRPr sz="1725" b="1">
                <a:solidFill>
                  <a:srgbClr val="0067A6"/>
                </a:solidFill>
                <a:latin typeface="Nimbus Sans"/>
                <a:ea typeface="Nimbus Sans"/>
                <a:cs typeface="Nimbus Sans"/>
              </a:defRPr>
            </a:lvl4pPr>
            <a:lvl5pPr algn="l">
              <a:defRPr sz="1725" b="1">
                <a:solidFill>
                  <a:srgbClr val="0067A6"/>
                </a:solidFill>
                <a:latin typeface="Nimbus Sans"/>
                <a:ea typeface="Nimbus Sans"/>
                <a:cs typeface="Nimbus Sans"/>
              </a:defRPr>
            </a:lvl5pPr>
            <a:lvl6pPr algn="l">
              <a:defRPr sz="1725" b="1">
                <a:solidFill>
                  <a:srgbClr val="0067A6"/>
                </a:solidFill>
                <a:latin typeface="Nimbus Sans"/>
                <a:ea typeface="Nimbus Sans"/>
                <a:cs typeface="Nimbus Sans"/>
              </a:defRPr>
            </a:lvl6pPr>
            <a:lvl7pPr algn="l">
              <a:defRPr sz="1725" b="1">
                <a:solidFill>
                  <a:srgbClr val="0067A6"/>
                </a:solidFill>
                <a:latin typeface="Nimbus Sans"/>
                <a:ea typeface="Nimbus Sans"/>
                <a:cs typeface="Nimbus Sans"/>
              </a:defRPr>
            </a:lvl7pPr>
            <a:lvl8pPr algn="l">
              <a:defRPr sz="1725" b="1">
                <a:solidFill>
                  <a:srgbClr val="0067A6"/>
                </a:solidFill>
                <a:latin typeface="Nimbus Sans"/>
                <a:ea typeface="Nimbus Sans"/>
                <a:cs typeface="Nimbus Sans"/>
              </a:defRPr>
            </a:lvl8pPr>
            <a:lvl9pPr algn="l">
              <a:defRPr sz="1725" b="1">
                <a:solidFill>
                  <a:srgbClr val="0067A6"/>
                </a:solidFill>
                <a:latin typeface="Nimbus Sans"/>
                <a:ea typeface="Nimbus Sans"/>
                <a:cs typeface="Nimbus Sans"/>
              </a:defRPr>
            </a:lvl9pPr>
          </a:lstStyle>
          <a:p xmlns:a="http://schemas.openxmlformats.org/drawingml/2006/main">
            <a:pPr algn="l">
              <a:lnSpc>
                <a:spcPct val="108000"/>
              </a:lnSpc>
              <a:buNone/>
              <a:defRPr sz="1725" b="1">
                <a:solidFill>
                  <a:srgbClr val="0067A6"/>
                </a:solidFill>
                <a:latin typeface="Nimbus Sans"/>
                <a:ea typeface="Nimbus Sans"/>
                <a:cs typeface="Nimbus Sans"/>
              </a:defRPr>
            </a:pPr>
            <a:r>
              <a:rPr sz="1725" b="1">
                <a:solidFill>
                  <a:srgbClr val="0067A6"/>
                </a:solidFill>
                <a:latin typeface="Nimbus Sans"/>
                <a:ea typeface="Nimbus Sans"/>
                <a:cs typeface="Nimbus Sans"/>
              </a:rPr>
              <a:t>Pre-tax retail prices remained unchanged.</a:t>
            </a:r>
          </a:p>
          <a:p xmlns:a="http://schemas.openxmlformats.org/drawingml/2006/main">
            <a:pPr algn="l">
              <a:lnSpc>
                <a:spcPct val="108000"/>
              </a:lnSpc>
              <a:buNone/>
              <a:defRPr sz="1725" b="1">
                <a:solidFill>
                  <a:srgbClr val="0067A6"/>
                </a:solidFill>
                <a:latin typeface="Nimbus Sans"/>
                <a:ea typeface="Nimbus Sans"/>
                <a:cs typeface="Nimbus Sans"/>
              </a:defRPr>
            </a:pPr>
            <a:r>
              <a:rPr sz="1725" b="1">
                <a:solidFill>
                  <a:srgbClr val="0067A6"/>
                </a:solidFill>
                <a:latin typeface="Nimbus Sans"/>
                <a:ea typeface="Nimbus Sans"/>
                <a:cs typeface="Nimbus Sans"/>
              </a:rPr>
              <a:t>Tax reduction can support access without a price concession</a:t>
            </a:r>
          </a:p>
        </p:txBody>
      </p:sp>
      <p:sp>
        <p:nvSpPr>
          <p:cNvPr id="12" name="Channel assumptions">
            <a:extLst xmlns:a="http://schemas.openxmlformats.org/drawingml/2006/main">
              <a:ext uri="{FF2B5EF4-FFF2-40B4-BE49-F238E27FC236}">
                <a16:creationId xmlns:a16="http://schemas.microsoft.com/office/drawing/2014/main" id="{513DF1F7-DB3D-4F08-BE04-800D283108EB}"/>
              </a:ext>
            </a:extLst>
          </p:cNvPr>
          <p:cNvSpPr>
            <a:spLocks xmlns:a="http://schemas.openxmlformats.org/drawingml/2006/main" noGrp="1"/>
          </p:cNvSpPr>
          <p:nvPr/>
        </p:nvSpPr>
        <p:spPr>
          <a:xfrm xmlns:a="http://schemas.openxmlformats.org/drawingml/2006/main">
            <a:off x="8086725" y="6400800"/>
            <a:ext cx="6543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657682"/>
                </a:solidFill>
                <a:latin typeface="Nimbus Sans"/>
                <a:ea typeface="Nimbus Sans"/>
                <a:cs typeface="Nimbus Sans"/>
              </a:defRPr>
            </a:defPPr>
            <a:lvl1pPr algn="l">
              <a:defRPr sz="1500" b="0">
                <a:solidFill>
                  <a:srgbClr val="657682"/>
                </a:solidFill>
                <a:latin typeface="Nimbus Sans"/>
                <a:ea typeface="Nimbus Sans"/>
                <a:cs typeface="Nimbus Sans"/>
              </a:defRPr>
            </a:lvl1pPr>
            <a:lvl2pPr algn="l">
              <a:defRPr sz="1500" b="0">
                <a:solidFill>
                  <a:srgbClr val="657682"/>
                </a:solidFill>
                <a:latin typeface="Nimbus Sans"/>
                <a:ea typeface="Nimbus Sans"/>
                <a:cs typeface="Nimbus Sans"/>
              </a:defRPr>
            </a:lvl2pPr>
            <a:lvl3pPr algn="l">
              <a:defRPr sz="1500" b="0">
                <a:solidFill>
                  <a:srgbClr val="657682"/>
                </a:solidFill>
                <a:latin typeface="Nimbus Sans"/>
                <a:ea typeface="Nimbus Sans"/>
                <a:cs typeface="Nimbus Sans"/>
              </a:defRPr>
            </a:lvl3pPr>
            <a:lvl4pPr algn="l">
              <a:defRPr sz="1500" b="0">
                <a:solidFill>
                  <a:srgbClr val="657682"/>
                </a:solidFill>
                <a:latin typeface="Nimbus Sans"/>
                <a:ea typeface="Nimbus Sans"/>
                <a:cs typeface="Nimbus Sans"/>
              </a:defRPr>
            </a:lvl4pPr>
            <a:lvl5pPr algn="l">
              <a:defRPr sz="1500" b="0">
                <a:solidFill>
                  <a:srgbClr val="657682"/>
                </a:solidFill>
                <a:latin typeface="Nimbus Sans"/>
                <a:ea typeface="Nimbus Sans"/>
                <a:cs typeface="Nimbus Sans"/>
              </a:defRPr>
            </a:lvl5pPr>
            <a:lvl6pPr algn="l">
              <a:defRPr sz="1500" b="0">
                <a:solidFill>
                  <a:srgbClr val="657682"/>
                </a:solidFill>
                <a:latin typeface="Nimbus Sans"/>
                <a:ea typeface="Nimbus Sans"/>
                <a:cs typeface="Nimbus Sans"/>
              </a:defRPr>
            </a:lvl6pPr>
            <a:lvl7pPr algn="l">
              <a:defRPr sz="1500" b="0">
                <a:solidFill>
                  <a:srgbClr val="657682"/>
                </a:solidFill>
                <a:latin typeface="Nimbus Sans"/>
                <a:ea typeface="Nimbus Sans"/>
                <a:cs typeface="Nimbus Sans"/>
              </a:defRPr>
            </a:lvl7pPr>
            <a:lvl8pPr algn="l">
              <a:defRPr sz="1500" b="0">
                <a:solidFill>
                  <a:srgbClr val="657682"/>
                </a:solidFill>
                <a:latin typeface="Nimbus Sans"/>
                <a:ea typeface="Nimbus Sans"/>
                <a:cs typeface="Nimbus Sans"/>
              </a:defRPr>
            </a:lvl8pPr>
            <a:lvl9pPr algn="l">
              <a:defRPr sz="1500" b="0">
                <a:solidFill>
                  <a:srgbClr val="657682"/>
                </a:solidFill>
                <a:latin typeface="Nimbus Sans"/>
                <a:ea typeface="Nimbus Sans"/>
                <a:cs typeface="Nimbus Sans"/>
              </a:defRPr>
            </a:lvl9pPr>
          </a:lstStyle>
          <a:p xmlns:a="http://schemas.openxmlformats.org/drawingml/2006/main">
            <a:pPr algn="l">
              <a:lnSpc>
                <a:spcPct val="108000"/>
              </a:lnSpc>
              <a:buNone/>
              <a:defRPr sz="1500" b="0">
                <a:solidFill>
                  <a:srgbClr val="657682"/>
                </a:solidFill>
                <a:latin typeface="Nimbus Sans"/>
                <a:ea typeface="Nimbus Sans"/>
                <a:cs typeface="Nimbus Sans"/>
              </a:defRPr>
            </a:pPr>
            <a:r>
              <a:rPr sz="1500" b="0">
                <a:solidFill>
                  <a:srgbClr val="657682"/>
                </a:solidFill>
                <a:latin typeface="Nimbus Sans"/>
                <a:ea typeface="Nimbus Sans"/>
                <a:cs typeface="Nimbus Sans"/>
              </a:rPr>
              <a:t>Assumptions: old MRP Rs100 for both brands.</a:t>
            </a:r>
          </a:p>
          <a:p xmlns:a="http://schemas.openxmlformats.org/drawingml/2006/main">
            <a:pPr algn="l">
              <a:lnSpc>
                <a:spcPct val="108000"/>
              </a:lnSpc>
              <a:buNone/>
              <a:defRPr sz="1500" b="0">
                <a:solidFill>
                  <a:srgbClr val="657682"/>
                </a:solidFill>
                <a:latin typeface="Nimbus Sans"/>
                <a:ea typeface="Nimbus Sans"/>
                <a:cs typeface="Nimbus Sans"/>
              </a:defRPr>
            </a:pPr>
            <a:r>
              <a:rPr sz="1500" b="0">
                <a:solidFill>
                  <a:srgbClr val="657682"/>
                </a:solidFill>
                <a:latin typeface="Nimbus Sans"/>
                <a:ea typeface="Nimbus Sans"/>
                <a:cs typeface="Nimbus Sans"/>
              </a:rPr>
              <a:t>First-sale prices held at Rs60 and Rs20, respectively.</a:t>
            </a:r>
          </a:p>
        </p:txBody>
      </p:sp>
      <p:sp>
        <p:nvSpPr>
          <p:cNvPr id="13" name="Channel conclusion">
            <a:extLst xmlns:a="http://schemas.openxmlformats.org/drawingml/2006/main">
              <a:ext uri="{FF2B5EF4-FFF2-40B4-BE49-F238E27FC236}">
                <a16:creationId xmlns:a16="http://schemas.microsoft.com/office/drawing/2014/main" id="{5C876EE8-E81C-432E-909C-1F71CD1B4099}"/>
              </a:ext>
            </a:extLst>
          </p:cNvPr>
          <p:cNvSpPr>
            <a:spLocks xmlns:a="http://schemas.openxmlformats.org/drawingml/2006/main" noGrp="1"/>
          </p:cNvSpPr>
          <p:nvPr/>
        </p:nvSpPr>
        <p:spPr>
          <a:xfrm xmlns:a="http://schemas.openxmlformats.org/drawingml/2006/main">
            <a:off x="8086725" y="6981825"/>
            <a:ext cx="65436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0067A6"/>
                </a:solidFill>
                <a:latin typeface="Nimbus Sans"/>
                <a:ea typeface="Nimbus Sans"/>
                <a:cs typeface="Nimbus Sans"/>
              </a:defRPr>
            </a:defPPr>
            <a:lvl1pPr algn="l">
              <a:defRPr sz="1650" b="1">
                <a:solidFill>
                  <a:srgbClr val="0067A6"/>
                </a:solidFill>
                <a:latin typeface="Nimbus Sans"/>
                <a:ea typeface="Nimbus Sans"/>
                <a:cs typeface="Nimbus Sans"/>
              </a:defRPr>
            </a:lvl1pPr>
            <a:lvl2pPr algn="l">
              <a:defRPr sz="1650" b="1">
                <a:solidFill>
                  <a:srgbClr val="0067A6"/>
                </a:solidFill>
                <a:latin typeface="Nimbus Sans"/>
                <a:ea typeface="Nimbus Sans"/>
                <a:cs typeface="Nimbus Sans"/>
              </a:defRPr>
            </a:lvl2pPr>
            <a:lvl3pPr algn="l">
              <a:defRPr sz="1650" b="1">
                <a:solidFill>
                  <a:srgbClr val="0067A6"/>
                </a:solidFill>
                <a:latin typeface="Nimbus Sans"/>
                <a:ea typeface="Nimbus Sans"/>
                <a:cs typeface="Nimbus Sans"/>
              </a:defRPr>
            </a:lvl3pPr>
            <a:lvl4pPr algn="l">
              <a:defRPr sz="1650" b="1">
                <a:solidFill>
                  <a:srgbClr val="0067A6"/>
                </a:solidFill>
                <a:latin typeface="Nimbus Sans"/>
                <a:ea typeface="Nimbus Sans"/>
                <a:cs typeface="Nimbus Sans"/>
              </a:defRPr>
            </a:lvl4pPr>
            <a:lvl5pPr algn="l">
              <a:defRPr sz="1650" b="1">
                <a:solidFill>
                  <a:srgbClr val="0067A6"/>
                </a:solidFill>
                <a:latin typeface="Nimbus Sans"/>
                <a:ea typeface="Nimbus Sans"/>
                <a:cs typeface="Nimbus Sans"/>
              </a:defRPr>
            </a:lvl5pPr>
            <a:lvl6pPr algn="l">
              <a:defRPr sz="1650" b="1">
                <a:solidFill>
                  <a:srgbClr val="0067A6"/>
                </a:solidFill>
                <a:latin typeface="Nimbus Sans"/>
                <a:ea typeface="Nimbus Sans"/>
                <a:cs typeface="Nimbus Sans"/>
              </a:defRPr>
            </a:lvl6pPr>
            <a:lvl7pPr algn="l">
              <a:defRPr sz="1650" b="1">
                <a:solidFill>
                  <a:srgbClr val="0067A6"/>
                </a:solidFill>
                <a:latin typeface="Nimbus Sans"/>
                <a:ea typeface="Nimbus Sans"/>
                <a:cs typeface="Nimbus Sans"/>
              </a:defRPr>
            </a:lvl7pPr>
            <a:lvl8pPr algn="l">
              <a:defRPr sz="1650" b="1">
                <a:solidFill>
                  <a:srgbClr val="0067A6"/>
                </a:solidFill>
                <a:latin typeface="Nimbus Sans"/>
                <a:ea typeface="Nimbus Sans"/>
                <a:cs typeface="Nimbus Sans"/>
              </a:defRPr>
            </a:lvl8pPr>
            <a:lvl9pPr algn="l">
              <a:defRPr sz="1650" b="1">
                <a:solidFill>
                  <a:srgbClr val="0067A6"/>
                </a:solidFill>
                <a:latin typeface="Nimbus Sans"/>
                <a:ea typeface="Nimbus Sans"/>
                <a:cs typeface="Nimbus Sans"/>
              </a:defRPr>
            </a:lvl9pPr>
          </a:lstStyle>
          <a:p xmlns:a="http://schemas.openxmlformats.org/drawingml/2006/main">
            <a:pPr algn="l">
              <a:lnSpc>
                <a:spcPct val="108000"/>
              </a:lnSpc>
              <a:buNone/>
              <a:defRPr sz="1650" b="1">
                <a:solidFill>
                  <a:srgbClr val="0067A6"/>
                </a:solidFill>
                <a:latin typeface="Nimbus Sans"/>
                <a:ea typeface="Nimbus Sans"/>
                <a:cs typeface="Nimbus Sans"/>
              </a:defRPr>
            </a:pPr>
            <a:r>
              <a:rPr sz="1650" b="1">
                <a:solidFill>
                  <a:srgbClr val="0067A6"/>
                </a:solidFill>
                <a:latin typeface="Nimbus Sans"/>
                <a:ea typeface="Nimbus Sans"/>
                <a:cs typeface="Nimbus Sans"/>
              </a:rPr>
              <a:t>Relative channel income flips from 2x for the high-spread</a:t>
            </a:r>
          </a:p>
          <a:p xmlns:a="http://schemas.openxmlformats.org/drawingml/2006/main">
            <a:pPr algn="l">
              <a:lnSpc>
                <a:spcPct val="108000"/>
              </a:lnSpc>
              <a:buNone/>
              <a:defRPr sz="1650" b="1">
                <a:solidFill>
                  <a:srgbClr val="0067A6"/>
                </a:solidFill>
                <a:latin typeface="Nimbus Sans"/>
                <a:ea typeface="Nimbus Sans"/>
                <a:cs typeface="Nimbus Sans"/>
              </a:defRPr>
            </a:pPr>
            <a:r>
              <a:rPr sz="1650" b="1">
                <a:solidFill>
                  <a:srgbClr val="0067A6"/>
                </a:solidFill>
                <a:latin typeface="Nimbus Sans"/>
                <a:ea typeface="Nimbus Sans"/>
                <a:cs typeface="Nimbus Sans"/>
              </a:rPr>
              <a:t>brand to 3x for the premium brand in this illustration</a:t>
            </a:r>
          </a:p>
        </p:txBody>
      </p:sp>
      <p:sp>
        <p:nvSpPr>
          <p:cNvPr id="14" name="Mix rule">
            <a:extLst xmlns:a="http://schemas.openxmlformats.org/drawingml/2006/main">
              <a:ext uri="{FF2B5EF4-FFF2-40B4-BE49-F238E27FC236}">
                <a16:creationId xmlns:a16="http://schemas.microsoft.com/office/drawing/2014/main" id="{5F737230-B996-482D-8659-5340D1FE876E}"/>
              </a:ext>
            </a:extLst>
          </p:cNvPr>
          <p:cNvSpPr>
            <a:spLocks xmlns:a="http://schemas.openxmlformats.org/drawingml/2006/main" noGrp="1"/>
          </p:cNvSpPr>
          <p:nvPr/>
        </p:nvSpPr>
        <p:spPr>
          <a:xfrm xmlns:a="http://schemas.openxmlformats.org/drawingml/2006/main">
            <a:off x="609600" y="7572375"/>
            <a:ext cx="14020800" cy="9525"/>
          </a:xfrm>
          <a:prstGeom xmlns:a="http://schemas.openxmlformats.org/drawingml/2006/main" prst="rect">
            <a:avLst/>
          </a:prstGeom>
          <a:solidFill xmlns:a="http://schemas.openxmlformats.org/drawingml/2006/main">
            <a:srgbClr val="D8E2E9"/>
          </a:solidFill>
          <a:ln xmlns:a="http://schemas.openxmlformats.org/drawingml/2006/main" w="0">
            <a:noFill/>
            <a:prstDash val="solid"/>
          </a:ln>
        </p:spPr>
      </p:sp>
      <p:sp>
        <p:nvSpPr>
          <p:cNvPr id="15" name="GSK materiality">
            <a:extLst xmlns:a="http://schemas.openxmlformats.org/drawingml/2006/main">
              <a:ext uri="{FF2B5EF4-FFF2-40B4-BE49-F238E27FC236}">
                <a16:creationId xmlns:a16="http://schemas.microsoft.com/office/drawing/2014/main" id="{9CA3D646-A5DC-441D-9293-DF8EB658528E}"/>
              </a:ext>
            </a:extLst>
          </p:cNvPr>
          <p:cNvSpPr>
            <a:spLocks xmlns:a="http://schemas.openxmlformats.org/drawingml/2006/main" noGrp="1"/>
          </p:cNvSpPr>
          <p:nvPr/>
        </p:nvSpPr>
        <p:spPr>
          <a:xfrm xmlns:a="http://schemas.openxmlformats.org/drawingml/2006/main">
            <a:off x="609600" y="7648575"/>
            <a:ext cx="14020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1">
                <a:solidFill>
                  <a:srgbClr val="243746"/>
                </a:solidFill>
                <a:latin typeface="Nimbus Sans"/>
                <a:ea typeface="Nimbus Sans"/>
                <a:cs typeface="Nimbus Sans"/>
              </a:defRPr>
            </a:defPPr>
            <a:lvl1pPr algn="l">
              <a:defRPr sz="1650" b="1">
                <a:solidFill>
                  <a:srgbClr val="243746"/>
                </a:solidFill>
                <a:latin typeface="Nimbus Sans"/>
                <a:ea typeface="Nimbus Sans"/>
                <a:cs typeface="Nimbus Sans"/>
              </a:defRPr>
            </a:lvl1pPr>
            <a:lvl2pPr algn="l">
              <a:defRPr sz="1650" b="1">
                <a:solidFill>
                  <a:srgbClr val="243746"/>
                </a:solidFill>
                <a:latin typeface="Nimbus Sans"/>
                <a:ea typeface="Nimbus Sans"/>
                <a:cs typeface="Nimbus Sans"/>
              </a:defRPr>
            </a:lvl2pPr>
            <a:lvl3pPr algn="l">
              <a:defRPr sz="1650" b="1">
                <a:solidFill>
                  <a:srgbClr val="243746"/>
                </a:solidFill>
                <a:latin typeface="Nimbus Sans"/>
                <a:ea typeface="Nimbus Sans"/>
                <a:cs typeface="Nimbus Sans"/>
              </a:defRPr>
            </a:lvl3pPr>
            <a:lvl4pPr algn="l">
              <a:defRPr sz="1650" b="1">
                <a:solidFill>
                  <a:srgbClr val="243746"/>
                </a:solidFill>
                <a:latin typeface="Nimbus Sans"/>
                <a:ea typeface="Nimbus Sans"/>
                <a:cs typeface="Nimbus Sans"/>
              </a:defRPr>
            </a:lvl4pPr>
            <a:lvl5pPr algn="l">
              <a:defRPr sz="1650" b="1">
                <a:solidFill>
                  <a:srgbClr val="243746"/>
                </a:solidFill>
                <a:latin typeface="Nimbus Sans"/>
                <a:ea typeface="Nimbus Sans"/>
                <a:cs typeface="Nimbus Sans"/>
              </a:defRPr>
            </a:lvl5pPr>
            <a:lvl6pPr algn="l">
              <a:defRPr sz="1650" b="1">
                <a:solidFill>
                  <a:srgbClr val="243746"/>
                </a:solidFill>
                <a:latin typeface="Nimbus Sans"/>
                <a:ea typeface="Nimbus Sans"/>
                <a:cs typeface="Nimbus Sans"/>
              </a:defRPr>
            </a:lvl6pPr>
            <a:lvl7pPr algn="l">
              <a:defRPr sz="1650" b="1">
                <a:solidFill>
                  <a:srgbClr val="243746"/>
                </a:solidFill>
                <a:latin typeface="Nimbus Sans"/>
                <a:ea typeface="Nimbus Sans"/>
                <a:cs typeface="Nimbus Sans"/>
              </a:defRPr>
            </a:lvl7pPr>
            <a:lvl8pPr algn="l">
              <a:defRPr sz="1650" b="1">
                <a:solidFill>
                  <a:srgbClr val="243746"/>
                </a:solidFill>
                <a:latin typeface="Nimbus Sans"/>
                <a:ea typeface="Nimbus Sans"/>
                <a:cs typeface="Nimbus Sans"/>
              </a:defRPr>
            </a:lvl8pPr>
            <a:lvl9pPr algn="l">
              <a:defRPr sz="1650" b="1">
                <a:solidFill>
                  <a:srgbClr val="243746"/>
                </a:solidFill>
                <a:latin typeface="Nimbus Sans"/>
                <a:ea typeface="Nimbus Sans"/>
                <a:cs typeface="Nimbus Sans"/>
              </a:defRPr>
            </a:lvl9pPr>
          </a:lstStyle>
          <a:p xmlns:a="http://schemas.openxmlformats.org/drawingml/2006/main">
            <a:pPr algn="l">
              <a:lnSpc>
                <a:spcPct val="108000"/>
              </a:lnSpc>
              <a:buNone/>
              <a:defRPr sz="1650" b="1">
                <a:solidFill>
                  <a:srgbClr val="243746"/>
                </a:solidFill>
                <a:latin typeface="Nimbus Sans"/>
                <a:ea typeface="Nimbus Sans"/>
                <a:cs typeface="Nimbus Sans"/>
              </a:defRPr>
            </a:pPr>
            <a:r>
              <a:rPr sz="1650" b="1">
                <a:solidFill>
                  <a:srgbClr val="243746"/>
                </a:solidFill>
                <a:latin typeface="Nimbus Sans"/>
                <a:ea typeface="Nimbus Sans"/>
                <a:cs typeface="Nimbus Sans"/>
              </a:rPr>
              <a:t>GSK earnings discipline: innovation was 6% of Q4FY26 sales. A 20% uplift across that entire</a:t>
            </a:r>
          </a:p>
          <a:p xmlns:a="http://schemas.openxmlformats.org/drawingml/2006/main">
            <a:pPr algn="l">
              <a:lnSpc>
                <a:spcPct val="108000"/>
              </a:lnSpc>
              <a:buNone/>
              <a:defRPr sz="1650" b="1">
                <a:solidFill>
                  <a:srgbClr val="243746"/>
                </a:solidFill>
                <a:latin typeface="Nimbus Sans"/>
                <a:ea typeface="Nimbus Sans"/>
                <a:cs typeface="Nimbus Sans"/>
              </a:defRPr>
            </a:pPr>
            <a:r>
              <a:rPr sz="1650" b="1">
                <a:solidFill>
                  <a:srgbClr val="243746"/>
                </a:solidFill>
                <a:latin typeface="Nimbus Sans"/>
                <a:ea typeface="Nimbus Sans"/>
                <a:cs typeface="Nimbus Sans"/>
              </a:rPr>
              <a:t>portfolio adds 1.2% to group sales at the same mix. Oncology is a subset of innovation.</a:t>
            </a:r>
          </a:p>
        </p:txBody>
      </p:sp>
      <p:sp>
        <p:nvSpPr>
          <p:cNvPr id="16" name="Source">
            <a:extLst xmlns:a="http://schemas.openxmlformats.org/drawingml/2006/main">
              <a:ext uri="{FF2B5EF4-FFF2-40B4-BE49-F238E27FC236}">
                <a16:creationId xmlns:a16="http://schemas.microsoft.com/office/drawing/2014/main" id="{FCD69D74-A714-4B38-970D-BE0A02FAE840}"/>
              </a:ext>
            </a:extLst>
          </p:cNvPr>
          <p:cNvSpPr>
            <a:spLocks xmlns:a="http://schemas.openxmlformats.org/drawingml/2006/main" noGrp="1"/>
          </p:cNvSpPr>
          <p:nvPr/>
        </p:nvSpPr>
        <p:spPr>
          <a:xfrm xmlns:a="http://schemas.openxmlformats.org/drawingml/2006/main">
            <a:off x="609600" y="8115300"/>
            <a:ext cx="1402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050" b="0">
                <a:solidFill>
                  <a:srgbClr val="657682"/>
                </a:solidFill>
                <a:latin typeface="Nimbus Sans"/>
                <a:ea typeface="Nimbus Sans"/>
                <a:cs typeface="Nimbus Sans"/>
              </a:defRPr>
            </a:defPPr>
            <a:lvl1pPr algn="l">
              <a:defRPr sz="1050" b="0">
                <a:solidFill>
                  <a:srgbClr val="657682"/>
                </a:solidFill>
                <a:latin typeface="Nimbus Sans"/>
                <a:ea typeface="Nimbus Sans"/>
                <a:cs typeface="Nimbus Sans"/>
              </a:defRPr>
            </a:lvl1pPr>
            <a:lvl2pPr algn="l">
              <a:defRPr sz="1050" b="0">
                <a:solidFill>
                  <a:srgbClr val="657682"/>
                </a:solidFill>
                <a:latin typeface="Nimbus Sans"/>
                <a:ea typeface="Nimbus Sans"/>
                <a:cs typeface="Nimbus Sans"/>
              </a:defRPr>
            </a:lvl2pPr>
            <a:lvl3pPr algn="l">
              <a:defRPr sz="1050" b="0">
                <a:solidFill>
                  <a:srgbClr val="657682"/>
                </a:solidFill>
                <a:latin typeface="Nimbus Sans"/>
                <a:ea typeface="Nimbus Sans"/>
                <a:cs typeface="Nimbus Sans"/>
              </a:defRPr>
            </a:lvl3pPr>
            <a:lvl4pPr algn="l">
              <a:defRPr sz="1050" b="0">
                <a:solidFill>
                  <a:srgbClr val="657682"/>
                </a:solidFill>
                <a:latin typeface="Nimbus Sans"/>
                <a:ea typeface="Nimbus Sans"/>
                <a:cs typeface="Nimbus Sans"/>
              </a:defRPr>
            </a:lvl4pPr>
            <a:lvl5pPr algn="l">
              <a:defRPr sz="1050" b="0">
                <a:solidFill>
                  <a:srgbClr val="657682"/>
                </a:solidFill>
                <a:latin typeface="Nimbus Sans"/>
                <a:ea typeface="Nimbus Sans"/>
                <a:cs typeface="Nimbus Sans"/>
              </a:defRPr>
            </a:lvl5pPr>
            <a:lvl6pPr algn="l">
              <a:defRPr sz="1050" b="0">
                <a:solidFill>
                  <a:srgbClr val="657682"/>
                </a:solidFill>
                <a:latin typeface="Nimbus Sans"/>
                <a:ea typeface="Nimbus Sans"/>
                <a:cs typeface="Nimbus Sans"/>
              </a:defRPr>
            </a:lvl6pPr>
            <a:lvl7pPr algn="l">
              <a:defRPr sz="1050" b="0">
                <a:solidFill>
                  <a:srgbClr val="657682"/>
                </a:solidFill>
                <a:latin typeface="Nimbus Sans"/>
                <a:ea typeface="Nimbus Sans"/>
                <a:cs typeface="Nimbus Sans"/>
              </a:defRPr>
            </a:lvl7pPr>
            <a:lvl8pPr algn="l">
              <a:defRPr sz="1050" b="0">
                <a:solidFill>
                  <a:srgbClr val="657682"/>
                </a:solidFill>
                <a:latin typeface="Nimbus Sans"/>
                <a:ea typeface="Nimbus Sans"/>
                <a:cs typeface="Nimbus Sans"/>
              </a:defRPr>
            </a:lvl8pPr>
            <a:lvl9pPr algn="l">
              <a:defRPr sz="1050" b="0">
                <a:solidFill>
                  <a:srgbClr val="657682"/>
                </a:solidFill>
                <a:latin typeface="Nimbus Sans"/>
                <a:ea typeface="Nimbus Sans"/>
                <a:cs typeface="Nimbus Sans"/>
              </a:defRPr>
            </a:lvl9pPr>
          </a:lstStyle>
          <a:p xmlns:a="http://schemas.openxmlformats.org/drawingml/2006/main">
            <a:pPr algn="l">
              <a:lnSpc>
                <a:spcPct val="108000"/>
              </a:lnSpc>
              <a:buNone/>
              <a:defRPr sz="1050" b="0">
                <a:solidFill>
                  <a:srgbClr val="657682"/>
                </a:solidFill>
                <a:latin typeface="Nimbus Sans"/>
                <a:ea typeface="Nimbus Sans"/>
                <a:cs typeface="Nimbus Sans"/>
              </a:defRPr>
            </a:pPr>
            <a:r>
              <a:rPr sz="1050" b="0">
                <a:solidFill>
                  <a:srgbClr val="657682"/>
                </a:solidFill>
                <a:latin typeface="Nimbus Sans"/>
                <a:ea typeface="Nimbus Sans"/>
                <a:cs typeface="Nimbus Sans"/>
              </a:rPr>
              <a:t>Source: GSK price circular, 19 Sep 2025, pp7–9; GSK presentation, 13 May 2026, slide6; NPPA S.O.5690(E), 17 Oct 2026.</a:t>
            </a:r>
          </a:p>
        </p:txBody>
      </p:sp>
      <p:sp>
        <p:nvSpPr>
          <p:cNvPr id="17" name="Boundary">
            <a:extLst xmlns:a="http://schemas.openxmlformats.org/drawingml/2006/main">
              <a:ext uri="{FF2B5EF4-FFF2-40B4-BE49-F238E27FC236}">
                <a16:creationId xmlns:a16="http://schemas.microsoft.com/office/drawing/2014/main" id="{6553AA6A-20F3-42AD-AC12-C493066338DB}"/>
              </a:ext>
            </a:extLst>
          </p:cNvPr>
          <p:cNvSpPr>
            <a:spLocks xmlns:a="http://schemas.openxmlformats.org/drawingml/2006/main" noGrp="1"/>
          </p:cNvSpPr>
          <p:nvPr/>
        </p:nvSpPr>
        <p:spPr>
          <a:xfrm xmlns:a="http://schemas.openxmlformats.org/drawingml/2006/main">
            <a:off x="609600" y="8305800"/>
            <a:ext cx="140208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975" b="0">
                <a:solidFill>
                  <a:srgbClr val="657682"/>
                </a:solidFill>
                <a:latin typeface="Nimbus Sans"/>
                <a:ea typeface="Nimbus Sans"/>
                <a:cs typeface="Nimbus Sans"/>
              </a:defRPr>
            </a:defPPr>
            <a:lvl1pPr algn="l">
              <a:defRPr sz="975" b="0">
                <a:solidFill>
                  <a:srgbClr val="657682"/>
                </a:solidFill>
                <a:latin typeface="Nimbus Sans"/>
                <a:ea typeface="Nimbus Sans"/>
                <a:cs typeface="Nimbus Sans"/>
              </a:defRPr>
            </a:lvl1pPr>
            <a:lvl2pPr algn="l">
              <a:defRPr sz="975" b="0">
                <a:solidFill>
                  <a:srgbClr val="657682"/>
                </a:solidFill>
                <a:latin typeface="Nimbus Sans"/>
                <a:ea typeface="Nimbus Sans"/>
                <a:cs typeface="Nimbus Sans"/>
              </a:defRPr>
            </a:lvl2pPr>
            <a:lvl3pPr algn="l">
              <a:defRPr sz="975" b="0">
                <a:solidFill>
                  <a:srgbClr val="657682"/>
                </a:solidFill>
                <a:latin typeface="Nimbus Sans"/>
                <a:ea typeface="Nimbus Sans"/>
                <a:cs typeface="Nimbus Sans"/>
              </a:defRPr>
            </a:lvl3pPr>
            <a:lvl4pPr algn="l">
              <a:defRPr sz="975" b="0">
                <a:solidFill>
                  <a:srgbClr val="657682"/>
                </a:solidFill>
                <a:latin typeface="Nimbus Sans"/>
                <a:ea typeface="Nimbus Sans"/>
                <a:cs typeface="Nimbus Sans"/>
              </a:defRPr>
            </a:lvl4pPr>
            <a:lvl5pPr algn="l">
              <a:defRPr sz="975" b="0">
                <a:solidFill>
                  <a:srgbClr val="657682"/>
                </a:solidFill>
                <a:latin typeface="Nimbus Sans"/>
                <a:ea typeface="Nimbus Sans"/>
                <a:cs typeface="Nimbus Sans"/>
              </a:defRPr>
            </a:lvl5pPr>
            <a:lvl6pPr algn="l">
              <a:defRPr sz="975" b="0">
                <a:solidFill>
                  <a:srgbClr val="657682"/>
                </a:solidFill>
                <a:latin typeface="Nimbus Sans"/>
                <a:ea typeface="Nimbus Sans"/>
                <a:cs typeface="Nimbus Sans"/>
              </a:defRPr>
            </a:lvl6pPr>
            <a:lvl7pPr algn="l">
              <a:defRPr sz="975" b="0">
                <a:solidFill>
                  <a:srgbClr val="657682"/>
                </a:solidFill>
                <a:latin typeface="Nimbus Sans"/>
                <a:ea typeface="Nimbus Sans"/>
                <a:cs typeface="Nimbus Sans"/>
              </a:defRPr>
            </a:lvl7pPr>
            <a:lvl8pPr algn="l">
              <a:defRPr sz="975" b="0">
                <a:solidFill>
                  <a:srgbClr val="657682"/>
                </a:solidFill>
                <a:latin typeface="Nimbus Sans"/>
                <a:ea typeface="Nimbus Sans"/>
                <a:cs typeface="Nimbus Sans"/>
              </a:defRPr>
            </a:lvl8pPr>
            <a:lvl9pPr algn="l">
              <a:defRPr sz="975" b="0">
                <a:solidFill>
                  <a:srgbClr val="657682"/>
                </a:solidFill>
                <a:latin typeface="Nimbus Sans"/>
                <a:ea typeface="Nimbus Sans"/>
                <a:cs typeface="Nimbus Sans"/>
              </a:defRPr>
            </a:lvl9pPr>
          </a:lstStyle>
          <a:p xmlns:a="http://schemas.openxmlformats.org/drawingml/2006/main">
            <a:pPr algn="l">
              <a:lnSpc>
                <a:spcPct val="108000"/>
              </a:lnSpc>
              <a:buNone/>
              <a:defRPr sz="975" b="0">
                <a:solidFill>
                  <a:srgbClr val="657682"/>
                </a:solidFill>
                <a:latin typeface="Nimbus Sans"/>
                <a:ea typeface="Nimbus Sans"/>
                <a:cs typeface="Nimbus Sans"/>
              </a:defRPr>
            </a:pPr>
            <a:r>
              <a:rPr sz="975" b="0">
                <a:solidFill>
                  <a:srgbClr val="657682"/>
                </a:solidFill>
                <a:latin typeface="Nimbus Sans"/>
                <a:ea typeface="Nimbus Sans"/>
                <a:cs typeface="Nimbus Sans"/>
              </a:rPr>
              <a:t>Tax data are historical MRPs. Channel comparison is hypothetical, not actual brand margins or a market-share forecast. Cheaper alternatives may gain patient preference.</a:t>
            </a:r>
          </a:p>
        </p:txBody>
      </p:sp>
    </p:spTree>
    <p:extLst>
      <p:ext uri="{BB962C8B-B14F-4D97-AF65-F5344CB8AC3E}">
        <p14:creationId xmlns:p14="http://schemas.microsoft.com/office/powerpoint/2010/main" val="18489004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2026-10-21T15:47:16.2900000Z</dcterms:created>
  <dcterms:modified xsi:type="dcterms:W3CDTF">2026-10-21T15:47:16.2900000Z</dcterms:modified>
</coreProperties>
</file>