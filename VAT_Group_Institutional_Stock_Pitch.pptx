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Relevance</c:v>
                </c:pt>
              </c:strCache>
            </c:strRef>
          </c:tx>
          <c:spPr>
            <a:solidFill>
              <a:srgbClr val="1B9BD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Dep</c:v>
                  </c:pt>
                  <c:pt idx="1">
                    <c:v>Lith</c:v>
                  </c:pt>
                  <c:pt idx="2">
                    <c:v>Etch</c:v>
                  </c:pt>
                  <c:pt idx="3">
                    <c:v>Impl</c:v>
                  </c:pt>
                  <c:pt idx="4">
                    <c:v>Metro</c:v>
                  </c:pt>
                </c:lvl>
              </c:multiLvlStrCache>
            </c:multiLvlStrRef>
          </c:cat>
          <c:val>
            <c:numRef>
              <c:f>Sheet1!$B$2:$B$6</c:f>
              <c:numCache>
                <c:formatCode>General</c:formatCode>
                <c:ptCount val="5"/>
                <c:pt idx="0">
                  <c:v>5</c:v>
                </c:pt>
                <c:pt idx="1">
                  <c:v>3</c:v>
                </c:pt>
                <c:pt idx="2">
                  <c:v>5</c:v>
                </c:pt>
                <c:pt idx="3">
                  <c:v>3</c:v>
                </c:pt>
                <c:pt idx="4">
                  <c:v>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55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WFE</c:v>
                </c:pt>
              </c:strCache>
            </c:strRef>
          </c:tx>
          <c:spPr>
            <a:solidFill>
              <a:srgbClr val="1B9BD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2025E</c:v>
                  </c:pt>
                  <c:pt idx="1">
                    <c:v>2026E</c:v>
                  </c:pt>
                  <c:pt idx="2">
                    <c:v>2027E</c:v>
                  </c:pt>
                  <c:pt idx="3">
                    <c:v>2028E</c:v>
                  </c:pt>
                </c:lvl>
              </c:multiLvlStrCache>
            </c:multiLvlStrRef>
          </c:cat>
          <c:val>
            <c:numRef>
              <c:f>Sheet1!$B$2:$B$5</c:f>
              <c:numCache>
                <c:formatCode>General</c:formatCode>
                <c:ptCount val="4"/>
                <c:pt idx="0">
                  <c:v>117</c:v>
                </c:pt>
                <c:pt idx="1">
                  <c:v>144</c:v>
                </c:pt>
                <c:pt idx="2">
                  <c:v>175</c:v>
                </c:pt>
                <c:pt idx="3">
                  <c:v>200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22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Illustrative VAT order cycle</c:v>
                </c:pt>
              </c:strCache>
            </c:strRef>
          </c:tx>
          <c:spPr>
            <a:solidFill>
              <a:srgbClr val="1B9BDA"/>
            </a:solidFill>
            <a:ln w="25400" cap="flat">
              <a:solidFill>
                <a:srgbClr val="1B9BD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9BDA"/>
              </a:solidFill>
              <a:ln w="9525" cap="flat">
                <a:solidFill>
                  <a:srgbClr val="1B9BDA"/>
                </a:solidFill>
                <a:prstDash val="solid"/>
                <a:round/>
              </a:ln>
              <a:effectLst/>
            </c:spPr>
          </c:marker>
          <c:cat>
            <c:multiLvlStrRef>
              <c:f>Sheet1!$A$2:$A$7</c:f>
              <c:multiLvlStrCache>
                <c:ptCount val="6"/>
                <c:lvl>
                  <c:pt idx="0">
                    <c:v>Trough</c:v>
                  </c:pt>
                  <c:pt idx="1">
                    <c:v>Restock</c:v>
                  </c:pt>
                  <c:pt idx="2">
                    <c:v>Ramp</c:v>
                  </c:pt>
                  <c:pt idx="3">
                    <c:v>Peak</c:v>
                  </c:pt>
                  <c:pt idx="4">
                    <c:v>Digestion</c:v>
                  </c:pt>
                  <c:pt idx="5">
                    <c:v>Recovery</c:v>
                  </c:pt>
                </c:lvl>
              </c:multiLvlStrCache>
            </c:multiLvlStrRef>
          </c:cat>
          <c:val>
            <c:numRef>
              <c:f>Sheet1!$B$2:$B$7</c:f>
              <c:numCache>
                <c:formatCode>General</c:formatCode>
                <c:ptCount val="6"/>
                <c:pt idx="0">
                  <c:v>0.6</c:v>
                </c:pt>
                <c:pt idx="1">
                  <c:v>0.9</c:v>
                </c:pt>
                <c:pt idx="2">
                  <c:v>1.5</c:v>
                </c:pt>
                <c:pt idx="3">
                  <c:v>1.8</c:v>
                </c:pt>
                <c:pt idx="4">
                  <c:v>0.8</c:v>
                </c:pt>
                <c:pt idx="5">
                  <c:v>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Orders</c:v>
                </c:pt>
              </c:strCache>
            </c:strRef>
          </c:tx>
          <c:spPr>
            <a:solidFill>
              <a:srgbClr val="1B9BD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Q1 26</c:v>
                  </c:pt>
                  <c:pt idx="1">
                    <c:v>Q2 26</c:v>
                  </c:pt>
                  <c:pt idx="2">
                    <c:v>H1 26</c:v>
                  </c:pt>
                </c:lvl>
              </c:multiLvlStrCache>
            </c:multiLvlStrRef>
          </c:cat>
          <c:val>
            <c:numRef>
              <c:f>Sheet1!$B$2:$B$4</c:f>
              <c:numCache>
                <c:formatCode>General</c:formatCode>
                <c:ptCount val="3"/>
                <c:pt idx="0">
                  <c:v>356</c:v>
                </c:pt>
                <c:pt idx="1">
                  <c:v>500</c:v>
                </c:pt>
                <c:pt idx="2">
                  <c:v>856</c:v>
                </c:pt>
              </c:numCache>
            </c:numRef>
          </c:val>
        </c:ser>
        <c:ser>
          <c:idx val="1"/>
          <c:order val="1"/>
          <c:tx>
            <c:strRef>
              <c:f>Sheet1!$C$1</c:f>
              <c:strCache>
                <c:ptCount val="1"/>
                <c:pt idx="0">
                  <c:v>Sales</c:v>
                </c:pt>
              </c:strCache>
            </c:strRef>
          </c:tx>
          <c:spPr>
            <a:solidFill>
              <a:srgbClr val="A8B4B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Q1 26</c:v>
                  </c:pt>
                  <c:pt idx="1">
                    <c:v>Q2 26</c:v>
                  </c:pt>
                  <c:pt idx="2">
                    <c:v>H1 26</c:v>
                  </c:pt>
                </c:lvl>
              </c:multiLvlStrCache>
            </c:multiLvlStrRef>
          </c:cat>
          <c:val>
            <c:numRef>
              <c:f>Sheet1!$C$2:$C$4</c:f>
              <c:numCache>
                <c:formatCode>General</c:formatCode>
                <c:ptCount val="3"/>
                <c:pt idx="0">
                  <c:v>221</c:v>
                </c:pt>
                <c:pt idx="1">
                  <c:v>291</c:v>
                </c:pt>
                <c:pt idx="2">
                  <c:v>512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c:v>
                </c:pt>
              </c:strCache>
            </c:strRef>
          </c:tx>
          <c:spPr>
            <a:solidFill>
              <a:srgbClr val="1B9BD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FY23</c:v>
                  </c:pt>
                  <c:pt idx="1">
                    <c:v>FY24</c:v>
                  </c:pt>
                  <c:pt idx="2">
                    <c:v>FY25</c:v>
                  </c:pt>
                  <c:pt idx="3">
                    <c:v>FY26E</c:v>
                  </c:pt>
                  <c:pt idx="4">
                    <c:v>FY27E</c:v>
                  </c:pt>
                  <c:pt idx="5">
                    <c:v>FY28E</c:v>
                  </c:pt>
                </c:lvl>
              </c:multiLvlStrCache>
            </c:multiLvlStrRef>
          </c:cat>
          <c:val>
            <c:numRef>
              <c:f>Sheet1!$B$2:$B$7</c:f>
              <c:numCache>
                <c:formatCode>General</c:formatCode>
                <c:ptCount val="6"/>
                <c:pt idx="0">
                  <c:v>885</c:v>
                </c:pt>
                <c:pt idx="1">
                  <c:v>942</c:v>
                </c:pt>
                <c:pt idx="2">
                  <c:v>1074</c:v>
                </c:pt>
                <c:pt idx="3">
                  <c:v>1340</c:v>
                </c:pt>
                <c:pt idx="4">
                  <c:v>1580</c:v>
                </c:pt>
                <c:pt idx="5">
                  <c:v>1750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EBITDA margin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Sheet1!$A$2:$A$7</c:f>
              <c:multiLvlStrCache>
                <c:ptCount val="6"/>
                <c:lvl>
                  <c:pt idx="0">
                    <c:v>FY23</c:v>
                  </c:pt>
                  <c:pt idx="1">
                    <c:v>FY24</c:v>
                  </c:pt>
                  <c:pt idx="2">
                    <c:v>FY25</c:v>
                  </c:pt>
                  <c:pt idx="3">
                    <c:v>FY26E</c:v>
                  </c:pt>
                  <c:pt idx="4">
                    <c:v>FY27E</c:v>
                  </c:pt>
                  <c:pt idx="5">
                    <c:v>FY28E</c:v>
                  </c:pt>
                </c:lvl>
              </c:multiLvlStrCache>
            </c:multiLvlStrRef>
          </c:cat>
          <c:val>
            <c:numRef>
              <c:f>Sheet1!$B$2:$B$7</c:f>
              <c:numCache>
                <c:formatCode>General</c:formatCode>
                <c:ptCount val="6"/>
                <c:pt idx="0">
                  <c:v>30.6</c:v>
                </c:pt>
                <c:pt idx="1">
                  <c:v>31.2</c:v>
                </c:pt>
                <c:pt idx="2">
                  <c:v>30</c:v>
                </c:pt>
                <c:pt idx="3">
                  <c:v>31.5</c:v>
                </c:pt>
                <c:pt idx="4">
                  <c:v>34</c:v>
                </c:pt>
                <c:pt idx="5">
                  <c:v>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
          <c:min val="25"/>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simple call: this is a BUY on VAT, not because it is a fashionable AI derivative, but because it is the dominant vacuum-control supplier inside the equipment used to make advanced chips.
The important tension is visible on the slide: orders and backlog have accelerated materially, while reported H1 sales and margins are still depressed by capacity ramp timing. The investment case is about converting that reported demand into 2027-2028 revenue and EBITDA.
Transition: before discussing valuation, we need the audience to understand how an AI server ends up creating demand for a Swiss vacuum valve.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transmission mechanism. Demand starts with AI servers, phones, cars and industrial devices. Chip designers such as Nvidia or Apple decide what chips are needed, but they generally do not manufacture the silicon.
Fabs are run by TSMC, Samsung, Intel, Micron and SK Hynix. Those fabs buy tools from ASML, Lam, Applied, Tokyo Electron and KLA. VAT sits one layer deeper: its valves and modules are embedded inside those tools.
The key clarification for a non-semi investor: Nvidia is not a direct VAT customer. Nvidia demand pulls foundry and memory capex, which pulls tool demand, which pulls VAT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chip definition is intentionally simple: a chip is a silicon device with billions of microscopic switches. The investor does not need a physics lecture; they need to know which chip types create equipment demand.
Logic is CPUs, GPUs and AI accelerators. Memory includes DRAM, HBM and NAND. HBM matters because AI accelerators need huge bandwidth, so memory capex has become a central AI bottleneck.
The buyer box is the economic point: fabless demand is important, but the purchasing decision sits with foundries, IDMs and equipment OEMs.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technology education slide. Semiconductor manufacturing is repeated many times: add material, print a pattern, remove material, measure, clean and repeat.
The heatmap is deliberately not uniform. VAT matters most in vacuum-intensive process chambers, particularly deposition and dry etch. Lithography matters in the semiconductor ecosystem, but VAT's role there should not be overstated without process-specific evidence.
Transition: once the audience knows where VAT sits, the next question is why a valve can be a moat rather than a commodity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first glance, a valve sounds like a weak investment thesis. The economic point is that the component is small in the bill of materials, but failure is very expensive because it can hurt tool uptime or wafer yield.
VAT products control pressure, isolate chambers, transfer wafers and enable the clean vacuum environment in which deposition and etch occur.
The qualification path is what matters. Once a valve is specified into a chamber and qualified for particles, pressure control and reliability, changing supplier saves little but creates meaningful process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cyclical from structural. WFE is cyclical, but the forecast backdrop is currently favourable because AI is pulling leading-edge logic, DRAM/HBM and advanced capacity additions.
The key VAT equation is WFE multiplied by vacuum intensity, market share and content per tool, plus service from the installed base. The variant perception will come from the middle terms: vacuum intensity and content per tool.
Transition: if the market is attractive, the next question is whether VAT captures the economics or whether OEMs and customers capture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moat is not that a valve is physically impossible to manufacture. The moat is qualification and process risk. VAT is involved early, wins the specification, and then benefits for years when the tool ramps.
Scale reinforces the loop. Large semiconductor customers need a supplier that can support rapid ramps across Switzerland, Malaysia and service locations close to fabs.
The right-hand bridge connects this structural moat to the current stock debate. The orders and backlog are already reported; the question is whether capacity can convert them into revenue without quality or margin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pitch slide. A good business is not enough; the question is what is not priced in.
The first variant view is structural: advanced logic and HBM can raise vacuum intensity faster than WFE. The second is near term: orders and backlog have already accelerated, and the capacity ramp creates a visible conversion path. The third is margin: costs are already in the base, so utilisation and service can create operating leverage if execution is clean.
End with the thesis-breakers. This avoids sounding promotional and frames the debate in observable signposts.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valuation slide should not hide the premium. VAT is not cheap on near-term earnings. The argument is that FY28 earnings are under-modeled if backlog converts and if vacuum intensity continues to compound.
The competitive matrix avoids treating every vacuum-adjacent company as an identical competitor. Edwards is more pumps and abatement, MKS is broader instruments and subsystems, and Horiba is more gas and process analytics. VAT is the purest high-vacuum valve franchise.
The CHF800 bridge is explicit: CHF1.75 billion of FY28 revenue, 35 percent EBITDA margin, CHF610 million EBITDA, and a 40x FY28 EV/EBITDA multiple imply roughly CHF800 per share after net debt. The multiple is high, but the date is FY28 and the thesis requires visible earnings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5-1.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chart" Target="/ppt/charts/chart5.xml"/><Relationship Id="rId3" Type="http://schemas.openxmlformats.org/officeDocument/2006/relationships/chart" Target="/ppt/charts/chart6.xml"/><Relationship Id="rId1" Type="http://schemas.openxmlformats.org/officeDocument/2006/relationships/image" Target="../media/image-19-1.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nt/data/ab08a03e-4af6-4181-9828-46f44d67b543.png">    </p:cNvPr>
          <p:cNvPicPr>
            <a:picLocks noChangeAspect="1"/>
          </p:cNvPicPr>
          <p:nvPr/>
        </p:nvPicPr>
        <p:blipFill>
          <a:blip r:embed="rId1"/>
          <a:stretch>
            <a:fillRect/>
          </a:stretch>
        </p:blipFill>
        <p:spPr>
          <a:xfrm>
            <a:off x="9802368" y="100584"/>
            <a:ext cx="1965960" cy="457200"/>
          </a:xfrm>
          <a:prstGeom prst="rect">
            <a:avLst/>
          </a:prstGeom>
        </p:spPr>
      </p:pic>
      <p:sp>
        <p:nvSpPr>
          <p:cNvPr id="3" name="Text 0"/>
          <p:cNvSpPr/>
          <p:nvPr/>
        </p:nvSpPr>
        <p:spPr>
          <a:xfrm>
            <a:off x="502920" y="676656"/>
            <a:ext cx="8503920" cy="713232"/>
          </a:xfrm>
          <a:prstGeom prst="rect">
            <a:avLst/>
          </a:prstGeom>
          <a:noFill/>
          <a:ln/>
        </p:spPr>
        <p:txBody>
          <a:bodyPr wrap="square" lIns="635" tIns="635" rIns="635" bIns="635" rtlCol="0" anchor="t">
            <a:normAutofit/>
          </a:bodyPr>
          <a:lstStyle/>
          <a:p>
            <a:pPr algn="l" indent="0" marL="0">
              <a:buNone/>
            </a:pPr>
            <a:r>
              <a:rPr lang="en-US" sz="2400" b="1" dirty="0">
                <a:solidFill>
                  <a:srgbClr val="1F2933"/>
                </a:solidFill>
              </a:rPr>
              <a:t>VAT is the semiconductor industry's vacuum-control leader - accelerating orders create the next earnings inflection</a:t>
            </a:r>
            <a:endParaRPr lang="en-US" sz="2400" dirty="0"/>
          </a:p>
        </p:txBody>
      </p:sp>
      <p:sp>
        <p:nvSpPr>
          <p:cNvPr id="4" name="Text 1"/>
          <p:cNvSpPr/>
          <p:nvPr/>
        </p:nvSpPr>
        <p:spPr>
          <a:xfrm>
            <a:off x="530352" y="1426464"/>
            <a:ext cx="3657600" cy="256032"/>
          </a:xfrm>
          <a:prstGeom prst="rect">
            <a:avLst/>
          </a:prstGeom>
          <a:noFill/>
          <a:ln/>
        </p:spPr>
        <p:txBody>
          <a:bodyPr wrap="square" lIns="635" tIns="635" rIns="635" bIns="635" rtlCol="0" anchor="t">
            <a:normAutofit/>
          </a:bodyPr>
          <a:lstStyle/>
          <a:p>
            <a:pPr algn="l" indent="0" marL="0">
              <a:buNone/>
            </a:pPr>
            <a:r>
              <a:rPr lang="en-US" sz="960" b="1" dirty="0">
                <a:solidFill>
                  <a:srgbClr val="1B9BDA"/>
                </a:solidFill>
              </a:rPr>
              <a:t>BUY | VAT Group AG (SIX: VACN)</a:t>
            </a:r>
            <a:endParaRPr lang="en-US" sz="960" dirty="0"/>
          </a:p>
        </p:txBody>
      </p:sp>
      <p:sp>
        <p:nvSpPr>
          <p:cNvPr id="5" name="Shape 2"/>
          <p:cNvSpPr/>
          <p:nvPr/>
        </p:nvSpPr>
        <p:spPr>
          <a:xfrm>
            <a:off x="731520" y="2084832"/>
            <a:ext cx="3703320" cy="2423160"/>
          </a:xfrm>
          <a:prstGeom prst="rect">
            <a:avLst/>
          </a:prstGeom>
          <a:solidFill>
            <a:srgbClr val="F4F7FA"/>
          </a:solidFill>
          <a:ln w="12700">
            <a:solidFill>
              <a:srgbClr val="D7E0E8"/>
            </a:solidFill>
            <a:prstDash val="solid"/>
          </a:ln>
        </p:spPr>
      </p:sp>
      <p:sp>
        <p:nvSpPr>
          <p:cNvPr id="6" name="Shape 3"/>
          <p:cNvSpPr/>
          <p:nvPr/>
        </p:nvSpPr>
        <p:spPr>
          <a:xfrm>
            <a:off x="1078992" y="2441448"/>
            <a:ext cx="932688" cy="1051560"/>
          </a:xfrm>
          <a:prstGeom prst="roundRect">
            <a:avLst>
              <a:gd name="adj" fmla="val 4902"/>
            </a:avLst>
          </a:prstGeom>
          <a:solidFill>
            <a:srgbClr val="FFFFFF"/>
          </a:solidFill>
          <a:ln w="15240">
            <a:solidFill>
              <a:srgbClr val="9FB0BF"/>
            </a:solidFill>
            <a:prstDash val="solid"/>
          </a:ln>
        </p:spPr>
      </p:sp>
      <p:sp>
        <p:nvSpPr>
          <p:cNvPr id="7" name="Shape 4"/>
          <p:cNvSpPr/>
          <p:nvPr/>
        </p:nvSpPr>
        <p:spPr>
          <a:xfrm>
            <a:off x="2240280" y="2441448"/>
            <a:ext cx="932688" cy="1051560"/>
          </a:xfrm>
          <a:prstGeom prst="roundRect">
            <a:avLst>
              <a:gd name="adj" fmla="val 4902"/>
            </a:avLst>
          </a:prstGeom>
          <a:solidFill>
            <a:srgbClr val="DCE6EE"/>
          </a:solidFill>
          <a:ln w="15240">
            <a:solidFill>
              <a:srgbClr val="9FB0BF"/>
            </a:solidFill>
            <a:prstDash val="solid"/>
          </a:ln>
        </p:spPr>
      </p:sp>
      <p:sp>
        <p:nvSpPr>
          <p:cNvPr id="8" name="Shape 5"/>
          <p:cNvSpPr/>
          <p:nvPr/>
        </p:nvSpPr>
        <p:spPr>
          <a:xfrm>
            <a:off x="3401568" y="2441448"/>
            <a:ext cx="749808" cy="1051560"/>
          </a:xfrm>
          <a:prstGeom prst="roundRect">
            <a:avLst>
              <a:gd name="adj" fmla="val 6098"/>
            </a:avLst>
          </a:prstGeom>
          <a:solidFill>
            <a:srgbClr val="FFFFFF"/>
          </a:solidFill>
          <a:ln w="15240">
            <a:solidFill>
              <a:srgbClr val="9FB0BF"/>
            </a:solidFill>
            <a:prstDash val="solid"/>
          </a:ln>
        </p:spPr>
      </p:sp>
      <p:sp>
        <p:nvSpPr>
          <p:cNvPr id="9" name="Shape 6"/>
          <p:cNvSpPr/>
          <p:nvPr/>
        </p:nvSpPr>
        <p:spPr>
          <a:xfrm>
            <a:off x="2240280" y="3657600"/>
            <a:ext cx="932688" cy="384048"/>
          </a:xfrm>
          <a:prstGeom prst="rect">
            <a:avLst/>
          </a:prstGeom>
          <a:solidFill>
            <a:srgbClr val="1F2933"/>
          </a:solidFill>
          <a:ln w="12700">
            <a:solidFill>
              <a:srgbClr val="1F2933"/>
            </a:solidFill>
            <a:prstDash val="solid"/>
          </a:ln>
        </p:spPr>
      </p:sp>
      <p:sp>
        <p:nvSpPr>
          <p:cNvPr id="10" name="Text 7"/>
          <p:cNvSpPr/>
          <p:nvPr/>
        </p:nvSpPr>
        <p:spPr>
          <a:xfrm>
            <a:off x="914400" y="4160520"/>
            <a:ext cx="3291840" cy="320040"/>
          </a:xfrm>
          <a:prstGeom prst="rect">
            <a:avLst/>
          </a:prstGeom>
          <a:noFill/>
          <a:ln/>
        </p:spPr>
        <p:txBody>
          <a:bodyPr wrap="square" lIns="635" tIns="635" rIns="635" bIns="635" rtlCol="0" anchor="t">
            <a:normAutofit/>
          </a:bodyPr>
          <a:lstStyle/>
          <a:p>
            <a:pPr algn="ctr" indent="0" marL="0">
              <a:buNone/>
            </a:pPr>
            <a:r>
              <a:rPr lang="en-US" sz="780" dirty="0">
                <a:solidFill>
                  <a:srgbClr val="5E6978"/>
                </a:solidFill>
              </a:rPr>
              <a:t>Mission-critical vacuum valves</a:t>
            </a:r>
            <a:endParaRPr lang="en-US" sz="780" dirty="0"/>
          </a:p>
          <a:p>
            <a:pPr algn="ctr" indent="0" marL="0">
              <a:buNone/>
            </a:pPr>
            <a:r>
              <a:rPr lang="en-US" sz="780" dirty="0">
                <a:solidFill>
                  <a:srgbClr val="5E6978"/>
                </a:solidFill>
              </a:rPr>
              <a:t>inside deposition, etch and other process tools</a:t>
            </a:r>
            <a:endParaRPr lang="en-US" sz="780" dirty="0"/>
          </a:p>
        </p:txBody>
      </p:sp>
      <p:sp>
        <p:nvSpPr>
          <p:cNvPr id="11" name="Shape 8"/>
          <p:cNvSpPr/>
          <p:nvPr/>
        </p:nvSpPr>
        <p:spPr>
          <a:xfrm>
            <a:off x="4736592" y="2011680"/>
            <a:ext cx="1417320" cy="1051560"/>
          </a:xfrm>
          <a:prstGeom prst="roundRect">
            <a:avLst>
              <a:gd name="adj" fmla="val 5217"/>
            </a:avLst>
          </a:prstGeom>
          <a:solidFill>
            <a:srgbClr val="EAF6FC"/>
          </a:solidFill>
          <a:ln w="8890">
            <a:solidFill>
              <a:srgbClr val="B7DDEF"/>
            </a:solidFill>
            <a:prstDash val="solid"/>
          </a:ln>
        </p:spPr>
      </p:sp>
      <p:sp>
        <p:nvSpPr>
          <p:cNvPr id="12" name="Text 9"/>
          <p:cNvSpPr/>
          <p:nvPr/>
        </p:nvSpPr>
        <p:spPr>
          <a:xfrm>
            <a:off x="4846320" y="2103120"/>
            <a:ext cx="119786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Current share price</a:t>
            </a:r>
            <a:endParaRPr lang="en-US" sz="650" dirty="0"/>
          </a:p>
        </p:txBody>
      </p:sp>
      <p:sp>
        <p:nvSpPr>
          <p:cNvPr id="13" name="Text 10"/>
          <p:cNvSpPr/>
          <p:nvPr/>
        </p:nvSpPr>
        <p:spPr>
          <a:xfrm>
            <a:off x="4846320" y="2331720"/>
            <a:ext cx="119786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CHF 604</a:t>
            </a:r>
            <a:endParaRPr lang="en-US" sz="2000" dirty="0"/>
          </a:p>
        </p:txBody>
      </p:sp>
      <p:sp>
        <p:nvSpPr>
          <p:cNvPr id="14" name="Text 11"/>
          <p:cNvSpPr/>
          <p:nvPr/>
        </p:nvSpPr>
        <p:spPr>
          <a:xfrm>
            <a:off x="4846320" y="2724912"/>
            <a:ext cx="119786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Jul 28, 2026</a:t>
            </a:r>
            <a:endParaRPr lang="en-US" sz="640" dirty="0"/>
          </a:p>
        </p:txBody>
      </p:sp>
      <p:sp>
        <p:nvSpPr>
          <p:cNvPr id="15" name="Shape 12"/>
          <p:cNvSpPr/>
          <p:nvPr/>
        </p:nvSpPr>
        <p:spPr>
          <a:xfrm>
            <a:off x="6309360" y="2011680"/>
            <a:ext cx="1417320" cy="1051560"/>
          </a:xfrm>
          <a:prstGeom prst="roundRect">
            <a:avLst>
              <a:gd name="adj" fmla="val 5217"/>
            </a:avLst>
          </a:prstGeom>
          <a:solidFill>
            <a:srgbClr val="EAF6FC"/>
          </a:solidFill>
          <a:ln w="8890">
            <a:solidFill>
              <a:srgbClr val="B7DDEF"/>
            </a:solidFill>
            <a:prstDash val="solid"/>
          </a:ln>
        </p:spPr>
      </p:sp>
      <p:sp>
        <p:nvSpPr>
          <p:cNvPr id="16" name="Text 13"/>
          <p:cNvSpPr/>
          <p:nvPr/>
        </p:nvSpPr>
        <p:spPr>
          <a:xfrm>
            <a:off x="6419088" y="2103120"/>
            <a:ext cx="119786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Target price</a:t>
            </a:r>
            <a:endParaRPr lang="en-US" sz="650" dirty="0"/>
          </a:p>
        </p:txBody>
      </p:sp>
      <p:sp>
        <p:nvSpPr>
          <p:cNvPr id="17" name="Text 14"/>
          <p:cNvSpPr/>
          <p:nvPr/>
        </p:nvSpPr>
        <p:spPr>
          <a:xfrm>
            <a:off x="6419088" y="2331720"/>
            <a:ext cx="119786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CHF 800</a:t>
            </a:r>
            <a:endParaRPr lang="en-US" sz="2000" dirty="0"/>
          </a:p>
        </p:txBody>
      </p:sp>
      <p:sp>
        <p:nvSpPr>
          <p:cNvPr id="18" name="Text 15"/>
          <p:cNvSpPr/>
          <p:nvPr/>
        </p:nvSpPr>
        <p:spPr>
          <a:xfrm>
            <a:off x="6419088" y="2724912"/>
            <a:ext cx="119786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FY28 EV/EBITDA</a:t>
            </a:r>
            <a:endParaRPr lang="en-US" sz="640" dirty="0"/>
          </a:p>
        </p:txBody>
      </p:sp>
      <p:sp>
        <p:nvSpPr>
          <p:cNvPr id="19" name="Shape 16"/>
          <p:cNvSpPr/>
          <p:nvPr/>
        </p:nvSpPr>
        <p:spPr>
          <a:xfrm>
            <a:off x="7882128" y="2011680"/>
            <a:ext cx="1417320" cy="1051560"/>
          </a:xfrm>
          <a:prstGeom prst="roundRect">
            <a:avLst>
              <a:gd name="adj" fmla="val 5217"/>
            </a:avLst>
          </a:prstGeom>
          <a:solidFill>
            <a:srgbClr val="EAF6FC"/>
          </a:solidFill>
          <a:ln w="8890">
            <a:solidFill>
              <a:srgbClr val="B7DDEF"/>
            </a:solidFill>
            <a:prstDash val="solid"/>
          </a:ln>
        </p:spPr>
      </p:sp>
      <p:sp>
        <p:nvSpPr>
          <p:cNvPr id="20" name="Text 17"/>
          <p:cNvSpPr/>
          <p:nvPr/>
        </p:nvSpPr>
        <p:spPr>
          <a:xfrm>
            <a:off x="7991856" y="2103120"/>
            <a:ext cx="119786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Implied upside</a:t>
            </a:r>
            <a:endParaRPr lang="en-US" sz="650" dirty="0"/>
          </a:p>
        </p:txBody>
      </p:sp>
      <p:sp>
        <p:nvSpPr>
          <p:cNvPr id="21" name="Text 18"/>
          <p:cNvSpPr/>
          <p:nvPr/>
        </p:nvSpPr>
        <p:spPr>
          <a:xfrm>
            <a:off x="7991856" y="2331720"/>
            <a:ext cx="119786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~33%</a:t>
            </a:r>
            <a:endParaRPr lang="en-US" sz="2000" dirty="0"/>
          </a:p>
        </p:txBody>
      </p:sp>
      <p:sp>
        <p:nvSpPr>
          <p:cNvPr id="22" name="Text 19"/>
          <p:cNvSpPr/>
          <p:nvPr/>
        </p:nvSpPr>
        <p:spPr>
          <a:xfrm>
            <a:off x="7991856" y="2724912"/>
            <a:ext cx="119786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vs. CHF604</a:t>
            </a:r>
            <a:endParaRPr lang="en-US" sz="640" dirty="0"/>
          </a:p>
        </p:txBody>
      </p:sp>
      <p:sp>
        <p:nvSpPr>
          <p:cNvPr id="23" name="Shape 20"/>
          <p:cNvSpPr/>
          <p:nvPr/>
        </p:nvSpPr>
        <p:spPr>
          <a:xfrm>
            <a:off x="9454896" y="2011680"/>
            <a:ext cx="1417320" cy="1051560"/>
          </a:xfrm>
          <a:prstGeom prst="roundRect">
            <a:avLst>
              <a:gd name="adj" fmla="val 5217"/>
            </a:avLst>
          </a:prstGeom>
          <a:solidFill>
            <a:srgbClr val="EAF6FC"/>
          </a:solidFill>
          <a:ln w="8890">
            <a:solidFill>
              <a:srgbClr val="B7DDEF"/>
            </a:solidFill>
            <a:prstDash val="solid"/>
          </a:ln>
        </p:spPr>
      </p:sp>
      <p:sp>
        <p:nvSpPr>
          <p:cNvPr id="24" name="Text 21"/>
          <p:cNvSpPr/>
          <p:nvPr/>
        </p:nvSpPr>
        <p:spPr>
          <a:xfrm>
            <a:off x="9564624" y="2103120"/>
            <a:ext cx="119786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Market cap</a:t>
            </a:r>
            <a:endParaRPr lang="en-US" sz="650" dirty="0"/>
          </a:p>
        </p:txBody>
      </p:sp>
      <p:sp>
        <p:nvSpPr>
          <p:cNvPr id="25" name="Text 22"/>
          <p:cNvSpPr/>
          <p:nvPr/>
        </p:nvSpPr>
        <p:spPr>
          <a:xfrm>
            <a:off x="9564624" y="2331720"/>
            <a:ext cx="119786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CHF 18.1bn</a:t>
            </a:r>
            <a:endParaRPr lang="en-US" sz="2000" dirty="0"/>
          </a:p>
        </p:txBody>
      </p:sp>
      <p:sp>
        <p:nvSpPr>
          <p:cNvPr id="26" name="Text 23"/>
          <p:cNvSpPr/>
          <p:nvPr/>
        </p:nvSpPr>
        <p:spPr>
          <a:xfrm>
            <a:off x="9564624" y="2724912"/>
            <a:ext cx="119786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29.97m shares</a:t>
            </a:r>
            <a:endParaRPr lang="en-US" sz="640" dirty="0"/>
          </a:p>
        </p:txBody>
      </p:sp>
      <p:sp>
        <p:nvSpPr>
          <p:cNvPr id="27" name="Shape 24"/>
          <p:cNvSpPr/>
          <p:nvPr/>
        </p:nvSpPr>
        <p:spPr>
          <a:xfrm>
            <a:off x="4754880" y="3429000"/>
            <a:ext cx="6108192" cy="1417320"/>
          </a:xfrm>
          <a:prstGeom prst="roundRect">
            <a:avLst>
              <a:gd name="adj" fmla="val 3871"/>
            </a:avLst>
          </a:prstGeom>
          <a:solidFill>
            <a:srgbClr val="FFFFFF"/>
          </a:solidFill>
          <a:ln w="8890">
            <a:solidFill>
              <a:srgbClr val="D7E0E8"/>
            </a:solidFill>
            <a:prstDash val="solid"/>
          </a:ln>
        </p:spPr>
      </p:sp>
      <p:sp>
        <p:nvSpPr>
          <p:cNvPr id="28" name="Text 25"/>
          <p:cNvSpPr/>
          <p:nvPr/>
        </p:nvSpPr>
        <p:spPr>
          <a:xfrm>
            <a:off x="4901184" y="3584448"/>
            <a:ext cx="2651760" cy="201168"/>
          </a:xfrm>
          <a:prstGeom prst="rect">
            <a:avLst/>
          </a:prstGeom>
          <a:noFill/>
          <a:ln/>
        </p:spPr>
        <p:txBody>
          <a:bodyPr wrap="square" lIns="635" tIns="635" rIns="635" bIns="635" rtlCol="0" anchor="t">
            <a:normAutofit/>
          </a:bodyPr>
          <a:lstStyle/>
          <a:p>
            <a:pPr algn="l" indent="0" marL="0">
              <a:buNone/>
            </a:pPr>
            <a:r>
              <a:rPr lang="en-US" sz="750" b="1" dirty="0">
                <a:solidFill>
                  <a:srgbClr val="1F2933"/>
                </a:solidFill>
              </a:rPr>
              <a:t>FY23-FY25 financial strip (CHF m)</a:t>
            </a:r>
            <a:endParaRPr lang="en-US" sz="750" dirty="0"/>
          </a:p>
        </p:txBody>
      </p:sp>
      <p:sp>
        <p:nvSpPr>
          <p:cNvPr id="29" name="Text 26"/>
          <p:cNvSpPr/>
          <p:nvPr/>
        </p:nvSpPr>
        <p:spPr>
          <a:xfrm>
            <a:off x="4983480" y="3886200"/>
            <a:ext cx="1097280" cy="201168"/>
          </a:xfrm>
          <a:prstGeom prst="rect">
            <a:avLst/>
          </a:prstGeom>
          <a:noFill/>
          <a:ln/>
        </p:spPr>
        <p:txBody>
          <a:bodyPr wrap="square" lIns="635" tIns="635" rIns="635" bIns="635" rtlCol="0" anchor="t">
            <a:normAutofit/>
          </a:bodyPr>
          <a:lstStyle/>
          <a:p>
            <a:pPr algn="l" indent="0" marL="0">
              <a:buNone/>
            </a:pPr>
            <a:endParaRPr lang="en-US" sz="650" dirty="0"/>
          </a:p>
        </p:txBody>
      </p:sp>
      <p:sp>
        <p:nvSpPr>
          <p:cNvPr id="30" name="Text 27"/>
          <p:cNvSpPr/>
          <p:nvPr/>
        </p:nvSpPr>
        <p:spPr>
          <a:xfrm>
            <a:off x="6446520" y="3886200"/>
            <a:ext cx="1097280" cy="201168"/>
          </a:xfrm>
          <a:prstGeom prst="rect">
            <a:avLst/>
          </a:prstGeom>
          <a:noFill/>
          <a:ln/>
        </p:spPr>
        <p:txBody>
          <a:bodyPr wrap="square" lIns="635" tIns="635" rIns="635" bIns="635" rtlCol="0" anchor="t">
            <a:normAutofit/>
          </a:bodyPr>
          <a:lstStyle/>
          <a:p>
            <a:pPr algn="r" indent="0" marL="0">
              <a:buNone/>
            </a:pPr>
            <a:r>
              <a:rPr lang="en-US" sz="650" b="1" dirty="0">
                <a:solidFill>
                  <a:srgbClr val="1F2933"/>
                </a:solidFill>
              </a:rPr>
              <a:t>FY23</a:t>
            </a:r>
            <a:endParaRPr lang="en-US" sz="650" dirty="0"/>
          </a:p>
        </p:txBody>
      </p:sp>
      <p:sp>
        <p:nvSpPr>
          <p:cNvPr id="31" name="Text 28"/>
          <p:cNvSpPr/>
          <p:nvPr/>
        </p:nvSpPr>
        <p:spPr>
          <a:xfrm>
            <a:off x="7818120" y="3886200"/>
            <a:ext cx="1097280" cy="201168"/>
          </a:xfrm>
          <a:prstGeom prst="rect">
            <a:avLst/>
          </a:prstGeom>
          <a:noFill/>
          <a:ln/>
        </p:spPr>
        <p:txBody>
          <a:bodyPr wrap="square" lIns="635" tIns="635" rIns="635" bIns="635" rtlCol="0" anchor="t">
            <a:normAutofit/>
          </a:bodyPr>
          <a:lstStyle/>
          <a:p>
            <a:pPr algn="r" indent="0" marL="0">
              <a:buNone/>
            </a:pPr>
            <a:r>
              <a:rPr lang="en-US" sz="650" b="1" dirty="0">
                <a:solidFill>
                  <a:srgbClr val="1F2933"/>
                </a:solidFill>
              </a:rPr>
              <a:t>FY24</a:t>
            </a:r>
            <a:endParaRPr lang="en-US" sz="650" dirty="0"/>
          </a:p>
        </p:txBody>
      </p:sp>
      <p:sp>
        <p:nvSpPr>
          <p:cNvPr id="32" name="Text 29"/>
          <p:cNvSpPr/>
          <p:nvPr/>
        </p:nvSpPr>
        <p:spPr>
          <a:xfrm>
            <a:off x="9189720" y="3886200"/>
            <a:ext cx="1097280" cy="201168"/>
          </a:xfrm>
          <a:prstGeom prst="rect">
            <a:avLst/>
          </a:prstGeom>
          <a:noFill/>
          <a:ln/>
        </p:spPr>
        <p:txBody>
          <a:bodyPr wrap="square" lIns="635" tIns="635" rIns="635" bIns="635" rtlCol="0" anchor="t">
            <a:normAutofit/>
          </a:bodyPr>
          <a:lstStyle/>
          <a:p>
            <a:pPr algn="r" indent="0" marL="0">
              <a:buNone/>
            </a:pPr>
            <a:r>
              <a:rPr lang="en-US" sz="650" b="1" dirty="0">
                <a:solidFill>
                  <a:srgbClr val="1F2933"/>
                </a:solidFill>
              </a:rPr>
              <a:t>FY25</a:t>
            </a:r>
            <a:endParaRPr lang="en-US" sz="650" dirty="0"/>
          </a:p>
        </p:txBody>
      </p:sp>
      <p:sp>
        <p:nvSpPr>
          <p:cNvPr id="33" name="Text 30"/>
          <p:cNvSpPr/>
          <p:nvPr/>
        </p:nvSpPr>
        <p:spPr>
          <a:xfrm>
            <a:off x="4983480" y="4133088"/>
            <a:ext cx="1097280" cy="201168"/>
          </a:xfrm>
          <a:prstGeom prst="rect">
            <a:avLst/>
          </a:prstGeom>
          <a:noFill/>
          <a:ln/>
        </p:spPr>
        <p:txBody>
          <a:bodyPr wrap="square" lIns="635" tIns="635" rIns="635" bIns="635" rtlCol="0" anchor="t">
            <a:normAutofit/>
          </a:bodyPr>
          <a:lstStyle/>
          <a:p>
            <a:pPr algn="l" indent="0" marL="0">
              <a:buNone/>
            </a:pPr>
            <a:r>
              <a:rPr lang="en-US" sz="720" b="1" dirty="0">
                <a:solidFill>
                  <a:srgbClr val="5E6978"/>
                </a:solidFill>
              </a:rPr>
              <a:t>Sales</a:t>
            </a:r>
            <a:endParaRPr lang="en-US" sz="720" dirty="0"/>
          </a:p>
        </p:txBody>
      </p:sp>
      <p:sp>
        <p:nvSpPr>
          <p:cNvPr id="34" name="Text 31"/>
          <p:cNvSpPr/>
          <p:nvPr/>
        </p:nvSpPr>
        <p:spPr>
          <a:xfrm>
            <a:off x="6446520" y="4133088"/>
            <a:ext cx="1097280" cy="201168"/>
          </a:xfrm>
          <a:prstGeom prst="rect">
            <a:avLst/>
          </a:prstGeom>
          <a:noFill/>
          <a:ln/>
        </p:spPr>
        <p:txBody>
          <a:bodyPr wrap="square" lIns="635" tIns="635" rIns="635" bIns="635" rtlCol="0" anchor="t">
            <a:normAutofit/>
          </a:bodyPr>
          <a:lstStyle/>
          <a:p>
            <a:pPr algn="r" indent="0" marL="0">
              <a:buNone/>
            </a:pPr>
            <a:r>
              <a:rPr lang="en-US" sz="720" dirty="0">
                <a:solidFill>
                  <a:srgbClr val="1F2933"/>
                </a:solidFill>
              </a:rPr>
              <a:t>885</a:t>
            </a:r>
            <a:endParaRPr lang="en-US" sz="720" dirty="0"/>
          </a:p>
        </p:txBody>
      </p:sp>
      <p:sp>
        <p:nvSpPr>
          <p:cNvPr id="35" name="Text 32"/>
          <p:cNvSpPr/>
          <p:nvPr/>
        </p:nvSpPr>
        <p:spPr>
          <a:xfrm>
            <a:off x="7818120" y="4133088"/>
            <a:ext cx="1097280" cy="201168"/>
          </a:xfrm>
          <a:prstGeom prst="rect">
            <a:avLst/>
          </a:prstGeom>
          <a:noFill/>
          <a:ln/>
        </p:spPr>
        <p:txBody>
          <a:bodyPr wrap="square" lIns="635" tIns="635" rIns="635" bIns="635" rtlCol="0" anchor="t">
            <a:normAutofit/>
          </a:bodyPr>
          <a:lstStyle/>
          <a:p>
            <a:pPr algn="r" indent="0" marL="0">
              <a:buNone/>
            </a:pPr>
            <a:r>
              <a:rPr lang="en-US" sz="720" dirty="0">
                <a:solidFill>
                  <a:srgbClr val="1F2933"/>
                </a:solidFill>
              </a:rPr>
              <a:t>942</a:t>
            </a:r>
            <a:endParaRPr lang="en-US" sz="720" dirty="0"/>
          </a:p>
        </p:txBody>
      </p:sp>
      <p:sp>
        <p:nvSpPr>
          <p:cNvPr id="36" name="Text 33"/>
          <p:cNvSpPr/>
          <p:nvPr/>
        </p:nvSpPr>
        <p:spPr>
          <a:xfrm>
            <a:off x="9189720" y="4133088"/>
            <a:ext cx="1097280" cy="201168"/>
          </a:xfrm>
          <a:prstGeom prst="rect">
            <a:avLst/>
          </a:prstGeom>
          <a:noFill/>
          <a:ln/>
        </p:spPr>
        <p:txBody>
          <a:bodyPr wrap="square" lIns="635" tIns="635" rIns="635" bIns="635" rtlCol="0" anchor="t">
            <a:normAutofit/>
          </a:bodyPr>
          <a:lstStyle/>
          <a:p>
            <a:pPr algn="r" indent="0" marL="0">
              <a:buNone/>
            </a:pPr>
            <a:r>
              <a:rPr lang="en-US" sz="720" dirty="0">
                <a:solidFill>
                  <a:srgbClr val="1F2933"/>
                </a:solidFill>
              </a:rPr>
              <a:t>1,074</a:t>
            </a:r>
            <a:endParaRPr lang="en-US" sz="720" dirty="0"/>
          </a:p>
        </p:txBody>
      </p:sp>
      <p:sp>
        <p:nvSpPr>
          <p:cNvPr id="37" name="Text 34"/>
          <p:cNvSpPr/>
          <p:nvPr/>
        </p:nvSpPr>
        <p:spPr>
          <a:xfrm>
            <a:off x="4983480" y="4379976"/>
            <a:ext cx="1097280" cy="201168"/>
          </a:xfrm>
          <a:prstGeom prst="rect">
            <a:avLst/>
          </a:prstGeom>
          <a:noFill/>
          <a:ln/>
        </p:spPr>
        <p:txBody>
          <a:bodyPr wrap="square" lIns="635" tIns="635" rIns="635" bIns="635" rtlCol="0" anchor="t">
            <a:normAutofit/>
          </a:bodyPr>
          <a:lstStyle/>
          <a:p>
            <a:pPr algn="l" indent="0" marL="0">
              <a:buNone/>
            </a:pPr>
            <a:r>
              <a:rPr lang="en-US" sz="720" b="1" dirty="0">
                <a:solidFill>
                  <a:srgbClr val="5E6978"/>
                </a:solidFill>
              </a:rPr>
              <a:t>EBITDA</a:t>
            </a:r>
            <a:endParaRPr lang="en-US" sz="720" dirty="0"/>
          </a:p>
        </p:txBody>
      </p:sp>
      <p:sp>
        <p:nvSpPr>
          <p:cNvPr id="38" name="Text 35"/>
          <p:cNvSpPr/>
          <p:nvPr/>
        </p:nvSpPr>
        <p:spPr>
          <a:xfrm>
            <a:off x="6446520" y="4379976"/>
            <a:ext cx="1097280" cy="201168"/>
          </a:xfrm>
          <a:prstGeom prst="rect">
            <a:avLst/>
          </a:prstGeom>
          <a:noFill/>
          <a:ln/>
        </p:spPr>
        <p:txBody>
          <a:bodyPr wrap="square" lIns="635" tIns="635" rIns="635" bIns="635" rtlCol="0" anchor="t">
            <a:normAutofit/>
          </a:bodyPr>
          <a:lstStyle/>
          <a:p>
            <a:pPr algn="r" indent="0" marL="0">
              <a:buNone/>
            </a:pPr>
            <a:r>
              <a:rPr lang="en-US" sz="720" dirty="0">
                <a:solidFill>
                  <a:srgbClr val="1F2933"/>
                </a:solidFill>
              </a:rPr>
              <a:t>271</a:t>
            </a:r>
            <a:endParaRPr lang="en-US" sz="720" dirty="0"/>
          </a:p>
        </p:txBody>
      </p:sp>
      <p:sp>
        <p:nvSpPr>
          <p:cNvPr id="39" name="Text 36"/>
          <p:cNvSpPr/>
          <p:nvPr/>
        </p:nvSpPr>
        <p:spPr>
          <a:xfrm>
            <a:off x="7818120" y="4379976"/>
            <a:ext cx="1097280" cy="201168"/>
          </a:xfrm>
          <a:prstGeom prst="rect">
            <a:avLst/>
          </a:prstGeom>
          <a:noFill/>
          <a:ln/>
        </p:spPr>
        <p:txBody>
          <a:bodyPr wrap="square" lIns="635" tIns="635" rIns="635" bIns="635" rtlCol="0" anchor="t">
            <a:normAutofit/>
          </a:bodyPr>
          <a:lstStyle/>
          <a:p>
            <a:pPr algn="r" indent="0" marL="0">
              <a:buNone/>
            </a:pPr>
            <a:r>
              <a:rPr lang="en-US" sz="720" dirty="0">
                <a:solidFill>
                  <a:srgbClr val="1F2933"/>
                </a:solidFill>
              </a:rPr>
              <a:t>294</a:t>
            </a:r>
            <a:endParaRPr lang="en-US" sz="720" dirty="0"/>
          </a:p>
        </p:txBody>
      </p:sp>
      <p:sp>
        <p:nvSpPr>
          <p:cNvPr id="40" name="Text 37"/>
          <p:cNvSpPr/>
          <p:nvPr/>
        </p:nvSpPr>
        <p:spPr>
          <a:xfrm>
            <a:off x="9189720" y="4379976"/>
            <a:ext cx="1097280" cy="201168"/>
          </a:xfrm>
          <a:prstGeom prst="rect">
            <a:avLst/>
          </a:prstGeom>
          <a:noFill/>
          <a:ln/>
        </p:spPr>
        <p:txBody>
          <a:bodyPr wrap="square" lIns="635" tIns="635" rIns="635" bIns="635" rtlCol="0" anchor="t">
            <a:normAutofit/>
          </a:bodyPr>
          <a:lstStyle/>
          <a:p>
            <a:pPr algn="r" indent="0" marL="0">
              <a:buNone/>
            </a:pPr>
            <a:r>
              <a:rPr lang="en-US" sz="720" dirty="0">
                <a:solidFill>
                  <a:srgbClr val="1F2933"/>
                </a:solidFill>
              </a:rPr>
              <a:t>322</a:t>
            </a:r>
            <a:endParaRPr lang="en-US" sz="720" dirty="0"/>
          </a:p>
        </p:txBody>
      </p:sp>
      <p:sp>
        <p:nvSpPr>
          <p:cNvPr id="41" name="Text 38"/>
          <p:cNvSpPr/>
          <p:nvPr/>
        </p:nvSpPr>
        <p:spPr>
          <a:xfrm>
            <a:off x="4983480" y="4626864"/>
            <a:ext cx="1097280" cy="201168"/>
          </a:xfrm>
          <a:prstGeom prst="rect">
            <a:avLst/>
          </a:prstGeom>
          <a:noFill/>
          <a:ln/>
        </p:spPr>
        <p:txBody>
          <a:bodyPr wrap="square" lIns="635" tIns="635" rIns="635" bIns="635" rtlCol="0" anchor="t">
            <a:normAutofit/>
          </a:bodyPr>
          <a:lstStyle/>
          <a:p>
            <a:pPr algn="l" indent="0" marL="0">
              <a:buNone/>
            </a:pPr>
            <a:r>
              <a:rPr lang="en-US" sz="720" b="1" dirty="0">
                <a:solidFill>
                  <a:srgbClr val="5E6978"/>
                </a:solidFill>
              </a:rPr>
              <a:t>EBITDA margin</a:t>
            </a:r>
            <a:endParaRPr lang="en-US" sz="720" dirty="0"/>
          </a:p>
        </p:txBody>
      </p:sp>
      <p:sp>
        <p:nvSpPr>
          <p:cNvPr id="42" name="Text 39"/>
          <p:cNvSpPr/>
          <p:nvPr/>
        </p:nvSpPr>
        <p:spPr>
          <a:xfrm>
            <a:off x="6446520" y="4626864"/>
            <a:ext cx="1097280" cy="201168"/>
          </a:xfrm>
          <a:prstGeom prst="rect">
            <a:avLst/>
          </a:prstGeom>
          <a:noFill/>
          <a:ln/>
        </p:spPr>
        <p:txBody>
          <a:bodyPr wrap="square" lIns="635" tIns="635" rIns="635" bIns="635" rtlCol="0" anchor="t">
            <a:normAutofit/>
          </a:bodyPr>
          <a:lstStyle/>
          <a:p>
            <a:pPr algn="r" indent="0" marL="0">
              <a:buNone/>
            </a:pPr>
            <a:r>
              <a:rPr lang="en-US" sz="720" dirty="0">
                <a:solidFill>
                  <a:srgbClr val="1F2933"/>
                </a:solidFill>
              </a:rPr>
              <a:t>30.6%</a:t>
            </a:r>
            <a:endParaRPr lang="en-US" sz="720" dirty="0"/>
          </a:p>
        </p:txBody>
      </p:sp>
      <p:sp>
        <p:nvSpPr>
          <p:cNvPr id="43" name="Text 40"/>
          <p:cNvSpPr/>
          <p:nvPr/>
        </p:nvSpPr>
        <p:spPr>
          <a:xfrm>
            <a:off x="7818120" y="4626864"/>
            <a:ext cx="1097280" cy="201168"/>
          </a:xfrm>
          <a:prstGeom prst="rect">
            <a:avLst/>
          </a:prstGeom>
          <a:noFill/>
          <a:ln/>
        </p:spPr>
        <p:txBody>
          <a:bodyPr wrap="square" lIns="635" tIns="635" rIns="635" bIns="635" rtlCol="0" anchor="t">
            <a:normAutofit/>
          </a:bodyPr>
          <a:lstStyle/>
          <a:p>
            <a:pPr algn="r" indent="0" marL="0">
              <a:buNone/>
            </a:pPr>
            <a:r>
              <a:rPr lang="en-US" sz="720" dirty="0">
                <a:solidFill>
                  <a:srgbClr val="1F2933"/>
                </a:solidFill>
              </a:rPr>
              <a:t>31.2%</a:t>
            </a:r>
            <a:endParaRPr lang="en-US" sz="720" dirty="0"/>
          </a:p>
        </p:txBody>
      </p:sp>
      <p:sp>
        <p:nvSpPr>
          <p:cNvPr id="44" name="Text 41"/>
          <p:cNvSpPr/>
          <p:nvPr/>
        </p:nvSpPr>
        <p:spPr>
          <a:xfrm>
            <a:off x="9189720" y="4626864"/>
            <a:ext cx="1097280" cy="201168"/>
          </a:xfrm>
          <a:prstGeom prst="rect">
            <a:avLst/>
          </a:prstGeom>
          <a:noFill/>
          <a:ln/>
        </p:spPr>
        <p:txBody>
          <a:bodyPr wrap="square" lIns="635" tIns="635" rIns="635" bIns="635" rtlCol="0" anchor="t">
            <a:normAutofit/>
          </a:bodyPr>
          <a:lstStyle/>
          <a:p>
            <a:pPr algn="r" indent="0" marL="0">
              <a:buNone/>
            </a:pPr>
            <a:r>
              <a:rPr lang="en-US" sz="720" dirty="0">
                <a:solidFill>
                  <a:srgbClr val="1F2933"/>
                </a:solidFill>
              </a:rPr>
              <a:t>30.0%</a:t>
            </a:r>
            <a:endParaRPr lang="en-US" sz="720" dirty="0"/>
          </a:p>
        </p:txBody>
      </p:sp>
      <p:sp>
        <p:nvSpPr>
          <p:cNvPr id="45" name="Shape 42"/>
          <p:cNvSpPr/>
          <p:nvPr/>
        </p:nvSpPr>
        <p:spPr>
          <a:xfrm>
            <a:off x="4754880" y="5074920"/>
            <a:ext cx="6108192" cy="676656"/>
          </a:xfrm>
          <a:prstGeom prst="roundRect">
            <a:avLst>
              <a:gd name="adj" fmla="val 8108"/>
            </a:avLst>
          </a:prstGeom>
          <a:solidFill>
            <a:srgbClr val="F9FCFE"/>
          </a:solidFill>
          <a:ln w="8890">
            <a:solidFill>
              <a:srgbClr val="B7DDEF"/>
            </a:solidFill>
            <a:prstDash val="solid"/>
          </a:ln>
        </p:spPr>
      </p:sp>
      <p:sp>
        <p:nvSpPr>
          <p:cNvPr id="46" name="Text 43"/>
          <p:cNvSpPr/>
          <p:nvPr/>
        </p:nvSpPr>
        <p:spPr>
          <a:xfrm>
            <a:off x="4919472" y="5221224"/>
            <a:ext cx="5806440" cy="320040"/>
          </a:xfrm>
          <a:prstGeom prst="rect">
            <a:avLst/>
          </a:prstGeom>
          <a:noFill/>
          <a:ln/>
        </p:spPr>
        <p:txBody>
          <a:bodyPr wrap="square" lIns="635" tIns="635" rIns="635" bIns="635" rtlCol="0" anchor="t">
            <a:normAutofit/>
          </a:bodyPr>
          <a:lstStyle/>
          <a:p>
            <a:pPr algn="l" indent="0" marL="0">
              <a:buNone/>
            </a:pPr>
            <a:r>
              <a:rPr lang="en-US" sz="840" b="1" dirty="0">
                <a:solidFill>
                  <a:srgbClr val="1F2933"/>
                </a:solidFill>
              </a:rPr>
              <a:t>Reported H1 2026: order intake CHF856m (+75% YoY); backlog CHF648m (+121% YoY) while sales declined 8% - the setup is backlog conversion, not demand discovery.</a:t>
            </a:r>
            <a:endParaRPr lang="en-US" sz="840" dirty="0"/>
          </a:p>
        </p:txBody>
      </p:sp>
      <p:sp>
        <p:nvSpPr>
          <p:cNvPr id="47" name="Shape 44"/>
          <p:cNvSpPr/>
          <p:nvPr/>
        </p:nvSpPr>
        <p:spPr>
          <a:xfrm>
            <a:off x="411480" y="6428232"/>
            <a:ext cx="11384280" cy="0"/>
          </a:xfrm>
          <a:prstGeom prst="line">
            <a:avLst/>
          </a:prstGeom>
          <a:noFill/>
          <a:ln w="7620">
            <a:solidFill>
              <a:srgbClr val="D7E0E8"/>
            </a:solidFill>
            <a:prstDash val="solid"/>
          </a:ln>
        </p:spPr>
      </p:sp>
      <p:sp>
        <p:nvSpPr>
          <p:cNvPr id="48" name="Text 45"/>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VAT FY2023-FY2025 results; VAT H1 2026 release; StockAnalysis.com delayed price and market data, 28 Jul 2026; analyst estimates.</a:t>
            </a:r>
            <a:endParaRPr lang="en-US" sz="550" dirty="0"/>
          </a:p>
        </p:txBody>
      </p:sp>
      <p:sp>
        <p:nvSpPr>
          <p:cNvPr id="49" name="Text 46"/>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VAT Group AG (SIX: VACN) | BUY</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From an AI server to a vacuum valve: VAT monetises semiconductor capex several layers downstream</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502920" y="1417320"/>
            <a:ext cx="1691640" cy="3886200"/>
          </a:xfrm>
          <a:prstGeom prst="roundRect">
            <a:avLst>
              <a:gd name="adj" fmla="val 3243"/>
            </a:avLst>
          </a:prstGeom>
          <a:solidFill>
            <a:srgbClr val="FFFFFF"/>
          </a:solidFill>
          <a:ln w="8890">
            <a:solidFill>
              <a:srgbClr val="D7E0E8"/>
            </a:solidFill>
            <a:prstDash val="solid"/>
          </a:ln>
        </p:spPr>
      </p:sp>
      <p:sp>
        <p:nvSpPr>
          <p:cNvPr id="7" name="Shape 4"/>
          <p:cNvSpPr/>
          <p:nvPr/>
        </p:nvSpPr>
        <p:spPr>
          <a:xfrm>
            <a:off x="502920" y="1417320"/>
            <a:ext cx="73152" cy="3886200"/>
          </a:xfrm>
          <a:prstGeom prst="rect">
            <a:avLst/>
          </a:prstGeom>
          <a:solidFill>
            <a:srgbClr val="7B8794"/>
          </a:solidFill>
          <a:ln w="12700">
            <a:solidFill>
              <a:srgbClr val="7B8794">
                <a:alpha val="0"/>
              </a:srgbClr>
            </a:solidFill>
            <a:prstDash val="solid"/>
          </a:ln>
        </p:spPr>
      </p:sp>
      <p:sp>
        <p:nvSpPr>
          <p:cNvPr id="8" name="Text 5"/>
          <p:cNvSpPr/>
          <p:nvPr/>
        </p:nvSpPr>
        <p:spPr>
          <a:xfrm>
            <a:off x="649224" y="1499616"/>
            <a:ext cx="149047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END DEMAND</a:t>
            </a:r>
            <a:endParaRPr lang="en-US" sz="760" dirty="0"/>
          </a:p>
        </p:txBody>
      </p:sp>
      <p:sp>
        <p:nvSpPr>
          <p:cNvPr id="9" name="Text 6"/>
          <p:cNvSpPr/>
          <p:nvPr/>
        </p:nvSpPr>
        <p:spPr>
          <a:xfrm>
            <a:off x="649224" y="1746504"/>
            <a:ext cx="1490472" cy="348386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AI servers</a:t>
            </a:r>
            <a:endParaRPr lang="en-US" sz="580" dirty="0"/>
          </a:p>
          <a:p>
            <a:pPr algn="l" indent="0" marL="0">
              <a:buNone/>
            </a:pPr>
            <a:r>
              <a:rPr lang="en-US" sz="580" dirty="0">
                <a:solidFill>
                  <a:srgbClr val="5E6978"/>
                </a:solidFill>
              </a:rPr>
              <a:t>Cars</a:t>
            </a:r>
            <a:endParaRPr lang="en-US" sz="580" dirty="0"/>
          </a:p>
          <a:p>
            <a:pPr algn="l" indent="0" marL="0">
              <a:buNone/>
            </a:pPr>
            <a:r>
              <a:rPr lang="en-US" sz="580" dirty="0">
                <a:solidFill>
                  <a:srgbClr val="5E6978"/>
                </a:solidFill>
              </a:rPr>
              <a:t>Phones</a:t>
            </a:r>
            <a:endParaRPr lang="en-US" sz="580" dirty="0"/>
          </a:p>
          <a:p>
            <a:pPr algn="l" indent="0" marL="0">
              <a:buNone/>
            </a:pPr>
            <a:r>
              <a:rPr lang="en-US" sz="580" dirty="0">
                <a:solidFill>
                  <a:srgbClr val="5E6978"/>
                </a:solidFill>
              </a:rPr>
              <a:t>PCs</a:t>
            </a:r>
            <a:endParaRPr lang="en-US" sz="580" dirty="0"/>
          </a:p>
          <a:p>
            <a:pPr algn="l" indent="0" marL="0">
              <a:buNone/>
            </a:pPr>
            <a:r>
              <a:rPr lang="en-US" sz="580" dirty="0">
                <a:solidFill>
                  <a:srgbClr val="5E6978"/>
                </a:solidFill>
              </a:rPr>
              <a:t>Industrial</a:t>
            </a:r>
            <a:endParaRPr lang="en-US" sz="580" dirty="0"/>
          </a:p>
        </p:txBody>
      </p:sp>
      <p:sp>
        <p:nvSpPr>
          <p:cNvPr id="10" name="Shape 7"/>
          <p:cNvSpPr/>
          <p:nvPr/>
        </p:nvSpPr>
        <p:spPr>
          <a:xfrm>
            <a:off x="667512" y="2633472"/>
            <a:ext cx="1362456" cy="256032"/>
          </a:xfrm>
          <a:prstGeom prst="roundRect">
            <a:avLst>
              <a:gd name="adj" fmla="val 21429"/>
            </a:avLst>
          </a:prstGeom>
          <a:solidFill>
            <a:srgbClr val="F8FAFC"/>
          </a:solidFill>
          <a:ln w="8890">
            <a:solidFill>
              <a:srgbClr val="D7E0E8"/>
            </a:solidFill>
            <a:prstDash val="solid"/>
          </a:ln>
        </p:spPr>
      </p:sp>
      <p:sp>
        <p:nvSpPr>
          <p:cNvPr id="11" name="Text 8"/>
          <p:cNvSpPr/>
          <p:nvPr/>
        </p:nvSpPr>
        <p:spPr>
          <a:xfrm>
            <a:off x="704088" y="2697480"/>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Data centers</a:t>
            </a:r>
            <a:endParaRPr lang="en-US" sz="630" dirty="0"/>
          </a:p>
        </p:txBody>
      </p:sp>
      <p:sp>
        <p:nvSpPr>
          <p:cNvPr id="12" name="Shape 9"/>
          <p:cNvSpPr/>
          <p:nvPr/>
        </p:nvSpPr>
        <p:spPr>
          <a:xfrm>
            <a:off x="667512" y="3026664"/>
            <a:ext cx="1362456" cy="256032"/>
          </a:xfrm>
          <a:prstGeom prst="roundRect">
            <a:avLst>
              <a:gd name="adj" fmla="val 21429"/>
            </a:avLst>
          </a:prstGeom>
          <a:solidFill>
            <a:srgbClr val="F8FAFC"/>
          </a:solidFill>
          <a:ln w="8890">
            <a:solidFill>
              <a:srgbClr val="D7E0E8"/>
            </a:solidFill>
            <a:prstDash val="solid"/>
          </a:ln>
        </p:spPr>
      </p:sp>
      <p:sp>
        <p:nvSpPr>
          <p:cNvPr id="13" name="Text 10"/>
          <p:cNvSpPr/>
          <p:nvPr/>
        </p:nvSpPr>
        <p:spPr>
          <a:xfrm>
            <a:off x="704088" y="3090672"/>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EV / ADAS</a:t>
            </a:r>
            <a:endParaRPr lang="en-US" sz="630" dirty="0"/>
          </a:p>
        </p:txBody>
      </p:sp>
      <p:sp>
        <p:nvSpPr>
          <p:cNvPr id="14" name="Shape 11"/>
          <p:cNvSpPr/>
          <p:nvPr/>
        </p:nvSpPr>
        <p:spPr>
          <a:xfrm>
            <a:off x="667512" y="3419856"/>
            <a:ext cx="1362456" cy="256032"/>
          </a:xfrm>
          <a:prstGeom prst="roundRect">
            <a:avLst>
              <a:gd name="adj" fmla="val 21429"/>
            </a:avLst>
          </a:prstGeom>
          <a:solidFill>
            <a:srgbClr val="F8FAFC"/>
          </a:solidFill>
          <a:ln w="8890">
            <a:solidFill>
              <a:srgbClr val="D7E0E8"/>
            </a:solidFill>
            <a:prstDash val="solid"/>
          </a:ln>
        </p:spPr>
      </p:sp>
      <p:sp>
        <p:nvSpPr>
          <p:cNvPr id="15" name="Text 12"/>
          <p:cNvSpPr/>
          <p:nvPr/>
        </p:nvSpPr>
        <p:spPr>
          <a:xfrm>
            <a:off x="704088" y="3483864"/>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Smartphone</a:t>
            </a:r>
            <a:endParaRPr lang="en-US" sz="630" dirty="0"/>
          </a:p>
        </p:txBody>
      </p:sp>
      <p:sp>
        <p:nvSpPr>
          <p:cNvPr id="16" name="Shape 13"/>
          <p:cNvSpPr/>
          <p:nvPr/>
        </p:nvSpPr>
        <p:spPr>
          <a:xfrm>
            <a:off x="2286000" y="3355848"/>
            <a:ext cx="256032" cy="0"/>
          </a:xfrm>
          <a:prstGeom prst="line">
            <a:avLst/>
          </a:prstGeom>
          <a:noFill/>
          <a:ln w="19050">
            <a:solidFill>
              <a:srgbClr val="1B9BDA"/>
            </a:solidFill>
            <a:prstDash val="solid"/>
            <a:headEnd type="none"/>
            <a:tailEnd type="triangle"/>
          </a:ln>
        </p:spPr>
      </p:sp>
      <p:sp>
        <p:nvSpPr>
          <p:cNvPr id="17" name="Shape 14"/>
          <p:cNvSpPr/>
          <p:nvPr/>
        </p:nvSpPr>
        <p:spPr>
          <a:xfrm>
            <a:off x="2651760" y="1417320"/>
            <a:ext cx="1691640" cy="3886200"/>
          </a:xfrm>
          <a:prstGeom prst="roundRect">
            <a:avLst>
              <a:gd name="adj" fmla="val 3243"/>
            </a:avLst>
          </a:prstGeom>
          <a:solidFill>
            <a:srgbClr val="FFFFFF"/>
          </a:solidFill>
          <a:ln w="8890">
            <a:solidFill>
              <a:srgbClr val="D7E0E8"/>
            </a:solidFill>
            <a:prstDash val="solid"/>
          </a:ln>
        </p:spPr>
      </p:sp>
      <p:sp>
        <p:nvSpPr>
          <p:cNvPr id="18" name="Shape 15"/>
          <p:cNvSpPr/>
          <p:nvPr/>
        </p:nvSpPr>
        <p:spPr>
          <a:xfrm>
            <a:off x="2651760" y="1417320"/>
            <a:ext cx="73152" cy="3886200"/>
          </a:xfrm>
          <a:prstGeom prst="rect">
            <a:avLst/>
          </a:prstGeom>
          <a:solidFill>
            <a:srgbClr val="7B8794"/>
          </a:solidFill>
          <a:ln w="12700">
            <a:solidFill>
              <a:srgbClr val="7B8794">
                <a:alpha val="0"/>
              </a:srgbClr>
            </a:solidFill>
            <a:prstDash val="solid"/>
          </a:ln>
        </p:spPr>
      </p:sp>
      <p:sp>
        <p:nvSpPr>
          <p:cNvPr id="19" name="Text 16"/>
          <p:cNvSpPr/>
          <p:nvPr/>
        </p:nvSpPr>
        <p:spPr>
          <a:xfrm>
            <a:off x="2798064" y="1499616"/>
            <a:ext cx="149047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CHIP DESIGNERS / FABLESS</a:t>
            </a:r>
            <a:endParaRPr lang="en-US" sz="760" dirty="0"/>
          </a:p>
        </p:txBody>
      </p:sp>
      <p:sp>
        <p:nvSpPr>
          <p:cNvPr id="20" name="Text 17"/>
          <p:cNvSpPr/>
          <p:nvPr/>
        </p:nvSpPr>
        <p:spPr>
          <a:xfrm>
            <a:off x="2798064" y="1746504"/>
            <a:ext cx="1490472" cy="348386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Design chips; usually do not fabricate silicon</a:t>
            </a:r>
            <a:endParaRPr lang="en-US" sz="580" dirty="0"/>
          </a:p>
        </p:txBody>
      </p:sp>
      <p:sp>
        <p:nvSpPr>
          <p:cNvPr id="21" name="Shape 18"/>
          <p:cNvSpPr/>
          <p:nvPr/>
        </p:nvSpPr>
        <p:spPr>
          <a:xfrm>
            <a:off x="2816352" y="2633472"/>
            <a:ext cx="1362456" cy="256032"/>
          </a:xfrm>
          <a:prstGeom prst="roundRect">
            <a:avLst>
              <a:gd name="adj" fmla="val 21429"/>
            </a:avLst>
          </a:prstGeom>
          <a:solidFill>
            <a:srgbClr val="F8FAFC"/>
          </a:solidFill>
          <a:ln w="8890">
            <a:solidFill>
              <a:srgbClr val="D7E0E8"/>
            </a:solidFill>
            <a:prstDash val="solid"/>
          </a:ln>
        </p:spPr>
      </p:sp>
      <p:sp>
        <p:nvSpPr>
          <p:cNvPr id="22" name="Text 19"/>
          <p:cNvSpPr/>
          <p:nvPr/>
        </p:nvSpPr>
        <p:spPr>
          <a:xfrm>
            <a:off x="2852928" y="2697480"/>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Nvidia</a:t>
            </a:r>
            <a:endParaRPr lang="en-US" sz="630" dirty="0"/>
          </a:p>
        </p:txBody>
      </p:sp>
      <p:sp>
        <p:nvSpPr>
          <p:cNvPr id="23" name="Shape 20"/>
          <p:cNvSpPr/>
          <p:nvPr/>
        </p:nvSpPr>
        <p:spPr>
          <a:xfrm>
            <a:off x="2816352" y="3026664"/>
            <a:ext cx="1362456" cy="256032"/>
          </a:xfrm>
          <a:prstGeom prst="roundRect">
            <a:avLst>
              <a:gd name="adj" fmla="val 21429"/>
            </a:avLst>
          </a:prstGeom>
          <a:solidFill>
            <a:srgbClr val="F8FAFC"/>
          </a:solidFill>
          <a:ln w="8890">
            <a:solidFill>
              <a:srgbClr val="D7E0E8"/>
            </a:solidFill>
            <a:prstDash val="solid"/>
          </a:ln>
        </p:spPr>
      </p:sp>
      <p:sp>
        <p:nvSpPr>
          <p:cNvPr id="24" name="Text 21"/>
          <p:cNvSpPr/>
          <p:nvPr/>
        </p:nvSpPr>
        <p:spPr>
          <a:xfrm>
            <a:off x="2852928" y="3090672"/>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AMD</a:t>
            </a:r>
            <a:endParaRPr lang="en-US" sz="630" dirty="0"/>
          </a:p>
        </p:txBody>
      </p:sp>
      <p:sp>
        <p:nvSpPr>
          <p:cNvPr id="25" name="Shape 22"/>
          <p:cNvSpPr/>
          <p:nvPr/>
        </p:nvSpPr>
        <p:spPr>
          <a:xfrm>
            <a:off x="2816352" y="3419856"/>
            <a:ext cx="1362456" cy="256032"/>
          </a:xfrm>
          <a:prstGeom prst="roundRect">
            <a:avLst>
              <a:gd name="adj" fmla="val 21429"/>
            </a:avLst>
          </a:prstGeom>
          <a:solidFill>
            <a:srgbClr val="F8FAFC"/>
          </a:solidFill>
          <a:ln w="8890">
            <a:solidFill>
              <a:srgbClr val="D7E0E8"/>
            </a:solidFill>
            <a:prstDash val="solid"/>
          </a:ln>
        </p:spPr>
      </p:sp>
      <p:sp>
        <p:nvSpPr>
          <p:cNvPr id="26" name="Text 23"/>
          <p:cNvSpPr/>
          <p:nvPr/>
        </p:nvSpPr>
        <p:spPr>
          <a:xfrm>
            <a:off x="2852928" y="3483864"/>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Apple</a:t>
            </a:r>
            <a:endParaRPr lang="en-US" sz="630" dirty="0"/>
          </a:p>
        </p:txBody>
      </p:sp>
      <p:sp>
        <p:nvSpPr>
          <p:cNvPr id="27" name="Shape 24"/>
          <p:cNvSpPr/>
          <p:nvPr/>
        </p:nvSpPr>
        <p:spPr>
          <a:xfrm>
            <a:off x="2816352" y="3813048"/>
            <a:ext cx="1362456" cy="256032"/>
          </a:xfrm>
          <a:prstGeom prst="roundRect">
            <a:avLst>
              <a:gd name="adj" fmla="val 21429"/>
            </a:avLst>
          </a:prstGeom>
          <a:solidFill>
            <a:srgbClr val="F8FAFC"/>
          </a:solidFill>
          <a:ln w="8890">
            <a:solidFill>
              <a:srgbClr val="D7E0E8"/>
            </a:solidFill>
            <a:prstDash val="solid"/>
          </a:ln>
        </p:spPr>
      </p:sp>
      <p:sp>
        <p:nvSpPr>
          <p:cNvPr id="28" name="Text 25"/>
          <p:cNvSpPr/>
          <p:nvPr/>
        </p:nvSpPr>
        <p:spPr>
          <a:xfrm>
            <a:off x="2852928" y="3877056"/>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Broadcom</a:t>
            </a:r>
            <a:endParaRPr lang="en-US" sz="630" dirty="0"/>
          </a:p>
        </p:txBody>
      </p:sp>
      <p:sp>
        <p:nvSpPr>
          <p:cNvPr id="29" name="Shape 26"/>
          <p:cNvSpPr/>
          <p:nvPr/>
        </p:nvSpPr>
        <p:spPr>
          <a:xfrm>
            <a:off x="4434840" y="3355848"/>
            <a:ext cx="256032" cy="0"/>
          </a:xfrm>
          <a:prstGeom prst="line">
            <a:avLst/>
          </a:prstGeom>
          <a:noFill/>
          <a:ln w="19050">
            <a:solidFill>
              <a:srgbClr val="1B9BDA"/>
            </a:solidFill>
            <a:prstDash val="solid"/>
            <a:headEnd type="none"/>
            <a:tailEnd type="triangle"/>
          </a:ln>
        </p:spPr>
      </p:sp>
      <p:sp>
        <p:nvSpPr>
          <p:cNvPr id="30" name="Shape 27"/>
          <p:cNvSpPr/>
          <p:nvPr/>
        </p:nvSpPr>
        <p:spPr>
          <a:xfrm>
            <a:off x="4800600" y="1417320"/>
            <a:ext cx="1691640" cy="3886200"/>
          </a:xfrm>
          <a:prstGeom prst="roundRect">
            <a:avLst>
              <a:gd name="adj" fmla="val 3243"/>
            </a:avLst>
          </a:prstGeom>
          <a:solidFill>
            <a:srgbClr val="FFFFFF"/>
          </a:solidFill>
          <a:ln w="8890">
            <a:solidFill>
              <a:srgbClr val="D7E0E8"/>
            </a:solidFill>
            <a:prstDash val="solid"/>
          </a:ln>
        </p:spPr>
      </p:sp>
      <p:sp>
        <p:nvSpPr>
          <p:cNvPr id="31" name="Shape 28"/>
          <p:cNvSpPr/>
          <p:nvPr/>
        </p:nvSpPr>
        <p:spPr>
          <a:xfrm>
            <a:off x="4800600" y="1417320"/>
            <a:ext cx="73152" cy="3886200"/>
          </a:xfrm>
          <a:prstGeom prst="rect">
            <a:avLst/>
          </a:prstGeom>
          <a:solidFill>
            <a:srgbClr val="7B8794"/>
          </a:solidFill>
          <a:ln w="12700">
            <a:solidFill>
              <a:srgbClr val="7B8794">
                <a:alpha val="0"/>
              </a:srgbClr>
            </a:solidFill>
            <a:prstDash val="solid"/>
          </a:ln>
        </p:spPr>
      </p:sp>
      <p:sp>
        <p:nvSpPr>
          <p:cNvPr id="32" name="Text 29"/>
          <p:cNvSpPr/>
          <p:nvPr/>
        </p:nvSpPr>
        <p:spPr>
          <a:xfrm>
            <a:off x="4946904" y="1499616"/>
            <a:ext cx="149047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CHIP MANUFACTURERS</a:t>
            </a:r>
            <a:endParaRPr lang="en-US" sz="760" dirty="0"/>
          </a:p>
        </p:txBody>
      </p:sp>
      <p:sp>
        <p:nvSpPr>
          <p:cNvPr id="33" name="Text 30"/>
          <p:cNvSpPr/>
          <p:nvPr/>
        </p:nvSpPr>
        <p:spPr>
          <a:xfrm>
            <a:off x="4946904" y="1746504"/>
            <a:ext cx="1490472" cy="348386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Operate fabs; incur capex for tools</a:t>
            </a:r>
            <a:endParaRPr lang="en-US" sz="580" dirty="0"/>
          </a:p>
        </p:txBody>
      </p:sp>
      <p:sp>
        <p:nvSpPr>
          <p:cNvPr id="34" name="Shape 31"/>
          <p:cNvSpPr/>
          <p:nvPr/>
        </p:nvSpPr>
        <p:spPr>
          <a:xfrm>
            <a:off x="4965192" y="2633472"/>
            <a:ext cx="1362456" cy="256032"/>
          </a:xfrm>
          <a:prstGeom prst="roundRect">
            <a:avLst>
              <a:gd name="adj" fmla="val 21429"/>
            </a:avLst>
          </a:prstGeom>
          <a:solidFill>
            <a:srgbClr val="F8FAFC"/>
          </a:solidFill>
          <a:ln w="8890">
            <a:solidFill>
              <a:srgbClr val="D7E0E8"/>
            </a:solidFill>
            <a:prstDash val="solid"/>
          </a:ln>
        </p:spPr>
      </p:sp>
      <p:sp>
        <p:nvSpPr>
          <p:cNvPr id="35" name="Text 32"/>
          <p:cNvSpPr/>
          <p:nvPr/>
        </p:nvSpPr>
        <p:spPr>
          <a:xfrm>
            <a:off x="5001768" y="2697480"/>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TSMC</a:t>
            </a:r>
            <a:endParaRPr lang="en-US" sz="630" dirty="0"/>
          </a:p>
        </p:txBody>
      </p:sp>
      <p:sp>
        <p:nvSpPr>
          <p:cNvPr id="36" name="Shape 33"/>
          <p:cNvSpPr/>
          <p:nvPr/>
        </p:nvSpPr>
        <p:spPr>
          <a:xfrm>
            <a:off x="4965192" y="3026664"/>
            <a:ext cx="1362456" cy="256032"/>
          </a:xfrm>
          <a:prstGeom prst="roundRect">
            <a:avLst>
              <a:gd name="adj" fmla="val 21429"/>
            </a:avLst>
          </a:prstGeom>
          <a:solidFill>
            <a:srgbClr val="F8FAFC"/>
          </a:solidFill>
          <a:ln w="8890">
            <a:solidFill>
              <a:srgbClr val="D7E0E8"/>
            </a:solidFill>
            <a:prstDash val="solid"/>
          </a:ln>
        </p:spPr>
      </p:sp>
      <p:sp>
        <p:nvSpPr>
          <p:cNvPr id="37" name="Text 34"/>
          <p:cNvSpPr/>
          <p:nvPr/>
        </p:nvSpPr>
        <p:spPr>
          <a:xfrm>
            <a:off x="5001768" y="3090672"/>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Samsung</a:t>
            </a:r>
            <a:endParaRPr lang="en-US" sz="630" dirty="0"/>
          </a:p>
        </p:txBody>
      </p:sp>
      <p:sp>
        <p:nvSpPr>
          <p:cNvPr id="38" name="Shape 35"/>
          <p:cNvSpPr/>
          <p:nvPr/>
        </p:nvSpPr>
        <p:spPr>
          <a:xfrm>
            <a:off x="4965192" y="3419856"/>
            <a:ext cx="1362456" cy="256032"/>
          </a:xfrm>
          <a:prstGeom prst="roundRect">
            <a:avLst>
              <a:gd name="adj" fmla="val 21429"/>
            </a:avLst>
          </a:prstGeom>
          <a:solidFill>
            <a:srgbClr val="F8FAFC"/>
          </a:solidFill>
          <a:ln w="8890">
            <a:solidFill>
              <a:srgbClr val="D7E0E8"/>
            </a:solidFill>
            <a:prstDash val="solid"/>
          </a:ln>
        </p:spPr>
      </p:sp>
      <p:sp>
        <p:nvSpPr>
          <p:cNvPr id="39" name="Text 36"/>
          <p:cNvSpPr/>
          <p:nvPr/>
        </p:nvSpPr>
        <p:spPr>
          <a:xfrm>
            <a:off x="5001768" y="3483864"/>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Intel</a:t>
            </a:r>
            <a:endParaRPr lang="en-US" sz="630" dirty="0"/>
          </a:p>
        </p:txBody>
      </p:sp>
      <p:sp>
        <p:nvSpPr>
          <p:cNvPr id="40" name="Shape 37"/>
          <p:cNvSpPr/>
          <p:nvPr/>
        </p:nvSpPr>
        <p:spPr>
          <a:xfrm>
            <a:off x="4965192" y="3813048"/>
            <a:ext cx="1362456" cy="256032"/>
          </a:xfrm>
          <a:prstGeom prst="roundRect">
            <a:avLst>
              <a:gd name="adj" fmla="val 21429"/>
            </a:avLst>
          </a:prstGeom>
          <a:solidFill>
            <a:srgbClr val="F8FAFC"/>
          </a:solidFill>
          <a:ln w="8890">
            <a:solidFill>
              <a:srgbClr val="D7E0E8"/>
            </a:solidFill>
            <a:prstDash val="solid"/>
          </a:ln>
        </p:spPr>
      </p:sp>
      <p:sp>
        <p:nvSpPr>
          <p:cNvPr id="41" name="Text 38"/>
          <p:cNvSpPr/>
          <p:nvPr/>
        </p:nvSpPr>
        <p:spPr>
          <a:xfrm>
            <a:off x="5001768" y="3877056"/>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Micron</a:t>
            </a:r>
            <a:endParaRPr lang="en-US" sz="630" dirty="0"/>
          </a:p>
        </p:txBody>
      </p:sp>
      <p:sp>
        <p:nvSpPr>
          <p:cNvPr id="42" name="Shape 39"/>
          <p:cNvSpPr/>
          <p:nvPr/>
        </p:nvSpPr>
        <p:spPr>
          <a:xfrm>
            <a:off x="4965192" y="4206240"/>
            <a:ext cx="1362456" cy="256032"/>
          </a:xfrm>
          <a:prstGeom prst="roundRect">
            <a:avLst>
              <a:gd name="adj" fmla="val 21429"/>
            </a:avLst>
          </a:prstGeom>
          <a:solidFill>
            <a:srgbClr val="F8FAFC"/>
          </a:solidFill>
          <a:ln w="8890">
            <a:solidFill>
              <a:srgbClr val="D7E0E8"/>
            </a:solidFill>
            <a:prstDash val="solid"/>
          </a:ln>
        </p:spPr>
      </p:sp>
      <p:sp>
        <p:nvSpPr>
          <p:cNvPr id="43" name="Text 40"/>
          <p:cNvSpPr/>
          <p:nvPr/>
        </p:nvSpPr>
        <p:spPr>
          <a:xfrm>
            <a:off x="5001768" y="4270248"/>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SK Hynix</a:t>
            </a:r>
            <a:endParaRPr lang="en-US" sz="630" dirty="0"/>
          </a:p>
        </p:txBody>
      </p:sp>
      <p:sp>
        <p:nvSpPr>
          <p:cNvPr id="44" name="Shape 41"/>
          <p:cNvSpPr/>
          <p:nvPr/>
        </p:nvSpPr>
        <p:spPr>
          <a:xfrm>
            <a:off x="6583680" y="3355848"/>
            <a:ext cx="256032" cy="0"/>
          </a:xfrm>
          <a:prstGeom prst="line">
            <a:avLst/>
          </a:prstGeom>
          <a:noFill/>
          <a:ln w="19050">
            <a:solidFill>
              <a:srgbClr val="1B9BDA"/>
            </a:solidFill>
            <a:prstDash val="solid"/>
            <a:headEnd type="none"/>
            <a:tailEnd type="triangle"/>
          </a:ln>
        </p:spPr>
      </p:sp>
      <p:sp>
        <p:nvSpPr>
          <p:cNvPr id="45" name="Shape 42"/>
          <p:cNvSpPr/>
          <p:nvPr/>
        </p:nvSpPr>
        <p:spPr>
          <a:xfrm>
            <a:off x="6949440" y="1417320"/>
            <a:ext cx="1691640" cy="3886200"/>
          </a:xfrm>
          <a:prstGeom prst="roundRect">
            <a:avLst>
              <a:gd name="adj" fmla="val 3243"/>
            </a:avLst>
          </a:prstGeom>
          <a:solidFill>
            <a:srgbClr val="FFFFFF"/>
          </a:solidFill>
          <a:ln w="8890">
            <a:solidFill>
              <a:srgbClr val="D7E0E8"/>
            </a:solidFill>
            <a:prstDash val="solid"/>
          </a:ln>
        </p:spPr>
      </p:sp>
      <p:sp>
        <p:nvSpPr>
          <p:cNvPr id="46" name="Shape 43"/>
          <p:cNvSpPr/>
          <p:nvPr/>
        </p:nvSpPr>
        <p:spPr>
          <a:xfrm>
            <a:off x="6949440" y="1417320"/>
            <a:ext cx="73152" cy="3886200"/>
          </a:xfrm>
          <a:prstGeom prst="rect">
            <a:avLst/>
          </a:prstGeom>
          <a:solidFill>
            <a:srgbClr val="7B8794"/>
          </a:solidFill>
          <a:ln w="12700">
            <a:solidFill>
              <a:srgbClr val="7B8794">
                <a:alpha val="0"/>
              </a:srgbClr>
            </a:solidFill>
            <a:prstDash val="solid"/>
          </a:ln>
        </p:spPr>
      </p:sp>
      <p:sp>
        <p:nvSpPr>
          <p:cNvPr id="47" name="Text 44"/>
          <p:cNvSpPr/>
          <p:nvPr/>
        </p:nvSpPr>
        <p:spPr>
          <a:xfrm>
            <a:off x="7095744" y="1499616"/>
            <a:ext cx="149047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EQUIPMENT OEMs</a:t>
            </a:r>
            <a:endParaRPr lang="en-US" sz="760" dirty="0"/>
          </a:p>
        </p:txBody>
      </p:sp>
      <p:sp>
        <p:nvSpPr>
          <p:cNvPr id="48" name="Text 45"/>
          <p:cNvSpPr/>
          <p:nvPr/>
        </p:nvSpPr>
        <p:spPr>
          <a:xfrm>
            <a:off x="7095744" y="1746504"/>
            <a:ext cx="1490472" cy="348386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Supply wafer-fabrication equipment</a:t>
            </a:r>
            <a:endParaRPr lang="en-US" sz="580" dirty="0"/>
          </a:p>
        </p:txBody>
      </p:sp>
      <p:sp>
        <p:nvSpPr>
          <p:cNvPr id="49" name="Shape 46"/>
          <p:cNvSpPr/>
          <p:nvPr/>
        </p:nvSpPr>
        <p:spPr>
          <a:xfrm>
            <a:off x="7114032" y="2633472"/>
            <a:ext cx="1362456" cy="256032"/>
          </a:xfrm>
          <a:prstGeom prst="roundRect">
            <a:avLst>
              <a:gd name="adj" fmla="val 21429"/>
            </a:avLst>
          </a:prstGeom>
          <a:solidFill>
            <a:srgbClr val="F8FAFC"/>
          </a:solidFill>
          <a:ln w="8890">
            <a:solidFill>
              <a:srgbClr val="D7E0E8"/>
            </a:solidFill>
            <a:prstDash val="solid"/>
          </a:ln>
        </p:spPr>
      </p:sp>
      <p:sp>
        <p:nvSpPr>
          <p:cNvPr id="50" name="Text 47"/>
          <p:cNvSpPr/>
          <p:nvPr/>
        </p:nvSpPr>
        <p:spPr>
          <a:xfrm>
            <a:off x="7150608" y="2697480"/>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ASML</a:t>
            </a:r>
            <a:endParaRPr lang="en-US" sz="630" dirty="0"/>
          </a:p>
        </p:txBody>
      </p:sp>
      <p:sp>
        <p:nvSpPr>
          <p:cNvPr id="51" name="Shape 48"/>
          <p:cNvSpPr/>
          <p:nvPr/>
        </p:nvSpPr>
        <p:spPr>
          <a:xfrm>
            <a:off x="7114032" y="3026664"/>
            <a:ext cx="1362456" cy="256032"/>
          </a:xfrm>
          <a:prstGeom prst="roundRect">
            <a:avLst>
              <a:gd name="adj" fmla="val 21429"/>
            </a:avLst>
          </a:prstGeom>
          <a:solidFill>
            <a:srgbClr val="F8FAFC"/>
          </a:solidFill>
          <a:ln w="8890">
            <a:solidFill>
              <a:srgbClr val="D7E0E8"/>
            </a:solidFill>
            <a:prstDash val="solid"/>
          </a:ln>
        </p:spPr>
      </p:sp>
      <p:sp>
        <p:nvSpPr>
          <p:cNvPr id="52" name="Text 49"/>
          <p:cNvSpPr/>
          <p:nvPr/>
        </p:nvSpPr>
        <p:spPr>
          <a:xfrm>
            <a:off x="7150608" y="3090672"/>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Applied</a:t>
            </a:r>
            <a:endParaRPr lang="en-US" sz="630" dirty="0"/>
          </a:p>
        </p:txBody>
      </p:sp>
      <p:sp>
        <p:nvSpPr>
          <p:cNvPr id="53" name="Shape 50"/>
          <p:cNvSpPr/>
          <p:nvPr/>
        </p:nvSpPr>
        <p:spPr>
          <a:xfrm>
            <a:off x="7114032" y="3419856"/>
            <a:ext cx="1362456" cy="256032"/>
          </a:xfrm>
          <a:prstGeom prst="roundRect">
            <a:avLst>
              <a:gd name="adj" fmla="val 21429"/>
            </a:avLst>
          </a:prstGeom>
          <a:solidFill>
            <a:srgbClr val="F8FAFC"/>
          </a:solidFill>
          <a:ln w="8890">
            <a:solidFill>
              <a:srgbClr val="D7E0E8"/>
            </a:solidFill>
            <a:prstDash val="solid"/>
          </a:ln>
        </p:spPr>
      </p:sp>
      <p:sp>
        <p:nvSpPr>
          <p:cNvPr id="54" name="Text 51"/>
          <p:cNvSpPr/>
          <p:nvPr/>
        </p:nvSpPr>
        <p:spPr>
          <a:xfrm>
            <a:off x="7150608" y="3483864"/>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Lam</a:t>
            </a:r>
            <a:endParaRPr lang="en-US" sz="630" dirty="0"/>
          </a:p>
        </p:txBody>
      </p:sp>
      <p:sp>
        <p:nvSpPr>
          <p:cNvPr id="55" name="Shape 52"/>
          <p:cNvSpPr/>
          <p:nvPr/>
        </p:nvSpPr>
        <p:spPr>
          <a:xfrm>
            <a:off x="7114032" y="3813048"/>
            <a:ext cx="1362456" cy="256032"/>
          </a:xfrm>
          <a:prstGeom prst="roundRect">
            <a:avLst>
              <a:gd name="adj" fmla="val 21429"/>
            </a:avLst>
          </a:prstGeom>
          <a:solidFill>
            <a:srgbClr val="F8FAFC"/>
          </a:solidFill>
          <a:ln w="8890">
            <a:solidFill>
              <a:srgbClr val="D7E0E8"/>
            </a:solidFill>
            <a:prstDash val="solid"/>
          </a:ln>
        </p:spPr>
      </p:sp>
      <p:sp>
        <p:nvSpPr>
          <p:cNvPr id="56" name="Text 53"/>
          <p:cNvSpPr/>
          <p:nvPr/>
        </p:nvSpPr>
        <p:spPr>
          <a:xfrm>
            <a:off x="7150608" y="3877056"/>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TEL</a:t>
            </a:r>
            <a:endParaRPr lang="en-US" sz="630" dirty="0"/>
          </a:p>
        </p:txBody>
      </p:sp>
      <p:sp>
        <p:nvSpPr>
          <p:cNvPr id="57" name="Shape 54"/>
          <p:cNvSpPr/>
          <p:nvPr/>
        </p:nvSpPr>
        <p:spPr>
          <a:xfrm>
            <a:off x="7114032" y="4206240"/>
            <a:ext cx="1362456" cy="256032"/>
          </a:xfrm>
          <a:prstGeom prst="roundRect">
            <a:avLst>
              <a:gd name="adj" fmla="val 21429"/>
            </a:avLst>
          </a:prstGeom>
          <a:solidFill>
            <a:srgbClr val="F8FAFC"/>
          </a:solidFill>
          <a:ln w="8890">
            <a:solidFill>
              <a:srgbClr val="D7E0E8"/>
            </a:solidFill>
            <a:prstDash val="solid"/>
          </a:ln>
        </p:spPr>
      </p:sp>
      <p:sp>
        <p:nvSpPr>
          <p:cNvPr id="58" name="Text 55"/>
          <p:cNvSpPr/>
          <p:nvPr/>
        </p:nvSpPr>
        <p:spPr>
          <a:xfrm>
            <a:off x="7150608" y="4270248"/>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KLA</a:t>
            </a:r>
            <a:endParaRPr lang="en-US" sz="630" dirty="0"/>
          </a:p>
        </p:txBody>
      </p:sp>
      <p:sp>
        <p:nvSpPr>
          <p:cNvPr id="59" name="Shape 56"/>
          <p:cNvSpPr/>
          <p:nvPr/>
        </p:nvSpPr>
        <p:spPr>
          <a:xfrm>
            <a:off x="8732520" y="3355848"/>
            <a:ext cx="256032" cy="0"/>
          </a:xfrm>
          <a:prstGeom prst="line">
            <a:avLst/>
          </a:prstGeom>
          <a:noFill/>
          <a:ln w="19050">
            <a:solidFill>
              <a:srgbClr val="1B9BDA"/>
            </a:solidFill>
            <a:prstDash val="solid"/>
            <a:headEnd type="none"/>
            <a:tailEnd type="triangle"/>
          </a:ln>
        </p:spPr>
      </p:sp>
      <p:sp>
        <p:nvSpPr>
          <p:cNvPr id="60" name="Shape 57"/>
          <p:cNvSpPr/>
          <p:nvPr/>
        </p:nvSpPr>
        <p:spPr>
          <a:xfrm>
            <a:off x="9098280" y="1417320"/>
            <a:ext cx="1691640" cy="3886200"/>
          </a:xfrm>
          <a:prstGeom prst="roundRect">
            <a:avLst>
              <a:gd name="adj" fmla="val 3243"/>
            </a:avLst>
          </a:prstGeom>
          <a:solidFill>
            <a:srgbClr val="FFFFFF"/>
          </a:solidFill>
          <a:ln w="8890">
            <a:solidFill>
              <a:srgbClr val="D7E0E8"/>
            </a:solidFill>
            <a:prstDash val="solid"/>
          </a:ln>
        </p:spPr>
      </p:sp>
      <p:sp>
        <p:nvSpPr>
          <p:cNvPr id="61" name="Shape 58"/>
          <p:cNvSpPr/>
          <p:nvPr/>
        </p:nvSpPr>
        <p:spPr>
          <a:xfrm>
            <a:off x="9098280" y="1417320"/>
            <a:ext cx="73152" cy="3886200"/>
          </a:xfrm>
          <a:prstGeom prst="rect">
            <a:avLst/>
          </a:prstGeom>
          <a:solidFill>
            <a:srgbClr val="1B9BDA"/>
          </a:solidFill>
          <a:ln w="12700">
            <a:solidFill>
              <a:srgbClr val="1B9BDA">
                <a:alpha val="0"/>
              </a:srgbClr>
            </a:solidFill>
            <a:prstDash val="solid"/>
          </a:ln>
        </p:spPr>
      </p:sp>
      <p:sp>
        <p:nvSpPr>
          <p:cNvPr id="62" name="Text 59"/>
          <p:cNvSpPr/>
          <p:nvPr/>
        </p:nvSpPr>
        <p:spPr>
          <a:xfrm>
            <a:off x="9244584" y="1499616"/>
            <a:ext cx="149047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CRITICAL SUBSYSTEMS</a:t>
            </a:r>
            <a:endParaRPr lang="en-US" sz="760" dirty="0"/>
          </a:p>
        </p:txBody>
      </p:sp>
      <p:sp>
        <p:nvSpPr>
          <p:cNvPr id="63" name="Text 60"/>
          <p:cNvSpPr/>
          <p:nvPr/>
        </p:nvSpPr>
        <p:spPr>
          <a:xfrm>
            <a:off x="9244584" y="1746504"/>
            <a:ext cx="1490472" cy="348386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Supply mission-critical components inside tools</a:t>
            </a:r>
            <a:endParaRPr lang="en-US" sz="580" dirty="0"/>
          </a:p>
        </p:txBody>
      </p:sp>
      <p:sp>
        <p:nvSpPr>
          <p:cNvPr id="64" name="Shape 61"/>
          <p:cNvSpPr/>
          <p:nvPr/>
        </p:nvSpPr>
        <p:spPr>
          <a:xfrm>
            <a:off x="9262872" y="2633472"/>
            <a:ext cx="1362456" cy="256032"/>
          </a:xfrm>
          <a:prstGeom prst="roundRect">
            <a:avLst>
              <a:gd name="adj" fmla="val 21429"/>
            </a:avLst>
          </a:prstGeom>
          <a:solidFill>
            <a:srgbClr val="EAF6FC"/>
          </a:solidFill>
          <a:ln w="8890">
            <a:solidFill>
              <a:srgbClr val="D7E0E8"/>
            </a:solidFill>
            <a:prstDash val="solid"/>
          </a:ln>
        </p:spPr>
      </p:sp>
      <p:sp>
        <p:nvSpPr>
          <p:cNvPr id="65" name="Text 62"/>
          <p:cNvSpPr/>
          <p:nvPr/>
        </p:nvSpPr>
        <p:spPr>
          <a:xfrm>
            <a:off x="9299448" y="2697480"/>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VAT</a:t>
            </a:r>
            <a:endParaRPr lang="en-US" sz="630" dirty="0"/>
          </a:p>
        </p:txBody>
      </p:sp>
      <p:sp>
        <p:nvSpPr>
          <p:cNvPr id="66" name="Shape 63"/>
          <p:cNvSpPr/>
          <p:nvPr/>
        </p:nvSpPr>
        <p:spPr>
          <a:xfrm>
            <a:off x="9262872" y="3026664"/>
            <a:ext cx="1362456" cy="256032"/>
          </a:xfrm>
          <a:prstGeom prst="roundRect">
            <a:avLst>
              <a:gd name="adj" fmla="val 21429"/>
            </a:avLst>
          </a:prstGeom>
          <a:solidFill>
            <a:srgbClr val="F8FAFC"/>
          </a:solidFill>
          <a:ln w="8890">
            <a:solidFill>
              <a:srgbClr val="D7E0E8"/>
            </a:solidFill>
            <a:prstDash val="solid"/>
          </a:ln>
        </p:spPr>
      </p:sp>
      <p:sp>
        <p:nvSpPr>
          <p:cNvPr id="67" name="Text 64"/>
          <p:cNvSpPr/>
          <p:nvPr/>
        </p:nvSpPr>
        <p:spPr>
          <a:xfrm>
            <a:off x="9299448" y="3090672"/>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MKS</a:t>
            </a:r>
            <a:endParaRPr lang="en-US" sz="630" dirty="0"/>
          </a:p>
        </p:txBody>
      </p:sp>
      <p:sp>
        <p:nvSpPr>
          <p:cNvPr id="68" name="Shape 65"/>
          <p:cNvSpPr/>
          <p:nvPr/>
        </p:nvSpPr>
        <p:spPr>
          <a:xfrm>
            <a:off x="9262872" y="3419856"/>
            <a:ext cx="1362456" cy="256032"/>
          </a:xfrm>
          <a:prstGeom prst="roundRect">
            <a:avLst>
              <a:gd name="adj" fmla="val 21429"/>
            </a:avLst>
          </a:prstGeom>
          <a:solidFill>
            <a:srgbClr val="F8FAFC"/>
          </a:solidFill>
          <a:ln w="8890">
            <a:solidFill>
              <a:srgbClr val="D7E0E8"/>
            </a:solidFill>
            <a:prstDash val="solid"/>
          </a:ln>
        </p:spPr>
      </p:sp>
      <p:sp>
        <p:nvSpPr>
          <p:cNvPr id="69" name="Text 66"/>
          <p:cNvSpPr/>
          <p:nvPr/>
        </p:nvSpPr>
        <p:spPr>
          <a:xfrm>
            <a:off x="9299448" y="3483864"/>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Edwards</a:t>
            </a:r>
            <a:endParaRPr lang="en-US" sz="630" dirty="0"/>
          </a:p>
        </p:txBody>
      </p:sp>
      <p:sp>
        <p:nvSpPr>
          <p:cNvPr id="70" name="Shape 67"/>
          <p:cNvSpPr/>
          <p:nvPr/>
        </p:nvSpPr>
        <p:spPr>
          <a:xfrm>
            <a:off x="9262872" y="3813048"/>
            <a:ext cx="1362456" cy="256032"/>
          </a:xfrm>
          <a:prstGeom prst="roundRect">
            <a:avLst>
              <a:gd name="adj" fmla="val 21429"/>
            </a:avLst>
          </a:prstGeom>
          <a:solidFill>
            <a:srgbClr val="F8FAFC"/>
          </a:solidFill>
          <a:ln w="8890">
            <a:solidFill>
              <a:srgbClr val="D7E0E8"/>
            </a:solidFill>
            <a:prstDash val="solid"/>
          </a:ln>
        </p:spPr>
      </p:sp>
      <p:sp>
        <p:nvSpPr>
          <p:cNvPr id="71" name="Text 68"/>
          <p:cNvSpPr/>
          <p:nvPr/>
        </p:nvSpPr>
        <p:spPr>
          <a:xfrm>
            <a:off x="9299448" y="3877056"/>
            <a:ext cx="1289304" cy="182880"/>
          </a:xfrm>
          <a:prstGeom prst="rect">
            <a:avLst/>
          </a:prstGeom>
          <a:noFill/>
          <a:ln/>
        </p:spPr>
        <p:txBody>
          <a:bodyPr wrap="square" lIns="635" tIns="635" rIns="635" bIns="635" rtlCol="0" anchor="t">
            <a:normAutofit/>
          </a:bodyPr>
          <a:lstStyle/>
          <a:p>
            <a:pPr algn="ctr" indent="0" marL="0">
              <a:buNone/>
            </a:pPr>
            <a:r>
              <a:rPr lang="en-US" sz="630" b="1" dirty="0">
                <a:solidFill>
                  <a:srgbClr val="1F2933"/>
                </a:solidFill>
              </a:rPr>
              <a:t>Horiba</a:t>
            </a:r>
            <a:endParaRPr lang="en-US" sz="630" dirty="0"/>
          </a:p>
        </p:txBody>
      </p:sp>
      <p:sp>
        <p:nvSpPr>
          <p:cNvPr id="72" name="Shape 69"/>
          <p:cNvSpPr/>
          <p:nvPr/>
        </p:nvSpPr>
        <p:spPr>
          <a:xfrm>
            <a:off x="8979408" y="5532120"/>
            <a:ext cx="1874520" cy="475488"/>
          </a:xfrm>
          <a:prstGeom prst="roundRect">
            <a:avLst>
              <a:gd name="adj" fmla="val 11538"/>
            </a:avLst>
          </a:prstGeom>
          <a:solidFill>
            <a:srgbClr val="EAF6FC"/>
          </a:solidFill>
          <a:ln w="8890">
            <a:solidFill>
              <a:srgbClr val="B7DDEF"/>
            </a:solidFill>
            <a:prstDash val="solid"/>
          </a:ln>
        </p:spPr>
      </p:sp>
      <p:sp>
        <p:nvSpPr>
          <p:cNvPr id="73" name="Text 70"/>
          <p:cNvSpPr/>
          <p:nvPr/>
        </p:nvSpPr>
        <p:spPr>
          <a:xfrm>
            <a:off x="9116568" y="5641848"/>
            <a:ext cx="1600200" cy="219456"/>
          </a:xfrm>
          <a:prstGeom prst="rect">
            <a:avLst/>
          </a:prstGeom>
          <a:noFill/>
          <a:ln/>
        </p:spPr>
        <p:txBody>
          <a:bodyPr wrap="square" lIns="635" tIns="635" rIns="635" bIns="635" rtlCol="0" anchor="t">
            <a:normAutofit/>
          </a:bodyPr>
          <a:lstStyle/>
          <a:p>
            <a:pPr algn="l" indent="0" marL="0">
              <a:buNone/>
            </a:pPr>
            <a:r>
              <a:rPr lang="en-US" sz="680" b="1" dirty="0">
                <a:solidFill>
                  <a:srgbClr val="1F2933"/>
                </a:solidFill>
              </a:rPr>
              <a:t>VAT sells mainly into equipment OEM platforms, not directly to Nvidia simply because Nvidia drives AI demand.</a:t>
            </a:r>
            <a:endParaRPr lang="en-US" sz="680" dirty="0"/>
          </a:p>
        </p:txBody>
      </p:sp>
      <p:sp>
        <p:nvSpPr>
          <p:cNvPr id="74" name="Shape 71"/>
          <p:cNvSpPr/>
          <p:nvPr/>
        </p:nvSpPr>
        <p:spPr>
          <a:xfrm>
            <a:off x="411480" y="6428232"/>
            <a:ext cx="11384280" cy="0"/>
          </a:xfrm>
          <a:prstGeom prst="line">
            <a:avLst/>
          </a:prstGeom>
          <a:noFill/>
          <a:ln w="7620">
            <a:solidFill>
              <a:srgbClr val="D7E0E8"/>
            </a:solidFill>
            <a:prstDash val="solid"/>
          </a:ln>
        </p:spPr>
      </p:sp>
      <p:sp>
        <p:nvSpPr>
          <p:cNvPr id="75" name="Text 72"/>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Uploaded VAT 101 document; VAT IR materials; company filings. Logos represented as clean wordmarks for formatting consistency.</a:t>
            </a:r>
            <a:endParaRPr lang="en-US" sz="550" dirty="0"/>
          </a:p>
        </p:txBody>
      </p:sp>
      <p:sp>
        <p:nvSpPr>
          <p:cNvPr id="76" name="Text 73"/>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2</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VAT Group AG (SIX: VACN) | BUY</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A chip is billions of microscopic switches - AI is raising the complexity of both logic and memory manufacturing</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685800" y="1463040"/>
            <a:ext cx="1234440" cy="1234440"/>
          </a:xfrm>
          <a:prstGeom prst="arc">
            <a:avLst/>
          </a:prstGeom>
          <a:solidFill>
            <a:srgbClr val="EAF6FC"/>
          </a:solidFill>
          <a:ln w="25400">
            <a:solidFill>
              <a:srgbClr val="1B9BDA"/>
            </a:solidFill>
            <a:prstDash val="solid"/>
          </a:ln>
        </p:spPr>
      </p:sp>
      <p:sp>
        <p:nvSpPr>
          <p:cNvPr id="7" name="Text 4"/>
          <p:cNvSpPr/>
          <p:nvPr/>
        </p:nvSpPr>
        <p:spPr>
          <a:xfrm>
            <a:off x="640080" y="2761488"/>
            <a:ext cx="1280160" cy="274320"/>
          </a:xfrm>
          <a:prstGeom prst="rect">
            <a:avLst/>
          </a:prstGeom>
          <a:noFill/>
          <a:ln/>
        </p:spPr>
        <p:txBody>
          <a:bodyPr wrap="square" lIns="635" tIns="635" rIns="635" bIns="635" rtlCol="0" anchor="t">
            <a:normAutofit/>
          </a:bodyPr>
          <a:lstStyle/>
          <a:p>
            <a:pPr algn="ctr" indent="0" marL="0">
              <a:buNone/>
            </a:pPr>
            <a:r>
              <a:rPr lang="en-US" sz="750" b="1" dirty="0">
                <a:solidFill>
                  <a:srgbClr val="1F2933"/>
                </a:solidFill>
              </a:rPr>
              <a:t>Silicon</a:t>
            </a:r>
            <a:endParaRPr lang="en-US" sz="750" dirty="0"/>
          </a:p>
          <a:p>
            <a:pPr algn="ctr" indent="0" marL="0">
              <a:buNone/>
            </a:pPr>
            <a:r>
              <a:rPr lang="en-US" sz="750" b="1" dirty="0">
                <a:solidFill>
                  <a:srgbClr val="1F2933"/>
                </a:solidFill>
              </a:rPr>
              <a:t>wafer</a:t>
            </a:r>
            <a:endParaRPr lang="en-US" sz="750" dirty="0"/>
          </a:p>
        </p:txBody>
      </p:sp>
      <p:sp>
        <p:nvSpPr>
          <p:cNvPr id="8" name="Shape 5"/>
          <p:cNvSpPr/>
          <p:nvPr/>
        </p:nvSpPr>
        <p:spPr>
          <a:xfrm>
            <a:off x="1920240" y="2057400"/>
            <a:ext cx="548640" cy="0"/>
          </a:xfrm>
          <a:prstGeom prst="line">
            <a:avLst/>
          </a:prstGeom>
          <a:noFill/>
          <a:ln w="20320">
            <a:solidFill>
              <a:srgbClr val="1B9BDA"/>
            </a:solidFill>
            <a:prstDash val="solid"/>
            <a:headEnd type="none"/>
            <a:tailEnd type="triangle"/>
          </a:ln>
        </p:spPr>
      </p:sp>
      <p:sp>
        <p:nvSpPr>
          <p:cNvPr id="9" name="Shape 6"/>
          <p:cNvSpPr/>
          <p:nvPr/>
        </p:nvSpPr>
        <p:spPr>
          <a:xfrm>
            <a:off x="2606040" y="1517904"/>
            <a:ext cx="1143000" cy="1051560"/>
          </a:xfrm>
          <a:prstGeom prst="roundRect">
            <a:avLst>
              <a:gd name="adj" fmla="val 5217"/>
            </a:avLst>
          </a:prstGeom>
          <a:solidFill>
            <a:srgbClr val="EAF6FC"/>
          </a:solidFill>
          <a:ln w="8890">
            <a:solidFill>
              <a:srgbClr val="B7DDEF"/>
            </a:solidFill>
            <a:prstDash val="solid"/>
          </a:ln>
        </p:spPr>
      </p:sp>
      <p:sp>
        <p:nvSpPr>
          <p:cNvPr id="10" name="Shape 7"/>
          <p:cNvSpPr/>
          <p:nvPr/>
        </p:nvSpPr>
        <p:spPr>
          <a:xfrm>
            <a:off x="2788920" y="1691640"/>
            <a:ext cx="137160" cy="109728"/>
          </a:xfrm>
          <a:prstGeom prst="rect">
            <a:avLst/>
          </a:prstGeom>
          <a:solidFill>
            <a:srgbClr val="1B9BDA"/>
          </a:solidFill>
          <a:ln w="12700">
            <a:solidFill>
              <a:srgbClr val="1B9BDA">
                <a:alpha val="0"/>
              </a:srgbClr>
            </a:solidFill>
            <a:prstDash val="solid"/>
          </a:ln>
        </p:spPr>
      </p:sp>
      <p:sp>
        <p:nvSpPr>
          <p:cNvPr id="11" name="Shape 8"/>
          <p:cNvSpPr/>
          <p:nvPr/>
        </p:nvSpPr>
        <p:spPr>
          <a:xfrm>
            <a:off x="2788920" y="1874520"/>
            <a:ext cx="137160" cy="109728"/>
          </a:xfrm>
          <a:prstGeom prst="rect">
            <a:avLst/>
          </a:prstGeom>
          <a:solidFill>
            <a:srgbClr val="1B9BDA"/>
          </a:solidFill>
          <a:ln w="12700">
            <a:solidFill>
              <a:srgbClr val="1B9BDA">
                <a:alpha val="0"/>
              </a:srgbClr>
            </a:solidFill>
            <a:prstDash val="solid"/>
          </a:ln>
        </p:spPr>
      </p:sp>
      <p:sp>
        <p:nvSpPr>
          <p:cNvPr id="12" name="Shape 9"/>
          <p:cNvSpPr/>
          <p:nvPr/>
        </p:nvSpPr>
        <p:spPr>
          <a:xfrm>
            <a:off x="2788920" y="2057400"/>
            <a:ext cx="137160" cy="109728"/>
          </a:xfrm>
          <a:prstGeom prst="rect">
            <a:avLst/>
          </a:prstGeom>
          <a:solidFill>
            <a:srgbClr val="1B9BDA"/>
          </a:solidFill>
          <a:ln w="12700">
            <a:solidFill>
              <a:srgbClr val="1B9BDA">
                <a:alpha val="0"/>
              </a:srgbClr>
            </a:solidFill>
            <a:prstDash val="solid"/>
          </a:ln>
        </p:spPr>
      </p:sp>
      <p:sp>
        <p:nvSpPr>
          <p:cNvPr id="13" name="Shape 10"/>
          <p:cNvSpPr/>
          <p:nvPr/>
        </p:nvSpPr>
        <p:spPr>
          <a:xfrm>
            <a:off x="2999232" y="1691640"/>
            <a:ext cx="137160" cy="109728"/>
          </a:xfrm>
          <a:prstGeom prst="rect">
            <a:avLst/>
          </a:prstGeom>
          <a:solidFill>
            <a:srgbClr val="1B9BDA"/>
          </a:solidFill>
          <a:ln w="12700">
            <a:solidFill>
              <a:srgbClr val="1B9BDA">
                <a:alpha val="0"/>
              </a:srgbClr>
            </a:solidFill>
            <a:prstDash val="solid"/>
          </a:ln>
        </p:spPr>
      </p:sp>
      <p:sp>
        <p:nvSpPr>
          <p:cNvPr id="14" name="Shape 11"/>
          <p:cNvSpPr/>
          <p:nvPr/>
        </p:nvSpPr>
        <p:spPr>
          <a:xfrm>
            <a:off x="2999232" y="1874520"/>
            <a:ext cx="137160" cy="109728"/>
          </a:xfrm>
          <a:prstGeom prst="rect">
            <a:avLst/>
          </a:prstGeom>
          <a:solidFill>
            <a:srgbClr val="1B9BDA"/>
          </a:solidFill>
          <a:ln w="12700">
            <a:solidFill>
              <a:srgbClr val="1B9BDA">
                <a:alpha val="0"/>
              </a:srgbClr>
            </a:solidFill>
            <a:prstDash val="solid"/>
          </a:ln>
        </p:spPr>
      </p:sp>
      <p:sp>
        <p:nvSpPr>
          <p:cNvPr id="15" name="Shape 12"/>
          <p:cNvSpPr/>
          <p:nvPr/>
        </p:nvSpPr>
        <p:spPr>
          <a:xfrm>
            <a:off x="2999232" y="2057400"/>
            <a:ext cx="137160" cy="109728"/>
          </a:xfrm>
          <a:prstGeom prst="rect">
            <a:avLst/>
          </a:prstGeom>
          <a:solidFill>
            <a:srgbClr val="1B9BDA"/>
          </a:solidFill>
          <a:ln w="12700">
            <a:solidFill>
              <a:srgbClr val="1B9BDA">
                <a:alpha val="0"/>
              </a:srgbClr>
            </a:solidFill>
            <a:prstDash val="solid"/>
          </a:ln>
        </p:spPr>
      </p:sp>
      <p:sp>
        <p:nvSpPr>
          <p:cNvPr id="16" name="Shape 13"/>
          <p:cNvSpPr/>
          <p:nvPr/>
        </p:nvSpPr>
        <p:spPr>
          <a:xfrm>
            <a:off x="3209544" y="1691640"/>
            <a:ext cx="137160" cy="109728"/>
          </a:xfrm>
          <a:prstGeom prst="rect">
            <a:avLst/>
          </a:prstGeom>
          <a:solidFill>
            <a:srgbClr val="1B9BDA"/>
          </a:solidFill>
          <a:ln w="12700">
            <a:solidFill>
              <a:srgbClr val="1B9BDA">
                <a:alpha val="0"/>
              </a:srgbClr>
            </a:solidFill>
            <a:prstDash val="solid"/>
          </a:ln>
        </p:spPr>
      </p:sp>
      <p:sp>
        <p:nvSpPr>
          <p:cNvPr id="17" name="Shape 14"/>
          <p:cNvSpPr/>
          <p:nvPr/>
        </p:nvSpPr>
        <p:spPr>
          <a:xfrm>
            <a:off x="3209544" y="1874520"/>
            <a:ext cx="137160" cy="109728"/>
          </a:xfrm>
          <a:prstGeom prst="rect">
            <a:avLst/>
          </a:prstGeom>
          <a:solidFill>
            <a:srgbClr val="1B9BDA"/>
          </a:solidFill>
          <a:ln w="12700">
            <a:solidFill>
              <a:srgbClr val="1B9BDA">
                <a:alpha val="0"/>
              </a:srgbClr>
            </a:solidFill>
            <a:prstDash val="solid"/>
          </a:ln>
        </p:spPr>
      </p:sp>
      <p:sp>
        <p:nvSpPr>
          <p:cNvPr id="18" name="Shape 15"/>
          <p:cNvSpPr/>
          <p:nvPr/>
        </p:nvSpPr>
        <p:spPr>
          <a:xfrm>
            <a:off x="3209544" y="2057400"/>
            <a:ext cx="137160" cy="109728"/>
          </a:xfrm>
          <a:prstGeom prst="rect">
            <a:avLst/>
          </a:prstGeom>
          <a:solidFill>
            <a:srgbClr val="1B9BDA"/>
          </a:solidFill>
          <a:ln w="12700">
            <a:solidFill>
              <a:srgbClr val="1B9BDA">
                <a:alpha val="0"/>
              </a:srgbClr>
            </a:solidFill>
            <a:prstDash val="solid"/>
          </a:ln>
        </p:spPr>
      </p:sp>
      <p:sp>
        <p:nvSpPr>
          <p:cNvPr id="19" name="Shape 16"/>
          <p:cNvSpPr/>
          <p:nvPr/>
        </p:nvSpPr>
        <p:spPr>
          <a:xfrm>
            <a:off x="3419856" y="1691640"/>
            <a:ext cx="137160" cy="109728"/>
          </a:xfrm>
          <a:prstGeom prst="rect">
            <a:avLst/>
          </a:prstGeom>
          <a:solidFill>
            <a:srgbClr val="1B9BDA"/>
          </a:solidFill>
          <a:ln w="12700">
            <a:solidFill>
              <a:srgbClr val="1B9BDA">
                <a:alpha val="0"/>
              </a:srgbClr>
            </a:solidFill>
            <a:prstDash val="solid"/>
          </a:ln>
        </p:spPr>
      </p:sp>
      <p:sp>
        <p:nvSpPr>
          <p:cNvPr id="20" name="Shape 17"/>
          <p:cNvSpPr/>
          <p:nvPr/>
        </p:nvSpPr>
        <p:spPr>
          <a:xfrm>
            <a:off x="3419856" y="1874520"/>
            <a:ext cx="137160" cy="109728"/>
          </a:xfrm>
          <a:prstGeom prst="rect">
            <a:avLst/>
          </a:prstGeom>
          <a:solidFill>
            <a:srgbClr val="1B9BDA"/>
          </a:solidFill>
          <a:ln w="12700">
            <a:solidFill>
              <a:srgbClr val="1B9BDA">
                <a:alpha val="0"/>
              </a:srgbClr>
            </a:solidFill>
            <a:prstDash val="solid"/>
          </a:ln>
        </p:spPr>
      </p:sp>
      <p:sp>
        <p:nvSpPr>
          <p:cNvPr id="21" name="Shape 18"/>
          <p:cNvSpPr/>
          <p:nvPr/>
        </p:nvSpPr>
        <p:spPr>
          <a:xfrm>
            <a:off x="3419856" y="2057400"/>
            <a:ext cx="137160" cy="109728"/>
          </a:xfrm>
          <a:prstGeom prst="rect">
            <a:avLst/>
          </a:prstGeom>
          <a:solidFill>
            <a:srgbClr val="1B9BDA"/>
          </a:solidFill>
          <a:ln w="12700">
            <a:solidFill>
              <a:srgbClr val="1B9BDA">
                <a:alpha val="0"/>
              </a:srgbClr>
            </a:solidFill>
            <a:prstDash val="solid"/>
          </a:ln>
        </p:spPr>
      </p:sp>
      <p:sp>
        <p:nvSpPr>
          <p:cNvPr id="22" name="Text 19"/>
          <p:cNvSpPr/>
          <p:nvPr/>
        </p:nvSpPr>
        <p:spPr>
          <a:xfrm>
            <a:off x="2606040" y="2761488"/>
            <a:ext cx="1143000" cy="274320"/>
          </a:xfrm>
          <a:prstGeom prst="rect">
            <a:avLst/>
          </a:prstGeom>
          <a:noFill/>
          <a:ln/>
        </p:spPr>
        <p:txBody>
          <a:bodyPr wrap="square" lIns="635" tIns="635" rIns="635" bIns="635" rtlCol="0" anchor="t">
            <a:normAutofit/>
          </a:bodyPr>
          <a:lstStyle/>
          <a:p>
            <a:pPr algn="ctr" indent="0" marL="0">
              <a:buNone/>
            </a:pPr>
            <a:r>
              <a:rPr lang="en-US" sz="750" b="1" dirty="0">
                <a:solidFill>
                  <a:srgbClr val="1F2933"/>
                </a:solidFill>
              </a:rPr>
              <a:t>Die / chip</a:t>
            </a:r>
            <a:endParaRPr lang="en-US" sz="750" dirty="0"/>
          </a:p>
        </p:txBody>
      </p:sp>
      <p:sp>
        <p:nvSpPr>
          <p:cNvPr id="23" name="Shape 20"/>
          <p:cNvSpPr/>
          <p:nvPr/>
        </p:nvSpPr>
        <p:spPr>
          <a:xfrm>
            <a:off x="3840480" y="2057400"/>
            <a:ext cx="548640" cy="0"/>
          </a:xfrm>
          <a:prstGeom prst="line">
            <a:avLst/>
          </a:prstGeom>
          <a:noFill/>
          <a:ln w="20320">
            <a:solidFill>
              <a:srgbClr val="1B9BDA"/>
            </a:solidFill>
            <a:prstDash val="solid"/>
            <a:headEnd type="none"/>
            <a:tailEnd type="triangle"/>
          </a:ln>
        </p:spPr>
      </p:sp>
      <p:sp>
        <p:nvSpPr>
          <p:cNvPr id="24" name="Shape 21"/>
          <p:cNvSpPr/>
          <p:nvPr/>
        </p:nvSpPr>
        <p:spPr>
          <a:xfrm>
            <a:off x="4572000" y="1536192"/>
            <a:ext cx="164592" cy="822960"/>
          </a:xfrm>
          <a:prstGeom prst="rect">
            <a:avLst/>
          </a:prstGeom>
          <a:solidFill>
            <a:srgbClr val="7B8794"/>
          </a:solidFill>
          <a:ln w="5080">
            <a:solidFill>
              <a:srgbClr val="FFFFFF"/>
            </a:solidFill>
            <a:prstDash val="solid"/>
          </a:ln>
        </p:spPr>
      </p:sp>
      <p:sp>
        <p:nvSpPr>
          <p:cNvPr id="25" name="Shape 22"/>
          <p:cNvSpPr/>
          <p:nvPr/>
        </p:nvSpPr>
        <p:spPr>
          <a:xfrm>
            <a:off x="4800600" y="1627632"/>
            <a:ext cx="164592" cy="822960"/>
          </a:xfrm>
          <a:prstGeom prst="rect">
            <a:avLst/>
          </a:prstGeom>
          <a:solidFill>
            <a:srgbClr val="9FB0BF"/>
          </a:solidFill>
          <a:ln w="5080">
            <a:solidFill>
              <a:srgbClr val="FFFFFF"/>
            </a:solidFill>
            <a:prstDash val="solid"/>
          </a:ln>
        </p:spPr>
      </p:sp>
      <p:sp>
        <p:nvSpPr>
          <p:cNvPr id="26" name="Shape 23"/>
          <p:cNvSpPr/>
          <p:nvPr/>
        </p:nvSpPr>
        <p:spPr>
          <a:xfrm>
            <a:off x="5029200" y="1719072"/>
            <a:ext cx="164592" cy="822960"/>
          </a:xfrm>
          <a:prstGeom prst="rect">
            <a:avLst/>
          </a:prstGeom>
          <a:solidFill>
            <a:srgbClr val="1B9BDA"/>
          </a:solidFill>
          <a:ln w="5080">
            <a:solidFill>
              <a:srgbClr val="FFFFFF"/>
            </a:solidFill>
            <a:prstDash val="solid"/>
          </a:ln>
        </p:spPr>
      </p:sp>
      <p:sp>
        <p:nvSpPr>
          <p:cNvPr id="27" name="Text 24"/>
          <p:cNvSpPr/>
          <p:nvPr/>
        </p:nvSpPr>
        <p:spPr>
          <a:xfrm>
            <a:off x="4315968" y="2761488"/>
            <a:ext cx="1234440" cy="274320"/>
          </a:xfrm>
          <a:prstGeom prst="rect">
            <a:avLst/>
          </a:prstGeom>
          <a:noFill/>
          <a:ln/>
        </p:spPr>
        <p:txBody>
          <a:bodyPr wrap="square" lIns="635" tIns="635" rIns="635" bIns="635" rtlCol="0" anchor="t">
            <a:normAutofit/>
          </a:bodyPr>
          <a:lstStyle/>
          <a:p>
            <a:pPr algn="ctr" indent="0" marL="0">
              <a:buNone/>
            </a:pPr>
            <a:r>
              <a:rPr lang="en-US" sz="750" b="1" dirty="0">
                <a:solidFill>
                  <a:srgbClr val="1F2933"/>
                </a:solidFill>
              </a:rPr>
              <a:t>Transistors</a:t>
            </a:r>
            <a:endParaRPr lang="en-US" sz="750" dirty="0"/>
          </a:p>
        </p:txBody>
      </p:sp>
      <p:sp>
        <p:nvSpPr>
          <p:cNvPr id="28" name="Text 25"/>
          <p:cNvSpPr/>
          <p:nvPr/>
        </p:nvSpPr>
        <p:spPr>
          <a:xfrm>
            <a:off x="667512" y="3246120"/>
            <a:ext cx="4800600" cy="502920"/>
          </a:xfrm>
          <a:prstGeom prst="rect">
            <a:avLst/>
          </a:prstGeom>
          <a:noFill/>
          <a:ln/>
        </p:spPr>
        <p:txBody>
          <a:bodyPr wrap="square" lIns="635" tIns="635" rIns="635" bIns="635" rtlCol="0" anchor="t">
            <a:normAutofit/>
          </a:bodyPr>
          <a:lstStyle/>
          <a:p>
            <a:pPr algn="l" indent="0" marL="0">
              <a:buNone/>
            </a:pPr>
            <a:r>
              <a:rPr lang="en-US" sz="940" dirty="0">
                <a:solidFill>
                  <a:srgbClr val="1F2933"/>
                </a:solidFill>
              </a:rPr>
              <a:t>A semiconductor chip is a silicon device containing microscopic electrical switches. Billions of switches together process, store and control information.</a:t>
            </a:r>
            <a:endParaRPr lang="en-US" sz="940" dirty="0"/>
          </a:p>
        </p:txBody>
      </p:sp>
      <p:sp>
        <p:nvSpPr>
          <p:cNvPr id="29" name="Shape 26"/>
          <p:cNvSpPr/>
          <p:nvPr/>
        </p:nvSpPr>
        <p:spPr>
          <a:xfrm>
            <a:off x="5897880" y="1325880"/>
            <a:ext cx="1691640" cy="2011680"/>
          </a:xfrm>
          <a:prstGeom prst="roundRect">
            <a:avLst>
              <a:gd name="adj" fmla="val 3243"/>
            </a:avLst>
          </a:prstGeom>
          <a:solidFill>
            <a:srgbClr val="FFFFFF"/>
          </a:solidFill>
          <a:ln w="8890">
            <a:solidFill>
              <a:srgbClr val="D7E0E8"/>
            </a:solidFill>
            <a:prstDash val="solid"/>
          </a:ln>
        </p:spPr>
      </p:sp>
      <p:sp>
        <p:nvSpPr>
          <p:cNvPr id="30" name="Text 27"/>
          <p:cNvSpPr/>
          <p:nvPr/>
        </p:nvSpPr>
        <p:spPr>
          <a:xfrm>
            <a:off x="6007608" y="1490472"/>
            <a:ext cx="1463040" cy="228600"/>
          </a:xfrm>
          <a:prstGeom prst="rect">
            <a:avLst/>
          </a:prstGeom>
          <a:noFill/>
          <a:ln/>
        </p:spPr>
        <p:txBody>
          <a:bodyPr wrap="square" lIns="635" tIns="635" rIns="635" bIns="635" rtlCol="0" anchor="t">
            <a:normAutofit/>
          </a:bodyPr>
          <a:lstStyle/>
          <a:p>
            <a:pPr algn="ctr" indent="0" marL="0">
              <a:buNone/>
            </a:pPr>
            <a:r>
              <a:rPr lang="en-US" sz="800" b="1" dirty="0">
                <a:solidFill>
                  <a:srgbClr val="1B9BDA"/>
                </a:solidFill>
              </a:rPr>
              <a:t>LOGIC</a:t>
            </a:r>
            <a:endParaRPr lang="en-US" sz="800" dirty="0"/>
          </a:p>
        </p:txBody>
      </p:sp>
      <p:sp>
        <p:nvSpPr>
          <p:cNvPr id="31" name="Text 28"/>
          <p:cNvSpPr/>
          <p:nvPr/>
        </p:nvSpPr>
        <p:spPr>
          <a:xfrm>
            <a:off x="6044184" y="1847088"/>
            <a:ext cx="1417320" cy="960120"/>
          </a:xfrm>
          <a:prstGeom prst="rect">
            <a:avLst/>
          </a:prstGeom>
          <a:noFill/>
          <a:ln/>
        </p:spPr>
        <p:txBody>
          <a:bodyPr wrap="square" lIns="635" tIns="635" rIns="635" bIns="635" rtlCol="0" anchor="t">
            <a:normAutofit/>
          </a:bodyPr>
          <a:lstStyle/>
          <a:p>
            <a:pPr algn="l" indent="0" marL="0">
              <a:buNone/>
            </a:pPr>
            <a:r>
              <a:rPr lang="en-US" sz="680" dirty="0">
                <a:solidFill>
                  <a:srgbClr val="1F2933"/>
                </a:solidFill>
              </a:rPr>
              <a:t>CPU, GPU, AI accelerator</a:t>
            </a:r>
            <a:endParaRPr lang="en-US" sz="680" dirty="0"/>
          </a:p>
          <a:p>
            <a:pPr algn="l" indent="0" marL="0">
              <a:buNone/>
            </a:pPr>
            <a:r>
              <a:rPr lang="en-US" sz="680" dirty="0">
                <a:solidFill>
                  <a:srgbClr val="1F2933"/>
                </a:solidFill>
              </a:rPr>
              <a:t>Nvidia / AMD / Apple designs; TSMC / Samsung / Intel fabs</a:t>
            </a:r>
            <a:endParaRPr lang="en-US" sz="680" dirty="0"/>
          </a:p>
        </p:txBody>
      </p:sp>
      <p:sp>
        <p:nvSpPr>
          <p:cNvPr id="32" name="Shape 29"/>
          <p:cNvSpPr/>
          <p:nvPr/>
        </p:nvSpPr>
        <p:spPr>
          <a:xfrm>
            <a:off x="7882128" y="1325880"/>
            <a:ext cx="1691640" cy="2011680"/>
          </a:xfrm>
          <a:prstGeom prst="roundRect">
            <a:avLst>
              <a:gd name="adj" fmla="val 3243"/>
            </a:avLst>
          </a:prstGeom>
          <a:solidFill>
            <a:srgbClr val="FFFFFF"/>
          </a:solidFill>
          <a:ln w="8890">
            <a:solidFill>
              <a:srgbClr val="D7E0E8"/>
            </a:solidFill>
            <a:prstDash val="solid"/>
          </a:ln>
        </p:spPr>
      </p:sp>
      <p:sp>
        <p:nvSpPr>
          <p:cNvPr id="33" name="Text 30"/>
          <p:cNvSpPr/>
          <p:nvPr/>
        </p:nvSpPr>
        <p:spPr>
          <a:xfrm>
            <a:off x="7991856" y="1490472"/>
            <a:ext cx="1463040" cy="228600"/>
          </a:xfrm>
          <a:prstGeom prst="rect">
            <a:avLst/>
          </a:prstGeom>
          <a:noFill/>
          <a:ln/>
        </p:spPr>
        <p:txBody>
          <a:bodyPr wrap="square" lIns="635" tIns="635" rIns="635" bIns="635" rtlCol="0" anchor="t">
            <a:normAutofit/>
          </a:bodyPr>
          <a:lstStyle/>
          <a:p>
            <a:pPr algn="ctr" indent="0" marL="0">
              <a:buNone/>
            </a:pPr>
            <a:r>
              <a:rPr lang="en-US" sz="800" b="1" dirty="0">
                <a:solidFill>
                  <a:srgbClr val="1B9BDA"/>
                </a:solidFill>
              </a:rPr>
              <a:t>MEMORY</a:t>
            </a:r>
            <a:endParaRPr lang="en-US" sz="800" dirty="0"/>
          </a:p>
        </p:txBody>
      </p:sp>
      <p:sp>
        <p:nvSpPr>
          <p:cNvPr id="34" name="Text 31"/>
          <p:cNvSpPr/>
          <p:nvPr/>
        </p:nvSpPr>
        <p:spPr>
          <a:xfrm>
            <a:off x="8028432" y="1847088"/>
            <a:ext cx="1417320" cy="960120"/>
          </a:xfrm>
          <a:prstGeom prst="rect">
            <a:avLst/>
          </a:prstGeom>
          <a:noFill/>
          <a:ln/>
        </p:spPr>
        <p:txBody>
          <a:bodyPr wrap="square" lIns="635" tIns="635" rIns="635" bIns="635" rtlCol="0" anchor="t">
            <a:normAutofit/>
          </a:bodyPr>
          <a:lstStyle/>
          <a:p>
            <a:pPr algn="l" indent="0" marL="0">
              <a:buNone/>
            </a:pPr>
            <a:r>
              <a:rPr lang="en-US" sz="680" dirty="0">
                <a:solidFill>
                  <a:srgbClr val="1F2933"/>
                </a:solidFill>
              </a:rPr>
              <a:t>DRAM, HBM, NAND</a:t>
            </a:r>
            <a:endParaRPr lang="en-US" sz="680" dirty="0"/>
          </a:p>
          <a:p>
            <a:pPr algn="l" indent="0" marL="0">
              <a:buNone/>
            </a:pPr>
            <a:r>
              <a:rPr lang="en-US" sz="680" dirty="0">
                <a:solidFill>
                  <a:srgbClr val="1F2933"/>
                </a:solidFill>
              </a:rPr>
              <a:t>HBM = stacked high-speed DRAM beside AI processor</a:t>
            </a:r>
            <a:endParaRPr lang="en-US" sz="680" dirty="0"/>
          </a:p>
        </p:txBody>
      </p:sp>
      <p:sp>
        <p:nvSpPr>
          <p:cNvPr id="35" name="Shape 32"/>
          <p:cNvSpPr/>
          <p:nvPr/>
        </p:nvSpPr>
        <p:spPr>
          <a:xfrm>
            <a:off x="9857232" y="1325880"/>
            <a:ext cx="1691640" cy="2011680"/>
          </a:xfrm>
          <a:prstGeom prst="roundRect">
            <a:avLst>
              <a:gd name="adj" fmla="val 3243"/>
            </a:avLst>
          </a:prstGeom>
          <a:solidFill>
            <a:srgbClr val="FFFFFF"/>
          </a:solidFill>
          <a:ln w="8890">
            <a:solidFill>
              <a:srgbClr val="D7E0E8"/>
            </a:solidFill>
            <a:prstDash val="solid"/>
          </a:ln>
        </p:spPr>
      </p:sp>
      <p:sp>
        <p:nvSpPr>
          <p:cNvPr id="36" name="Text 33"/>
          <p:cNvSpPr/>
          <p:nvPr/>
        </p:nvSpPr>
        <p:spPr>
          <a:xfrm>
            <a:off x="9966960" y="1490472"/>
            <a:ext cx="1463040" cy="228600"/>
          </a:xfrm>
          <a:prstGeom prst="rect">
            <a:avLst/>
          </a:prstGeom>
          <a:noFill/>
          <a:ln/>
        </p:spPr>
        <p:txBody>
          <a:bodyPr wrap="square" lIns="635" tIns="635" rIns="635" bIns="635" rtlCol="0" anchor="t">
            <a:normAutofit/>
          </a:bodyPr>
          <a:lstStyle/>
          <a:p>
            <a:pPr algn="ctr" indent="0" marL="0">
              <a:buNone/>
            </a:pPr>
            <a:r>
              <a:rPr lang="en-US" sz="800" b="1" dirty="0">
                <a:solidFill>
                  <a:srgbClr val="1B9BDA"/>
                </a:solidFill>
              </a:rPr>
              <a:t>ANALOG / POWER</a:t>
            </a:r>
            <a:endParaRPr lang="en-US" sz="800" dirty="0"/>
          </a:p>
        </p:txBody>
      </p:sp>
      <p:sp>
        <p:nvSpPr>
          <p:cNvPr id="37" name="Text 34"/>
          <p:cNvSpPr/>
          <p:nvPr/>
        </p:nvSpPr>
        <p:spPr>
          <a:xfrm>
            <a:off x="10003536" y="1847088"/>
            <a:ext cx="1417320" cy="960120"/>
          </a:xfrm>
          <a:prstGeom prst="rect">
            <a:avLst/>
          </a:prstGeom>
          <a:noFill/>
          <a:ln/>
        </p:spPr>
        <p:txBody>
          <a:bodyPr wrap="square" lIns="635" tIns="635" rIns="635" bIns="635" rtlCol="0" anchor="t">
            <a:normAutofit/>
          </a:bodyPr>
          <a:lstStyle/>
          <a:p>
            <a:pPr algn="l" indent="0" marL="0">
              <a:buNone/>
            </a:pPr>
            <a:r>
              <a:rPr lang="en-US" sz="680" dirty="0">
                <a:solidFill>
                  <a:srgbClr val="1F2933"/>
                </a:solidFill>
              </a:rPr>
              <a:t>Auto, industrial, sensors</a:t>
            </a:r>
            <a:endParaRPr lang="en-US" sz="680" dirty="0"/>
          </a:p>
          <a:p>
            <a:pPr algn="l" indent="0" marL="0">
              <a:buNone/>
            </a:pPr>
            <a:r>
              <a:rPr lang="en-US" sz="680" dirty="0">
                <a:solidFill>
                  <a:srgbClr val="1F2933"/>
                </a:solidFill>
              </a:rPr>
              <a:t>Lower leading-edge intensity, but broad vacuum exposure</a:t>
            </a:r>
            <a:endParaRPr lang="en-US" sz="680" dirty="0"/>
          </a:p>
        </p:txBody>
      </p:sp>
      <p:sp>
        <p:nvSpPr>
          <p:cNvPr id="38" name="Shape 35"/>
          <p:cNvSpPr/>
          <p:nvPr/>
        </p:nvSpPr>
        <p:spPr>
          <a:xfrm>
            <a:off x="5897880" y="3977640"/>
            <a:ext cx="5650992" cy="1463040"/>
          </a:xfrm>
          <a:prstGeom prst="roundRect">
            <a:avLst>
              <a:gd name="adj" fmla="val 3750"/>
            </a:avLst>
          </a:prstGeom>
          <a:solidFill>
            <a:srgbClr val="F8FAFC"/>
          </a:solidFill>
          <a:ln w="8890">
            <a:solidFill>
              <a:srgbClr val="D7E0E8"/>
            </a:solidFill>
            <a:prstDash val="solid"/>
          </a:ln>
        </p:spPr>
      </p:sp>
      <p:sp>
        <p:nvSpPr>
          <p:cNvPr id="39" name="Text 36"/>
          <p:cNvSpPr/>
          <p:nvPr/>
        </p:nvSpPr>
        <p:spPr>
          <a:xfrm>
            <a:off x="6053328" y="4160520"/>
            <a:ext cx="1463040" cy="228600"/>
          </a:xfrm>
          <a:prstGeom prst="rect">
            <a:avLst/>
          </a:prstGeom>
          <a:noFill/>
          <a:ln/>
        </p:spPr>
        <p:txBody>
          <a:bodyPr wrap="square" lIns="635" tIns="635" rIns="635" bIns="635" rtlCol="0" anchor="t">
            <a:normAutofit/>
          </a:bodyPr>
          <a:lstStyle/>
          <a:p>
            <a:pPr algn="l" indent="0" marL="0">
              <a:buNone/>
            </a:pPr>
            <a:r>
              <a:rPr lang="en-US" sz="820" b="1" dirty="0">
                <a:solidFill>
                  <a:srgbClr val="1F2933"/>
                </a:solidFill>
              </a:rPr>
              <a:t>Who buys the machines?</a:t>
            </a:r>
            <a:endParaRPr lang="en-US" sz="820" dirty="0"/>
          </a:p>
        </p:txBody>
      </p:sp>
      <p:sp>
        <p:nvSpPr>
          <p:cNvPr id="40" name="Text 37"/>
          <p:cNvSpPr/>
          <p:nvPr/>
        </p:nvSpPr>
        <p:spPr>
          <a:xfrm>
            <a:off x="6053328" y="4498848"/>
            <a:ext cx="5257800" cy="502920"/>
          </a:xfrm>
          <a:prstGeom prst="rect">
            <a:avLst/>
          </a:prstGeom>
          <a:noFill/>
          <a:ln/>
        </p:spPr>
        <p:txBody>
          <a:bodyPr wrap="square" lIns="635" tIns="635" rIns="635" bIns="635" rtlCol="0" anchor="t">
            <a:normAutofit/>
          </a:bodyPr>
          <a:lstStyle/>
          <a:p>
            <a:pPr algn="l" indent="0" marL="0">
              <a:buNone/>
            </a:pPr>
            <a:r>
              <a:rPr lang="en-US" sz="820" dirty="0">
                <a:solidFill>
                  <a:srgbClr val="1F2933"/>
                </a:solidFill>
              </a:rPr>
              <a:t>Fabless = designs only (Nvidia).  Foundry = manufactures for others (TSMC).  IDM = designs and manufactures (Intel / Samsung / Micron). VAT demand ultimately follows foundry and IDM capex budgets, usually via equipment OEM procurement.</a:t>
            </a:r>
            <a:endParaRPr lang="en-US" sz="820" dirty="0"/>
          </a:p>
        </p:txBody>
      </p:sp>
      <p:sp>
        <p:nvSpPr>
          <p:cNvPr id="41" name="Shape 38"/>
          <p:cNvSpPr/>
          <p:nvPr/>
        </p:nvSpPr>
        <p:spPr>
          <a:xfrm>
            <a:off x="411480" y="6428232"/>
            <a:ext cx="11384280" cy="0"/>
          </a:xfrm>
          <a:prstGeom prst="line">
            <a:avLst/>
          </a:prstGeom>
          <a:noFill/>
          <a:ln w="7620">
            <a:solidFill>
              <a:srgbClr val="D7E0E8"/>
            </a:solidFill>
            <a:prstDash val="solid"/>
          </a:ln>
        </p:spPr>
      </p:sp>
      <p:sp>
        <p:nvSpPr>
          <p:cNvPr id="42" name="Text 39"/>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Uploaded VAT 101 document; TSMC / Samsung / Intel / Micron company materials; analyst estimates.</a:t>
            </a:r>
            <a:endParaRPr lang="en-US" sz="550" dirty="0"/>
          </a:p>
        </p:txBody>
      </p:sp>
      <p:sp>
        <p:nvSpPr>
          <p:cNvPr id="43" name="Text 40"/>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3</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VAT Group AG (SIX: VACN) | BUY</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Advanced chips are built through repeated deposition, lithography and etch steps - VAT matters most where vacuum intensity is highest</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502920" y="1298448"/>
            <a:ext cx="1078992" cy="777240"/>
          </a:xfrm>
          <a:prstGeom prst="roundRect">
            <a:avLst>
              <a:gd name="adj" fmla="val 7059"/>
            </a:avLst>
          </a:prstGeom>
          <a:solidFill>
            <a:srgbClr val="FFFFFF"/>
          </a:solidFill>
          <a:ln w="8890">
            <a:solidFill>
              <a:srgbClr val="D7E0E8"/>
            </a:solidFill>
            <a:prstDash val="solid"/>
          </a:ln>
        </p:spPr>
      </p:sp>
      <p:sp>
        <p:nvSpPr>
          <p:cNvPr id="7" name="Text 4"/>
          <p:cNvSpPr/>
          <p:nvPr/>
        </p:nvSpPr>
        <p:spPr>
          <a:xfrm>
            <a:off x="548640" y="1408176"/>
            <a:ext cx="987552" cy="210312"/>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Wafer</a:t>
            </a:r>
            <a:endParaRPr lang="en-US" sz="650" dirty="0"/>
          </a:p>
        </p:txBody>
      </p:sp>
      <p:sp>
        <p:nvSpPr>
          <p:cNvPr id="8" name="Shape 5"/>
          <p:cNvSpPr/>
          <p:nvPr/>
        </p:nvSpPr>
        <p:spPr>
          <a:xfrm>
            <a:off x="667512" y="1755648"/>
            <a:ext cx="749808" cy="201168"/>
          </a:xfrm>
          <a:prstGeom prst="roundRect">
            <a:avLst>
              <a:gd name="adj" fmla="val 36364"/>
            </a:avLst>
          </a:prstGeom>
          <a:solidFill>
            <a:srgbClr val="F2F4F7"/>
          </a:solidFill>
          <a:ln w="12700">
            <a:solidFill>
              <a:srgbClr val="F2F4F7">
                <a:alpha val="0"/>
              </a:srgbClr>
            </a:solidFill>
            <a:prstDash val="solid"/>
          </a:ln>
        </p:spPr>
      </p:sp>
      <p:sp>
        <p:nvSpPr>
          <p:cNvPr id="9" name="Text 6"/>
          <p:cNvSpPr/>
          <p:nvPr/>
        </p:nvSpPr>
        <p:spPr>
          <a:xfrm>
            <a:off x="713232" y="1805940"/>
            <a:ext cx="658368" cy="128016"/>
          </a:xfrm>
          <a:prstGeom prst="rect">
            <a:avLst/>
          </a:prstGeom>
          <a:noFill/>
          <a:ln/>
        </p:spPr>
        <p:txBody>
          <a:bodyPr wrap="square" lIns="0" tIns="0" rIns="0" bIns="0" rtlCol="0" anchor="ctr">
            <a:normAutofit/>
          </a:bodyPr>
          <a:lstStyle/>
          <a:p>
            <a:pPr algn="ctr" indent="0" marL="0">
              <a:buNone/>
            </a:pPr>
            <a:r>
              <a:rPr lang="en-US" sz="550" b="1" dirty="0">
                <a:solidFill>
                  <a:srgbClr val="A8B4BF"/>
                </a:solidFill>
              </a:rPr>
              <a:t>Low</a:t>
            </a:r>
            <a:endParaRPr lang="en-US" sz="550" dirty="0"/>
          </a:p>
        </p:txBody>
      </p:sp>
      <p:sp>
        <p:nvSpPr>
          <p:cNvPr id="10" name="Shape 7"/>
          <p:cNvSpPr/>
          <p:nvPr/>
        </p:nvSpPr>
        <p:spPr>
          <a:xfrm>
            <a:off x="1591056" y="1691640"/>
            <a:ext cx="27432" cy="0"/>
          </a:xfrm>
          <a:prstGeom prst="line">
            <a:avLst/>
          </a:prstGeom>
          <a:noFill/>
          <a:ln w="10160">
            <a:solidFill>
              <a:srgbClr val="A8B4BF"/>
            </a:solidFill>
            <a:prstDash val="solid"/>
            <a:headEnd type="none"/>
            <a:tailEnd type="triangle"/>
          </a:ln>
        </p:spPr>
      </p:sp>
      <p:sp>
        <p:nvSpPr>
          <p:cNvPr id="11" name="Shape 8"/>
          <p:cNvSpPr/>
          <p:nvPr/>
        </p:nvSpPr>
        <p:spPr>
          <a:xfrm>
            <a:off x="1655064" y="1298448"/>
            <a:ext cx="1078992" cy="777240"/>
          </a:xfrm>
          <a:prstGeom prst="roundRect">
            <a:avLst>
              <a:gd name="adj" fmla="val 7059"/>
            </a:avLst>
          </a:prstGeom>
          <a:solidFill>
            <a:srgbClr val="FFFFFF"/>
          </a:solidFill>
          <a:ln w="8890">
            <a:solidFill>
              <a:srgbClr val="D7E0E8"/>
            </a:solidFill>
            <a:prstDash val="solid"/>
          </a:ln>
        </p:spPr>
      </p:sp>
      <p:sp>
        <p:nvSpPr>
          <p:cNvPr id="12" name="Text 9"/>
          <p:cNvSpPr/>
          <p:nvPr/>
        </p:nvSpPr>
        <p:spPr>
          <a:xfrm>
            <a:off x="1700784" y="1408176"/>
            <a:ext cx="987552" cy="210312"/>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Deposition</a:t>
            </a:r>
            <a:endParaRPr lang="en-US" sz="650" dirty="0"/>
          </a:p>
        </p:txBody>
      </p:sp>
      <p:sp>
        <p:nvSpPr>
          <p:cNvPr id="13" name="Shape 10"/>
          <p:cNvSpPr/>
          <p:nvPr/>
        </p:nvSpPr>
        <p:spPr>
          <a:xfrm>
            <a:off x="1819656" y="1755648"/>
            <a:ext cx="749808" cy="201168"/>
          </a:xfrm>
          <a:prstGeom prst="roundRect">
            <a:avLst>
              <a:gd name="adj" fmla="val 36364"/>
            </a:avLst>
          </a:prstGeom>
          <a:solidFill>
            <a:srgbClr val="EAF6FC"/>
          </a:solidFill>
          <a:ln w="12700">
            <a:solidFill>
              <a:srgbClr val="EAF6FC">
                <a:alpha val="0"/>
              </a:srgbClr>
            </a:solidFill>
            <a:prstDash val="solid"/>
          </a:ln>
        </p:spPr>
      </p:sp>
      <p:sp>
        <p:nvSpPr>
          <p:cNvPr id="14" name="Text 11"/>
          <p:cNvSpPr/>
          <p:nvPr/>
        </p:nvSpPr>
        <p:spPr>
          <a:xfrm>
            <a:off x="1865376" y="1805940"/>
            <a:ext cx="658368" cy="128016"/>
          </a:xfrm>
          <a:prstGeom prst="rect">
            <a:avLst/>
          </a:prstGeom>
          <a:noFill/>
          <a:ln/>
        </p:spPr>
        <p:txBody>
          <a:bodyPr wrap="square" lIns="0" tIns="0" rIns="0" bIns="0" rtlCol="0" anchor="ctr">
            <a:normAutofit/>
          </a:bodyPr>
          <a:lstStyle/>
          <a:p>
            <a:pPr algn="ctr" indent="0" marL="0">
              <a:buNone/>
            </a:pPr>
            <a:r>
              <a:rPr lang="en-US" sz="550" b="1" dirty="0">
                <a:solidFill>
                  <a:srgbClr val="1B9BDA"/>
                </a:solidFill>
              </a:rPr>
              <a:t>High</a:t>
            </a:r>
            <a:endParaRPr lang="en-US" sz="550" dirty="0"/>
          </a:p>
        </p:txBody>
      </p:sp>
      <p:sp>
        <p:nvSpPr>
          <p:cNvPr id="15" name="Shape 12"/>
          <p:cNvSpPr/>
          <p:nvPr/>
        </p:nvSpPr>
        <p:spPr>
          <a:xfrm>
            <a:off x="2743200" y="1691640"/>
            <a:ext cx="27432" cy="0"/>
          </a:xfrm>
          <a:prstGeom prst="line">
            <a:avLst/>
          </a:prstGeom>
          <a:noFill/>
          <a:ln w="10160">
            <a:solidFill>
              <a:srgbClr val="A8B4BF"/>
            </a:solidFill>
            <a:prstDash val="solid"/>
            <a:headEnd type="none"/>
            <a:tailEnd type="triangle"/>
          </a:ln>
        </p:spPr>
      </p:sp>
      <p:sp>
        <p:nvSpPr>
          <p:cNvPr id="16" name="Shape 13"/>
          <p:cNvSpPr/>
          <p:nvPr/>
        </p:nvSpPr>
        <p:spPr>
          <a:xfrm>
            <a:off x="2807208" y="1298448"/>
            <a:ext cx="1078992" cy="777240"/>
          </a:xfrm>
          <a:prstGeom prst="roundRect">
            <a:avLst>
              <a:gd name="adj" fmla="val 7059"/>
            </a:avLst>
          </a:prstGeom>
          <a:solidFill>
            <a:srgbClr val="FFFFFF"/>
          </a:solidFill>
          <a:ln w="8890">
            <a:solidFill>
              <a:srgbClr val="D7E0E8"/>
            </a:solidFill>
            <a:prstDash val="solid"/>
          </a:ln>
        </p:spPr>
      </p:sp>
      <p:sp>
        <p:nvSpPr>
          <p:cNvPr id="17" name="Text 14"/>
          <p:cNvSpPr/>
          <p:nvPr/>
        </p:nvSpPr>
        <p:spPr>
          <a:xfrm>
            <a:off x="2852928" y="1408176"/>
            <a:ext cx="987552" cy="210312"/>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Photoresist</a:t>
            </a:r>
            <a:endParaRPr lang="en-US" sz="650" dirty="0"/>
          </a:p>
        </p:txBody>
      </p:sp>
      <p:sp>
        <p:nvSpPr>
          <p:cNvPr id="18" name="Shape 15"/>
          <p:cNvSpPr/>
          <p:nvPr/>
        </p:nvSpPr>
        <p:spPr>
          <a:xfrm>
            <a:off x="2971800" y="1755648"/>
            <a:ext cx="749808" cy="201168"/>
          </a:xfrm>
          <a:prstGeom prst="roundRect">
            <a:avLst>
              <a:gd name="adj" fmla="val 36364"/>
            </a:avLst>
          </a:prstGeom>
          <a:solidFill>
            <a:srgbClr val="F2F4F7"/>
          </a:solidFill>
          <a:ln w="12700">
            <a:solidFill>
              <a:srgbClr val="F2F4F7">
                <a:alpha val="0"/>
              </a:srgbClr>
            </a:solidFill>
            <a:prstDash val="solid"/>
          </a:ln>
        </p:spPr>
      </p:sp>
      <p:sp>
        <p:nvSpPr>
          <p:cNvPr id="19" name="Text 16"/>
          <p:cNvSpPr/>
          <p:nvPr/>
        </p:nvSpPr>
        <p:spPr>
          <a:xfrm>
            <a:off x="3017520" y="1805940"/>
            <a:ext cx="658368" cy="128016"/>
          </a:xfrm>
          <a:prstGeom prst="rect">
            <a:avLst/>
          </a:prstGeom>
          <a:noFill/>
          <a:ln/>
        </p:spPr>
        <p:txBody>
          <a:bodyPr wrap="square" lIns="0" tIns="0" rIns="0" bIns="0" rtlCol="0" anchor="ctr">
            <a:normAutofit/>
          </a:bodyPr>
          <a:lstStyle/>
          <a:p>
            <a:pPr algn="ctr" indent="0" marL="0">
              <a:buNone/>
            </a:pPr>
            <a:r>
              <a:rPr lang="en-US" sz="550" b="1" dirty="0">
                <a:solidFill>
                  <a:srgbClr val="A8B4BF"/>
                </a:solidFill>
              </a:rPr>
              <a:t>Low</a:t>
            </a:r>
            <a:endParaRPr lang="en-US" sz="550" dirty="0"/>
          </a:p>
        </p:txBody>
      </p:sp>
      <p:sp>
        <p:nvSpPr>
          <p:cNvPr id="20" name="Shape 17"/>
          <p:cNvSpPr/>
          <p:nvPr/>
        </p:nvSpPr>
        <p:spPr>
          <a:xfrm>
            <a:off x="3895344" y="1691640"/>
            <a:ext cx="27432" cy="0"/>
          </a:xfrm>
          <a:prstGeom prst="line">
            <a:avLst/>
          </a:prstGeom>
          <a:noFill/>
          <a:ln w="10160">
            <a:solidFill>
              <a:srgbClr val="A8B4BF"/>
            </a:solidFill>
            <a:prstDash val="solid"/>
            <a:headEnd type="none"/>
            <a:tailEnd type="triangle"/>
          </a:ln>
        </p:spPr>
      </p:sp>
      <p:sp>
        <p:nvSpPr>
          <p:cNvPr id="21" name="Shape 18"/>
          <p:cNvSpPr/>
          <p:nvPr/>
        </p:nvSpPr>
        <p:spPr>
          <a:xfrm>
            <a:off x="3959352" y="1298448"/>
            <a:ext cx="1078992" cy="777240"/>
          </a:xfrm>
          <a:prstGeom prst="roundRect">
            <a:avLst>
              <a:gd name="adj" fmla="val 7059"/>
            </a:avLst>
          </a:prstGeom>
          <a:solidFill>
            <a:srgbClr val="FFFFFF"/>
          </a:solidFill>
          <a:ln w="8890">
            <a:solidFill>
              <a:srgbClr val="D7E0E8"/>
            </a:solidFill>
            <a:prstDash val="solid"/>
          </a:ln>
        </p:spPr>
      </p:sp>
      <p:sp>
        <p:nvSpPr>
          <p:cNvPr id="22" name="Text 19"/>
          <p:cNvSpPr/>
          <p:nvPr/>
        </p:nvSpPr>
        <p:spPr>
          <a:xfrm>
            <a:off x="4005072" y="1408176"/>
            <a:ext cx="987552" cy="210312"/>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Lithography</a:t>
            </a:r>
            <a:endParaRPr lang="en-US" sz="650" dirty="0"/>
          </a:p>
        </p:txBody>
      </p:sp>
      <p:sp>
        <p:nvSpPr>
          <p:cNvPr id="23" name="Shape 20"/>
          <p:cNvSpPr/>
          <p:nvPr/>
        </p:nvSpPr>
        <p:spPr>
          <a:xfrm>
            <a:off x="4123944" y="1755648"/>
            <a:ext cx="749808" cy="201168"/>
          </a:xfrm>
          <a:prstGeom prst="roundRect">
            <a:avLst>
              <a:gd name="adj" fmla="val 36364"/>
            </a:avLst>
          </a:prstGeom>
          <a:solidFill>
            <a:srgbClr val="FFF7E8"/>
          </a:solidFill>
          <a:ln w="12700">
            <a:solidFill>
              <a:srgbClr val="FFF7E8">
                <a:alpha val="0"/>
              </a:srgbClr>
            </a:solidFill>
            <a:prstDash val="solid"/>
          </a:ln>
        </p:spPr>
      </p:sp>
      <p:sp>
        <p:nvSpPr>
          <p:cNvPr id="24" name="Text 21"/>
          <p:cNvSpPr/>
          <p:nvPr/>
        </p:nvSpPr>
        <p:spPr>
          <a:xfrm>
            <a:off x="4169664" y="1805940"/>
            <a:ext cx="658368" cy="128016"/>
          </a:xfrm>
          <a:prstGeom prst="rect">
            <a:avLst/>
          </a:prstGeom>
          <a:noFill/>
          <a:ln/>
        </p:spPr>
        <p:txBody>
          <a:bodyPr wrap="square" lIns="0" tIns="0" rIns="0" bIns="0" rtlCol="0" anchor="ctr">
            <a:normAutofit/>
          </a:bodyPr>
          <a:lstStyle/>
          <a:p>
            <a:pPr algn="ctr" indent="0" marL="0">
              <a:buNone/>
            </a:pPr>
            <a:r>
              <a:rPr lang="en-US" sz="550" b="1" dirty="0">
                <a:solidFill>
                  <a:srgbClr val="F59E0B"/>
                </a:solidFill>
              </a:rPr>
              <a:t>Medium</a:t>
            </a:r>
            <a:endParaRPr lang="en-US" sz="550" dirty="0"/>
          </a:p>
        </p:txBody>
      </p:sp>
      <p:sp>
        <p:nvSpPr>
          <p:cNvPr id="25" name="Shape 22"/>
          <p:cNvSpPr/>
          <p:nvPr/>
        </p:nvSpPr>
        <p:spPr>
          <a:xfrm>
            <a:off x="5047488" y="1691640"/>
            <a:ext cx="27432" cy="0"/>
          </a:xfrm>
          <a:prstGeom prst="line">
            <a:avLst/>
          </a:prstGeom>
          <a:noFill/>
          <a:ln w="10160">
            <a:solidFill>
              <a:srgbClr val="A8B4BF"/>
            </a:solidFill>
            <a:prstDash val="solid"/>
            <a:headEnd type="none"/>
            <a:tailEnd type="triangle"/>
          </a:ln>
        </p:spPr>
      </p:sp>
      <p:sp>
        <p:nvSpPr>
          <p:cNvPr id="26" name="Shape 23"/>
          <p:cNvSpPr/>
          <p:nvPr/>
        </p:nvSpPr>
        <p:spPr>
          <a:xfrm>
            <a:off x="5111496" y="1298448"/>
            <a:ext cx="1078992" cy="777240"/>
          </a:xfrm>
          <a:prstGeom prst="roundRect">
            <a:avLst>
              <a:gd name="adj" fmla="val 7059"/>
            </a:avLst>
          </a:prstGeom>
          <a:solidFill>
            <a:srgbClr val="FFFFFF"/>
          </a:solidFill>
          <a:ln w="8890">
            <a:solidFill>
              <a:srgbClr val="D7E0E8"/>
            </a:solidFill>
            <a:prstDash val="solid"/>
          </a:ln>
        </p:spPr>
      </p:sp>
      <p:sp>
        <p:nvSpPr>
          <p:cNvPr id="27" name="Text 24"/>
          <p:cNvSpPr/>
          <p:nvPr/>
        </p:nvSpPr>
        <p:spPr>
          <a:xfrm>
            <a:off x="5157216" y="1408176"/>
            <a:ext cx="987552" cy="210312"/>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Etch</a:t>
            </a:r>
            <a:endParaRPr lang="en-US" sz="650" dirty="0"/>
          </a:p>
        </p:txBody>
      </p:sp>
      <p:sp>
        <p:nvSpPr>
          <p:cNvPr id="28" name="Shape 25"/>
          <p:cNvSpPr/>
          <p:nvPr/>
        </p:nvSpPr>
        <p:spPr>
          <a:xfrm>
            <a:off x="5276088" y="1755648"/>
            <a:ext cx="749808" cy="201168"/>
          </a:xfrm>
          <a:prstGeom prst="roundRect">
            <a:avLst>
              <a:gd name="adj" fmla="val 36364"/>
            </a:avLst>
          </a:prstGeom>
          <a:solidFill>
            <a:srgbClr val="EAF6FC"/>
          </a:solidFill>
          <a:ln w="12700">
            <a:solidFill>
              <a:srgbClr val="EAF6FC">
                <a:alpha val="0"/>
              </a:srgbClr>
            </a:solidFill>
            <a:prstDash val="solid"/>
          </a:ln>
        </p:spPr>
      </p:sp>
      <p:sp>
        <p:nvSpPr>
          <p:cNvPr id="29" name="Text 26"/>
          <p:cNvSpPr/>
          <p:nvPr/>
        </p:nvSpPr>
        <p:spPr>
          <a:xfrm>
            <a:off x="5321808" y="1805940"/>
            <a:ext cx="658368" cy="128016"/>
          </a:xfrm>
          <a:prstGeom prst="rect">
            <a:avLst/>
          </a:prstGeom>
          <a:noFill/>
          <a:ln/>
        </p:spPr>
        <p:txBody>
          <a:bodyPr wrap="square" lIns="0" tIns="0" rIns="0" bIns="0" rtlCol="0" anchor="ctr">
            <a:normAutofit/>
          </a:bodyPr>
          <a:lstStyle/>
          <a:p>
            <a:pPr algn="ctr" indent="0" marL="0">
              <a:buNone/>
            </a:pPr>
            <a:r>
              <a:rPr lang="en-US" sz="550" b="1" dirty="0">
                <a:solidFill>
                  <a:srgbClr val="1B9BDA"/>
                </a:solidFill>
              </a:rPr>
              <a:t>High</a:t>
            </a:r>
            <a:endParaRPr lang="en-US" sz="550" dirty="0"/>
          </a:p>
        </p:txBody>
      </p:sp>
      <p:sp>
        <p:nvSpPr>
          <p:cNvPr id="30" name="Shape 27"/>
          <p:cNvSpPr/>
          <p:nvPr/>
        </p:nvSpPr>
        <p:spPr>
          <a:xfrm>
            <a:off x="6199632" y="1691640"/>
            <a:ext cx="27432" cy="0"/>
          </a:xfrm>
          <a:prstGeom prst="line">
            <a:avLst/>
          </a:prstGeom>
          <a:noFill/>
          <a:ln w="10160">
            <a:solidFill>
              <a:srgbClr val="A8B4BF"/>
            </a:solidFill>
            <a:prstDash val="solid"/>
            <a:headEnd type="none"/>
            <a:tailEnd type="triangle"/>
          </a:ln>
        </p:spPr>
      </p:sp>
      <p:sp>
        <p:nvSpPr>
          <p:cNvPr id="31" name="Shape 28"/>
          <p:cNvSpPr/>
          <p:nvPr/>
        </p:nvSpPr>
        <p:spPr>
          <a:xfrm>
            <a:off x="6263640" y="1298448"/>
            <a:ext cx="1078992" cy="777240"/>
          </a:xfrm>
          <a:prstGeom prst="roundRect">
            <a:avLst>
              <a:gd name="adj" fmla="val 7059"/>
            </a:avLst>
          </a:prstGeom>
          <a:solidFill>
            <a:srgbClr val="FFFFFF"/>
          </a:solidFill>
          <a:ln w="8890">
            <a:solidFill>
              <a:srgbClr val="D7E0E8"/>
            </a:solidFill>
            <a:prstDash val="solid"/>
          </a:ln>
        </p:spPr>
      </p:sp>
      <p:sp>
        <p:nvSpPr>
          <p:cNvPr id="32" name="Text 29"/>
          <p:cNvSpPr/>
          <p:nvPr/>
        </p:nvSpPr>
        <p:spPr>
          <a:xfrm>
            <a:off x="6309360" y="1408176"/>
            <a:ext cx="987552" cy="210312"/>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Implant</a:t>
            </a:r>
            <a:endParaRPr lang="en-US" sz="650" dirty="0"/>
          </a:p>
        </p:txBody>
      </p:sp>
      <p:sp>
        <p:nvSpPr>
          <p:cNvPr id="33" name="Shape 30"/>
          <p:cNvSpPr/>
          <p:nvPr/>
        </p:nvSpPr>
        <p:spPr>
          <a:xfrm>
            <a:off x="6428232" y="1755648"/>
            <a:ext cx="749808" cy="201168"/>
          </a:xfrm>
          <a:prstGeom prst="roundRect">
            <a:avLst>
              <a:gd name="adj" fmla="val 36364"/>
            </a:avLst>
          </a:prstGeom>
          <a:solidFill>
            <a:srgbClr val="FFF7E8"/>
          </a:solidFill>
          <a:ln w="12700">
            <a:solidFill>
              <a:srgbClr val="FFF7E8">
                <a:alpha val="0"/>
              </a:srgbClr>
            </a:solidFill>
            <a:prstDash val="solid"/>
          </a:ln>
        </p:spPr>
      </p:sp>
      <p:sp>
        <p:nvSpPr>
          <p:cNvPr id="34" name="Text 31"/>
          <p:cNvSpPr/>
          <p:nvPr/>
        </p:nvSpPr>
        <p:spPr>
          <a:xfrm>
            <a:off x="6473952" y="1805940"/>
            <a:ext cx="658368" cy="128016"/>
          </a:xfrm>
          <a:prstGeom prst="rect">
            <a:avLst/>
          </a:prstGeom>
          <a:noFill/>
          <a:ln/>
        </p:spPr>
        <p:txBody>
          <a:bodyPr wrap="square" lIns="0" tIns="0" rIns="0" bIns="0" rtlCol="0" anchor="ctr">
            <a:normAutofit/>
          </a:bodyPr>
          <a:lstStyle/>
          <a:p>
            <a:pPr algn="ctr" indent="0" marL="0">
              <a:buNone/>
            </a:pPr>
            <a:r>
              <a:rPr lang="en-US" sz="550" b="1" dirty="0">
                <a:solidFill>
                  <a:srgbClr val="F59E0B"/>
                </a:solidFill>
              </a:rPr>
              <a:t>Medium</a:t>
            </a:r>
            <a:endParaRPr lang="en-US" sz="550" dirty="0"/>
          </a:p>
        </p:txBody>
      </p:sp>
      <p:sp>
        <p:nvSpPr>
          <p:cNvPr id="35" name="Shape 32"/>
          <p:cNvSpPr/>
          <p:nvPr/>
        </p:nvSpPr>
        <p:spPr>
          <a:xfrm>
            <a:off x="7351776" y="1691640"/>
            <a:ext cx="27432" cy="0"/>
          </a:xfrm>
          <a:prstGeom prst="line">
            <a:avLst/>
          </a:prstGeom>
          <a:noFill/>
          <a:ln w="10160">
            <a:solidFill>
              <a:srgbClr val="A8B4BF"/>
            </a:solidFill>
            <a:prstDash val="solid"/>
            <a:headEnd type="none"/>
            <a:tailEnd type="triangle"/>
          </a:ln>
        </p:spPr>
      </p:sp>
      <p:sp>
        <p:nvSpPr>
          <p:cNvPr id="36" name="Shape 33"/>
          <p:cNvSpPr/>
          <p:nvPr/>
        </p:nvSpPr>
        <p:spPr>
          <a:xfrm>
            <a:off x="7415784" y="1298448"/>
            <a:ext cx="1078992" cy="777240"/>
          </a:xfrm>
          <a:prstGeom prst="roundRect">
            <a:avLst>
              <a:gd name="adj" fmla="val 7059"/>
            </a:avLst>
          </a:prstGeom>
          <a:solidFill>
            <a:srgbClr val="FFFFFF"/>
          </a:solidFill>
          <a:ln w="8890">
            <a:solidFill>
              <a:srgbClr val="D7E0E8"/>
            </a:solidFill>
            <a:prstDash val="solid"/>
          </a:ln>
        </p:spPr>
      </p:sp>
      <p:sp>
        <p:nvSpPr>
          <p:cNvPr id="37" name="Text 34"/>
          <p:cNvSpPr/>
          <p:nvPr/>
        </p:nvSpPr>
        <p:spPr>
          <a:xfrm>
            <a:off x="7461504" y="1408176"/>
            <a:ext cx="987552" cy="210312"/>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Clean / CMP</a:t>
            </a:r>
            <a:endParaRPr lang="en-US" sz="650" dirty="0"/>
          </a:p>
        </p:txBody>
      </p:sp>
      <p:sp>
        <p:nvSpPr>
          <p:cNvPr id="38" name="Shape 35"/>
          <p:cNvSpPr/>
          <p:nvPr/>
        </p:nvSpPr>
        <p:spPr>
          <a:xfrm>
            <a:off x="7580376" y="1755648"/>
            <a:ext cx="749808" cy="201168"/>
          </a:xfrm>
          <a:prstGeom prst="roundRect">
            <a:avLst>
              <a:gd name="adj" fmla="val 36364"/>
            </a:avLst>
          </a:prstGeom>
          <a:solidFill>
            <a:srgbClr val="F2F4F7"/>
          </a:solidFill>
          <a:ln w="12700">
            <a:solidFill>
              <a:srgbClr val="F2F4F7">
                <a:alpha val="0"/>
              </a:srgbClr>
            </a:solidFill>
            <a:prstDash val="solid"/>
          </a:ln>
        </p:spPr>
      </p:sp>
      <p:sp>
        <p:nvSpPr>
          <p:cNvPr id="39" name="Text 36"/>
          <p:cNvSpPr/>
          <p:nvPr/>
        </p:nvSpPr>
        <p:spPr>
          <a:xfrm>
            <a:off x="7626096" y="1805940"/>
            <a:ext cx="658368" cy="128016"/>
          </a:xfrm>
          <a:prstGeom prst="rect">
            <a:avLst/>
          </a:prstGeom>
          <a:noFill/>
          <a:ln/>
        </p:spPr>
        <p:txBody>
          <a:bodyPr wrap="square" lIns="0" tIns="0" rIns="0" bIns="0" rtlCol="0" anchor="ctr">
            <a:normAutofit/>
          </a:bodyPr>
          <a:lstStyle/>
          <a:p>
            <a:pPr algn="ctr" indent="0" marL="0">
              <a:buNone/>
            </a:pPr>
            <a:r>
              <a:rPr lang="en-US" sz="550" b="1" dirty="0">
                <a:solidFill>
                  <a:srgbClr val="A8B4BF"/>
                </a:solidFill>
              </a:rPr>
              <a:t>Low</a:t>
            </a:r>
            <a:endParaRPr lang="en-US" sz="550" dirty="0"/>
          </a:p>
        </p:txBody>
      </p:sp>
      <p:sp>
        <p:nvSpPr>
          <p:cNvPr id="40" name="Shape 37"/>
          <p:cNvSpPr/>
          <p:nvPr/>
        </p:nvSpPr>
        <p:spPr>
          <a:xfrm>
            <a:off x="8503920" y="1691640"/>
            <a:ext cx="27432" cy="0"/>
          </a:xfrm>
          <a:prstGeom prst="line">
            <a:avLst/>
          </a:prstGeom>
          <a:noFill/>
          <a:ln w="10160">
            <a:solidFill>
              <a:srgbClr val="A8B4BF"/>
            </a:solidFill>
            <a:prstDash val="solid"/>
            <a:headEnd type="none"/>
            <a:tailEnd type="triangle"/>
          </a:ln>
        </p:spPr>
      </p:sp>
      <p:sp>
        <p:nvSpPr>
          <p:cNvPr id="41" name="Shape 38"/>
          <p:cNvSpPr/>
          <p:nvPr/>
        </p:nvSpPr>
        <p:spPr>
          <a:xfrm>
            <a:off x="8567928" y="1298448"/>
            <a:ext cx="1078992" cy="777240"/>
          </a:xfrm>
          <a:prstGeom prst="roundRect">
            <a:avLst>
              <a:gd name="adj" fmla="val 7059"/>
            </a:avLst>
          </a:prstGeom>
          <a:solidFill>
            <a:srgbClr val="FFFFFF"/>
          </a:solidFill>
          <a:ln w="8890">
            <a:solidFill>
              <a:srgbClr val="D7E0E8"/>
            </a:solidFill>
            <a:prstDash val="solid"/>
          </a:ln>
        </p:spPr>
      </p:sp>
      <p:sp>
        <p:nvSpPr>
          <p:cNvPr id="42" name="Text 39"/>
          <p:cNvSpPr/>
          <p:nvPr/>
        </p:nvSpPr>
        <p:spPr>
          <a:xfrm>
            <a:off x="8613648" y="1408176"/>
            <a:ext cx="987552" cy="210312"/>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Metrology</a:t>
            </a:r>
            <a:endParaRPr lang="en-US" sz="650" dirty="0"/>
          </a:p>
        </p:txBody>
      </p:sp>
      <p:sp>
        <p:nvSpPr>
          <p:cNvPr id="43" name="Shape 40"/>
          <p:cNvSpPr/>
          <p:nvPr/>
        </p:nvSpPr>
        <p:spPr>
          <a:xfrm>
            <a:off x="8732520" y="1755648"/>
            <a:ext cx="749808" cy="201168"/>
          </a:xfrm>
          <a:prstGeom prst="roundRect">
            <a:avLst>
              <a:gd name="adj" fmla="val 36364"/>
            </a:avLst>
          </a:prstGeom>
          <a:solidFill>
            <a:srgbClr val="FFF7E8"/>
          </a:solidFill>
          <a:ln w="12700">
            <a:solidFill>
              <a:srgbClr val="FFF7E8">
                <a:alpha val="0"/>
              </a:srgbClr>
            </a:solidFill>
            <a:prstDash val="solid"/>
          </a:ln>
        </p:spPr>
      </p:sp>
      <p:sp>
        <p:nvSpPr>
          <p:cNvPr id="44" name="Text 41"/>
          <p:cNvSpPr/>
          <p:nvPr/>
        </p:nvSpPr>
        <p:spPr>
          <a:xfrm>
            <a:off x="8778240" y="1805940"/>
            <a:ext cx="658368" cy="128016"/>
          </a:xfrm>
          <a:prstGeom prst="rect">
            <a:avLst/>
          </a:prstGeom>
          <a:noFill/>
          <a:ln/>
        </p:spPr>
        <p:txBody>
          <a:bodyPr wrap="square" lIns="0" tIns="0" rIns="0" bIns="0" rtlCol="0" anchor="ctr">
            <a:normAutofit/>
          </a:bodyPr>
          <a:lstStyle/>
          <a:p>
            <a:pPr algn="ctr" indent="0" marL="0">
              <a:buNone/>
            </a:pPr>
            <a:r>
              <a:rPr lang="en-US" sz="550" b="1" dirty="0">
                <a:solidFill>
                  <a:srgbClr val="F59E0B"/>
                </a:solidFill>
              </a:rPr>
              <a:t>Medium</a:t>
            </a:r>
            <a:endParaRPr lang="en-US" sz="550" dirty="0"/>
          </a:p>
        </p:txBody>
      </p:sp>
      <p:sp>
        <p:nvSpPr>
          <p:cNvPr id="45" name="Shape 42"/>
          <p:cNvSpPr/>
          <p:nvPr/>
        </p:nvSpPr>
        <p:spPr>
          <a:xfrm>
            <a:off x="9656064" y="1691640"/>
            <a:ext cx="27432" cy="0"/>
          </a:xfrm>
          <a:prstGeom prst="line">
            <a:avLst/>
          </a:prstGeom>
          <a:noFill/>
          <a:ln w="10160">
            <a:solidFill>
              <a:srgbClr val="A8B4BF"/>
            </a:solidFill>
            <a:prstDash val="solid"/>
            <a:headEnd type="none"/>
            <a:tailEnd type="triangle"/>
          </a:ln>
        </p:spPr>
      </p:sp>
      <p:sp>
        <p:nvSpPr>
          <p:cNvPr id="46" name="Shape 43"/>
          <p:cNvSpPr/>
          <p:nvPr/>
        </p:nvSpPr>
        <p:spPr>
          <a:xfrm>
            <a:off x="9720072" y="1298448"/>
            <a:ext cx="1078992" cy="777240"/>
          </a:xfrm>
          <a:prstGeom prst="roundRect">
            <a:avLst>
              <a:gd name="adj" fmla="val 7059"/>
            </a:avLst>
          </a:prstGeom>
          <a:solidFill>
            <a:srgbClr val="FFFFFF"/>
          </a:solidFill>
          <a:ln w="8890">
            <a:solidFill>
              <a:srgbClr val="D7E0E8"/>
            </a:solidFill>
            <a:prstDash val="solid"/>
          </a:ln>
        </p:spPr>
      </p:sp>
      <p:sp>
        <p:nvSpPr>
          <p:cNvPr id="47" name="Text 44"/>
          <p:cNvSpPr/>
          <p:nvPr/>
        </p:nvSpPr>
        <p:spPr>
          <a:xfrm>
            <a:off x="9765792" y="1408176"/>
            <a:ext cx="987552" cy="210312"/>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Repeat</a:t>
            </a:r>
            <a:endParaRPr lang="en-US" sz="650" dirty="0"/>
          </a:p>
        </p:txBody>
      </p:sp>
      <p:sp>
        <p:nvSpPr>
          <p:cNvPr id="48" name="Shape 45"/>
          <p:cNvSpPr/>
          <p:nvPr/>
        </p:nvSpPr>
        <p:spPr>
          <a:xfrm>
            <a:off x="9884664" y="1755648"/>
            <a:ext cx="749808" cy="201168"/>
          </a:xfrm>
          <a:prstGeom prst="roundRect">
            <a:avLst>
              <a:gd name="adj" fmla="val 36364"/>
            </a:avLst>
          </a:prstGeom>
          <a:solidFill>
            <a:srgbClr val="EAF6FC"/>
          </a:solidFill>
          <a:ln w="12700">
            <a:solidFill>
              <a:srgbClr val="EAF6FC">
                <a:alpha val="0"/>
              </a:srgbClr>
            </a:solidFill>
            <a:prstDash val="solid"/>
          </a:ln>
        </p:spPr>
      </p:sp>
      <p:sp>
        <p:nvSpPr>
          <p:cNvPr id="49" name="Text 46"/>
          <p:cNvSpPr/>
          <p:nvPr/>
        </p:nvSpPr>
        <p:spPr>
          <a:xfrm>
            <a:off x="9930384" y="1805940"/>
            <a:ext cx="658368" cy="128016"/>
          </a:xfrm>
          <a:prstGeom prst="rect">
            <a:avLst/>
          </a:prstGeom>
          <a:noFill/>
          <a:ln/>
        </p:spPr>
        <p:txBody>
          <a:bodyPr wrap="square" lIns="0" tIns="0" rIns="0" bIns="0" rtlCol="0" anchor="ctr">
            <a:normAutofit/>
          </a:bodyPr>
          <a:lstStyle/>
          <a:p>
            <a:pPr algn="ctr" indent="0" marL="0">
              <a:buNone/>
            </a:pPr>
            <a:r>
              <a:rPr lang="en-US" sz="550" b="1" dirty="0">
                <a:solidFill>
                  <a:srgbClr val="1B9BDA"/>
                </a:solidFill>
              </a:rPr>
              <a:t>High</a:t>
            </a:r>
            <a:endParaRPr lang="en-US" sz="550" dirty="0"/>
          </a:p>
        </p:txBody>
      </p:sp>
      <p:sp>
        <p:nvSpPr>
          <p:cNvPr id="50" name="Shape 47"/>
          <p:cNvSpPr/>
          <p:nvPr/>
        </p:nvSpPr>
        <p:spPr>
          <a:xfrm>
            <a:off x="10808208" y="1691640"/>
            <a:ext cx="27432" cy="0"/>
          </a:xfrm>
          <a:prstGeom prst="line">
            <a:avLst/>
          </a:prstGeom>
          <a:noFill/>
          <a:ln w="10160">
            <a:solidFill>
              <a:srgbClr val="A8B4BF"/>
            </a:solidFill>
            <a:prstDash val="solid"/>
            <a:headEnd type="none"/>
            <a:tailEnd type="triangle"/>
          </a:ln>
        </p:spPr>
      </p:sp>
      <p:sp>
        <p:nvSpPr>
          <p:cNvPr id="51" name="Shape 48"/>
          <p:cNvSpPr/>
          <p:nvPr/>
        </p:nvSpPr>
        <p:spPr>
          <a:xfrm>
            <a:off x="10872216" y="1298448"/>
            <a:ext cx="1078992" cy="777240"/>
          </a:xfrm>
          <a:prstGeom prst="roundRect">
            <a:avLst>
              <a:gd name="adj" fmla="val 7059"/>
            </a:avLst>
          </a:prstGeom>
          <a:solidFill>
            <a:srgbClr val="FFFFFF"/>
          </a:solidFill>
          <a:ln w="8890">
            <a:solidFill>
              <a:srgbClr val="D7E0E8"/>
            </a:solidFill>
            <a:prstDash val="solid"/>
          </a:ln>
        </p:spPr>
      </p:sp>
      <p:sp>
        <p:nvSpPr>
          <p:cNvPr id="52" name="Text 49"/>
          <p:cNvSpPr/>
          <p:nvPr/>
        </p:nvSpPr>
        <p:spPr>
          <a:xfrm>
            <a:off x="10917936" y="1408176"/>
            <a:ext cx="987552" cy="210312"/>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Pack / test</a:t>
            </a:r>
            <a:endParaRPr lang="en-US" sz="650" dirty="0"/>
          </a:p>
        </p:txBody>
      </p:sp>
      <p:sp>
        <p:nvSpPr>
          <p:cNvPr id="53" name="Shape 50"/>
          <p:cNvSpPr/>
          <p:nvPr/>
        </p:nvSpPr>
        <p:spPr>
          <a:xfrm>
            <a:off x="11036808" y="1755648"/>
            <a:ext cx="749808" cy="201168"/>
          </a:xfrm>
          <a:prstGeom prst="roundRect">
            <a:avLst>
              <a:gd name="adj" fmla="val 36364"/>
            </a:avLst>
          </a:prstGeom>
          <a:solidFill>
            <a:srgbClr val="F2F4F7"/>
          </a:solidFill>
          <a:ln w="12700">
            <a:solidFill>
              <a:srgbClr val="F2F4F7">
                <a:alpha val="0"/>
              </a:srgbClr>
            </a:solidFill>
            <a:prstDash val="solid"/>
          </a:ln>
        </p:spPr>
      </p:sp>
      <p:sp>
        <p:nvSpPr>
          <p:cNvPr id="54" name="Text 51"/>
          <p:cNvSpPr/>
          <p:nvPr/>
        </p:nvSpPr>
        <p:spPr>
          <a:xfrm>
            <a:off x="11082528" y="1805940"/>
            <a:ext cx="658368" cy="128016"/>
          </a:xfrm>
          <a:prstGeom prst="rect">
            <a:avLst/>
          </a:prstGeom>
          <a:noFill/>
          <a:ln/>
        </p:spPr>
        <p:txBody>
          <a:bodyPr wrap="square" lIns="0" tIns="0" rIns="0" bIns="0" rtlCol="0" anchor="ctr">
            <a:normAutofit/>
          </a:bodyPr>
          <a:lstStyle/>
          <a:p>
            <a:pPr algn="ctr" indent="0" marL="0">
              <a:buNone/>
            </a:pPr>
            <a:r>
              <a:rPr lang="en-US" sz="550" b="1" dirty="0">
                <a:solidFill>
                  <a:srgbClr val="A8B4BF"/>
                </a:solidFill>
              </a:rPr>
              <a:t>Low</a:t>
            </a:r>
            <a:endParaRPr lang="en-US" sz="550" dirty="0"/>
          </a:p>
        </p:txBody>
      </p:sp>
      <p:sp>
        <p:nvSpPr>
          <p:cNvPr id="55" name="Shape 52"/>
          <p:cNvSpPr/>
          <p:nvPr/>
        </p:nvSpPr>
        <p:spPr>
          <a:xfrm>
            <a:off x="594360" y="2468880"/>
            <a:ext cx="3429000" cy="2697480"/>
          </a:xfrm>
          <a:prstGeom prst="roundRect">
            <a:avLst>
              <a:gd name="adj" fmla="val 2034"/>
            </a:avLst>
          </a:prstGeom>
          <a:solidFill>
            <a:srgbClr val="FFFFFF"/>
          </a:solidFill>
          <a:ln w="8890">
            <a:solidFill>
              <a:srgbClr val="D7E0E8"/>
            </a:solidFill>
            <a:prstDash val="solid"/>
          </a:ln>
        </p:spPr>
      </p:sp>
      <p:sp>
        <p:nvSpPr>
          <p:cNvPr id="56" name="Text 53"/>
          <p:cNvSpPr/>
          <p:nvPr/>
        </p:nvSpPr>
        <p:spPr>
          <a:xfrm>
            <a:off x="777240" y="2697480"/>
            <a:ext cx="2011680" cy="228600"/>
          </a:xfrm>
          <a:prstGeom prst="rect">
            <a:avLst/>
          </a:prstGeom>
          <a:noFill/>
          <a:ln/>
        </p:spPr>
        <p:txBody>
          <a:bodyPr wrap="square" lIns="635" tIns="635" rIns="635" bIns="635" rtlCol="0" anchor="t">
            <a:normAutofit/>
          </a:bodyPr>
          <a:lstStyle/>
          <a:p>
            <a:pPr algn="l" indent="0" marL="0">
              <a:buNone/>
            </a:pPr>
            <a:r>
              <a:rPr lang="en-US" sz="820" b="1" dirty="0">
                <a:solidFill>
                  <a:srgbClr val="1F2933"/>
                </a:solidFill>
              </a:rPr>
              <a:t>Equipment OEM exposure</a:t>
            </a:r>
            <a:endParaRPr lang="en-US" sz="820" dirty="0"/>
          </a:p>
        </p:txBody>
      </p:sp>
      <p:sp>
        <p:nvSpPr>
          <p:cNvPr id="57" name="Text 54"/>
          <p:cNvSpPr/>
          <p:nvPr/>
        </p:nvSpPr>
        <p:spPr>
          <a:xfrm>
            <a:off x="822960" y="3063240"/>
            <a:ext cx="1005840" cy="182880"/>
          </a:xfrm>
          <a:prstGeom prst="rect">
            <a:avLst/>
          </a:prstGeom>
          <a:noFill/>
          <a:ln/>
        </p:spPr>
        <p:txBody>
          <a:bodyPr wrap="square" lIns="635" tIns="635" rIns="635" bIns="635" rtlCol="0" anchor="t">
            <a:normAutofit/>
          </a:bodyPr>
          <a:lstStyle/>
          <a:p>
            <a:pPr algn="l" indent="0" marL="0">
              <a:buNone/>
            </a:pPr>
            <a:r>
              <a:rPr lang="en-US" sz="750" b="1" dirty="0">
                <a:solidFill>
                  <a:srgbClr val="1F2933"/>
                </a:solidFill>
              </a:rPr>
              <a:t>Deposition</a:t>
            </a:r>
            <a:endParaRPr lang="en-US" sz="750" dirty="0"/>
          </a:p>
        </p:txBody>
      </p:sp>
      <p:sp>
        <p:nvSpPr>
          <p:cNvPr id="58" name="Text 55"/>
          <p:cNvSpPr/>
          <p:nvPr/>
        </p:nvSpPr>
        <p:spPr>
          <a:xfrm>
            <a:off x="1874520" y="3063240"/>
            <a:ext cx="1234440" cy="182880"/>
          </a:xfrm>
          <a:prstGeom prst="rect">
            <a:avLst/>
          </a:prstGeom>
          <a:noFill/>
          <a:ln/>
        </p:spPr>
        <p:txBody>
          <a:bodyPr wrap="square" lIns="635" tIns="635" rIns="635" bIns="635" rtlCol="0" anchor="t">
            <a:normAutofit/>
          </a:bodyPr>
          <a:lstStyle/>
          <a:p>
            <a:pPr algn="l" indent="0" marL="0">
              <a:buNone/>
            </a:pPr>
            <a:r>
              <a:rPr lang="en-US" sz="720" dirty="0">
                <a:solidFill>
                  <a:srgbClr val="1F2933"/>
                </a:solidFill>
              </a:rPr>
              <a:t>Applied / Lam / TEL</a:t>
            </a:r>
            <a:endParaRPr lang="en-US" sz="720" dirty="0"/>
          </a:p>
        </p:txBody>
      </p:sp>
      <p:sp>
        <p:nvSpPr>
          <p:cNvPr id="59" name="Shape 56"/>
          <p:cNvSpPr/>
          <p:nvPr/>
        </p:nvSpPr>
        <p:spPr>
          <a:xfrm>
            <a:off x="3218688" y="3017520"/>
            <a:ext cx="603504" cy="228600"/>
          </a:xfrm>
          <a:prstGeom prst="roundRect">
            <a:avLst>
              <a:gd name="adj" fmla="val 32000"/>
            </a:avLst>
          </a:prstGeom>
          <a:solidFill>
            <a:srgbClr val="EAF6FC"/>
          </a:solidFill>
          <a:ln w="12700">
            <a:solidFill>
              <a:srgbClr val="EAF6FC">
                <a:alpha val="0"/>
              </a:srgbClr>
            </a:solidFill>
            <a:prstDash val="solid"/>
          </a:ln>
        </p:spPr>
      </p:sp>
      <p:sp>
        <p:nvSpPr>
          <p:cNvPr id="60" name="Text 57"/>
          <p:cNvSpPr/>
          <p:nvPr/>
        </p:nvSpPr>
        <p:spPr>
          <a:xfrm>
            <a:off x="3264408" y="3067812"/>
            <a:ext cx="512064" cy="155448"/>
          </a:xfrm>
          <a:prstGeom prst="rect">
            <a:avLst/>
          </a:prstGeom>
          <a:noFill/>
          <a:ln/>
        </p:spPr>
        <p:txBody>
          <a:bodyPr wrap="square" lIns="0" tIns="0" rIns="0" bIns="0" rtlCol="0" anchor="ctr">
            <a:normAutofit/>
          </a:bodyPr>
          <a:lstStyle/>
          <a:p>
            <a:pPr algn="ctr" indent="0" marL="0">
              <a:buNone/>
            </a:pPr>
            <a:r>
              <a:rPr lang="en-US" sz="500" b="1" dirty="0">
                <a:solidFill>
                  <a:srgbClr val="1B9BDA"/>
                </a:solidFill>
              </a:rPr>
              <a:t>High VAT relevance</a:t>
            </a:r>
            <a:endParaRPr lang="en-US" sz="500" dirty="0"/>
          </a:p>
        </p:txBody>
      </p:sp>
      <p:sp>
        <p:nvSpPr>
          <p:cNvPr id="61" name="Text 58"/>
          <p:cNvSpPr/>
          <p:nvPr/>
        </p:nvSpPr>
        <p:spPr>
          <a:xfrm>
            <a:off x="822960" y="3474720"/>
            <a:ext cx="1005840" cy="182880"/>
          </a:xfrm>
          <a:prstGeom prst="rect">
            <a:avLst/>
          </a:prstGeom>
          <a:noFill/>
          <a:ln/>
        </p:spPr>
        <p:txBody>
          <a:bodyPr wrap="square" lIns="635" tIns="635" rIns="635" bIns="635" rtlCol="0" anchor="t">
            <a:normAutofit/>
          </a:bodyPr>
          <a:lstStyle/>
          <a:p>
            <a:pPr algn="l" indent="0" marL="0">
              <a:buNone/>
            </a:pPr>
            <a:r>
              <a:rPr lang="en-US" sz="750" b="1" dirty="0">
                <a:solidFill>
                  <a:srgbClr val="1F2933"/>
                </a:solidFill>
              </a:rPr>
              <a:t>Lithography</a:t>
            </a:r>
            <a:endParaRPr lang="en-US" sz="750" dirty="0"/>
          </a:p>
        </p:txBody>
      </p:sp>
      <p:sp>
        <p:nvSpPr>
          <p:cNvPr id="62" name="Text 59"/>
          <p:cNvSpPr/>
          <p:nvPr/>
        </p:nvSpPr>
        <p:spPr>
          <a:xfrm>
            <a:off x="1874520" y="3474720"/>
            <a:ext cx="1234440" cy="182880"/>
          </a:xfrm>
          <a:prstGeom prst="rect">
            <a:avLst/>
          </a:prstGeom>
          <a:noFill/>
          <a:ln/>
        </p:spPr>
        <p:txBody>
          <a:bodyPr wrap="square" lIns="635" tIns="635" rIns="635" bIns="635" rtlCol="0" anchor="t">
            <a:normAutofit/>
          </a:bodyPr>
          <a:lstStyle/>
          <a:p>
            <a:pPr algn="l" indent="0" marL="0">
              <a:buNone/>
            </a:pPr>
            <a:r>
              <a:rPr lang="en-US" sz="720" dirty="0">
                <a:solidFill>
                  <a:srgbClr val="1F2933"/>
                </a:solidFill>
              </a:rPr>
              <a:t>ASML</a:t>
            </a:r>
            <a:endParaRPr lang="en-US" sz="720" dirty="0"/>
          </a:p>
        </p:txBody>
      </p:sp>
      <p:sp>
        <p:nvSpPr>
          <p:cNvPr id="63" name="Shape 60"/>
          <p:cNvSpPr/>
          <p:nvPr/>
        </p:nvSpPr>
        <p:spPr>
          <a:xfrm>
            <a:off x="3218688" y="3429000"/>
            <a:ext cx="603504" cy="228600"/>
          </a:xfrm>
          <a:prstGeom prst="roundRect">
            <a:avLst>
              <a:gd name="adj" fmla="val 32000"/>
            </a:avLst>
          </a:prstGeom>
          <a:solidFill>
            <a:srgbClr val="FFF7E8"/>
          </a:solidFill>
          <a:ln w="12700">
            <a:solidFill>
              <a:srgbClr val="FFF7E8">
                <a:alpha val="0"/>
              </a:srgbClr>
            </a:solidFill>
            <a:prstDash val="solid"/>
          </a:ln>
        </p:spPr>
      </p:sp>
      <p:sp>
        <p:nvSpPr>
          <p:cNvPr id="64" name="Text 61"/>
          <p:cNvSpPr/>
          <p:nvPr/>
        </p:nvSpPr>
        <p:spPr>
          <a:xfrm>
            <a:off x="3264408" y="3479292"/>
            <a:ext cx="512064" cy="155448"/>
          </a:xfrm>
          <a:prstGeom prst="rect">
            <a:avLst/>
          </a:prstGeom>
          <a:noFill/>
          <a:ln/>
        </p:spPr>
        <p:txBody>
          <a:bodyPr wrap="square" lIns="0" tIns="0" rIns="0" bIns="0" rtlCol="0" anchor="ctr">
            <a:normAutofit/>
          </a:bodyPr>
          <a:lstStyle/>
          <a:p>
            <a:pPr algn="ctr" indent="0" marL="0">
              <a:buNone/>
            </a:pPr>
            <a:r>
              <a:rPr lang="en-US" sz="500" b="1" dirty="0">
                <a:solidFill>
                  <a:srgbClr val="F59E0B"/>
                </a:solidFill>
              </a:rPr>
              <a:t>Selective / substantiated only</a:t>
            </a:r>
            <a:endParaRPr lang="en-US" sz="500" dirty="0"/>
          </a:p>
        </p:txBody>
      </p:sp>
      <p:sp>
        <p:nvSpPr>
          <p:cNvPr id="65" name="Text 62"/>
          <p:cNvSpPr/>
          <p:nvPr/>
        </p:nvSpPr>
        <p:spPr>
          <a:xfrm>
            <a:off x="822960" y="3886200"/>
            <a:ext cx="1005840" cy="182880"/>
          </a:xfrm>
          <a:prstGeom prst="rect">
            <a:avLst/>
          </a:prstGeom>
          <a:noFill/>
          <a:ln/>
        </p:spPr>
        <p:txBody>
          <a:bodyPr wrap="square" lIns="635" tIns="635" rIns="635" bIns="635" rtlCol="0" anchor="t">
            <a:normAutofit/>
          </a:bodyPr>
          <a:lstStyle/>
          <a:p>
            <a:pPr algn="l" indent="0" marL="0">
              <a:buNone/>
            </a:pPr>
            <a:r>
              <a:rPr lang="en-US" sz="750" b="1" dirty="0">
                <a:solidFill>
                  <a:srgbClr val="1F2933"/>
                </a:solidFill>
              </a:rPr>
              <a:t>Etch</a:t>
            </a:r>
            <a:endParaRPr lang="en-US" sz="750" dirty="0"/>
          </a:p>
        </p:txBody>
      </p:sp>
      <p:sp>
        <p:nvSpPr>
          <p:cNvPr id="66" name="Text 63"/>
          <p:cNvSpPr/>
          <p:nvPr/>
        </p:nvSpPr>
        <p:spPr>
          <a:xfrm>
            <a:off x="1874520" y="3886200"/>
            <a:ext cx="1234440" cy="182880"/>
          </a:xfrm>
          <a:prstGeom prst="rect">
            <a:avLst/>
          </a:prstGeom>
          <a:noFill/>
          <a:ln/>
        </p:spPr>
        <p:txBody>
          <a:bodyPr wrap="square" lIns="635" tIns="635" rIns="635" bIns="635" rtlCol="0" anchor="t">
            <a:normAutofit/>
          </a:bodyPr>
          <a:lstStyle/>
          <a:p>
            <a:pPr algn="l" indent="0" marL="0">
              <a:buNone/>
            </a:pPr>
            <a:r>
              <a:rPr lang="en-US" sz="720" dirty="0">
                <a:solidFill>
                  <a:srgbClr val="1F2933"/>
                </a:solidFill>
              </a:rPr>
              <a:t>Lam / Applied / TEL</a:t>
            </a:r>
            <a:endParaRPr lang="en-US" sz="720" dirty="0"/>
          </a:p>
        </p:txBody>
      </p:sp>
      <p:sp>
        <p:nvSpPr>
          <p:cNvPr id="67" name="Shape 64"/>
          <p:cNvSpPr/>
          <p:nvPr/>
        </p:nvSpPr>
        <p:spPr>
          <a:xfrm>
            <a:off x="3218688" y="3840480"/>
            <a:ext cx="603504" cy="228600"/>
          </a:xfrm>
          <a:prstGeom prst="roundRect">
            <a:avLst>
              <a:gd name="adj" fmla="val 32000"/>
            </a:avLst>
          </a:prstGeom>
          <a:solidFill>
            <a:srgbClr val="EAF6FC"/>
          </a:solidFill>
          <a:ln w="12700">
            <a:solidFill>
              <a:srgbClr val="EAF6FC">
                <a:alpha val="0"/>
              </a:srgbClr>
            </a:solidFill>
            <a:prstDash val="solid"/>
          </a:ln>
        </p:spPr>
      </p:sp>
      <p:sp>
        <p:nvSpPr>
          <p:cNvPr id="68" name="Text 65"/>
          <p:cNvSpPr/>
          <p:nvPr/>
        </p:nvSpPr>
        <p:spPr>
          <a:xfrm>
            <a:off x="3264408" y="3890772"/>
            <a:ext cx="512064" cy="155448"/>
          </a:xfrm>
          <a:prstGeom prst="rect">
            <a:avLst/>
          </a:prstGeom>
          <a:noFill/>
          <a:ln/>
        </p:spPr>
        <p:txBody>
          <a:bodyPr wrap="square" lIns="0" tIns="0" rIns="0" bIns="0" rtlCol="0" anchor="ctr">
            <a:normAutofit/>
          </a:bodyPr>
          <a:lstStyle/>
          <a:p>
            <a:pPr algn="ctr" indent="0" marL="0">
              <a:buNone/>
            </a:pPr>
            <a:r>
              <a:rPr lang="en-US" sz="500" b="1" dirty="0">
                <a:solidFill>
                  <a:srgbClr val="1B9BDA"/>
                </a:solidFill>
              </a:rPr>
              <a:t>High VAT relevance</a:t>
            </a:r>
            <a:endParaRPr lang="en-US" sz="500" dirty="0"/>
          </a:p>
        </p:txBody>
      </p:sp>
      <p:sp>
        <p:nvSpPr>
          <p:cNvPr id="69" name="Text 66"/>
          <p:cNvSpPr/>
          <p:nvPr/>
        </p:nvSpPr>
        <p:spPr>
          <a:xfrm>
            <a:off x="822960" y="4297680"/>
            <a:ext cx="1005840" cy="182880"/>
          </a:xfrm>
          <a:prstGeom prst="rect">
            <a:avLst/>
          </a:prstGeom>
          <a:noFill/>
          <a:ln/>
        </p:spPr>
        <p:txBody>
          <a:bodyPr wrap="square" lIns="635" tIns="635" rIns="635" bIns="635" rtlCol="0" anchor="t">
            <a:normAutofit/>
          </a:bodyPr>
          <a:lstStyle/>
          <a:p>
            <a:pPr algn="l" indent="0" marL="0">
              <a:buNone/>
            </a:pPr>
            <a:r>
              <a:rPr lang="en-US" sz="750" b="1" dirty="0">
                <a:solidFill>
                  <a:srgbClr val="1F2933"/>
                </a:solidFill>
              </a:rPr>
              <a:t>Metrology</a:t>
            </a:r>
            <a:endParaRPr lang="en-US" sz="750" dirty="0"/>
          </a:p>
        </p:txBody>
      </p:sp>
      <p:sp>
        <p:nvSpPr>
          <p:cNvPr id="70" name="Text 67"/>
          <p:cNvSpPr/>
          <p:nvPr/>
        </p:nvSpPr>
        <p:spPr>
          <a:xfrm>
            <a:off x="1874520" y="4297680"/>
            <a:ext cx="1234440" cy="182880"/>
          </a:xfrm>
          <a:prstGeom prst="rect">
            <a:avLst/>
          </a:prstGeom>
          <a:noFill/>
          <a:ln/>
        </p:spPr>
        <p:txBody>
          <a:bodyPr wrap="square" lIns="635" tIns="635" rIns="635" bIns="635" rtlCol="0" anchor="t">
            <a:normAutofit/>
          </a:bodyPr>
          <a:lstStyle/>
          <a:p>
            <a:pPr algn="l" indent="0" marL="0">
              <a:buNone/>
            </a:pPr>
            <a:r>
              <a:rPr lang="en-US" sz="720" dirty="0">
                <a:solidFill>
                  <a:srgbClr val="1F2933"/>
                </a:solidFill>
              </a:rPr>
              <a:t>KLA</a:t>
            </a:r>
            <a:endParaRPr lang="en-US" sz="720" dirty="0"/>
          </a:p>
        </p:txBody>
      </p:sp>
      <p:sp>
        <p:nvSpPr>
          <p:cNvPr id="71" name="Shape 68"/>
          <p:cNvSpPr/>
          <p:nvPr/>
        </p:nvSpPr>
        <p:spPr>
          <a:xfrm>
            <a:off x="3218688" y="4251960"/>
            <a:ext cx="603504" cy="228600"/>
          </a:xfrm>
          <a:prstGeom prst="roundRect">
            <a:avLst>
              <a:gd name="adj" fmla="val 32000"/>
            </a:avLst>
          </a:prstGeom>
          <a:solidFill>
            <a:srgbClr val="FFF7E8"/>
          </a:solidFill>
          <a:ln w="12700">
            <a:solidFill>
              <a:srgbClr val="FFF7E8">
                <a:alpha val="0"/>
              </a:srgbClr>
            </a:solidFill>
            <a:prstDash val="solid"/>
          </a:ln>
        </p:spPr>
      </p:sp>
      <p:sp>
        <p:nvSpPr>
          <p:cNvPr id="72" name="Text 69"/>
          <p:cNvSpPr/>
          <p:nvPr/>
        </p:nvSpPr>
        <p:spPr>
          <a:xfrm>
            <a:off x="3264408" y="4302252"/>
            <a:ext cx="512064" cy="155448"/>
          </a:xfrm>
          <a:prstGeom prst="rect">
            <a:avLst/>
          </a:prstGeom>
          <a:noFill/>
          <a:ln/>
        </p:spPr>
        <p:txBody>
          <a:bodyPr wrap="square" lIns="0" tIns="0" rIns="0" bIns="0" rtlCol="0" anchor="ctr">
            <a:normAutofit/>
          </a:bodyPr>
          <a:lstStyle/>
          <a:p>
            <a:pPr algn="ctr" indent="0" marL="0">
              <a:buNone/>
            </a:pPr>
            <a:r>
              <a:rPr lang="en-US" sz="500" b="1" dirty="0">
                <a:solidFill>
                  <a:srgbClr val="F59E0B"/>
                </a:solidFill>
              </a:rPr>
              <a:t>Selective vacuum exposure</a:t>
            </a:r>
            <a:endParaRPr lang="en-US" sz="500" dirty="0"/>
          </a:p>
        </p:txBody>
      </p:sp>
      <p:sp>
        <p:nvSpPr>
          <p:cNvPr id="73" name="Shape 70"/>
          <p:cNvSpPr/>
          <p:nvPr/>
        </p:nvSpPr>
        <p:spPr>
          <a:xfrm>
            <a:off x="4389120" y="2468880"/>
            <a:ext cx="3291840" cy="2697480"/>
          </a:xfrm>
          <a:prstGeom prst="roundRect">
            <a:avLst>
              <a:gd name="adj" fmla="val 2034"/>
            </a:avLst>
          </a:prstGeom>
          <a:solidFill>
            <a:srgbClr val="F8FAFC"/>
          </a:solidFill>
          <a:ln w="8890">
            <a:solidFill>
              <a:srgbClr val="D7E0E8"/>
            </a:solidFill>
            <a:prstDash val="solid"/>
          </a:ln>
        </p:spPr>
      </p:sp>
      <p:sp>
        <p:nvSpPr>
          <p:cNvPr id="74" name="Text 71"/>
          <p:cNvSpPr/>
          <p:nvPr/>
        </p:nvSpPr>
        <p:spPr>
          <a:xfrm>
            <a:off x="4590288" y="2697480"/>
            <a:ext cx="2560320" cy="228600"/>
          </a:xfrm>
          <a:prstGeom prst="rect">
            <a:avLst/>
          </a:prstGeom>
          <a:noFill/>
          <a:ln/>
        </p:spPr>
        <p:txBody>
          <a:bodyPr wrap="square" lIns="635" tIns="635" rIns="635" bIns="635" rtlCol="0" anchor="t">
            <a:normAutofit/>
          </a:bodyPr>
          <a:lstStyle/>
          <a:p>
            <a:pPr algn="l" indent="0" marL="0">
              <a:buNone/>
            </a:pPr>
            <a:r>
              <a:rPr lang="en-US" sz="820" b="1" dirty="0">
                <a:solidFill>
                  <a:srgbClr val="1F2933"/>
                </a:solidFill>
              </a:rPr>
              <a:t>Why deposition and etch are the sweet spot</a:t>
            </a:r>
            <a:endParaRPr lang="en-US" sz="820" dirty="0"/>
          </a:p>
        </p:txBody>
      </p:sp>
      <p:sp>
        <p:nvSpPr>
          <p:cNvPr id="75" name="Text 72"/>
          <p:cNvSpPr/>
          <p:nvPr/>
        </p:nvSpPr>
        <p:spPr>
          <a:xfrm>
            <a:off x="4590288" y="3072384"/>
            <a:ext cx="2743200" cy="877824"/>
          </a:xfrm>
          <a:prstGeom prst="rect">
            <a:avLst/>
          </a:prstGeom>
          <a:noFill/>
          <a:ln/>
        </p:spPr>
        <p:txBody>
          <a:bodyPr wrap="square" lIns="635" tIns="635" rIns="635" bIns="635" rtlCol="0" anchor="t">
            <a:normAutofit/>
          </a:bodyPr>
          <a:lstStyle/>
          <a:p>
            <a:pPr algn="l" indent="0" marL="0">
              <a:buNone/>
            </a:pPr>
            <a:r>
              <a:rPr lang="en-US" sz="820" dirty="0">
                <a:solidFill>
                  <a:srgbClr val="1F2933"/>
                </a:solidFill>
              </a:rPr>
              <a:t>These tools often operate with reactive gases, plasma and atomic-scale films in vacuum chambers. More layers, narrower structures and tighter process windows increase the need for precise pressure control, isolation and transfer.</a:t>
            </a:r>
            <a:endParaRPr lang="en-US" sz="820" dirty="0"/>
          </a:p>
        </p:txBody>
      </p:sp>
      <p:sp>
        <p:nvSpPr>
          <p:cNvPr id="76" name="Text 73"/>
          <p:cNvSpPr/>
          <p:nvPr/>
        </p:nvSpPr>
        <p:spPr>
          <a:xfrm>
            <a:off x="4590288" y="4206240"/>
            <a:ext cx="2743200" cy="594360"/>
          </a:xfrm>
          <a:prstGeom prst="rect">
            <a:avLst/>
          </a:prstGeom>
          <a:noFill/>
          <a:ln/>
        </p:spPr>
        <p:txBody>
          <a:bodyPr wrap="square" lIns="635" tIns="635" rIns="635" bIns="635" rtlCol="0" anchor="t">
            <a:normAutofit/>
          </a:bodyPr>
          <a:lstStyle/>
          <a:p>
            <a:pPr algn="l" indent="0" marL="0">
              <a:buNone/>
            </a:pPr>
            <a:r>
              <a:rPr lang="en-US" sz="780" b="1" dirty="0">
                <a:solidFill>
                  <a:srgbClr val="1B9BDA"/>
                </a:solidFill>
              </a:rPr>
              <a:t>The right claim is not "VAT is in every process equally". The right claim is that the most technically demanding vacuum process chambers are where VAT has the strongest economic relevance.</a:t>
            </a:r>
            <a:endParaRPr lang="en-US" sz="780" dirty="0"/>
          </a:p>
        </p:txBody>
      </p:sp>
      <p:sp>
        <p:nvSpPr>
          <p:cNvPr id="77" name="Shape 74"/>
          <p:cNvSpPr/>
          <p:nvPr/>
        </p:nvSpPr>
        <p:spPr>
          <a:xfrm>
            <a:off x="8046720" y="2468880"/>
            <a:ext cx="3429000" cy="2697480"/>
          </a:xfrm>
          <a:prstGeom prst="roundRect">
            <a:avLst>
              <a:gd name="adj" fmla="val 2034"/>
            </a:avLst>
          </a:prstGeom>
          <a:solidFill>
            <a:srgbClr val="FFFFFF"/>
          </a:solidFill>
          <a:ln w="8890">
            <a:solidFill>
              <a:srgbClr val="D7E0E8"/>
            </a:solidFill>
            <a:prstDash val="solid"/>
          </a:ln>
        </p:spPr>
      </p:sp>
      <p:sp>
        <p:nvSpPr>
          <p:cNvPr id="78" name="Text 75"/>
          <p:cNvSpPr/>
          <p:nvPr/>
        </p:nvSpPr>
        <p:spPr>
          <a:xfrm>
            <a:off x="8275320" y="2697480"/>
            <a:ext cx="2103120" cy="228600"/>
          </a:xfrm>
          <a:prstGeom prst="rect">
            <a:avLst/>
          </a:prstGeom>
          <a:noFill/>
          <a:ln/>
        </p:spPr>
        <p:txBody>
          <a:bodyPr wrap="square" lIns="635" tIns="635" rIns="635" bIns="635" rtlCol="0" anchor="t">
            <a:normAutofit/>
          </a:bodyPr>
          <a:lstStyle/>
          <a:p>
            <a:pPr algn="l" indent="0" marL="0">
              <a:buNone/>
            </a:pPr>
            <a:r>
              <a:rPr lang="en-US" sz="820" b="1" dirty="0">
                <a:solidFill>
                  <a:srgbClr val="1F2933"/>
                </a:solidFill>
              </a:rPr>
              <a:t>Vacuum relevance heatmap</a:t>
            </a:r>
            <a:endParaRPr lang="en-US" sz="820" dirty="0"/>
          </a:p>
        </p:txBody>
      </p:sp>
      <p:graphicFrame>
        <p:nvGraphicFramePr>
          <p:cNvPr id="79" name="Chart 0" descr=""/>
          <p:cNvGraphicFramePr/>
          <p:nvPr/>
        </p:nvGraphicFramePr>
        <p:xfrm>
          <a:off x="8321040" y="3063240"/>
          <a:ext cx="2743200" cy="1298448"/>
        </p:xfrm>
        <a:graphic xmlns:a="http://schemas.openxmlformats.org/drawingml/2006/main">
          <a:graphicData uri="http://schemas.openxmlformats.org/drawingml/2006/chart">
            <c:chart xmlns:c="http://schemas.openxmlformats.org/drawingml/2006/chart" r:id="rId2"/>
          </a:graphicData>
        </a:graphic>
      </p:graphicFrame>
      <p:sp>
        <p:nvSpPr>
          <p:cNvPr id="80" name="Text 76"/>
          <p:cNvSpPr/>
          <p:nvPr/>
        </p:nvSpPr>
        <p:spPr>
          <a:xfrm>
            <a:off x="8275320" y="4599432"/>
            <a:ext cx="2697480" cy="292608"/>
          </a:xfrm>
          <a:prstGeom prst="rect">
            <a:avLst/>
          </a:prstGeom>
          <a:noFill/>
          <a:ln/>
        </p:spPr>
        <p:txBody>
          <a:bodyPr wrap="square" lIns="635" tIns="635" rIns="635" bIns="635" rtlCol="0" anchor="t">
            <a:normAutofit/>
          </a:bodyPr>
          <a:lstStyle/>
          <a:p>
            <a:pPr algn="l" indent="0" marL="0">
              <a:buNone/>
            </a:pPr>
            <a:r>
              <a:rPr lang="en-US" sz="650" dirty="0">
                <a:solidFill>
                  <a:srgbClr val="5E6978"/>
                </a:solidFill>
              </a:rPr>
              <a:t>High / medium / low is an analytical mapping based on process physics and VAT product relevance, not company-disclosed revenue by process.</a:t>
            </a:r>
            <a:endParaRPr lang="en-US" sz="650" dirty="0"/>
          </a:p>
        </p:txBody>
      </p:sp>
      <p:sp>
        <p:nvSpPr>
          <p:cNvPr id="81" name="Shape 77"/>
          <p:cNvSpPr/>
          <p:nvPr/>
        </p:nvSpPr>
        <p:spPr>
          <a:xfrm>
            <a:off x="411480" y="6428232"/>
            <a:ext cx="11384280" cy="0"/>
          </a:xfrm>
          <a:prstGeom prst="line">
            <a:avLst/>
          </a:prstGeom>
          <a:noFill/>
          <a:ln w="7620">
            <a:solidFill>
              <a:srgbClr val="D7E0E8"/>
            </a:solidFill>
            <a:prstDash val="solid"/>
          </a:ln>
        </p:spPr>
      </p:sp>
      <p:sp>
        <p:nvSpPr>
          <p:cNvPr id="82" name="Text 78"/>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Uploaded VAT 101 document; VAT product pages; ASML, Applied Materials, Lam Research, Tokyo Electron and KLA company materials; analyst estimates.</a:t>
            </a:r>
            <a:endParaRPr lang="en-US" sz="550" dirty="0"/>
          </a:p>
        </p:txBody>
      </p:sp>
      <p:sp>
        <p:nvSpPr>
          <p:cNvPr id="83" name="Text 79"/>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4</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VAT Group AG (SIX: VACN) | BUY</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The valve is inexpensive relative to the tool - but a particle, leak or pressure error can destroy wafer yield</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685800" y="1353312"/>
            <a:ext cx="4937760" cy="3886200"/>
          </a:xfrm>
          <a:prstGeom prst="roundRect">
            <a:avLst>
              <a:gd name="adj" fmla="val 1412"/>
            </a:avLst>
          </a:prstGeom>
          <a:solidFill>
            <a:srgbClr val="F8FAFC"/>
          </a:solidFill>
          <a:ln w="8890">
            <a:solidFill>
              <a:srgbClr val="D7E0E8"/>
            </a:solidFill>
            <a:prstDash val="solid"/>
          </a:ln>
        </p:spPr>
      </p:sp>
      <p:sp>
        <p:nvSpPr>
          <p:cNvPr id="7" name="Text 4"/>
          <p:cNvSpPr/>
          <p:nvPr/>
        </p:nvSpPr>
        <p:spPr>
          <a:xfrm>
            <a:off x="914400" y="1572768"/>
            <a:ext cx="2286000" cy="219456"/>
          </a:xfrm>
          <a:prstGeom prst="rect">
            <a:avLst/>
          </a:prstGeom>
          <a:noFill/>
          <a:ln/>
        </p:spPr>
        <p:txBody>
          <a:bodyPr wrap="square" lIns="635" tIns="635" rIns="635" bIns="635" rtlCol="0" anchor="t">
            <a:normAutofit/>
          </a:bodyPr>
          <a:lstStyle/>
          <a:p>
            <a:pPr algn="l" indent="0" marL="0">
              <a:buNone/>
            </a:pPr>
            <a:r>
              <a:rPr lang="en-US" sz="850" b="1" dirty="0">
                <a:solidFill>
                  <a:srgbClr val="1F2933"/>
                </a:solidFill>
              </a:rPr>
              <a:t>Simplified vacuum process chamber</a:t>
            </a:r>
            <a:endParaRPr lang="en-US" sz="850" dirty="0"/>
          </a:p>
        </p:txBody>
      </p:sp>
      <p:sp>
        <p:nvSpPr>
          <p:cNvPr id="8" name="Shape 5"/>
          <p:cNvSpPr/>
          <p:nvPr/>
        </p:nvSpPr>
        <p:spPr>
          <a:xfrm>
            <a:off x="1143000" y="2103120"/>
            <a:ext cx="1965960" cy="1508760"/>
          </a:xfrm>
          <a:prstGeom prst="roundRect">
            <a:avLst>
              <a:gd name="adj" fmla="val 4848"/>
            </a:avLst>
          </a:prstGeom>
          <a:solidFill>
            <a:srgbClr val="FFFFFF"/>
          </a:solidFill>
          <a:ln w="15240">
            <a:solidFill>
              <a:srgbClr val="7B8794"/>
            </a:solidFill>
            <a:prstDash val="solid"/>
          </a:ln>
        </p:spPr>
      </p:sp>
      <p:sp>
        <p:nvSpPr>
          <p:cNvPr id="9" name="Text 6"/>
          <p:cNvSpPr/>
          <p:nvPr/>
        </p:nvSpPr>
        <p:spPr>
          <a:xfrm>
            <a:off x="1417320" y="2596896"/>
            <a:ext cx="1417320" cy="411480"/>
          </a:xfrm>
          <a:prstGeom prst="rect">
            <a:avLst/>
          </a:prstGeom>
          <a:noFill/>
          <a:ln/>
        </p:spPr>
        <p:txBody>
          <a:bodyPr wrap="square" lIns="635" tIns="635" rIns="635" bIns="635" rtlCol="0" anchor="t">
            <a:normAutofit/>
          </a:bodyPr>
          <a:lstStyle/>
          <a:p>
            <a:pPr algn="ctr" indent="0" marL="0">
              <a:buNone/>
            </a:pPr>
            <a:r>
              <a:rPr lang="en-US" sz="1200" b="1" dirty="0">
                <a:solidFill>
                  <a:srgbClr val="1F2933"/>
                </a:solidFill>
              </a:rPr>
              <a:t>Process</a:t>
            </a:r>
            <a:endParaRPr lang="en-US" sz="1200" dirty="0"/>
          </a:p>
          <a:p>
            <a:pPr algn="ctr" indent="0" marL="0">
              <a:buNone/>
            </a:pPr>
            <a:r>
              <a:rPr lang="en-US" sz="1200" b="1" dirty="0">
                <a:solidFill>
                  <a:srgbClr val="1F2933"/>
                </a:solidFill>
              </a:rPr>
              <a:t>chamber</a:t>
            </a:r>
            <a:endParaRPr lang="en-US" sz="1200" dirty="0"/>
          </a:p>
        </p:txBody>
      </p:sp>
      <p:sp>
        <p:nvSpPr>
          <p:cNvPr id="10" name="Shape 7"/>
          <p:cNvSpPr/>
          <p:nvPr/>
        </p:nvSpPr>
        <p:spPr>
          <a:xfrm>
            <a:off x="3429000" y="2542032"/>
            <a:ext cx="1143000" cy="493776"/>
          </a:xfrm>
          <a:prstGeom prst="rect">
            <a:avLst/>
          </a:prstGeom>
          <a:solidFill>
            <a:srgbClr val="1B9BDA"/>
          </a:solidFill>
          <a:ln w="12700">
            <a:solidFill>
              <a:srgbClr val="1B9BDA"/>
            </a:solidFill>
            <a:prstDash val="solid"/>
          </a:ln>
        </p:spPr>
      </p:sp>
      <p:sp>
        <p:nvSpPr>
          <p:cNvPr id="11" name="Text 8"/>
          <p:cNvSpPr/>
          <p:nvPr/>
        </p:nvSpPr>
        <p:spPr>
          <a:xfrm>
            <a:off x="3511296" y="2615184"/>
            <a:ext cx="969264" cy="228600"/>
          </a:xfrm>
          <a:prstGeom prst="rect">
            <a:avLst/>
          </a:prstGeom>
          <a:noFill/>
          <a:ln/>
        </p:spPr>
        <p:txBody>
          <a:bodyPr wrap="square" lIns="635" tIns="635" rIns="635" bIns="635" rtlCol="0" anchor="t">
            <a:normAutofit/>
          </a:bodyPr>
          <a:lstStyle/>
          <a:p>
            <a:pPr algn="ctr" indent="0" marL="0">
              <a:buNone/>
            </a:pPr>
            <a:r>
              <a:rPr lang="en-US" sz="640" b="1" dirty="0">
                <a:solidFill>
                  <a:srgbClr val="FFFFFF"/>
                </a:solidFill>
              </a:rPr>
              <a:t>VAT control</a:t>
            </a:r>
            <a:endParaRPr lang="en-US" sz="640" dirty="0"/>
          </a:p>
          <a:p>
            <a:pPr algn="ctr" indent="0" marL="0">
              <a:buNone/>
            </a:pPr>
            <a:r>
              <a:rPr lang="en-US" sz="640" b="1" dirty="0">
                <a:solidFill>
                  <a:srgbClr val="FFFFFF"/>
                </a:solidFill>
              </a:rPr>
              <a:t>valve</a:t>
            </a:r>
            <a:endParaRPr lang="en-US" sz="640" dirty="0"/>
          </a:p>
        </p:txBody>
      </p:sp>
      <p:sp>
        <p:nvSpPr>
          <p:cNvPr id="12" name="Shape 9"/>
          <p:cNvSpPr/>
          <p:nvPr/>
        </p:nvSpPr>
        <p:spPr>
          <a:xfrm>
            <a:off x="4736592" y="2615184"/>
            <a:ext cx="530352" cy="347472"/>
          </a:xfrm>
          <a:prstGeom prst="rect">
            <a:avLst/>
          </a:prstGeom>
          <a:solidFill>
            <a:srgbClr val="A8B4BF"/>
          </a:solidFill>
          <a:ln w="12700">
            <a:solidFill>
              <a:srgbClr val="A8B4BF"/>
            </a:solidFill>
            <a:prstDash val="solid"/>
          </a:ln>
        </p:spPr>
      </p:sp>
      <p:sp>
        <p:nvSpPr>
          <p:cNvPr id="13" name="Text 10"/>
          <p:cNvSpPr/>
          <p:nvPr/>
        </p:nvSpPr>
        <p:spPr>
          <a:xfrm>
            <a:off x="4681728" y="3035808"/>
            <a:ext cx="685800" cy="164592"/>
          </a:xfrm>
          <a:prstGeom prst="rect">
            <a:avLst/>
          </a:prstGeom>
          <a:noFill/>
          <a:ln/>
        </p:spPr>
        <p:txBody>
          <a:bodyPr wrap="square" lIns="635" tIns="635" rIns="635" bIns="635" rtlCol="0" anchor="t">
            <a:normAutofit/>
          </a:bodyPr>
          <a:lstStyle/>
          <a:p>
            <a:pPr algn="ctr" indent="0" marL="0">
              <a:buNone/>
            </a:pPr>
            <a:r>
              <a:rPr lang="en-US" sz="620" dirty="0">
                <a:solidFill>
                  <a:srgbClr val="5E6978"/>
                </a:solidFill>
              </a:rPr>
              <a:t>Pump</a:t>
            </a:r>
            <a:endParaRPr lang="en-US" sz="620" dirty="0"/>
          </a:p>
        </p:txBody>
      </p:sp>
      <p:sp>
        <p:nvSpPr>
          <p:cNvPr id="14" name="Shape 11"/>
          <p:cNvSpPr/>
          <p:nvPr/>
        </p:nvSpPr>
        <p:spPr>
          <a:xfrm>
            <a:off x="3108960" y="2779776"/>
            <a:ext cx="320040" cy="0"/>
          </a:xfrm>
          <a:prstGeom prst="line">
            <a:avLst/>
          </a:prstGeom>
          <a:noFill/>
          <a:ln w="15240">
            <a:solidFill>
              <a:srgbClr val="1B9BDA"/>
            </a:solidFill>
            <a:prstDash val="solid"/>
            <a:headEnd type="none"/>
            <a:tailEnd type="triangle"/>
          </a:ln>
        </p:spPr>
      </p:sp>
      <p:sp>
        <p:nvSpPr>
          <p:cNvPr id="15" name="Shape 12"/>
          <p:cNvSpPr/>
          <p:nvPr/>
        </p:nvSpPr>
        <p:spPr>
          <a:xfrm>
            <a:off x="4572000" y="2779776"/>
            <a:ext cx="164592" cy="0"/>
          </a:xfrm>
          <a:prstGeom prst="line">
            <a:avLst/>
          </a:prstGeom>
          <a:noFill/>
          <a:ln w="15240">
            <a:solidFill>
              <a:srgbClr val="1B9BDA"/>
            </a:solidFill>
            <a:prstDash val="solid"/>
            <a:headEnd type="none"/>
            <a:tailEnd type="triangle"/>
          </a:ln>
        </p:spPr>
      </p:sp>
      <p:sp>
        <p:nvSpPr>
          <p:cNvPr id="16" name="Shape 13"/>
          <p:cNvSpPr/>
          <p:nvPr/>
        </p:nvSpPr>
        <p:spPr>
          <a:xfrm>
            <a:off x="960120" y="4005072"/>
            <a:ext cx="3931920" cy="182880"/>
          </a:xfrm>
          <a:prstGeom prst="roundRect">
            <a:avLst>
              <a:gd name="adj" fmla="val 40000"/>
            </a:avLst>
          </a:prstGeom>
          <a:solidFill>
            <a:srgbClr val="EAF6FC"/>
          </a:solidFill>
          <a:ln w="12700">
            <a:solidFill>
              <a:srgbClr val="EAF6FC">
                <a:alpha val="0"/>
              </a:srgbClr>
            </a:solidFill>
            <a:prstDash val="solid"/>
          </a:ln>
        </p:spPr>
      </p:sp>
      <p:sp>
        <p:nvSpPr>
          <p:cNvPr id="17" name="Text 14"/>
          <p:cNvSpPr/>
          <p:nvPr/>
        </p:nvSpPr>
        <p:spPr>
          <a:xfrm>
            <a:off x="1005840" y="4055364"/>
            <a:ext cx="3840480" cy="109728"/>
          </a:xfrm>
          <a:prstGeom prst="rect">
            <a:avLst/>
          </a:prstGeom>
          <a:noFill/>
          <a:ln/>
        </p:spPr>
        <p:txBody>
          <a:bodyPr wrap="square" lIns="0" tIns="0" rIns="0" bIns="0" rtlCol="0" anchor="ctr">
            <a:normAutofit/>
          </a:bodyPr>
          <a:lstStyle/>
          <a:p>
            <a:pPr algn="ctr" indent="0" marL="0">
              <a:buNone/>
            </a:pPr>
            <a:r>
              <a:rPr lang="en-US" sz="580" dirty="0">
                <a:solidFill>
                  <a:srgbClr val="1F2933"/>
                </a:solidFill>
              </a:rPr>
              <a:t>Remove air &amp; contamination</a:t>
            </a:r>
            <a:endParaRPr lang="en-US" sz="580" dirty="0"/>
          </a:p>
        </p:txBody>
      </p:sp>
      <p:sp>
        <p:nvSpPr>
          <p:cNvPr id="18" name="Shape 15"/>
          <p:cNvSpPr/>
          <p:nvPr/>
        </p:nvSpPr>
        <p:spPr>
          <a:xfrm>
            <a:off x="960120" y="4261104"/>
            <a:ext cx="3931920" cy="182880"/>
          </a:xfrm>
          <a:prstGeom prst="roundRect">
            <a:avLst>
              <a:gd name="adj" fmla="val 40000"/>
            </a:avLst>
          </a:prstGeom>
          <a:solidFill>
            <a:srgbClr val="FFFFFF"/>
          </a:solidFill>
          <a:ln w="12700">
            <a:solidFill>
              <a:srgbClr val="FFFFFF">
                <a:alpha val="0"/>
              </a:srgbClr>
            </a:solidFill>
            <a:prstDash val="solid"/>
          </a:ln>
        </p:spPr>
      </p:sp>
      <p:sp>
        <p:nvSpPr>
          <p:cNvPr id="19" name="Text 16"/>
          <p:cNvSpPr/>
          <p:nvPr/>
        </p:nvSpPr>
        <p:spPr>
          <a:xfrm>
            <a:off x="1005840" y="4311396"/>
            <a:ext cx="3840480" cy="109728"/>
          </a:xfrm>
          <a:prstGeom prst="rect">
            <a:avLst/>
          </a:prstGeom>
          <a:noFill/>
          <a:ln/>
        </p:spPr>
        <p:txBody>
          <a:bodyPr wrap="square" lIns="0" tIns="0" rIns="0" bIns="0" rtlCol="0" anchor="ctr">
            <a:normAutofit/>
          </a:bodyPr>
          <a:lstStyle/>
          <a:p>
            <a:pPr algn="ctr" indent="0" marL="0">
              <a:buNone/>
            </a:pPr>
            <a:r>
              <a:rPr lang="en-US" sz="580" dirty="0">
                <a:solidFill>
                  <a:srgbClr val="1F2933"/>
                </a:solidFill>
              </a:rPr>
              <a:t>Introduce only required chemistry</a:t>
            </a:r>
            <a:endParaRPr lang="en-US" sz="580" dirty="0"/>
          </a:p>
        </p:txBody>
      </p:sp>
      <p:sp>
        <p:nvSpPr>
          <p:cNvPr id="20" name="Shape 17"/>
          <p:cNvSpPr/>
          <p:nvPr/>
        </p:nvSpPr>
        <p:spPr>
          <a:xfrm>
            <a:off x="960120" y="4517136"/>
            <a:ext cx="3931920" cy="182880"/>
          </a:xfrm>
          <a:prstGeom prst="roundRect">
            <a:avLst>
              <a:gd name="adj" fmla="val 40000"/>
            </a:avLst>
          </a:prstGeom>
          <a:solidFill>
            <a:srgbClr val="EAF6FC"/>
          </a:solidFill>
          <a:ln w="12700">
            <a:solidFill>
              <a:srgbClr val="EAF6FC">
                <a:alpha val="0"/>
              </a:srgbClr>
            </a:solidFill>
            <a:prstDash val="solid"/>
          </a:ln>
        </p:spPr>
      </p:sp>
      <p:sp>
        <p:nvSpPr>
          <p:cNvPr id="21" name="Text 18"/>
          <p:cNvSpPr/>
          <p:nvPr/>
        </p:nvSpPr>
        <p:spPr>
          <a:xfrm>
            <a:off x="1005840" y="4567428"/>
            <a:ext cx="3840480" cy="109728"/>
          </a:xfrm>
          <a:prstGeom prst="rect">
            <a:avLst/>
          </a:prstGeom>
          <a:noFill/>
          <a:ln/>
        </p:spPr>
        <p:txBody>
          <a:bodyPr wrap="square" lIns="0" tIns="0" rIns="0" bIns="0" rtlCol="0" anchor="ctr">
            <a:normAutofit/>
          </a:bodyPr>
          <a:lstStyle/>
          <a:p>
            <a:pPr algn="ctr" indent="0" marL="0">
              <a:buNone/>
            </a:pPr>
            <a:r>
              <a:rPr lang="en-US" sz="580" dirty="0">
                <a:solidFill>
                  <a:srgbClr val="1F2933"/>
                </a:solidFill>
              </a:rPr>
              <a:t>Precisely control pressure</a:t>
            </a:r>
            <a:endParaRPr lang="en-US" sz="580" dirty="0"/>
          </a:p>
        </p:txBody>
      </p:sp>
      <p:sp>
        <p:nvSpPr>
          <p:cNvPr id="22" name="Shape 19"/>
          <p:cNvSpPr/>
          <p:nvPr/>
        </p:nvSpPr>
        <p:spPr>
          <a:xfrm>
            <a:off x="960120" y="4773168"/>
            <a:ext cx="3931920" cy="182880"/>
          </a:xfrm>
          <a:prstGeom prst="roundRect">
            <a:avLst>
              <a:gd name="adj" fmla="val 40000"/>
            </a:avLst>
          </a:prstGeom>
          <a:solidFill>
            <a:srgbClr val="FFFFFF"/>
          </a:solidFill>
          <a:ln w="12700">
            <a:solidFill>
              <a:srgbClr val="FFFFFF">
                <a:alpha val="0"/>
              </a:srgbClr>
            </a:solidFill>
            <a:prstDash val="solid"/>
          </a:ln>
        </p:spPr>
      </p:sp>
      <p:sp>
        <p:nvSpPr>
          <p:cNvPr id="23" name="Text 20"/>
          <p:cNvSpPr/>
          <p:nvPr/>
        </p:nvSpPr>
        <p:spPr>
          <a:xfrm>
            <a:off x="1005840" y="4823460"/>
            <a:ext cx="3840480" cy="109728"/>
          </a:xfrm>
          <a:prstGeom prst="rect">
            <a:avLst/>
          </a:prstGeom>
          <a:noFill/>
          <a:ln/>
        </p:spPr>
        <p:txBody>
          <a:bodyPr wrap="square" lIns="0" tIns="0" rIns="0" bIns="0" rtlCol="0" anchor="ctr">
            <a:normAutofit/>
          </a:bodyPr>
          <a:lstStyle/>
          <a:p>
            <a:pPr algn="ctr" indent="0" marL="0">
              <a:buNone/>
            </a:pPr>
            <a:r>
              <a:rPr lang="en-US" sz="580" dirty="0">
                <a:solidFill>
                  <a:srgbClr val="1F2933"/>
                </a:solidFill>
              </a:rPr>
              <a:t>Prevent cross-contamination</a:t>
            </a:r>
            <a:endParaRPr lang="en-US" sz="580" dirty="0"/>
          </a:p>
        </p:txBody>
      </p:sp>
      <p:sp>
        <p:nvSpPr>
          <p:cNvPr id="24" name="Shape 21"/>
          <p:cNvSpPr/>
          <p:nvPr/>
        </p:nvSpPr>
        <p:spPr>
          <a:xfrm>
            <a:off x="5989320" y="1353312"/>
            <a:ext cx="2331720" cy="3886200"/>
          </a:xfrm>
          <a:prstGeom prst="roundRect">
            <a:avLst>
              <a:gd name="adj" fmla="val 2353"/>
            </a:avLst>
          </a:prstGeom>
          <a:solidFill>
            <a:srgbClr val="FFFFFF"/>
          </a:solidFill>
          <a:ln w="8890">
            <a:solidFill>
              <a:srgbClr val="D7E0E8"/>
            </a:solidFill>
            <a:prstDash val="solid"/>
          </a:ln>
        </p:spPr>
      </p:sp>
      <p:sp>
        <p:nvSpPr>
          <p:cNvPr id="25" name="Text 22"/>
          <p:cNvSpPr/>
          <p:nvPr/>
        </p:nvSpPr>
        <p:spPr>
          <a:xfrm>
            <a:off x="6199632" y="1572768"/>
            <a:ext cx="1645920" cy="219456"/>
          </a:xfrm>
          <a:prstGeom prst="rect">
            <a:avLst/>
          </a:prstGeom>
          <a:noFill/>
          <a:ln/>
        </p:spPr>
        <p:txBody>
          <a:bodyPr wrap="square" lIns="635" tIns="635" rIns="635" bIns="635" rtlCol="0" anchor="t">
            <a:normAutofit/>
          </a:bodyPr>
          <a:lstStyle/>
          <a:p>
            <a:pPr algn="l" indent="0" marL="0">
              <a:buNone/>
            </a:pPr>
            <a:r>
              <a:rPr lang="en-US" sz="850" b="1" dirty="0">
                <a:solidFill>
                  <a:srgbClr val="1F2933"/>
                </a:solidFill>
              </a:rPr>
              <a:t>VAT product map</a:t>
            </a:r>
            <a:endParaRPr lang="en-US" sz="850" dirty="0"/>
          </a:p>
        </p:txBody>
      </p:sp>
      <p:sp>
        <p:nvSpPr>
          <p:cNvPr id="26" name="Shape 23"/>
          <p:cNvSpPr/>
          <p:nvPr/>
        </p:nvSpPr>
        <p:spPr>
          <a:xfrm>
            <a:off x="6263640" y="2011680"/>
            <a:ext cx="1627632" cy="228600"/>
          </a:xfrm>
          <a:prstGeom prst="roundRect">
            <a:avLst>
              <a:gd name="adj" fmla="val 32000"/>
            </a:avLst>
          </a:prstGeom>
          <a:solidFill>
            <a:srgbClr val="EAF6FC"/>
          </a:solidFill>
          <a:ln w="12700">
            <a:solidFill>
              <a:srgbClr val="EAF6FC">
                <a:alpha val="0"/>
              </a:srgbClr>
            </a:solidFill>
            <a:prstDash val="solid"/>
          </a:ln>
        </p:spPr>
      </p:sp>
      <p:sp>
        <p:nvSpPr>
          <p:cNvPr id="27" name="Text 24"/>
          <p:cNvSpPr/>
          <p:nvPr/>
        </p:nvSpPr>
        <p:spPr>
          <a:xfrm>
            <a:off x="6309360" y="2061972"/>
            <a:ext cx="1536192" cy="155448"/>
          </a:xfrm>
          <a:prstGeom prst="rect">
            <a:avLst/>
          </a:prstGeom>
          <a:noFill/>
          <a:ln/>
        </p:spPr>
        <p:txBody>
          <a:bodyPr wrap="square" lIns="0" tIns="0" rIns="0" bIns="0" rtlCol="0" anchor="ctr">
            <a:normAutofit/>
          </a:bodyPr>
          <a:lstStyle/>
          <a:p>
            <a:pPr algn="ctr" indent="0" marL="0">
              <a:buNone/>
            </a:pPr>
            <a:r>
              <a:rPr lang="en-US" sz="620" b="1" dirty="0">
                <a:solidFill>
                  <a:srgbClr val="1B9BDA"/>
                </a:solidFill>
              </a:rPr>
              <a:t>Control valves</a:t>
            </a:r>
            <a:endParaRPr lang="en-US" sz="620" dirty="0"/>
          </a:p>
        </p:txBody>
      </p:sp>
      <p:sp>
        <p:nvSpPr>
          <p:cNvPr id="28" name="Shape 25"/>
          <p:cNvSpPr/>
          <p:nvPr/>
        </p:nvSpPr>
        <p:spPr>
          <a:xfrm>
            <a:off x="6263640" y="2404872"/>
            <a:ext cx="1627632" cy="228600"/>
          </a:xfrm>
          <a:prstGeom prst="roundRect">
            <a:avLst>
              <a:gd name="adj" fmla="val 32000"/>
            </a:avLst>
          </a:prstGeom>
          <a:solidFill>
            <a:srgbClr val="EAF6FC"/>
          </a:solidFill>
          <a:ln w="12700">
            <a:solidFill>
              <a:srgbClr val="EAF6FC">
                <a:alpha val="0"/>
              </a:srgbClr>
            </a:solidFill>
            <a:prstDash val="solid"/>
          </a:ln>
        </p:spPr>
      </p:sp>
      <p:sp>
        <p:nvSpPr>
          <p:cNvPr id="29" name="Text 26"/>
          <p:cNvSpPr/>
          <p:nvPr/>
        </p:nvSpPr>
        <p:spPr>
          <a:xfrm>
            <a:off x="6309360" y="2455164"/>
            <a:ext cx="1536192" cy="155448"/>
          </a:xfrm>
          <a:prstGeom prst="rect">
            <a:avLst/>
          </a:prstGeom>
          <a:noFill/>
          <a:ln/>
        </p:spPr>
        <p:txBody>
          <a:bodyPr wrap="square" lIns="0" tIns="0" rIns="0" bIns="0" rtlCol="0" anchor="ctr">
            <a:normAutofit/>
          </a:bodyPr>
          <a:lstStyle/>
          <a:p>
            <a:pPr algn="ctr" indent="0" marL="0">
              <a:buNone/>
            </a:pPr>
            <a:r>
              <a:rPr lang="en-US" sz="620" b="1" dirty="0">
                <a:solidFill>
                  <a:srgbClr val="1B9BDA"/>
                </a:solidFill>
              </a:rPr>
              <a:t>Isolation valves</a:t>
            </a:r>
            <a:endParaRPr lang="en-US" sz="620" dirty="0"/>
          </a:p>
        </p:txBody>
      </p:sp>
      <p:sp>
        <p:nvSpPr>
          <p:cNvPr id="30" name="Shape 27"/>
          <p:cNvSpPr/>
          <p:nvPr/>
        </p:nvSpPr>
        <p:spPr>
          <a:xfrm>
            <a:off x="6263640" y="2798064"/>
            <a:ext cx="1627632" cy="228600"/>
          </a:xfrm>
          <a:prstGeom prst="roundRect">
            <a:avLst>
              <a:gd name="adj" fmla="val 32000"/>
            </a:avLst>
          </a:prstGeom>
          <a:solidFill>
            <a:srgbClr val="EAF6FC"/>
          </a:solidFill>
          <a:ln w="12700">
            <a:solidFill>
              <a:srgbClr val="EAF6FC">
                <a:alpha val="0"/>
              </a:srgbClr>
            </a:solidFill>
            <a:prstDash val="solid"/>
          </a:ln>
        </p:spPr>
      </p:sp>
      <p:sp>
        <p:nvSpPr>
          <p:cNvPr id="31" name="Text 28"/>
          <p:cNvSpPr/>
          <p:nvPr/>
        </p:nvSpPr>
        <p:spPr>
          <a:xfrm>
            <a:off x="6309360" y="2848356"/>
            <a:ext cx="1536192" cy="155448"/>
          </a:xfrm>
          <a:prstGeom prst="rect">
            <a:avLst/>
          </a:prstGeom>
          <a:noFill/>
          <a:ln/>
        </p:spPr>
        <p:txBody>
          <a:bodyPr wrap="square" lIns="0" tIns="0" rIns="0" bIns="0" rtlCol="0" anchor="ctr">
            <a:normAutofit/>
          </a:bodyPr>
          <a:lstStyle/>
          <a:p>
            <a:pPr algn="ctr" indent="0" marL="0">
              <a:buNone/>
            </a:pPr>
            <a:r>
              <a:rPr lang="en-US" sz="620" b="1" dirty="0">
                <a:solidFill>
                  <a:srgbClr val="1B9BDA"/>
                </a:solidFill>
              </a:rPr>
              <a:t>Transfer / gate valves</a:t>
            </a:r>
            <a:endParaRPr lang="en-US" sz="620" dirty="0"/>
          </a:p>
        </p:txBody>
      </p:sp>
      <p:sp>
        <p:nvSpPr>
          <p:cNvPr id="32" name="Shape 29"/>
          <p:cNvSpPr/>
          <p:nvPr/>
        </p:nvSpPr>
        <p:spPr>
          <a:xfrm>
            <a:off x="6263640" y="3191256"/>
            <a:ext cx="1627632" cy="228600"/>
          </a:xfrm>
          <a:prstGeom prst="roundRect">
            <a:avLst>
              <a:gd name="adj" fmla="val 32000"/>
            </a:avLst>
          </a:prstGeom>
          <a:solidFill>
            <a:srgbClr val="F8FAFC"/>
          </a:solidFill>
          <a:ln w="12700">
            <a:solidFill>
              <a:srgbClr val="F8FAFC">
                <a:alpha val="0"/>
              </a:srgbClr>
            </a:solidFill>
            <a:prstDash val="solid"/>
          </a:ln>
        </p:spPr>
      </p:sp>
      <p:sp>
        <p:nvSpPr>
          <p:cNvPr id="33" name="Text 30"/>
          <p:cNvSpPr/>
          <p:nvPr/>
        </p:nvSpPr>
        <p:spPr>
          <a:xfrm>
            <a:off x="6309360" y="3241548"/>
            <a:ext cx="1536192" cy="155448"/>
          </a:xfrm>
          <a:prstGeom prst="rect">
            <a:avLst/>
          </a:prstGeom>
          <a:noFill/>
          <a:ln/>
        </p:spPr>
        <p:txBody>
          <a:bodyPr wrap="square" lIns="0" tIns="0" rIns="0" bIns="0" rtlCol="0" anchor="ctr">
            <a:normAutofit/>
          </a:bodyPr>
          <a:lstStyle/>
          <a:p>
            <a:pPr algn="ctr" indent="0" marL="0">
              <a:buNone/>
            </a:pPr>
            <a:r>
              <a:rPr lang="en-US" sz="620" b="1" dirty="0">
                <a:solidFill>
                  <a:srgbClr val="1F2933"/>
                </a:solidFill>
              </a:rPr>
              <a:t>Vacuum modules</a:t>
            </a:r>
            <a:endParaRPr lang="en-US" sz="620" dirty="0"/>
          </a:p>
        </p:txBody>
      </p:sp>
      <p:sp>
        <p:nvSpPr>
          <p:cNvPr id="34" name="Shape 31"/>
          <p:cNvSpPr/>
          <p:nvPr/>
        </p:nvSpPr>
        <p:spPr>
          <a:xfrm>
            <a:off x="6263640" y="3584448"/>
            <a:ext cx="1627632" cy="228600"/>
          </a:xfrm>
          <a:prstGeom prst="roundRect">
            <a:avLst>
              <a:gd name="adj" fmla="val 32000"/>
            </a:avLst>
          </a:prstGeom>
          <a:solidFill>
            <a:srgbClr val="F8FAFC"/>
          </a:solidFill>
          <a:ln w="12700">
            <a:solidFill>
              <a:srgbClr val="F8FAFC">
                <a:alpha val="0"/>
              </a:srgbClr>
            </a:solidFill>
            <a:prstDash val="solid"/>
          </a:ln>
        </p:spPr>
      </p:sp>
      <p:sp>
        <p:nvSpPr>
          <p:cNvPr id="35" name="Text 32"/>
          <p:cNvSpPr/>
          <p:nvPr/>
        </p:nvSpPr>
        <p:spPr>
          <a:xfrm>
            <a:off x="6309360" y="3634740"/>
            <a:ext cx="1536192" cy="155448"/>
          </a:xfrm>
          <a:prstGeom prst="rect">
            <a:avLst/>
          </a:prstGeom>
          <a:noFill/>
          <a:ln/>
        </p:spPr>
        <p:txBody>
          <a:bodyPr wrap="square" lIns="0" tIns="0" rIns="0" bIns="0" rtlCol="0" anchor="ctr">
            <a:normAutofit/>
          </a:bodyPr>
          <a:lstStyle/>
          <a:p>
            <a:pPr algn="ctr" indent="0" marL="0">
              <a:buNone/>
            </a:pPr>
            <a:r>
              <a:rPr lang="en-US" sz="620" b="1" dirty="0">
                <a:solidFill>
                  <a:srgbClr val="1F2933"/>
                </a:solidFill>
              </a:rPr>
              <a:t>Gas-inlet technology</a:t>
            </a:r>
            <a:endParaRPr lang="en-US" sz="620" dirty="0"/>
          </a:p>
        </p:txBody>
      </p:sp>
      <p:sp>
        <p:nvSpPr>
          <p:cNvPr id="36" name="Shape 33"/>
          <p:cNvSpPr/>
          <p:nvPr/>
        </p:nvSpPr>
        <p:spPr>
          <a:xfrm>
            <a:off x="6263640" y="3977640"/>
            <a:ext cx="1627632" cy="228600"/>
          </a:xfrm>
          <a:prstGeom prst="roundRect">
            <a:avLst>
              <a:gd name="adj" fmla="val 32000"/>
            </a:avLst>
          </a:prstGeom>
          <a:solidFill>
            <a:srgbClr val="F8FAFC"/>
          </a:solidFill>
          <a:ln w="12700">
            <a:solidFill>
              <a:srgbClr val="F8FAFC">
                <a:alpha val="0"/>
              </a:srgbClr>
            </a:solidFill>
            <a:prstDash val="solid"/>
          </a:ln>
        </p:spPr>
      </p:sp>
      <p:sp>
        <p:nvSpPr>
          <p:cNvPr id="37" name="Text 34"/>
          <p:cNvSpPr/>
          <p:nvPr/>
        </p:nvSpPr>
        <p:spPr>
          <a:xfrm>
            <a:off x="6309360" y="4027932"/>
            <a:ext cx="1536192" cy="155448"/>
          </a:xfrm>
          <a:prstGeom prst="rect">
            <a:avLst/>
          </a:prstGeom>
          <a:noFill/>
          <a:ln/>
        </p:spPr>
        <p:txBody>
          <a:bodyPr wrap="square" lIns="0" tIns="0" rIns="0" bIns="0" rtlCol="0" anchor="ctr">
            <a:normAutofit/>
          </a:bodyPr>
          <a:lstStyle/>
          <a:p>
            <a:pPr algn="ctr" indent="0" marL="0">
              <a:buNone/>
            </a:pPr>
            <a:r>
              <a:rPr lang="en-US" sz="620" b="1" dirty="0">
                <a:solidFill>
                  <a:srgbClr val="1F2933"/>
                </a:solidFill>
              </a:rPr>
              <a:t>Motion / pin lifters</a:t>
            </a:r>
            <a:endParaRPr lang="en-US" sz="620" dirty="0"/>
          </a:p>
        </p:txBody>
      </p:sp>
      <p:sp>
        <p:nvSpPr>
          <p:cNvPr id="38" name="Shape 35"/>
          <p:cNvSpPr/>
          <p:nvPr/>
        </p:nvSpPr>
        <p:spPr>
          <a:xfrm>
            <a:off x="6263640" y="4370832"/>
            <a:ext cx="1627632" cy="228600"/>
          </a:xfrm>
          <a:prstGeom prst="roundRect">
            <a:avLst>
              <a:gd name="adj" fmla="val 32000"/>
            </a:avLst>
          </a:prstGeom>
          <a:solidFill>
            <a:srgbClr val="F8FAFC"/>
          </a:solidFill>
          <a:ln w="12700">
            <a:solidFill>
              <a:srgbClr val="F8FAFC">
                <a:alpha val="0"/>
              </a:srgbClr>
            </a:solidFill>
            <a:prstDash val="solid"/>
          </a:ln>
        </p:spPr>
      </p:sp>
      <p:sp>
        <p:nvSpPr>
          <p:cNvPr id="39" name="Text 36"/>
          <p:cNvSpPr/>
          <p:nvPr/>
        </p:nvSpPr>
        <p:spPr>
          <a:xfrm>
            <a:off x="6309360" y="4421124"/>
            <a:ext cx="1536192" cy="155448"/>
          </a:xfrm>
          <a:prstGeom prst="rect">
            <a:avLst/>
          </a:prstGeom>
          <a:noFill/>
          <a:ln/>
        </p:spPr>
        <p:txBody>
          <a:bodyPr wrap="square" lIns="0" tIns="0" rIns="0" bIns="0" rtlCol="0" anchor="ctr">
            <a:normAutofit/>
          </a:bodyPr>
          <a:lstStyle/>
          <a:p>
            <a:pPr algn="ctr" indent="0" marL="0">
              <a:buNone/>
            </a:pPr>
            <a:r>
              <a:rPr lang="en-US" sz="620" b="1" dirty="0">
                <a:solidFill>
                  <a:srgbClr val="1F2933"/>
                </a:solidFill>
              </a:rPr>
              <a:t>Service / retrofit</a:t>
            </a:r>
            <a:endParaRPr lang="en-US" sz="620" dirty="0"/>
          </a:p>
        </p:txBody>
      </p:sp>
      <p:sp>
        <p:nvSpPr>
          <p:cNvPr id="40" name="Shape 37"/>
          <p:cNvSpPr/>
          <p:nvPr/>
        </p:nvSpPr>
        <p:spPr>
          <a:xfrm>
            <a:off x="8732520" y="1353312"/>
            <a:ext cx="2697480" cy="3886200"/>
          </a:xfrm>
          <a:prstGeom prst="roundRect">
            <a:avLst>
              <a:gd name="adj" fmla="val 2034"/>
            </a:avLst>
          </a:prstGeom>
          <a:solidFill>
            <a:srgbClr val="F8FAFC"/>
          </a:solidFill>
          <a:ln w="8890">
            <a:solidFill>
              <a:srgbClr val="D7E0E8"/>
            </a:solidFill>
            <a:prstDash val="solid"/>
          </a:ln>
        </p:spPr>
      </p:sp>
      <p:sp>
        <p:nvSpPr>
          <p:cNvPr id="41" name="Text 38"/>
          <p:cNvSpPr/>
          <p:nvPr/>
        </p:nvSpPr>
        <p:spPr>
          <a:xfrm>
            <a:off x="8942832" y="1572768"/>
            <a:ext cx="1645920" cy="219456"/>
          </a:xfrm>
          <a:prstGeom prst="rect">
            <a:avLst/>
          </a:prstGeom>
          <a:noFill/>
          <a:ln/>
        </p:spPr>
        <p:txBody>
          <a:bodyPr wrap="square" lIns="635" tIns="635" rIns="635" bIns="635" rtlCol="0" anchor="t">
            <a:normAutofit/>
          </a:bodyPr>
          <a:lstStyle/>
          <a:p>
            <a:pPr algn="l" indent="0" marL="0">
              <a:buNone/>
            </a:pPr>
            <a:r>
              <a:rPr lang="en-US" sz="850" b="1" dirty="0">
                <a:solidFill>
                  <a:srgbClr val="1F2933"/>
                </a:solidFill>
              </a:rPr>
              <a:t>Why not a commodity?</a:t>
            </a:r>
            <a:endParaRPr lang="en-US" sz="850" dirty="0"/>
          </a:p>
        </p:txBody>
      </p:sp>
      <p:sp>
        <p:nvSpPr>
          <p:cNvPr id="42" name="Shape 39"/>
          <p:cNvSpPr/>
          <p:nvPr/>
        </p:nvSpPr>
        <p:spPr>
          <a:xfrm>
            <a:off x="9006840" y="1920240"/>
            <a:ext cx="1847088" cy="210312"/>
          </a:xfrm>
          <a:prstGeom prst="roundRect">
            <a:avLst>
              <a:gd name="adj" fmla="val 34783"/>
            </a:avLst>
          </a:prstGeom>
          <a:solidFill>
            <a:srgbClr val="FFFFFF"/>
          </a:solidFill>
          <a:ln w="12700">
            <a:solidFill>
              <a:srgbClr val="FFFFFF">
                <a:alpha val="0"/>
              </a:srgbClr>
            </a:solidFill>
            <a:prstDash val="solid"/>
          </a:ln>
        </p:spPr>
      </p:sp>
      <p:sp>
        <p:nvSpPr>
          <p:cNvPr id="43" name="Text 40"/>
          <p:cNvSpPr/>
          <p:nvPr/>
        </p:nvSpPr>
        <p:spPr>
          <a:xfrm>
            <a:off x="9052560" y="1970532"/>
            <a:ext cx="1755648" cy="137160"/>
          </a:xfrm>
          <a:prstGeom prst="rect">
            <a:avLst/>
          </a:prstGeom>
          <a:noFill/>
          <a:ln/>
        </p:spPr>
        <p:txBody>
          <a:bodyPr wrap="square" lIns="0" tIns="0" rIns="0" bIns="0" rtlCol="0" anchor="ctr">
            <a:normAutofit/>
          </a:bodyPr>
          <a:lstStyle/>
          <a:p>
            <a:pPr algn="ctr" indent="0" marL="0">
              <a:buNone/>
            </a:pPr>
            <a:r>
              <a:rPr lang="en-US" sz="580" dirty="0">
                <a:solidFill>
                  <a:srgbClr val="1F2933"/>
                </a:solidFill>
              </a:rPr>
              <a:t>OEM process architecture</a:t>
            </a:r>
            <a:endParaRPr lang="en-US" sz="580" dirty="0"/>
          </a:p>
        </p:txBody>
      </p:sp>
      <p:sp>
        <p:nvSpPr>
          <p:cNvPr id="44" name="Shape 41"/>
          <p:cNvSpPr/>
          <p:nvPr/>
        </p:nvSpPr>
        <p:spPr>
          <a:xfrm>
            <a:off x="9939528" y="2139696"/>
            <a:ext cx="0" cy="137160"/>
          </a:xfrm>
          <a:prstGeom prst="line">
            <a:avLst/>
          </a:prstGeom>
          <a:noFill/>
          <a:ln w="7620">
            <a:solidFill>
              <a:srgbClr val="A8B4BF"/>
            </a:solidFill>
            <a:prstDash val="solid"/>
            <a:headEnd type="none"/>
            <a:tailEnd type="triangle"/>
          </a:ln>
        </p:spPr>
      </p:sp>
      <p:sp>
        <p:nvSpPr>
          <p:cNvPr id="45" name="Shape 42"/>
          <p:cNvSpPr/>
          <p:nvPr/>
        </p:nvSpPr>
        <p:spPr>
          <a:xfrm>
            <a:off x="9006840" y="2304288"/>
            <a:ext cx="1847088" cy="210312"/>
          </a:xfrm>
          <a:prstGeom prst="roundRect">
            <a:avLst>
              <a:gd name="adj" fmla="val 34783"/>
            </a:avLst>
          </a:prstGeom>
          <a:solidFill>
            <a:srgbClr val="FFFFFF"/>
          </a:solidFill>
          <a:ln w="12700">
            <a:solidFill>
              <a:srgbClr val="FFFFFF">
                <a:alpha val="0"/>
              </a:srgbClr>
            </a:solidFill>
            <a:prstDash val="solid"/>
          </a:ln>
        </p:spPr>
      </p:sp>
      <p:sp>
        <p:nvSpPr>
          <p:cNvPr id="46" name="Text 43"/>
          <p:cNvSpPr/>
          <p:nvPr/>
        </p:nvSpPr>
        <p:spPr>
          <a:xfrm>
            <a:off x="9052560" y="2354580"/>
            <a:ext cx="1755648" cy="137160"/>
          </a:xfrm>
          <a:prstGeom prst="rect">
            <a:avLst/>
          </a:prstGeom>
          <a:noFill/>
          <a:ln/>
        </p:spPr>
        <p:txBody>
          <a:bodyPr wrap="square" lIns="0" tIns="0" rIns="0" bIns="0" rtlCol="0" anchor="ctr">
            <a:normAutofit/>
          </a:bodyPr>
          <a:lstStyle/>
          <a:p>
            <a:pPr algn="ctr" indent="0" marL="0">
              <a:buNone/>
            </a:pPr>
            <a:r>
              <a:rPr lang="en-US" sz="580" dirty="0">
                <a:solidFill>
                  <a:srgbClr val="1F2933"/>
                </a:solidFill>
              </a:rPr>
              <a:t>VAT co-development</a:t>
            </a:r>
            <a:endParaRPr lang="en-US" sz="580" dirty="0"/>
          </a:p>
        </p:txBody>
      </p:sp>
      <p:sp>
        <p:nvSpPr>
          <p:cNvPr id="47" name="Shape 44"/>
          <p:cNvSpPr/>
          <p:nvPr/>
        </p:nvSpPr>
        <p:spPr>
          <a:xfrm>
            <a:off x="9939528" y="2523744"/>
            <a:ext cx="0" cy="137160"/>
          </a:xfrm>
          <a:prstGeom prst="line">
            <a:avLst/>
          </a:prstGeom>
          <a:noFill/>
          <a:ln w="7620">
            <a:solidFill>
              <a:srgbClr val="A8B4BF"/>
            </a:solidFill>
            <a:prstDash val="solid"/>
            <a:headEnd type="none"/>
            <a:tailEnd type="triangle"/>
          </a:ln>
        </p:spPr>
      </p:sp>
      <p:sp>
        <p:nvSpPr>
          <p:cNvPr id="48" name="Shape 45"/>
          <p:cNvSpPr/>
          <p:nvPr/>
        </p:nvSpPr>
        <p:spPr>
          <a:xfrm>
            <a:off x="9006840" y="2688336"/>
            <a:ext cx="1847088" cy="210312"/>
          </a:xfrm>
          <a:prstGeom prst="roundRect">
            <a:avLst>
              <a:gd name="adj" fmla="val 34783"/>
            </a:avLst>
          </a:prstGeom>
          <a:solidFill>
            <a:srgbClr val="FFFFFF"/>
          </a:solidFill>
          <a:ln w="12700">
            <a:solidFill>
              <a:srgbClr val="FFFFFF">
                <a:alpha val="0"/>
              </a:srgbClr>
            </a:solidFill>
            <a:prstDash val="solid"/>
          </a:ln>
        </p:spPr>
      </p:sp>
      <p:sp>
        <p:nvSpPr>
          <p:cNvPr id="49" name="Text 46"/>
          <p:cNvSpPr/>
          <p:nvPr/>
        </p:nvSpPr>
        <p:spPr>
          <a:xfrm>
            <a:off x="9052560" y="2738628"/>
            <a:ext cx="1755648" cy="137160"/>
          </a:xfrm>
          <a:prstGeom prst="rect">
            <a:avLst/>
          </a:prstGeom>
          <a:noFill/>
          <a:ln/>
        </p:spPr>
        <p:txBody>
          <a:bodyPr wrap="square" lIns="0" tIns="0" rIns="0" bIns="0" rtlCol="0" anchor="ctr">
            <a:normAutofit/>
          </a:bodyPr>
          <a:lstStyle/>
          <a:p>
            <a:pPr algn="ctr" indent="0" marL="0">
              <a:buNone/>
            </a:pPr>
            <a:r>
              <a:rPr lang="en-US" sz="580" dirty="0">
                <a:solidFill>
                  <a:srgbClr val="1F2933"/>
                </a:solidFill>
              </a:rPr>
              <a:t>Chamber testing</a:t>
            </a:r>
            <a:endParaRPr lang="en-US" sz="580" dirty="0"/>
          </a:p>
        </p:txBody>
      </p:sp>
      <p:sp>
        <p:nvSpPr>
          <p:cNvPr id="50" name="Shape 47"/>
          <p:cNvSpPr/>
          <p:nvPr/>
        </p:nvSpPr>
        <p:spPr>
          <a:xfrm>
            <a:off x="9939528" y="2907792"/>
            <a:ext cx="0" cy="137160"/>
          </a:xfrm>
          <a:prstGeom prst="line">
            <a:avLst/>
          </a:prstGeom>
          <a:noFill/>
          <a:ln w="7620">
            <a:solidFill>
              <a:srgbClr val="A8B4BF"/>
            </a:solidFill>
            <a:prstDash val="solid"/>
            <a:headEnd type="none"/>
            <a:tailEnd type="triangle"/>
          </a:ln>
        </p:spPr>
      </p:sp>
      <p:sp>
        <p:nvSpPr>
          <p:cNvPr id="51" name="Shape 48"/>
          <p:cNvSpPr/>
          <p:nvPr/>
        </p:nvSpPr>
        <p:spPr>
          <a:xfrm>
            <a:off x="9006840" y="3072384"/>
            <a:ext cx="1847088" cy="210312"/>
          </a:xfrm>
          <a:prstGeom prst="roundRect">
            <a:avLst>
              <a:gd name="adj" fmla="val 34783"/>
            </a:avLst>
          </a:prstGeom>
          <a:solidFill>
            <a:srgbClr val="FFFFFF"/>
          </a:solidFill>
          <a:ln w="12700">
            <a:solidFill>
              <a:srgbClr val="FFFFFF">
                <a:alpha val="0"/>
              </a:srgbClr>
            </a:solidFill>
            <a:prstDash val="solid"/>
          </a:ln>
        </p:spPr>
      </p:sp>
      <p:sp>
        <p:nvSpPr>
          <p:cNvPr id="52" name="Text 49"/>
          <p:cNvSpPr/>
          <p:nvPr/>
        </p:nvSpPr>
        <p:spPr>
          <a:xfrm>
            <a:off x="9052560" y="3122676"/>
            <a:ext cx="1755648" cy="137160"/>
          </a:xfrm>
          <a:prstGeom prst="rect">
            <a:avLst/>
          </a:prstGeom>
          <a:noFill/>
          <a:ln/>
        </p:spPr>
        <p:txBody>
          <a:bodyPr wrap="square" lIns="0" tIns="0" rIns="0" bIns="0" rtlCol="0" anchor="ctr">
            <a:normAutofit/>
          </a:bodyPr>
          <a:lstStyle/>
          <a:p>
            <a:pPr algn="ctr" indent="0" marL="0">
              <a:buNone/>
            </a:pPr>
            <a:r>
              <a:rPr lang="en-US" sz="580" dirty="0">
                <a:solidFill>
                  <a:srgbClr val="1F2933"/>
                </a:solidFill>
              </a:rPr>
              <a:t>Particle / reliability qualification</a:t>
            </a:r>
            <a:endParaRPr lang="en-US" sz="580" dirty="0"/>
          </a:p>
        </p:txBody>
      </p:sp>
      <p:sp>
        <p:nvSpPr>
          <p:cNvPr id="53" name="Shape 50"/>
          <p:cNvSpPr/>
          <p:nvPr/>
        </p:nvSpPr>
        <p:spPr>
          <a:xfrm>
            <a:off x="9939528" y="3291840"/>
            <a:ext cx="0" cy="137160"/>
          </a:xfrm>
          <a:prstGeom prst="line">
            <a:avLst/>
          </a:prstGeom>
          <a:noFill/>
          <a:ln w="7620">
            <a:solidFill>
              <a:srgbClr val="A8B4BF"/>
            </a:solidFill>
            <a:prstDash val="solid"/>
            <a:headEnd type="none"/>
            <a:tailEnd type="triangle"/>
          </a:ln>
        </p:spPr>
      </p:sp>
      <p:sp>
        <p:nvSpPr>
          <p:cNvPr id="54" name="Shape 51"/>
          <p:cNvSpPr/>
          <p:nvPr/>
        </p:nvSpPr>
        <p:spPr>
          <a:xfrm>
            <a:off x="9006840" y="3456432"/>
            <a:ext cx="1847088" cy="210312"/>
          </a:xfrm>
          <a:prstGeom prst="roundRect">
            <a:avLst>
              <a:gd name="adj" fmla="val 34783"/>
            </a:avLst>
          </a:prstGeom>
          <a:solidFill>
            <a:srgbClr val="FFFFFF"/>
          </a:solidFill>
          <a:ln w="12700">
            <a:solidFill>
              <a:srgbClr val="FFFFFF">
                <a:alpha val="0"/>
              </a:srgbClr>
            </a:solidFill>
            <a:prstDash val="solid"/>
          </a:ln>
        </p:spPr>
      </p:sp>
      <p:sp>
        <p:nvSpPr>
          <p:cNvPr id="55" name="Text 52"/>
          <p:cNvSpPr/>
          <p:nvPr/>
        </p:nvSpPr>
        <p:spPr>
          <a:xfrm>
            <a:off x="9052560" y="3506724"/>
            <a:ext cx="1755648" cy="137160"/>
          </a:xfrm>
          <a:prstGeom prst="rect">
            <a:avLst/>
          </a:prstGeom>
          <a:noFill/>
          <a:ln/>
        </p:spPr>
        <p:txBody>
          <a:bodyPr wrap="square" lIns="0" tIns="0" rIns="0" bIns="0" rtlCol="0" anchor="ctr">
            <a:normAutofit/>
          </a:bodyPr>
          <a:lstStyle/>
          <a:p>
            <a:pPr algn="ctr" indent="0" marL="0">
              <a:buNone/>
            </a:pPr>
            <a:r>
              <a:rPr lang="en-US" sz="580" dirty="0">
                <a:solidFill>
                  <a:srgbClr val="1F2933"/>
                </a:solidFill>
              </a:rPr>
              <a:t>OEM specification</a:t>
            </a:r>
            <a:endParaRPr lang="en-US" sz="580" dirty="0"/>
          </a:p>
        </p:txBody>
      </p:sp>
      <p:sp>
        <p:nvSpPr>
          <p:cNvPr id="56" name="Shape 53"/>
          <p:cNvSpPr/>
          <p:nvPr/>
        </p:nvSpPr>
        <p:spPr>
          <a:xfrm>
            <a:off x="9939528" y="3675888"/>
            <a:ext cx="0" cy="137160"/>
          </a:xfrm>
          <a:prstGeom prst="line">
            <a:avLst/>
          </a:prstGeom>
          <a:noFill/>
          <a:ln w="7620">
            <a:solidFill>
              <a:srgbClr val="A8B4BF"/>
            </a:solidFill>
            <a:prstDash val="solid"/>
            <a:headEnd type="none"/>
            <a:tailEnd type="triangle"/>
          </a:ln>
        </p:spPr>
      </p:sp>
      <p:sp>
        <p:nvSpPr>
          <p:cNvPr id="57" name="Shape 54"/>
          <p:cNvSpPr/>
          <p:nvPr/>
        </p:nvSpPr>
        <p:spPr>
          <a:xfrm>
            <a:off x="9006840" y="3840480"/>
            <a:ext cx="1847088" cy="210312"/>
          </a:xfrm>
          <a:prstGeom prst="roundRect">
            <a:avLst>
              <a:gd name="adj" fmla="val 34783"/>
            </a:avLst>
          </a:prstGeom>
          <a:solidFill>
            <a:srgbClr val="EAF6FC"/>
          </a:solidFill>
          <a:ln w="12700">
            <a:solidFill>
              <a:srgbClr val="EAF6FC">
                <a:alpha val="0"/>
              </a:srgbClr>
            </a:solidFill>
            <a:prstDash val="solid"/>
          </a:ln>
        </p:spPr>
      </p:sp>
      <p:sp>
        <p:nvSpPr>
          <p:cNvPr id="58" name="Text 55"/>
          <p:cNvSpPr/>
          <p:nvPr/>
        </p:nvSpPr>
        <p:spPr>
          <a:xfrm>
            <a:off x="9052560" y="3890772"/>
            <a:ext cx="1755648" cy="137160"/>
          </a:xfrm>
          <a:prstGeom prst="rect">
            <a:avLst/>
          </a:prstGeom>
          <a:noFill/>
          <a:ln/>
        </p:spPr>
        <p:txBody>
          <a:bodyPr wrap="square" lIns="0" tIns="0" rIns="0" bIns="0" rtlCol="0" anchor="ctr">
            <a:normAutofit/>
          </a:bodyPr>
          <a:lstStyle/>
          <a:p>
            <a:pPr algn="ctr" indent="0" marL="0">
              <a:buNone/>
            </a:pPr>
            <a:r>
              <a:rPr lang="en-US" sz="580" b="1" dirty="0">
                <a:solidFill>
                  <a:srgbClr val="1B9BDA"/>
                </a:solidFill>
              </a:rPr>
              <a:t>High-volume manufacturing</a:t>
            </a:r>
            <a:endParaRPr lang="en-US" sz="580" dirty="0"/>
          </a:p>
        </p:txBody>
      </p:sp>
      <p:sp>
        <p:nvSpPr>
          <p:cNvPr id="59" name="Shape 56"/>
          <p:cNvSpPr/>
          <p:nvPr/>
        </p:nvSpPr>
        <p:spPr>
          <a:xfrm>
            <a:off x="9939528" y="4059936"/>
            <a:ext cx="0" cy="137160"/>
          </a:xfrm>
          <a:prstGeom prst="line">
            <a:avLst/>
          </a:prstGeom>
          <a:noFill/>
          <a:ln w="7620">
            <a:solidFill>
              <a:srgbClr val="A8B4BF"/>
            </a:solidFill>
            <a:prstDash val="solid"/>
            <a:headEnd type="none"/>
            <a:tailEnd type="triangle"/>
          </a:ln>
        </p:spPr>
      </p:sp>
      <p:sp>
        <p:nvSpPr>
          <p:cNvPr id="60" name="Shape 57"/>
          <p:cNvSpPr/>
          <p:nvPr/>
        </p:nvSpPr>
        <p:spPr>
          <a:xfrm>
            <a:off x="8979408" y="4443984"/>
            <a:ext cx="1938528" cy="493776"/>
          </a:xfrm>
          <a:prstGeom prst="roundRect">
            <a:avLst>
              <a:gd name="adj" fmla="val 11111"/>
            </a:avLst>
          </a:prstGeom>
          <a:solidFill>
            <a:srgbClr val="FFF7E8"/>
          </a:solidFill>
          <a:ln w="8890">
            <a:solidFill>
              <a:srgbClr val="F8D49C"/>
            </a:solidFill>
            <a:prstDash val="solid"/>
          </a:ln>
        </p:spPr>
      </p:sp>
      <p:sp>
        <p:nvSpPr>
          <p:cNvPr id="61" name="Text 58"/>
          <p:cNvSpPr/>
          <p:nvPr/>
        </p:nvSpPr>
        <p:spPr>
          <a:xfrm>
            <a:off x="9125712" y="4572000"/>
            <a:ext cx="1645920" cy="164592"/>
          </a:xfrm>
          <a:prstGeom prst="rect">
            <a:avLst/>
          </a:prstGeom>
          <a:noFill/>
          <a:ln/>
        </p:spPr>
        <p:txBody>
          <a:bodyPr wrap="square" lIns="635" tIns="635" rIns="635" bIns="635" rtlCol="0" anchor="t">
            <a:normAutofit/>
          </a:bodyPr>
          <a:lstStyle/>
          <a:p>
            <a:pPr algn="ctr" indent="0" marL="0">
              <a:buNone/>
            </a:pPr>
            <a:r>
              <a:rPr lang="en-US" sz="730" b="1" dirty="0">
                <a:solidFill>
                  <a:srgbClr val="1F2933"/>
                </a:solidFill>
              </a:rPr>
              <a:t>Low component cost; very high cost of failure.</a:t>
            </a:r>
            <a:endParaRPr lang="en-US" sz="730" dirty="0"/>
          </a:p>
        </p:txBody>
      </p:sp>
      <p:sp>
        <p:nvSpPr>
          <p:cNvPr id="62" name="Shape 59"/>
          <p:cNvSpPr/>
          <p:nvPr/>
        </p:nvSpPr>
        <p:spPr>
          <a:xfrm>
            <a:off x="411480" y="6428232"/>
            <a:ext cx="11384280" cy="0"/>
          </a:xfrm>
          <a:prstGeom prst="line">
            <a:avLst/>
          </a:prstGeom>
          <a:noFill/>
          <a:ln w="7620">
            <a:solidFill>
              <a:srgbClr val="D7E0E8"/>
            </a:solidFill>
            <a:prstDash val="solid"/>
          </a:ln>
        </p:spPr>
      </p:sp>
      <p:sp>
        <p:nvSpPr>
          <p:cNvPr id="63" name="Text 60"/>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Uploaded VAT 101 document; VAT product pages, including 04.2 Transfer Valve and 65.5 Pendulum Control Valve technical materials; analyst estimates.</a:t>
            </a:r>
            <a:endParaRPr lang="en-US" sz="550" dirty="0"/>
          </a:p>
        </p:txBody>
      </p:sp>
      <p:sp>
        <p:nvSpPr>
          <p:cNvPr id="64" name="Text 61"/>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5</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VAT Group AG (SIX: VACN) | BUY</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WFE remains cyclical, but AI, HBM and leading-edge logic are increasing the vacuum intensity of equipment spending</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658368" y="1225296"/>
            <a:ext cx="4983480" cy="2423160"/>
          </a:xfrm>
          <a:prstGeom prst="roundRect">
            <a:avLst>
              <a:gd name="adj" fmla="val 2264"/>
            </a:avLst>
          </a:prstGeom>
          <a:solidFill>
            <a:srgbClr val="FFFFFF"/>
          </a:solidFill>
          <a:ln w="8890">
            <a:solidFill>
              <a:srgbClr val="D7E0E8"/>
            </a:solidFill>
            <a:prstDash val="solid"/>
          </a:ln>
        </p:spPr>
      </p:sp>
      <p:sp>
        <p:nvSpPr>
          <p:cNvPr id="7" name="Text 4"/>
          <p:cNvSpPr/>
          <p:nvPr/>
        </p:nvSpPr>
        <p:spPr>
          <a:xfrm>
            <a:off x="868680" y="1435608"/>
            <a:ext cx="3291840" cy="228600"/>
          </a:xfrm>
          <a:prstGeom prst="rect">
            <a:avLst/>
          </a:prstGeom>
          <a:noFill/>
          <a:ln/>
        </p:spPr>
        <p:txBody>
          <a:bodyPr wrap="square" lIns="635" tIns="635" rIns="635" bIns="635" rtlCol="0" anchor="t">
            <a:normAutofit/>
          </a:bodyPr>
          <a:lstStyle/>
          <a:p>
            <a:pPr algn="l" indent="0" marL="0">
              <a:buNone/>
            </a:pPr>
            <a:r>
              <a:rPr lang="en-US" sz="840" b="1" dirty="0">
                <a:solidFill>
                  <a:srgbClr val="1F2933"/>
                </a:solidFill>
              </a:rPr>
              <a:t>WFE is the relevant demand pool, not semiconductor revenue</a:t>
            </a:r>
            <a:endParaRPr lang="en-US" sz="840" dirty="0"/>
          </a:p>
        </p:txBody>
      </p:sp>
      <p:graphicFrame>
        <p:nvGraphicFramePr>
          <p:cNvPr id="8" name="Chart 0" descr=""/>
          <p:cNvGraphicFramePr/>
          <p:nvPr/>
        </p:nvGraphicFramePr>
        <p:xfrm>
          <a:off x="914400" y="1810512"/>
          <a:ext cx="4279392" cy="132588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914400" y="3246120"/>
            <a:ext cx="4343400" cy="219456"/>
          </a:xfrm>
          <a:prstGeom prst="rect">
            <a:avLst/>
          </a:prstGeom>
          <a:noFill/>
          <a:ln/>
        </p:spPr>
        <p:txBody>
          <a:bodyPr wrap="square" lIns="635" tIns="635" rIns="635" bIns="635" rtlCol="0" anchor="t">
            <a:normAutofit/>
          </a:bodyPr>
          <a:lstStyle/>
          <a:p>
            <a:pPr algn="l" indent="0" marL="0">
              <a:buNone/>
            </a:pPr>
            <a:r>
              <a:rPr lang="en-US" sz="680" dirty="0">
                <a:solidFill>
                  <a:srgbClr val="5E6978"/>
                </a:solidFill>
              </a:rPr>
              <a:t>SEMI mid-year forecast implies WFE grows to ~US$144bn in 2026 and toward ~US$200bn by 2028.</a:t>
            </a:r>
            <a:endParaRPr lang="en-US" sz="680" dirty="0"/>
          </a:p>
        </p:txBody>
      </p:sp>
      <p:sp>
        <p:nvSpPr>
          <p:cNvPr id="10" name="Shape 6"/>
          <p:cNvSpPr/>
          <p:nvPr/>
        </p:nvSpPr>
        <p:spPr>
          <a:xfrm>
            <a:off x="6053328" y="1225296"/>
            <a:ext cx="5230368" cy="2423160"/>
          </a:xfrm>
          <a:prstGeom prst="roundRect">
            <a:avLst>
              <a:gd name="adj" fmla="val 2264"/>
            </a:avLst>
          </a:prstGeom>
          <a:solidFill>
            <a:srgbClr val="F8FAFC"/>
          </a:solidFill>
          <a:ln w="8890">
            <a:solidFill>
              <a:srgbClr val="D7E0E8"/>
            </a:solidFill>
            <a:prstDash val="solid"/>
          </a:ln>
        </p:spPr>
      </p:sp>
      <p:sp>
        <p:nvSpPr>
          <p:cNvPr id="11" name="Text 7"/>
          <p:cNvSpPr/>
          <p:nvPr/>
        </p:nvSpPr>
        <p:spPr>
          <a:xfrm>
            <a:off x="6272784" y="1435608"/>
            <a:ext cx="2743200" cy="228600"/>
          </a:xfrm>
          <a:prstGeom prst="rect">
            <a:avLst/>
          </a:prstGeom>
          <a:noFill/>
          <a:ln/>
        </p:spPr>
        <p:txBody>
          <a:bodyPr wrap="square" lIns="635" tIns="635" rIns="635" bIns="635" rtlCol="0" anchor="t">
            <a:normAutofit/>
          </a:bodyPr>
          <a:lstStyle/>
          <a:p>
            <a:pPr algn="l" indent="0" marL="0">
              <a:buNone/>
            </a:pPr>
            <a:r>
              <a:rPr lang="en-US" sz="840" b="1" dirty="0">
                <a:solidFill>
                  <a:srgbClr val="1F2933"/>
                </a:solidFill>
              </a:rPr>
              <a:t>VAT semiconductor revenue equation</a:t>
            </a:r>
            <a:endParaRPr lang="en-US" sz="840" dirty="0"/>
          </a:p>
        </p:txBody>
      </p:sp>
      <p:sp>
        <p:nvSpPr>
          <p:cNvPr id="12" name="Text 8"/>
          <p:cNvSpPr/>
          <p:nvPr/>
        </p:nvSpPr>
        <p:spPr>
          <a:xfrm>
            <a:off x="6272784" y="1938528"/>
            <a:ext cx="4480560" cy="274320"/>
          </a:xfrm>
          <a:prstGeom prst="rect">
            <a:avLst/>
          </a:prstGeom>
          <a:noFill/>
          <a:ln/>
        </p:spPr>
        <p:txBody>
          <a:bodyPr wrap="square" lIns="635" tIns="635" rIns="635" bIns="635" rtlCol="0" anchor="t">
            <a:normAutofit/>
          </a:bodyPr>
          <a:lstStyle/>
          <a:p>
            <a:pPr algn="ctr" indent="0" marL="0">
              <a:buNone/>
            </a:pPr>
            <a:r>
              <a:rPr lang="en-US" sz="810" b="1" dirty="0">
                <a:solidFill>
                  <a:srgbClr val="1F2933"/>
                </a:solidFill>
              </a:rPr>
              <a:t>WFE growth  ×  vacuum intensity  ×  VAT market share  ×  content per tool</a:t>
            </a:r>
            <a:endParaRPr lang="en-US" sz="810" dirty="0"/>
          </a:p>
        </p:txBody>
      </p:sp>
      <p:sp>
        <p:nvSpPr>
          <p:cNvPr id="13" name="Shape 9"/>
          <p:cNvSpPr/>
          <p:nvPr/>
        </p:nvSpPr>
        <p:spPr>
          <a:xfrm>
            <a:off x="6355080" y="2313432"/>
            <a:ext cx="4160520" cy="0"/>
          </a:xfrm>
          <a:prstGeom prst="line">
            <a:avLst/>
          </a:prstGeom>
          <a:noFill/>
          <a:ln w="12700">
            <a:solidFill>
              <a:srgbClr val="1B9BDA"/>
            </a:solidFill>
            <a:prstDash val="solid"/>
          </a:ln>
        </p:spPr>
      </p:sp>
      <p:sp>
        <p:nvSpPr>
          <p:cNvPr id="14" name="Text 10"/>
          <p:cNvSpPr/>
          <p:nvPr/>
        </p:nvSpPr>
        <p:spPr>
          <a:xfrm>
            <a:off x="6272784" y="2487168"/>
            <a:ext cx="4434840" cy="228600"/>
          </a:xfrm>
          <a:prstGeom prst="rect">
            <a:avLst/>
          </a:prstGeom>
          <a:noFill/>
          <a:ln/>
        </p:spPr>
        <p:txBody>
          <a:bodyPr wrap="square" lIns="635" tIns="635" rIns="635" bIns="635" rtlCol="0" anchor="t">
            <a:normAutofit/>
          </a:bodyPr>
          <a:lstStyle/>
          <a:p>
            <a:pPr algn="l" indent="0" marL="0">
              <a:buNone/>
            </a:pPr>
            <a:r>
              <a:rPr lang="en-US" sz="800" b="1" dirty="0">
                <a:solidFill>
                  <a:srgbClr val="1B9BDA"/>
                </a:solidFill>
              </a:rPr>
              <a:t>+ Installed base × fab utilisation × service revenue per installed valve</a:t>
            </a:r>
            <a:endParaRPr lang="en-US" sz="800" dirty="0"/>
          </a:p>
        </p:txBody>
      </p:sp>
      <p:sp>
        <p:nvSpPr>
          <p:cNvPr id="15" name="Shape 11"/>
          <p:cNvSpPr/>
          <p:nvPr/>
        </p:nvSpPr>
        <p:spPr>
          <a:xfrm>
            <a:off x="658368" y="4041648"/>
            <a:ext cx="10625328" cy="1600200"/>
          </a:xfrm>
          <a:prstGeom prst="roundRect">
            <a:avLst>
              <a:gd name="adj" fmla="val 3429"/>
            </a:avLst>
          </a:prstGeom>
          <a:solidFill>
            <a:srgbClr val="FFFFFF"/>
          </a:solidFill>
          <a:ln w="8890">
            <a:solidFill>
              <a:srgbClr val="D7E0E8"/>
            </a:solidFill>
            <a:prstDash val="solid"/>
          </a:ln>
        </p:spPr>
      </p:sp>
      <p:sp>
        <p:nvSpPr>
          <p:cNvPr id="16" name="Text 12"/>
          <p:cNvSpPr/>
          <p:nvPr/>
        </p:nvSpPr>
        <p:spPr>
          <a:xfrm>
            <a:off x="868680" y="4270248"/>
            <a:ext cx="1828800" cy="228600"/>
          </a:xfrm>
          <a:prstGeom prst="rect">
            <a:avLst/>
          </a:prstGeom>
          <a:noFill/>
          <a:ln/>
        </p:spPr>
        <p:txBody>
          <a:bodyPr wrap="square" lIns="635" tIns="635" rIns="635" bIns="635" rtlCol="0" anchor="t">
            <a:normAutofit/>
          </a:bodyPr>
          <a:lstStyle/>
          <a:p>
            <a:pPr algn="l" indent="0" marL="0">
              <a:buNone/>
            </a:pPr>
            <a:r>
              <a:rPr lang="en-US" sz="840" b="1" dirty="0">
                <a:solidFill>
                  <a:srgbClr val="1F2933"/>
                </a:solidFill>
              </a:rPr>
              <a:t>Why VAT can outgrow WFE</a:t>
            </a:r>
            <a:endParaRPr lang="en-US" sz="840" dirty="0"/>
          </a:p>
        </p:txBody>
      </p:sp>
      <p:sp>
        <p:nvSpPr>
          <p:cNvPr id="17" name="Shape 13"/>
          <p:cNvSpPr/>
          <p:nvPr/>
        </p:nvSpPr>
        <p:spPr>
          <a:xfrm>
            <a:off x="960120" y="4617720"/>
            <a:ext cx="1664208" cy="658368"/>
          </a:xfrm>
          <a:prstGeom prst="roundRect">
            <a:avLst>
              <a:gd name="adj" fmla="val 8333"/>
            </a:avLst>
          </a:prstGeom>
          <a:solidFill>
            <a:srgbClr val="EAF6FC"/>
          </a:solidFill>
          <a:ln w="8890">
            <a:solidFill>
              <a:srgbClr val="B7DDEF"/>
            </a:solidFill>
            <a:prstDash val="solid"/>
          </a:ln>
        </p:spPr>
      </p:sp>
      <p:sp>
        <p:nvSpPr>
          <p:cNvPr id="18" name="Text 14"/>
          <p:cNvSpPr/>
          <p:nvPr/>
        </p:nvSpPr>
        <p:spPr>
          <a:xfrm>
            <a:off x="1060704" y="4709160"/>
            <a:ext cx="1444752" cy="164592"/>
          </a:xfrm>
          <a:prstGeom prst="rect">
            <a:avLst/>
          </a:prstGeom>
          <a:noFill/>
          <a:ln/>
        </p:spPr>
        <p:txBody>
          <a:bodyPr wrap="square" lIns="635" tIns="635" rIns="635" bIns="635" rtlCol="0" anchor="t">
            <a:normAutofit/>
          </a:bodyPr>
          <a:lstStyle/>
          <a:p>
            <a:pPr algn="ctr" indent="0" marL="0">
              <a:buNone/>
            </a:pPr>
            <a:r>
              <a:rPr lang="en-US" sz="680" b="1" dirty="0">
                <a:solidFill>
                  <a:srgbClr val="1B9BDA"/>
                </a:solidFill>
              </a:rPr>
              <a:t>Node migration</a:t>
            </a:r>
            <a:endParaRPr lang="en-US" sz="680" dirty="0"/>
          </a:p>
        </p:txBody>
      </p:sp>
      <p:sp>
        <p:nvSpPr>
          <p:cNvPr id="19" name="Text 15"/>
          <p:cNvSpPr/>
          <p:nvPr/>
        </p:nvSpPr>
        <p:spPr>
          <a:xfrm>
            <a:off x="1060704" y="4956048"/>
            <a:ext cx="1444752" cy="201168"/>
          </a:xfrm>
          <a:prstGeom prst="rect">
            <a:avLst/>
          </a:prstGeom>
          <a:noFill/>
          <a:ln/>
        </p:spPr>
        <p:txBody>
          <a:bodyPr wrap="square" lIns="635" tIns="635" rIns="635" bIns="635" rtlCol="0" anchor="t">
            <a:normAutofit/>
          </a:bodyPr>
          <a:lstStyle/>
          <a:p>
            <a:pPr algn="ctr" indent="0" marL="0">
              <a:buNone/>
            </a:pPr>
            <a:r>
              <a:rPr lang="en-US" sz="570" dirty="0">
                <a:solidFill>
                  <a:srgbClr val="5E6978"/>
                </a:solidFill>
              </a:rPr>
              <a:t>5nm → 3nm → 2nm / GAA</a:t>
            </a:r>
            <a:endParaRPr lang="en-US" sz="570" dirty="0"/>
          </a:p>
        </p:txBody>
      </p:sp>
      <p:sp>
        <p:nvSpPr>
          <p:cNvPr id="20" name="Shape 16"/>
          <p:cNvSpPr/>
          <p:nvPr/>
        </p:nvSpPr>
        <p:spPr>
          <a:xfrm>
            <a:off x="2898648" y="4617720"/>
            <a:ext cx="1664208" cy="658368"/>
          </a:xfrm>
          <a:prstGeom prst="roundRect">
            <a:avLst>
              <a:gd name="adj" fmla="val 8333"/>
            </a:avLst>
          </a:prstGeom>
          <a:solidFill>
            <a:srgbClr val="EAF6FC"/>
          </a:solidFill>
          <a:ln w="8890">
            <a:solidFill>
              <a:srgbClr val="B7DDEF"/>
            </a:solidFill>
            <a:prstDash val="solid"/>
          </a:ln>
        </p:spPr>
      </p:sp>
      <p:sp>
        <p:nvSpPr>
          <p:cNvPr id="21" name="Text 17"/>
          <p:cNvSpPr/>
          <p:nvPr/>
        </p:nvSpPr>
        <p:spPr>
          <a:xfrm>
            <a:off x="2999232" y="4709160"/>
            <a:ext cx="1444752" cy="164592"/>
          </a:xfrm>
          <a:prstGeom prst="rect">
            <a:avLst/>
          </a:prstGeom>
          <a:noFill/>
          <a:ln/>
        </p:spPr>
        <p:txBody>
          <a:bodyPr wrap="square" lIns="635" tIns="635" rIns="635" bIns="635" rtlCol="0" anchor="t">
            <a:normAutofit/>
          </a:bodyPr>
          <a:lstStyle/>
          <a:p>
            <a:pPr algn="ctr" indent="0" marL="0">
              <a:buNone/>
            </a:pPr>
            <a:r>
              <a:rPr lang="en-US" sz="680" b="1" dirty="0">
                <a:solidFill>
                  <a:srgbClr val="1B9BDA"/>
                </a:solidFill>
              </a:rPr>
              <a:t>HBM / DRAM</a:t>
            </a:r>
            <a:endParaRPr lang="en-US" sz="680" dirty="0"/>
          </a:p>
        </p:txBody>
      </p:sp>
      <p:sp>
        <p:nvSpPr>
          <p:cNvPr id="22" name="Text 18"/>
          <p:cNvSpPr/>
          <p:nvPr/>
        </p:nvSpPr>
        <p:spPr>
          <a:xfrm>
            <a:off x="2999232" y="4956048"/>
            <a:ext cx="1444752" cy="201168"/>
          </a:xfrm>
          <a:prstGeom prst="rect">
            <a:avLst/>
          </a:prstGeom>
          <a:noFill/>
          <a:ln/>
        </p:spPr>
        <p:txBody>
          <a:bodyPr wrap="square" lIns="635" tIns="635" rIns="635" bIns="635" rtlCol="0" anchor="t">
            <a:normAutofit/>
          </a:bodyPr>
          <a:lstStyle/>
          <a:p>
            <a:pPr algn="ctr" indent="0" marL="0">
              <a:buNone/>
            </a:pPr>
            <a:r>
              <a:rPr lang="en-US" sz="570" dirty="0">
                <a:solidFill>
                  <a:srgbClr val="5E6978"/>
                </a:solidFill>
              </a:rPr>
              <a:t>Higher bandwidth memory for AI servers</a:t>
            </a:r>
            <a:endParaRPr lang="en-US" sz="570" dirty="0"/>
          </a:p>
        </p:txBody>
      </p:sp>
      <p:sp>
        <p:nvSpPr>
          <p:cNvPr id="23" name="Shape 19"/>
          <p:cNvSpPr/>
          <p:nvPr/>
        </p:nvSpPr>
        <p:spPr>
          <a:xfrm>
            <a:off x="4837176" y="4617720"/>
            <a:ext cx="1664208" cy="658368"/>
          </a:xfrm>
          <a:prstGeom prst="roundRect">
            <a:avLst>
              <a:gd name="adj" fmla="val 8333"/>
            </a:avLst>
          </a:prstGeom>
          <a:solidFill>
            <a:srgbClr val="F8FAFC"/>
          </a:solidFill>
          <a:ln w="8890">
            <a:solidFill>
              <a:srgbClr val="D7E0E8"/>
            </a:solidFill>
            <a:prstDash val="solid"/>
          </a:ln>
        </p:spPr>
      </p:sp>
      <p:sp>
        <p:nvSpPr>
          <p:cNvPr id="24" name="Text 20"/>
          <p:cNvSpPr/>
          <p:nvPr/>
        </p:nvSpPr>
        <p:spPr>
          <a:xfrm>
            <a:off x="4937760" y="4709160"/>
            <a:ext cx="1444752" cy="164592"/>
          </a:xfrm>
          <a:prstGeom prst="rect">
            <a:avLst/>
          </a:prstGeom>
          <a:noFill/>
          <a:ln/>
        </p:spPr>
        <p:txBody>
          <a:bodyPr wrap="square" lIns="635" tIns="635" rIns="635" bIns="635" rtlCol="0" anchor="t">
            <a:normAutofit/>
          </a:bodyPr>
          <a:lstStyle/>
          <a:p>
            <a:pPr algn="ctr" indent="0" marL="0">
              <a:buNone/>
            </a:pPr>
            <a:r>
              <a:rPr lang="en-US" sz="680" b="1" dirty="0">
                <a:solidFill>
                  <a:srgbClr val="1F2933"/>
                </a:solidFill>
              </a:rPr>
              <a:t>3D NAND</a:t>
            </a:r>
            <a:endParaRPr lang="en-US" sz="680" dirty="0"/>
          </a:p>
        </p:txBody>
      </p:sp>
      <p:sp>
        <p:nvSpPr>
          <p:cNvPr id="25" name="Text 21"/>
          <p:cNvSpPr/>
          <p:nvPr/>
        </p:nvSpPr>
        <p:spPr>
          <a:xfrm>
            <a:off x="4937760" y="4956048"/>
            <a:ext cx="1444752" cy="201168"/>
          </a:xfrm>
          <a:prstGeom prst="rect">
            <a:avLst/>
          </a:prstGeom>
          <a:noFill/>
          <a:ln/>
        </p:spPr>
        <p:txBody>
          <a:bodyPr wrap="square" lIns="635" tIns="635" rIns="635" bIns="635" rtlCol="0" anchor="t">
            <a:normAutofit/>
          </a:bodyPr>
          <a:lstStyle/>
          <a:p>
            <a:pPr algn="ctr" indent="0" marL="0">
              <a:buNone/>
            </a:pPr>
            <a:r>
              <a:rPr lang="en-US" sz="570" dirty="0">
                <a:solidFill>
                  <a:srgbClr val="5E6978"/>
                </a:solidFill>
              </a:rPr>
              <a:t>More vertical layers; more demanding etch</a:t>
            </a:r>
            <a:endParaRPr lang="en-US" sz="570" dirty="0"/>
          </a:p>
        </p:txBody>
      </p:sp>
      <p:sp>
        <p:nvSpPr>
          <p:cNvPr id="26" name="Shape 22"/>
          <p:cNvSpPr/>
          <p:nvPr/>
        </p:nvSpPr>
        <p:spPr>
          <a:xfrm>
            <a:off x="6775704" y="4617720"/>
            <a:ext cx="1664208" cy="658368"/>
          </a:xfrm>
          <a:prstGeom prst="roundRect">
            <a:avLst>
              <a:gd name="adj" fmla="val 8333"/>
            </a:avLst>
          </a:prstGeom>
          <a:solidFill>
            <a:srgbClr val="F8FAFC"/>
          </a:solidFill>
          <a:ln w="8890">
            <a:solidFill>
              <a:srgbClr val="D7E0E8"/>
            </a:solidFill>
            <a:prstDash val="solid"/>
          </a:ln>
        </p:spPr>
      </p:sp>
      <p:sp>
        <p:nvSpPr>
          <p:cNvPr id="27" name="Text 23"/>
          <p:cNvSpPr/>
          <p:nvPr/>
        </p:nvSpPr>
        <p:spPr>
          <a:xfrm>
            <a:off x="6876288" y="4709160"/>
            <a:ext cx="1444752" cy="164592"/>
          </a:xfrm>
          <a:prstGeom prst="rect">
            <a:avLst/>
          </a:prstGeom>
          <a:noFill/>
          <a:ln/>
        </p:spPr>
        <p:txBody>
          <a:bodyPr wrap="square" lIns="635" tIns="635" rIns="635" bIns="635" rtlCol="0" anchor="t">
            <a:normAutofit/>
          </a:bodyPr>
          <a:lstStyle/>
          <a:p>
            <a:pPr algn="ctr" indent="0" marL="0">
              <a:buNone/>
            </a:pPr>
            <a:r>
              <a:rPr lang="en-US" sz="680" b="1" dirty="0">
                <a:solidFill>
                  <a:srgbClr val="1F2933"/>
                </a:solidFill>
              </a:rPr>
              <a:t>Adjacencies</a:t>
            </a:r>
            <a:endParaRPr lang="en-US" sz="680" dirty="0"/>
          </a:p>
        </p:txBody>
      </p:sp>
      <p:sp>
        <p:nvSpPr>
          <p:cNvPr id="28" name="Text 24"/>
          <p:cNvSpPr/>
          <p:nvPr/>
        </p:nvSpPr>
        <p:spPr>
          <a:xfrm>
            <a:off x="6876288" y="4956048"/>
            <a:ext cx="1444752" cy="201168"/>
          </a:xfrm>
          <a:prstGeom prst="rect">
            <a:avLst/>
          </a:prstGeom>
          <a:noFill/>
          <a:ln/>
        </p:spPr>
        <p:txBody>
          <a:bodyPr wrap="square" lIns="635" tIns="635" rIns="635" bIns="635" rtlCol="0" anchor="t">
            <a:normAutofit/>
          </a:bodyPr>
          <a:lstStyle/>
          <a:p>
            <a:pPr algn="ctr" indent="0" marL="0">
              <a:buNone/>
            </a:pPr>
            <a:r>
              <a:rPr lang="en-US" sz="570" dirty="0">
                <a:solidFill>
                  <a:srgbClr val="5E6978"/>
                </a:solidFill>
              </a:rPr>
              <a:t>Modules, motion, gas inlet, sensing</a:t>
            </a:r>
            <a:endParaRPr lang="en-US" sz="570" dirty="0"/>
          </a:p>
        </p:txBody>
      </p:sp>
      <p:sp>
        <p:nvSpPr>
          <p:cNvPr id="29" name="Shape 25"/>
          <p:cNvSpPr/>
          <p:nvPr/>
        </p:nvSpPr>
        <p:spPr>
          <a:xfrm>
            <a:off x="8714232" y="4617720"/>
            <a:ext cx="1664208" cy="658368"/>
          </a:xfrm>
          <a:prstGeom prst="roundRect">
            <a:avLst>
              <a:gd name="adj" fmla="val 8333"/>
            </a:avLst>
          </a:prstGeom>
          <a:solidFill>
            <a:srgbClr val="F8FAFC"/>
          </a:solidFill>
          <a:ln w="8890">
            <a:solidFill>
              <a:srgbClr val="D7E0E8"/>
            </a:solidFill>
            <a:prstDash val="solid"/>
          </a:ln>
        </p:spPr>
      </p:sp>
      <p:sp>
        <p:nvSpPr>
          <p:cNvPr id="30" name="Text 26"/>
          <p:cNvSpPr/>
          <p:nvPr/>
        </p:nvSpPr>
        <p:spPr>
          <a:xfrm>
            <a:off x="8814816" y="4709160"/>
            <a:ext cx="1444752" cy="164592"/>
          </a:xfrm>
          <a:prstGeom prst="rect">
            <a:avLst/>
          </a:prstGeom>
          <a:noFill/>
          <a:ln/>
        </p:spPr>
        <p:txBody>
          <a:bodyPr wrap="square" lIns="635" tIns="635" rIns="635" bIns="635" rtlCol="0" anchor="t">
            <a:normAutofit/>
          </a:bodyPr>
          <a:lstStyle/>
          <a:p>
            <a:pPr algn="ctr" indent="0" marL="0">
              <a:buNone/>
            </a:pPr>
            <a:r>
              <a:rPr lang="en-US" sz="680" b="1" dirty="0">
                <a:solidFill>
                  <a:srgbClr val="1F2933"/>
                </a:solidFill>
              </a:rPr>
              <a:t>Service</a:t>
            </a:r>
            <a:endParaRPr lang="en-US" sz="680" dirty="0"/>
          </a:p>
        </p:txBody>
      </p:sp>
      <p:sp>
        <p:nvSpPr>
          <p:cNvPr id="31" name="Text 27"/>
          <p:cNvSpPr/>
          <p:nvPr/>
        </p:nvSpPr>
        <p:spPr>
          <a:xfrm>
            <a:off x="8814816" y="4956048"/>
            <a:ext cx="1444752" cy="201168"/>
          </a:xfrm>
          <a:prstGeom prst="rect">
            <a:avLst/>
          </a:prstGeom>
          <a:noFill/>
          <a:ln/>
        </p:spPr>
        <p:txBody>
          <a:bodyPr wrap="square" lIns="635" tIns="635" rIns="635" bIns="635" rtlCol="0" anchor="t">
            <a:normAutofit/>
          </a:bodyPr>
          <a:lstStyle/>
          <a:p>
            <a:pPr algn="ctr" indent="0" marL="0">
              <a:buNone/>
            </a:pPr>
            <a:r>
              <a:rPr lang="en-US" sz="570" dirty="0">
                <a:solidFill>
                  <a:srgbClr val="5E6978"/>
                </a:solidFill>
              </a:rPr>
              <a:t>Larger installed base and high utilisation</a:t>
            </a:r>
            <a:endParaRPr lang="en-US" sz="570" dirty="0"/>
          </a:p>
        </p:txBody>
      </p:sp>
      <p:sp>
        <p:nvSpPr>
          <p:cNvPr id="32" name="Shape 28"/>
          <p:cNvSpPr/>
          <p:nvPr/>
        </p:nvSpPr>
        <p:spPr>
          <a:xfrm>
            <a:off x="411480" y="6428232"/>
            <a:ext cx="11384280" cy="0"/>
          </a:xfrm>
          <a:prstGeom prst="line">
            <a:avLst/>
          </a:prstGeom>
          <a:noFill/>
          <a:ln w="7620">
            <a:solidFill>
              <a:srgbClr val="D7E0E8"/>
            </a:solidFill>
            <a:prstDash val="solid"/>
          </a:ln>
        </p:spPr>
      </p:sp>
      <p:sp>
        <p:nvSpPr>
          <p:cNvPr id="33" name="Text 29"/>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SEMI mid-year equipment forecast; VAT FY2025 results and H1 2026 release; VAT 2025 CMD materials; analyst estimates.</a:t>
            </a:r>
            <a:endParaRPr lang="en-US" sz="550" dirty="0"/>
          </a:p>
        </p:txBody>
      </p:sp>
      <p:sp>
        <p:nvSpPr>
          <p:cNvPr id="34" name="Text 30"/>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6</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VAT Group AG (SIX: VACN) | BUY</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Specification lock-in and scale have created a self-reinforcing 75%+ share - today's backlog can convert that moat into earnings</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2788920" y="1325880"/>
            <a:ext cx="1783080" cy="749808"/>
          </a:xfrm>
          <a:prstGeom prst="roundRect">
            <a:avLst>
              <a:gd name="adj" fmla="val 7317"/>
            </a:avLst>
          </a:prstGeom>
          <a:solidFill>
            <a:srgbClr val="EAF6FC"/>
          </a:solidFill>
          <a:ln w="8890">
            <a:solidFill>
              <a:srgbClr val="B7DDEF"/>
            </a:solidFill>
            <a:prstDash val="solid"/>
          </a:ln>
        </p:spPr>
      </p:sp>
      <p:sp>
        <p:nvSpPr>
          <p:cNvPr id="7" name="Text 4"/>
          <p:cNvSpPr/>
          <p:nvPr/>
        </p:nvSpPr>
        <p:spPr>
          <a:xfrm>
            <a:off x="2880360" y="1435608"/>
            <a:ext cx="1600200" cy="182880"/>
          </a:xfrm>
          <a:prstGeom prst="rect">
            <a:avLst/>
          </a:prstGeom>
          <a:noFill/>
          <a:ln/>
        </p:spPr>
        <p:txBody>
          <a:bodyPr wrap="square" lIns="635" tIns="635" rIns="635" bIns="635" rtlCol="0" anchor="t">
            <a:normAutofit/>
          </a:bodyPr>
          <a:lstStyle/>
          <a:p>
            <a:pPr algn="ctr" indent="0" marL="0">
              <a:buNone/>
            </a:pPr>
            <a:r>
              <a:rPr lang="en-US" sz="700" b="1" dirty="0">
                <a:solidFill>
                  <a:srgbClr val="1B9BDA"/>
                </a:solidFill>
              </a:rPr>
              <a:t>1. Leading share</a:t>
            </a:r>
            <a:endParaRPr lang="en-US" sz="700" dirty="0"/>
          </a:p>
        </p:txBody>
      </p:sp>
      <p:sp>
        <p:nvSpPr>
          <p:cNvPr id="8" name="Text 5"/>
          <p:cNvSpPr/>
          <p:nvPr/>
        </p:nvSpPr>
        <p:spPr>
          <a:xfrm>
            <a:off x="2898648" y="1691640"/>
            <a:ext cx="1554480" cy="228600"/>
          </a:xfrm>
          <a:prstGeom prst="rect">
            <a:avLst/>
          </a:prstGeom>
          <a:noFill/>
          <a:ln/>
        </p:spPr>
        <p:txBody>
          <a:bodyPr wrap="square" lIns="635" tIns="635" rIns="635" bIns="635" rtlCol="0" anchor="t">
            <a:normAutofit/>
          </a:bodyPr>
          <a:lstStyle/>
          <a:p>
            <a:pPr algn="ctr" indent="0" marL="0">
              <a:buNone/>
            </a:pPr>
            <a:r>
              <a:rPr lang="en-US" sz="560" dirty="0">
                <a:solidFill>
                  <a:srgbClr val="5E6978"/>
                </a:solidFill>
              </a:rPr>
              <a:t>&gt;75% core semi; &gt;90% leading-edge if CMD metrics hold</a:t>
            </a:r>
            <a:endParaRPr lang="en-US" sz="560" dirty="0"/>
          </a:p>
        </p:txBody>
      </p:sp>
      <p:sp>
        <p:nvSpPr>
          <p:cNvPr id="9" name="Shape 6"/>
          <p:cNvSpPr/>
          <p:nvPr/>
        </p:nvSpPr>
        <p:spPr>
          <a:xfrm>
            <a:off x="3675888" y="2075688"/>
            <a:ext cx="2011680" cy="118872"/>
          </a:xfrm>
          <a:prstGeom prst="line">
            <a:avLst/>
          </a:prstGeom>
          <a:noFill/>
          <a:ln w="12700">
            <a:solidFill>
              <a:srgbClr val="1B9BDA"/>
            </a:solidFill>
            <a:prstDash val="solid"/>
            <a:headEnd type="none"/>
            <a:tailEnd type="triangle"/>
          </a:ln>
        </p:spPr>
      </p:sp>
      <p:sp>
        <p:nvSpPr>
          <p:cNvPr id="10" name="Shape 7"/>
          <p:cNvSpPr/>
          <p:nvPr/>
        </p:nvSpPr>
        <p:spPr>
          <a:xfrm>
            <a:off x="4800600" y="2194560"/>
            <a:ext cx="1783080" cy="749808"/>
          </a:xfrm>
          <a:prstGeom prst="roundRect">
            <a:avLst>
              <a:gd name="adj" fmla="val 7317"/>
            </a:avLst>
          </a:prstGeom>
          <a:solidFill>
            <a:srgbClr val="FFFFFF"/>
          </a:solidFill>
          <a:ln w="8890">
            <a:solidFill>
              <a:srgbClr val="D7E0E8"/>
            </a:solidFill>
            <a:prstDash val="solid"/>
          </a:ln>
        </p:spPr>
      </p:sp>
      <p:sp>
        <p:nvSpPr>
          <p:cNvPr id="11" name="Text 8"/>
          <p:cNvSpPr/>
          <p:nvPr/>
        </p:nvSpPr>
        <p:spPr>
          <a:xfrm>
            <a:off x="4892040" y="2304288"/>
            <a:ext cx="1600200" cy="182880"/>
          </a:xfrm>
          <a:prstGeom prst="rect">
            <a:avLst/>
          </a:prstGeom>
          <a:noFill/>
          <a:ln/>
        </p:spPr>
        <p:txBody>
          <a:bodyPr wrap="square" lIns="635" tIns="635" rIns="635" bIns="635" rtlCol="0" anchor="t">
            <a:normAutofit/>
          </a:bodyPr>
          <a:lstStyle/>
          <a:p>
            <a:pPr algn="ctr" indent="0" marL="0">
              <a:buNone/>
            </a:pPr>
            <a:r>
              <a:rPr lang="en-US" sz="700" b="1" dirty="0">
                <a:solidFill>
                  <a:srgbClr val="1F2933"/>
                </a:solidFill>
              </a:rPr>
              <a:t>2. Early co-development</a:t>
            </a:r>
            <a:endParaRPr lang="en-US" sz="700" dirty="0"/>
          </a:p>
        </p:txBody>
      </p:sp>
      <p:sp>
        <p:nvSpPr>
          <p:cNvPr id="12" name="Text 9"/>
          <p:cNvSpPr/>
          <p:nvPr/>
        </p:nvSpPr>
        <p:spPr>
          <a:xfrm>
            <a:off x="4910328" y="2560320"/>
            <a:ext cx="1554480" cy="228600"/>
          </a:xfrm>
          <a:prstGeom prst="rect">
            <a:avLst/>
          </a:prstGeom>
          <a:noFill/>
          <a:ln/>
        </p:spPr>
        <p:txBody>
          <a:bodyPr wrap="square" lIns="635" tIns="635" rIns="635" bIns="635" rtlCol="0" anchor="t">
            <a:normAutofit/>
          </a:bodyPr>
          <a:lstStyle/>
          <a:p>
            <a:pPr algn="ctr" indent="0" marL="0">
              <a:buNone/>
            </a:pPr>
            <a:r>
              <a:rPr lang="en-US" sz="560" dirty="0">
                <a:solidFill>
                  <a:srgbClr val="5E6978"/>
                </a:solidFill>
              </a:rPr>
              <a:t>Designed into OEM tools years before volume ramp</a:t>
            </a:r>
            <a:endParaRPr lang="en-US" sz="560" dirty="0"/>
          </a:p>
        </p:txBody>
      </p:sp>
      <p:sp>
        <p:nvSpPr>
          <p:cNvPr id="13" name="Shape 10"/>
          <p:cNvSpPr/>
          <p:nvPr/>
        </p:nvSpPr>
        <p:spPr>
          <a:xfrm>
            <a:off x="5687568" y="2944368"/>
            <a:ext cx="-457200" cy="1490472"/>
          </a:xfrm>
          <a:prstGeom prst="line">
            <a:avLst/>
          </a:prstGeom>
          <a:noFill/>
          <a:ln w="12700">
            <a:solidFill>
              <a:srgbClr val="1B9BDA"/>
            </a:solidFill>
            <a:prstDash val="solid"/>
            <a:headEnd type="none"/>
            <a:tailEnd type="triangle"/>
          </a:ln>
        </p:spPr>
      </p:sp>
      <p:sp>
        <p:nvSpPr>
          <p:cNvPr id="14" name="Shape 11"/>
          <p:cNvSpPr/>
          <p:nvPr/>
        </p:nvSpPr>
        <p:spPr>
          <a:xfrm>
            <a:off x="4343400" y="4434840"/>
            <a:ext cx="1783080" cy="749808"/>
          </a:xfrm>
          <a:prstGeom prst="roundRect">
            <a:avLst>
              <a:gd name="adj" fmla="val 7317"/>
            </a:avLst>
          </a:prstGeom>
          <a:solidFill>
            <a:srgbClr val="FFFFFF"/>
          </a:solidFill>
          <a:ln w="8890">
            <a:solidFill>
              <a:srgbClr val="D7E0E8"/>
            </a:solidFill>
            <a:prstDash val="solid"/>
          </a:ln>
        </p:spPr>
      </p:sp>
      <p:sp>
        <p:nvSpPr>
          <p:cNvPr id="15" name="Text 12"/>
          <p:cNvSpPr/>
          <p:nvPr/>
        </p:nvSpPr>
        <p:spPr>
          <a:xfrm>
            <a:off x="4434840" y="4544568"/>
            <a:ext cx="1600200" cy="182880"/>
          </a:xfrm>
          <a:prstGeom prst="rect">
            <a:avLst/>
          </a:prstGeom>
          <a:noFill/>
          <a:ln/>
        </p:spPr>
        <p:txBody>
          <a:bodyPr wrap="square" lIns="635" tIns="635" rIns="635" bIns="635" rtlCol="0" anchor="t">
            <a:normAutofit/>
          </a:bodyPr>
          <a:lstStyle/>
          <a:p>
            <a:pPr algn="ctr" indent="0" marL="0">
              <a:buNone/>
            </a:pPr>
            <a:r>
              <a:rPr lang="en-US" sz="700" b="1" dirty="0">
                <a:solidFill>
                  <a:srgbClr val="1F2933"/>
                </a:solidFill>
              </a:rPr>
              <a:t>3. Switching cost</a:t>
            </a:r>
            <a:endParaRPr lang="en-US" sz="700" dirty="0"/>
          </a:p>
        </p:txBody>
      </p:sp>
      <p:sp>
        <p:nvSpPr>
          <p:cNvPr id="16" name="Text 13"/>
          <p:cNvSpPr/>
          <p:nvPr/>
        </p:nvSpPr>
        <p:spPr>
          <a:xfrm>
            <a:off x="4453128" y="4800600"/>
            <a:ext cx="1554480" cy="228600"/>
          </a:xfrm>
          <a:prstGeom prst="rect">
            <a:avLst/>
          </a:prstGeom>
          <a:noFill/>
          <a:ln/>
        </p:spPr>
        <p:txBody>
          <a:bodyPr wrap="square" lIns="635" tIns="635" rIns="635" bIns="635" rtlCol="0" anchor="t">
            <a:normAutofit/>
          </a:bodyPr>
          <a:lstStyle/>
          <a:p>
            <a:pPr algn="ctr" indent="0" marL="0">
              <a:buNone/>
            </a:pPr>
            <a:r>
              <a:rPr lang="en-US" sz="560" dirty="0">
                <a:solidFill>
                  <a:srgbClr val="5E6978"/>
                </a:solidFill>
              </a:rPr>
              <a:t>Re-design + re-test + customer approval risk</a:t>
            </a:r>
            <a:endParaRPr lang="en-US" sz="560" dirty="0"/>
          </a:p>
        </p:txBody>
      </p:sp>
      <p:sp>
        <p:nvSpPr>
          <p:cNvPr id="17" name="Shape 14"/>
          <p:cNvSpPr/>
          <p:nvPr/>
        </p:nvSpPr>
        <p:spPr>
          <a:xfrm>
            <a:off x="5230368" y="5184648"/>
            <a:ext cx="-3108960" cy="-749808"/>
          </a:xfrm>
          <a:prstGeom prst="line">
            <a:avLst/>
          </a:prstGeom>
          <a:noFill/>
          <a:ln w="12700">
            <a:solidFill>
              <a:srgbClr val="1B9BDA"/>
            </a:solidFill>
            <a:prstDash val="solid"/>
            <a:headEnd type="none"/>
            <a:tailEnd type="triangle"/>
          </a:ln>
        </p:spPr>
      </p:sp>
      <p:sp>
        <p:nvSpPr>
          <p:cNvPr id="18" name="Shape 15"/>
          <p:cNvSpPr/>
          <p:nvPr/>
        </p:nvSpPr>
        <p:spPr>
          <a:xfrm>
            <a:off x="1234440" y="4434840"/>
            <a:ext cx="1783080" cy="749808"/>
          </a:xfrm>
          <a:prstGeom prst="roundRect">
            <a:avLst>
              <a:gd name="adj" fmla="val 7317"/>
            </a:avLst>
          </a:prstGeom>
          <a:solidFill>
            <a:srgbClr val="FFFFFF"/>
          </a:solidFill>
          <a:ln w="8890">
            <a:solidFill>
              <a:srgbClr val="D7E0E8"/>
            </a:solidFill>
            <a:prstDash val="solid"/>
          </a:ln>
        </p:spPr>
      </p:sp>
      <p:sp>
        <p:nvSpPr>
          <p:cNvPr id="19" name="Text 16"/>
          <p:cNvSpPr/>
          <p:nvPr/>
        </p:nvSpPr>
        <p:spPr>
          <a:xfrm>
            <a:off x="1325880" y="4544568"/>
            <a:ext cx="1600200" cy="182880"/>
          </a:xfrm>
          <a:prstGeom prst="rect">
            <a:avLst/>
          </a:prstGeom>
          <a:noFill/>
          <a:ln/>
        </p:spPr>
        <p:txBody>
          <a:bodyPr wrap="square" lIns="635" tIns="635" rIns="635" bIns="635" rtlCol="0" anchor="t">
            <a:normAutofit/>
          </a:bodyPr>
          <a:lstStyle/>
          <a:p>
            <a:pPr algn="ctr" indent="0" marL="0">
              <a:buNone/>
            </a:pPr>
            <a:r>
              <a:rPr lang="en-US" sz="700" b="1" dirty="0">
                <a:solidFill>
                  <a:srgbClr val="1F2933"/>
                </a:solidFill>
              </a:rPr>
              <a:t>4. Scale</a:t>
            </a:r>
            <a:endParaRPr lang="en-US" sz="700" dirty="0"/>
          </a:p>
        </p:txBody>
      </p:sp>
      <p:sp>
        <p:nvSpPr>
          <p:cNvPr id="20" name="Text 17"/>
          <p:cNvSpPr/>
          <p:nvPr/>
        </p:nvSpPr>
        <p:spPr>
          <a:xfrm>
            <a:off x="1344168" y="4800600"/>
            <a:ext cx="1554480" cy="228600"/>
          </a:xfrm>
          <a:prstGeom prst="rect">
            <a:avLst/>
          </a:prstGeom>
          <a:noFill/>
          <a:ln/>
        </p:spPr>
        <p:txBody>
          <a:bodyPr wrap="square" lIns="635" tIns="635" rIns="635" bIns="635" rtlCol="0" anchor="t">
            <a:normAutofit/>
          </a:bodyPr>
          <a:lstStyle/>
          <a:p>
            <a:pPr algn="ctr" indent="0" marL="0">
              <a:buNone/>
            </a:pPr>
            <a:r>
              <a:rPr lang="en-US" sz="560" dirty="0">
                <a:solidFill>
                  <a:srgbClr val="5E6978"/>
                </a:solidFill>
              </a:rPr>
              <a:t>R&amp;D, manufacturing consistency and field service</a:t>
            </a:r>
            <a:endParaRPr lang="en-US" sz="560" dirty="0"/>
          </a:p>
        </p:txBody>
      </p:sp>
      <p:sp>
        <p:nvSpPr>
          <p:cNvPr id="21" name="Shape 18"/>
          <p:cNvSpPr/>
          <p:nvPr/>
        </p:nvSpPr>
        <p:spPr>
          <a:xfrm>
            <a:off x="2121408" y="5184648"/>
            <a:ext cx="-457200" cy="-2990088"/>
          </a:xfrm>
          <a:prstGeom prst="line">
            <a:avLst/>
          </a:prstGeom>
          <a:noFill/>
          <a:ln w="12700">
            <a:solidFill>
              <a:srgbClr val="1B9BDA"/>
            </a:solidFill>
            <a:prstDash val="solid"/>
            <a:headEnd type="none"/>
            <a:tailEnd type="triangle"/>
          </a:ln>
        </p:spPr>
      </p:sp>
      <p:sp>
        <p:nvSpPr>
          <p:cNvPr id="22" name="Shape 19"/>
          <p:cNvSpPr/>
          <p:nvPr/>
        </p:nvSpPr>
        <p:spPr>
          <a:xfrm>
            <a:off x="777240" y="2194560"/>
            <a:ext cx="1783080" cy="749808"/>
          </a:xfrm>
          <a:prstGeom prst="roundRect">
            <a:avLst>
              <a:gd name="adj" fmla="val 7317"/>
            </a:avLst>
          </a:prstGeom>
          <a:solidFill>
            <a:srgbClr val="FFFFFF"/>
          </a:solidFill>
          <a:ln w="8890">
            <a:solidFill>
              <a:srgbClr val="D7E0E8"/>
            </a:solidFill>
            <a:prstDash val="solid"/>
          </a:ln>
        </p:spPr>
      </p:sp>
      <p:sp>
        <p:nvSpPr>
          <p:cNvPr id="23" name="Text 20"/>
          <p:cNvSpPr/>
          <p:nvPr/>
        </p:nvSpPr>
        <p:spPr>
          <a:xfrm>
            <a:off x="868680" y="2304288"/>
            <a:ext cx="1600200" cy="182880"/>
          </a:xfrm>
          <a:prstGeom prst="rect">
            <a:avLst/>
          </a:prstGeom>
          <a:noFill/>
          <a:ln/>
        </p:spPr>
        <p:txBody>
          <a:bodyPr wrap="square" lIns="635" tIns="635" rIns="635" bIns="635" rtlCol="0" anchor="t">
            <a:normAutofit/>
          </a:bodyPr>
          <a:lstStyle/>
          <a:p>
            <a:pPr algn="ctr" indent="0" marL="0">
              <a:buNone/>
            </a:pPr>
            <a:r>
              <a:rPr lang="en-US" sz="700" b="1" dirty="0">
                <a:solidFill>
                  <a:srgbClr val="1F2933"/>
                </a:solidFill>
              </a:rPr>
              <a:t>5. More spec wins</a:t>
            </a:r>
            <a:endParaRPr lang="en-US" sz="700" dirty="0"/>
          </a:p>
        </p:txBody>
      </p:sp>
      <p:sp>
        <p:nvSpPr>
          <p:cNvPr id="24" name="Text 21"/>
          <p:cNvSpPr/>
          <p:nvPr/>
        </p:nvSpPr>
        <p:spPr>
          <a:xfrm>
            <a:off x="886968" y="2560320"/>
            <a:ext cx="1554480" cy="228600"/>
          </a:xfrm>
          <a:prstGeom prst="rect">
            <a:avLst/>
          </a:prstGeom>
          <a:noFill/>
          <a:ln/>
        </p:spPr>
        <p:txBody>
          <a:bodyPr wrap="square" lIns="635" tIns="635" rIns="635" bIns="635" rtlCol="0" anchor="t">
            <a:normAutofit/>
          </a:bodyPr>
          <a:lstStyle/>
          <a:p>
            <a:pPr algn="ctr" indent="0" marL="0">
              <a:buNone/>
            </a:pPr>
            <a:r>
              <a:rPr lang="en-US" sz="560" dirty="0">
                <a:solidFill>
                  <a:srgbClr val="5E6978"/>
                </a:solidFill>
              </a:rPr>
              <a:t>Better product roadmap reinforces future wins</a:t>
            </a:r>
            <a:endParaRPr lang="en-US" sz="560" dirty="0"/>
          </a:p>
        </p:txBody>
      </p:sp>
      <p:sp>
        <p:nvSpPr>
          <p:cNvPr id="25" name="Shape 22"/>
          <p:cNvSpPr/>
          <p:nvPr/>
        </p:nvSpPr>
        <p:spPr>
          <a:xfrm>
            <a:off x="1664208" y="2944368"/>
            <a:ext cx="2011680" cy="-1618488"/>
          </a:xfrm>
          <a:prstGeom prst="line">
            <a:avLst/>
          </a:prstGeom>
          <a:noFill/>
          <a:ln w="12700">
            <a:solidFill>
              <a:srgbClr val="1B9BDA"/>
            </a:solidFill>
            <a:prstDash val="solid"/>
            <a:headEnd type="none"/>
            <a:tailEnd type="triangle"/>
          </a:ln>
        </p:spPr>
      </p:sp>
      <p:sp>
        <p:nvSpPr>
          <p:cNvPr id="26" name="Text 23"/>
          <p:cNvSpPr/>
          <p:nvPr/>
        </p:nvSpPr>
        <p:spPr>
          <a:xfrm>
            <a:off x="2834640" y="3044952"/>
            <a:ext cx="1188720" cy="228600"/>
          </a:xfrm>
          <a:prstGeom prst="rect">
            <a:avLst/>
          </a:prstGeom>
          <a:noFill/>
          <a:ln/>
        </p:spPr>
        <p:txBody>
          <a:bodyPr wrap="square" lIns="635" tIns="635" rIns="635" bIns="635" rtlCol="0" anchor="t">
            <a:normAutofit/>
          </a:bodyPr>
          <a:lstStyle/>
          <a:p>
            <a:pPr algn="ctr" indent="0" marL="0">
              <a:buNone/>
            </a:pPr>
            <a:r>
              <a:rPr lang="en-US" sz="1150" b="1" dirty="0">
                <a:solidFill>
                  <a:srgbClr val="1B9BDA"/>
                </a:solidFill>
              </a:rPr>
              <a:t>VAT flywheel</a:t>
            </a:r>
            <a:endParaRPr lang="en-US" sz="1150" dirty="0"/>
          </a:p>
        </p:txBody>
      </p:sp>
      <p:sp>
        <p:nvSpPr>
          <p:cNvPr id="27" name="Shape 24"/>
          <p:cNvSpPr/>
          <p:nvPr/>
        </p:nvSpPr>
        <p:spPr>
          <a:xfrm>
            <a:off x="6720840" y="1417320"/>
            <a:ext cx="4526280" cy="4160520"/>
          </a:xfrm>
          <a:prstGeom prst="roundRect">
            <a:avLst>
              <a:gd name="adj" fmla="val 1319"/>
            </a:avLst>
          </a:prstGeom>
          <a:solidFill>
            <a:srgbClr val="F8FAFC"/>
          </a:solidFill>
          <a:ln w="8890">
            <a:solidFill>
              <a:srgbClr val="D7E0E8"/>
            </a:solidFill>
            <a:prstDash val="solid"/>
          </a:ln>
        </p:spPr>
      </p:sp>
      <p:sp>
        <p:nvSpPr>
          <p:cNvPr id="28" name="Text 25"/>
          <p:cNvSpPr/>
          <p:nvPr/>
        </p:nvSpPr>
        <p:spPr>
          <a:xfrm>
            <a:off x="6949440" y="1645920"/>
            <a:ext cx="3886200" cy="228600"/>
          </a:xfrm>
          <a:prstGeom prst="rect">
            <a:avLst/>
          </a:prstGeom>
          <a:noFill/>
          <a:ln/>
        </p:spPr>
        <p:txBody>
          <a:bodyPr wrap="square" lIns="635" tIns="635" rIns="635" bIns="635" rtlCol="0" anchor="t">
            <a:normAutofit/>
          </a:bodyPr>
          <a:lstStyle/>
          <a:p>
            <a:pPr algn="l" indent="0" marL="0">
              <a:buNone/>
            </a:pPr>
            <a:r>
              <a:rPr lang="en-US" sz="840" b="1" dirty="0">
                <a:solidFill>
                  <a:srgbClr val="1F2933"/>
                </a:solidFill>
              </a:rPr>
              <a:t>Current earnings setup: reported demand now has to become shipped revenue</a:t>
            </a:r>
            <a:endParaRPr lang="en-US" sz="840" dirty="0"/>
          </a:p>
        </p:txBody>
      </p:sp>
      <p:sp>
        <p:nvSpPr>
          <p:cNvPr id="29" name="Shape 26"/>
          <p:cNvSpPr/>
          <p:nvPr/>
        </p:nvSpPr>
        <p:spPr>
          <a:xfrm>
            <a:off x="7040880" y="2057400"/>
            <a:ext cx="3520440" cy="402336"/>
          </a:xfrm>
          <a:prstGeom prst="roundRect">
            <a:avLst>
              <a:gd name="adj" fmla="val 13636"/>
            </a:avLst>
          </a:prstGeom>
          <a:solidFill>
            <a:srgbClr val="FFFFFF"/>
          </a:solidFill>
          <a:ln w="8890">
            <a:solidFill>
              <a:srgbClr val="D7E0E8"/>
            </a:solidFill>
            <a:prstDash val="solid"/>
          </a:ln>
        </p:spPr>
      </p:sp>
      <p:sp>
        <p:nvSpPr>
          <p:cNvPr id="30" name="Shape 27"/>
          <p:cNvSpPr/>
          <p:nvPr/>
        </p:nvSpPr>
        <p:spPr>
          <a:xfrm>
            <a:off x="7040880" y="2057400"/>
            <a:ext cx="73152" cy="402336"/>
          </a:xfrm>
          <a:prstGeom prst="rect">
            <a:avLst/>
          </a:prstGeom>
          <a:solidFill>
            <a:srgbClr val="1B9BDA"/>
          </a:solidFill>
          <a:ln w="12700">
            <a:solidFill>
              <a:srgbClr val="1B9BDA">
                <a:alpha val="0"/>
              </a:srgbClr>
            </a:solidFill>
            <a:prstDash val="solid"/>
          </a:ln>
        </p:spPr>
      </p:sp>
      <p:sp>
        <p:nvSpPr>
          <p:cNvPr id="31" name="Text 28"/>
          <p:cNvSpPr/>
          <p:nvPr/>
        </p:nvSpPr>
        <p:spPr>
          <a:xfrm>
            <a:off x="7187184" y="2139696"/>
            <a:ext cx="331927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Record orders</a:t>
            </a:r>
            <a:endParaRPr lang="en-US" sz="760" dirty="0"/>
          </a:p>
        </p:txBody>
      </p:sp>
      <p:sp>
        <p:nvSpPr>
          <p:cNvPr id="32" name="Text 29"/>
          <p:cNvSpPr/>
          <p:nvPr/>
        </p:nvSpPr>
        <p:spPr>
          <a:xfrm>
            <a:off x="7187184" y="2386584"/>
            <a:ext cx="3319272" cy="0"/>
          </a:xfrm>
          <a:prstGeom prst="rect">
            <a:avLst/>
          </a:prstGeom>
          <a:noFill/>
          <a:ln/>
        </p:spPr>
        <p:txBody>
          <a:bodyPr wrap="square" lIns="635" tIns="635" rIns="635" bIns="635" rtlCol="0" anchor="t">
            <a:normAutofit/>
          </a:bodyPr>
          <a:lstStyle>
            <a:lvl1pPr algn="l"/>
          </a:lstStyle>
          <a:p>
            <a:pPr algn="l" indent="0" marL="0">
              <a:buNone/>
            </a:pPr>
            <a:r>
              <a:rPr lang="en-US" sz="580" dirty="0">
                <a:solidFill>
                  <a:srgbClr val="5E6978"/>
                </a:solidFill>
              </a:rPr>
              <a:t>H1 2026 orders CHF856m (+75%)</a:t>
            </a:r>
            <a:endParaRPr lang="en-US" sz="580" dirty="0"/>
          </a:p>
        </p:txBody>
      </p:sp>
      <p:sp>
        <p:nvSpPr>
          <p:cNvPr id="33" name="Shape 30"/>
          <p:cNvSpPr/>
          <p:nvPr/>
        </p:nvSpPr>
        <p:spPr>
          <a:xfrm>
            <a:off x="8796528" y="2459736"/>
            <a:ext cx="0" cy="118872"/>
          </a:xfrm>
          <a:prstGeom prst="line">
            <a:avLst/>
          </a:prstGeom>
          <a:noFill/>
          <a:ln w="7620">
            <a:solidFill>
              <a:srgbClr val="A8B4BF"/>
            </a:solidFill>
            <a:prstDash val="solid"/>
            <a:headEnd type="none"/>
            <a:tailEnd type="triangle"/>
          </a:ln>
        </p:spPr>
      </p:sp>
      <p:sp>
        <p:nvSpPr>
          <p:cNvPr id="34" name="Shape 31"/>
          <p:cNvSpPr/>
          <p:nvPr/>
        </p:nvSpPr>
        <p:spPr>
          <a:xfrm>
            <a:off x="7040880" y="2624328"/>
            <a:ext cx="3520440" cy="402336"/>
          </a:xfrm>
          <a:prstGeom prst="roundRect">
            <a:avLst>
              <a:gd name="adj" fmla="val 13636"/>
            </a:avLst>
          </a:prstGeom>
          <a:solidFill>
            <a:srgbClr val="FFFFFF"/>
          </a:solidFill>
          <a:ln w="8890">
            <a:solidFill>
              <a:srgbClr val="D7E0E8"/>
            </a:solidFill>
            <a:prstDash val="solid"/>
          </a:ln>
        </p:spPr>
      </p:sp>
      <p:sp>
        <p:nvSpPr>
          <p:cNvPr id="35" name="Shape 32"/>
          <p:cNvSpPr/>
          <p:nvPr/>
        </p:nvSpPr>
        <p:spPr>
          <a:xfrm>
            <a:off x="7040880" y="2624328"/>
            <a:ext cx="73152" cy="402336"/>
          </a:xfrm>
          <a:prstGeom prst="rect">
            <a:avLst/>
          </a:prstGeom>
          <a:solidFill>
            <a:srgbClr val="1B9BDA"/>
          </a:solidFill>
          <a:ln w="12700">
            <a:solidFill>
              <a:srgbClr val="1B9BDA">
                <a:alpha val="0"/>
              </a:srgbClr>
            </a:solidFill>
            <a:prstDash val="solid"/>
          </a:ln>
        </p:spPr>
      </p:sp>
      <p:sp>
        <p:nvSpPr>
          <p:cNvPr id="36" name="Text 33"/>
          <p:cNvSpPr/>
          <p:nvPr/>
        </p:nvSpPr>
        <p:spPr>
          <a:xfrm>
            <a:off x="7187184" y="2706624"/>
            <a:ext cx="331927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Backlog</a:t>
            </a:r>
            <a:endParaRPr lang="en-US" sz="760" dirty="0"/>
          </a:p>
        </p:txBody>
      </p:sp>
      <p:sp>
        <p:nvSpPr>
          <p:cNvPr id="37" name="Text 34"/>
          <p:cNvSpPr/>
          <p:nvPr/>
        </p:nvSpPr>
        <p:spPr>
          <a:xfrm>
            <a:off x="7187184" y="2953512"/>
            <a:ext cx="3319272" cy="0"/>
          </a:xfrm>
          <a:prstGeom prst="rect">
            <a:avLst/>
          </a:prstGeom>
          <a:noFill/>
          <a:ln/>
        </p:spPr>
        <p:txBody>
          <a:bodyPr wrap="square" lIns="635" tIns="635" rIns="635" bIns="635" rtlCol="0" anchor="t">
            <a:normAutofit/>
          </a:bodyPr>
          <a:lstStyle>
            <a:lvl1pPr algn="l"/>
          </a:lstStyle>
          <a:p>
            <a:pPr algn="l" indent="0" marL="0">
              <a:buNone/>
            </a:pPr>
            <a:r>
              <a:rPr lang="en-US" sz="580" dirty="0">
                <a:solidFill>
                  <a:srgbClr val="5E6978"/>
                </a:solidFill>
              </a:rPr>
              <a:t>Q2 backlog CHF648m (+121%)</a:t>
            </a:r>
            <a:endParaRPr lang="en-US" sz="580" dirty="0"/>
          </a:p>
        </p:txBody>
      </p:sp>
      <p:sp>
        <p:nvSpPr>
          <p:cNvPr id="38" name="Shape 35"/>
          <p:cNvSpPr/>
          <p:nvPr/>
        </p:nvSpPr>
        <p:spPr>
          <a:xfrm>
            <a:off x="8796528" y="3026664"/>
            <a:ext cx="0" cy="118872"/>
          </a:xfrm>
          <a:prstGeom prst="line">
            <a:avLst/>
          </a:prstGeom>
          <a:noFill/>
          <a:ln w="7620">
            <a:solidFill>
              <a:srgbClr val="A8B4BF"/>
            </a:solidFill>
            <a:prstDash val="solid"/>
            <a:headEnd type="none"/>
            <a:tailEnd type="triangle"/>
          </a:ln>
        </p:spPr>
      </p:sp>
      <p:sp>
        <p:nvSpPr>
          <p:cNvPr id="39" name="Shape 36"/>
          <p:cNvSpPr/>
          <p:nvPr/>
        </p:nvSpPr>
        <p:spPr>
          <a:xfrm>
            <a:off x="7040880" y="3191256"/>
            <a:ext cx="3520440" cy="402336"/>
          </a:xfrm>
          <a:prstGeom prst="roundRect">
            <a:avLst>
              <a:gd name="adj" fmla="val 13636"/>
            </a:avLst>
          </a:prstGeom>
          <a:solidFill>
            <a:srgbClr val="FFFFFF"/>
          </a:solidFill>
          <a:ln w="8890">
            <a:solidFill>
              <a:srgbClr val="D7E0E8"/>
            </a:solidFill>
            <a:prstDash val="solid"/>
          </a:ln>
        </p:spPr>
      </p:sp>
      <p:sp>
        <p:nvSpPr>
          <p:cNvPr id="40" name="Shape 37"/>
          <p:cNvSpPr/>
          <p:nvPr/>
        </p:nvSpPr>
        <p:spPr>
          <a:xfrm>
            <a:off x="7040880" y="3191256"/>
            <a:ext cx="73152" cy="402336"/>
          </a:xfrm>
          <a:prstGeom prst="rect">
            <a:avLst/>
          </a:prstGeom>
          <a:solidFill>
            <a:srgbClr val="7B8794"/>
          </a:solidFill>
          <a:ln w="12700">
            <a:solidFill>
              <a:srgbClr val="7B8794">
                <a:alpha val="0"/>
              </a:srgbClr>
            </a:solidFill>
            <a:prstDash val="solid"/>
          </a:ln>
        </p:spPr>
      </p:sp>
      <p:sp>
        <p:nvSpPr>
          <p:cNvPr id="41" name="Text 38"/>
          <p:cNvSpPr/>
          <p:nvPr/>
        </p:nvSpPr>
        <p:spPr>
          <a:xfrm>
            <a:off x="7187184" y="3273552"/>
            <a:ext cx="331927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Capacity ramp</a:t>
            </a:r>
            <a:endParaRPr lang="en-US" sz="760" dirty="0"/>
          </a:p>
        </p:txBody>
      </p:sp>
      <p:sp>
        <p:nvSpPr>
          <p:cNvPr id="42" name="Text 39"/>
          <p:cNvSpPr/>
          <p:nvPr/>
        </p:nvSpPr>
        <p:spPr>
          <a:xfrm>
            <a:off x="7187184" y="3520440"/>
            <a:ext cx="3319272" cy="0"/>
          </a:xfrm>
          <a:prstGeom prst="rect">
            <a:avLst/>
          </a:prstGeom>
          <a:noFill/>
          <a:ln/>
        </p:spPr>
        <p:txBody>
          <a:bodyPr wrap="square" lIns="635" tIns="635" rIns="635" bIns="635" rtlCol="0" anchor="t">
            <a:normAutofit/>
          </a:bodyPr>
          <a:lstStyle>
            <a:lvl1pPr algn="l"/>
          </a:lstStyle>
          <a:p>
            <a:pPr algn="l" indent="0" marL="0">
              <a:buNone/>
            </a:pPr>
            <a:r>
              <a:rPr lang="en-US" sz="580" dirty="0">
                <a:solidFill>
                  <a:srgbClr val="5E6978"/>
                </a:solidFill>
              </a:rPr>
              <a:t>Quarterly factory run-rate &gt;CHF450m target by end-2026</a:t>
            </a:r>
            <a:endParaRPr lang="en-US" sz="580" dirty="0"/>
          </a:p>
        </p:txBody>
      </p:sp>
      <p:sp>
        <p:nvSpPr>
          <p:cNvPr id="43" name="Shape 40"/>
          <p:cNvSpPr/>
          <p:nvPr/>
        </p:nvSpPr>
        <p:spPr>
          <a:xfrm>
            <a:off x="8796528" y="3593592"/>
            <a:ext cx="0" cy="118872"/>
          </a:xfrm>
          <a:prstGeom prst="line">
            <a:avLst/>
          </a:prstGeom>
          <a:noFill/>
          <a:ln w="7620">
            <a:solidFill>
              <a:srgbClr val="A8B4BF"/>
            </a:solidFill>
            <a:prstDash val="solid"/>
            <a:headEnd type="none"/>
            <a:tailEnd type="triangle"/>
          </a:ln>
        </p:spPr>
      </p:sp>
      <p:sp>
        <p:nvSpPr>
          <p:cNvPr id="44" name="Shape 41"/>
          <p:cNvSpPr/>
          <p:nvPr/>
        </p:nvSpPr>
        <p:spPr>
          <a:xfrm>
            <a:off x="7040880" y="3758184"/>
            <a:ext cx="3520440" cy="402336"/>
          </a:xfrm>
          <a:prstGeom prst="roundRect">
            <a:avLst>
              <a:gd name="adj" fmla="val 13636"/>
            </a:avLst>
          </a:prstGeom>
          <a:solidFill>
            <a:srgbClr val="FFFFFF"/>
          </a:solidFill>
          <a:ln w="8890">
            <a:solidFill>
              <a:srgbClr val="D7E0E8"/>
            </a:solidFill>
            <a:prstDash val="solid"/>
          </a:ln>
        </p:spPr>
      </p:sp>
      <p:sp>
        <p:nvSpPr>
          <p:cNvPr id="45" name="Shape 42"/>
          <p:cNvSpPr/>
          <p:nvPr/>
        </p:nvSpPr>
        <p:spPr>
          <a:xfrm>
            <a:off x="7040880" y="3758184"/>
            <a:ext cx="73152" cy="402336"/>
          </a:xfrm>
          <a:prstGeom prst="rect">
            <a:avLst/>
          </a:prstGeom>
          <a:solidFill>
            <a:srgbClr val="7B8794"/>
          </a:solidFill>
          <a:ln w="12700">
            <a:solidFill>
              <a:srgbClr val="7B8794">
                <a:alpha val="0"/>
              </a:srgbClr>
            </a:solidFill>
            <a:prstDash val="solid"/>
          </a:ln>
        </p:spPr>
      </p:sp>
      <p:sp>
        <p:nvSpPr>
          <p:cNvPr id="46" name="Text 43"/>
          <p:cNvSpPr/>
          <p:nvPr/>
        </p:nvSpPr>
        <p:spPr>
          <a:xfrm>
            <a:off x="7187184" y="3840480"/>
            <a:ext cx="331927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Revenue conversion</a:t>
            </a:r>
            <a:endParaRPr lang="en-US" sz="760" dirty="0"/>
          </a:p>
        </p:txBody>
      </p:sp>
      <p:sp>
        <p:nvSpPr>
          <p:cNvPr id="47" name="Text 44"/>
          <p:cNvSpPr/>
          <p:nvPr/>
        </p:nvSpPr>
        <p:spPr>
          <a:xfrm>
            <a:off x="7187184" y="4087368"/>
            <a:ext cx="3319272" cy="0"/>
          </a:xfrm>
          <a:prstGeom prst="rect">
            <a:avLst/>
          </a:prstGeom>
          <a:noFill/>
          <a:ln/>
        </p:spPr>
        <p:txBody>
          <a:bodyPr wrap="square" lIns="635" tIns="635" rIns="635" bIns="635" rtlCol="0" anchor="t">
            <a:normAutofit/>
          </a:bodyPr>
          <a:lstStyle>
            <a:lvl1pPr algn="l"/>
          </a:lstStyle>
          <a:p>
            <a:pPr algn="l" indent="0" marL="0">
              <a:buNone/>
            </a:pPr>
            <a:r>
              <a:rPr lang="en-US" sz="580" dirty="0">
                <a:solidFill>
                  <a:srgbClr val="5E6978"/>
                </a:solidFill>
              </a:rPr>
              <a:t>Q3 2026 sales guide CHF355-385m</a:t>
            </a:r>
            <a:endParaRPr lang="en-US" sz="580" dirty="0"/>
          </a:p>
        </p:txBody>
      </p:sp>
      <p:sp>
        <p:nvSpPr>
          <p:cNvPr id="48" name="Shape 45"/>
          <p:cNvSpPr/>
          <p:nvPr/>
        </p:nvSpPr>
        <p:spPr>
          <a:xfrm>
            <a:off x="8796528" y="4160520"/>
            <a:ext cx="0" cy="118872"/>
          </a:xfrm>
          <a:prstGeom prst="line">
            <a:avLst/>
          </a:prstGeom>
          <a:noFill/>
          <a:ln w="7620">
            <a:solidFill>
              <a:srgbClr val="A8B4BF"/>
            </a:solidFill>
            <a:prstDash val="solid"/>
            <a:headEnd type="none"/>
            <a:tailEnd type="triangle"/>
          </a:ln>
        </p:spPr>
      </p:sp>
      <p:sp>
        <p:nvSpPr>
          <p:cNvPr id="49" name="Shape 46"/>
          <p:cNvSpPr/>
          <p:nvPr/>
        </p:nvSpPr>
        <p:spPr>
          <a:xfrm>
            <a:off x="7040880" y="4325112"/>
            <a:ext cx="3520440" cy="402336"/>
          </a:xfrm>
          <a:prstGeom prst="roundRect">
            <a:avLst>
              <a:gd name="adj" fmla="val 13636"/>
            </a:avLst>
          </a:prstGeom>
          <a:solidFill>
            <a:srgbClr val="FFFFFF"/>
          </a:solidFill>
          <a:ln w="8890">
            <a:solidFill>
              <a:srgbClr val="D7E0E8"/>
            </a:solidFill>
            <a:prstDash val="solid"/>
          </a:ln>
        </p:spPr>
      </p:sp>
      <p:sp>
        <p:nvSpPr>
          <p:cNvPr id="50" name="Shape 47"/>
          <p:cNvSpPr/>
          <p:nvPr/>
        </p:nvSpPr>
        <p:spPr>
          <a:xfrm>
            <a:off x="7040880" y="4325112"/>
            <a:ext cx="73152" cy="402336"/>
          </a:xfrm>
          <a:prstGeom prst="rect">
            <a:avLst/>
          </a:prstGeom>
          <a:solidFill>
            <a:srgbClr val="7B8794"/>
          </a:solidFill>
          <a:ln w="12700">
            <a:solidFill>
              <a:srgbClr val="7B8794">
                <a:alpha val="0"/>
              </a:srgbClr>
            </a:solidFill>
            <a:prstDash val="solid"/>
          </a:ln>
        </p:spPr>
      </p:sp>
      <p:sp>
        <p:nvSpPr>
          <p:cNvPr id="51" name="Text 48"/>
          <p:cNvSpPr/>
          <p:nvPr/>
        </p:nvSpPr>
        <p:spPr>
          <a:xfrm>
            <a:off x="7187184" y="4407408"/>
            <a:ext cx="331927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EBITDA / EPS growth</a:t>
            </a:r>
            <a:endParaRPr lang="en-US" sz="760" dirty="0"/>
          </a:p>
        </p:txBody>
      </p:sp>
      <p:sp>
        <p:nvSpPr>
          <p:cNvPr id="52" name="Text 49"/>
          <p:cNvSpPr/>
          <p:nvPr/>
        </p:nvSpPr>
        <p:spPr>
          <a:xfrm>
            <a:off x="7187184" y="4654296"/>
            <a:ext cx="3319272" cy="0"/>
          </a:xfrm>
          <a:prstGeom prst="rect">
            <a:avLst/>
          </a:prstGeom>
          <a:noFill/>
          <a:ln/>
        </p:spPr>
        <p:txBody>
          <a:bodyPr wrap="square" lIns="635" tIns="635" rIns="635" bIns="635" rtlCol="0" anchor="t">
            <a:normAutofit/>
          </a:bodyPr>
          <a:lstStyle>
            <a:lvl1pPr algn="l"/>
          </a:lstStyle>
          <a:p>
            <a:pPr algn="l" indent="0" marL="0">
              <a:buNone/>
            </a:pPr>
            <a:r>
              <a:rPr lang="en-US" sz="580" dirty="0">
                <a:solidFill>
                  <a:srgbClr val="5E6978"/>
                </a:solidFill>
              </a:rPr>
              <a:t>Higher utilisation can improve absorption if quality holds</a:t>
            </a:r>
            <a:endParaRPr lang="en-US" sz="580" dirty="0"/>
          </a:p>
        </p:txBody>
      </p:sp>
      <p:sp>
        <p:nvSpPr>
          <p:cNvPr id="53" name="Shape 50"/>
          <p:cNvSpPr/>
          <p:nvPr/>
        </p:nvSpPr>
        <p:spPr>
          <a:xfrm>
            <a:off x="7040880" y="5047488"/>
            <a:ext cx="3520440" cy="320040"/>
          </a:xfrm>
          <a:prstGeom prst="roundRect">
            <a:avLst>
              <a:gd name="adj" fmla="val 17143"/>
            </a:avLst>
          </a:prstGeom>
          <a:solidFill>
            <a:srgbClr val="FFF7E8"/>
          </a:solidFill>
          <a:ln w="8890">
            <a:solidFill>
              <a:srgbClr val="F8D49C"/>
            </a:solidFill>
            <a:prstDash val="solid"/>
          </a:ln>
        </p:spPr>
      </p:sp>
      <p:sp>
        <p:nvSpPr>
          <p:cNvPr id="54" name="Text 51"/>
          <p:cNvSpPr/>
          <p:nvPr/>
        </p:nvSpPr>
        <p:spPr>
          <a:xfrm>
            <a:off x="7150608" y="5138928"/>
            <a:ext cx="3246120" cy="128016"/>
          </a:xfrm>
          <a:prstGeom prst="rect">
            <a:avLst/>
          </a:prstGeom>
          <a:noFill/>
          <a:ln/>
        </p:spPr>
        <p:txBody>
          <a:bodyPr wrap="square" lIns="635" tIns="635" rIns="635" bIns="635" rtlCol="0" anchor="t">
            <a:normAutofit/>
          </a:bodyPr>
          <a:lstStyle/>
          <a:p>
            <a:pPr algn="ctr" indent="0" marL="0">
              <a:buNone/>
            </a:pPr>
            <a:r>
              <a:rPr lang="en-US" sz="650" b="1" dirty="0">
                <a:solidFill>
                  <a:srgbClr val="1F2933"/>
                </a:solidFill>
              </a:rPr>
              <a:t>Key risk: ramping output while preserving particle, reliability and customer-delivery performance.</a:t>
            </a:r>
            <a:endParaRPr lang="en-US" sz="650" dirty="0"/>
          </a:p>
        </p:txBody>
      </p:sp>
      <p:sp>
        <p:nvSpPr>
          <p:cNvPr id="55" name="Shape 52"/>
          <p:cNvSpPr/>
          <p:nvPr/>
        </p:nvSpPr>
        <p:spPr>
          <a:xfrm>
            <a:off x="411480" y="6428232"/>
            <a:ext cx="11384280" cy="0"/>
          </a:xfrm>
          <a:prstGeom prst="line">
            <a:avLst/>
          </a:prstGeom>
          <a:noFill/>
          <a:ln w="7620">
            <a:solidFill>
              <a:srgbClr val="D7E0E8"/>
            </a:solidFill>
            <a:prstDash val="solid"/>
          </a:ln>
        </p:spPr>
      </p:sp>
      <p:sp>
        <p:nvSpPr>
          <p:cNvPr id="56" name="Text 53"/>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VAT H1 2026 release; VAT 2025 CMD materials; uploaded VAT 101 document; VAT letter to stakeholders; analyst estimates.</a:t>
            </a:r>
            <a:endParaRPr lang="en-US" sz="550" dirty="0"/>
          </a:p>
        </p:txBody>
      </p:sp>
      <p:sp>
        <p:nvSpPr>
          <p:cNvPr id="57" name="Text 54"/>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7</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VAT Group AG (SIX: VACN) | BUY</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The market recognises VAT's quality; the variant view is that vacuum intensity + backlog conversion can drive earnings above today's expectations</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594360" y="1234440"/>
            <a:ext cx="3246120" cy="4462272"/>
          </a:xfrm>
          <a:prstGeom prst="roundRect">
            <a:avLst>
              <a:gd name="adj" fmla="val 1690"/>
            </a:avLst>
          </a:prstGeom>
          <a:solidFill>
            <a:srgbClr val="FFFFFF"/>
          </a:solidFill>
          <a:ln w="8890">
            <a:solidFill>
              <a:srgbClr val="D7E0E8"/>
            </a:solidFill>
            <a:prstDash val="solid"/>
          </a:ln>
        </p:spPr>
      </p:sp>
      <p:sp>
        <p:nvSpPr>
          <p:cNvPr id="7" name="Text 4"/>
          <p:cNvSpPr/>
          <p:nvPr/>
        </p:nvSpPr>
        <p:spPr>
          <a:xfrm>
            <a:off x="758952" y="1463040"/>
            <a:ext cx="2852928" cy="347472"/>
          </a:xfrm>
          <a:prstGeom prst="rect">
            <a:avLst/>
          </a:prstGeom>
          <a:noFill/>
          <a:ln/>
        </p:spPr>
        <p:txBody>
          <a:bodyPr wrap="square" lIns="635" tIns="635" rIns="635" bIns="635" rtlCol="0" anchor="t">
            <a:normAutofit/>
          </a:bodyPr>
          <a:lstStyle/>
          <a:p>
            <a:pPr algn="l" indent="0" marL="0">
              <a:buNone/>
            </a:pPr>
            <a:r>
              <a:rPr lang="en-US" sz="900" b="1" dirty="0">
                <a:solidFill>
                  <a:srgbClr val="1F2933"/>
                </a:solidFill>
              </a:rPr>
              <a:t>1. Vacuum intensity is underestimated</a:t>
            </a:r>
            <a:endParaRPr lang="en-US" sz="900" dirty="0"/>
          </a:p>
        </p:txBody>
      </p:sp>
      <p:sp>
        <p:nvSpPr>
          <p:cNvPr id="8" name="Text 5"/>
          <p:cNvSpPr/>
          <p:nvPr/>
        </p:nvSpPr>
        <p:spPr>
          <a:xfrm>
            <a:off x="777240" y="2057400"/>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Street assumes</a:t>
            </a:r>
            <a:endParaRPr lang="en-US" sz="600" dirty="0"/>
          </a:p>
        </p:txBody>
      </p:sp>
      <p:sp>
        <p:nvSpPr>
          <p:cNvPr id="9" name="Text 6"/>
          <p:cNvSpPr/>
          <p:nvPr/>
        </p:nvSpPr>
        <p:spPr>
          <a:xfrm>
            <a:off x="777240" y="2258568"/>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VAT tracks WFE with a quality premium</a:t>
            </a:r>
            <a:endParaRPr lang="en-US" sz="670" dirty="0"/>
          </a:p>
        </p:txBody>
      </p:sp>
      <p:sp>
        <p:nvSpPr>
          <p:cNvPr id="10" name="Text 7"/>
          <p:cNvSpPr/>
          <p:nvPr/>
        </p:nvSpPr>
        <p:spPr>
          <a:xfrm>
            <a:off x="777240" y="2862072"/>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We think</a:t>
            </a:r>
            <a:endParaRPr lang="en-US" sz="600" dirty="0"/>
          </a:p>
        </p:txBody>
      </p:sp>
      <p:sp>
        <p:nvSpPr>
          <p:cNvPr id="11" name="Text 8"/>
          <p:cNvSpPr/>
          <p:nvPr/>
        </p:nvSpPr>
        <p:spPr>
          <a:xfrm>
            <a:off x="777240" y="3063240"/>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2nm/GAA, HBM and advanced etch/deposition lift content faster than generic WFE</a:t>
            </a:r>
            <a:endParaRPr lang="en-US" sz="670" dirty="0"/>
          </a:p>
        </p:txBody>
      </p:sp>
      <p:sp>
        <p:nvSpPr>
          <p:cNvPr id="12" name="Text 9"/>
          <p:cNvSpPr/>
          <p:nvPr/>
        </p:nvSpPr>
        <p:spPr>
          <a:xfrm>
            <a:off x="777240" y="3666744"/>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Earnings implication</a:t>
            </a:r>
            <a:endParaRPr lang="en-US" sz="600" dirty="0"/>
          </a:p>
        </p:txBody>
      </p:sp>
      <p:sp>
        <p:nvSpPr>
          <p:cNvPr id="13" name="Text 10"/>
          <p:cNvSpPr/>
          <p:nvPr/>
        </p:nvSpPr>
        <p:spPr>
          <a:xfrm>
            <a:off x="777240" y="3867912"/>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Higher revenue per WFE dollar</a:t>
            </a:r>
            <a:endParaRPr lang="en-US" sz="670" dirty="0"/>
          </a:p>
        </p:txBody>
      </p:sp>
      <p:sp>
        <p:nvSpPr>
          <p:cNvPr id="14" name="Text 11"/>
          <p:cNvSpPr/>
          <p:nvPr/>
        </p:nvSpPr>
        <p:spPr>
          <a:xfrm>
            <a:off x="777240" y="4471416"/>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Observable signpost</a:t>
            </a:r>
            <a:endParaRPr lang="en-US" sz="600" dirty="0"/>
          </a:p>
        </p:txBody>
      </p:sp>
      <p:sp>
        <p:nvSpPr>
          <p:cNvPr id="15" name="Text 12"/>
          <p:cNvSpPr/>
          <p:nvPr/>
        </p:nvSpPr>
        <p:spPr>
          <a:xfrm>
            <a:off x="777240" y="4672584"/>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Spec wins / adjacencies growth; leading-edge capex comments</a:t>
            </a:r>
            <a:endParaRPr lang="en-US" sz="670" dirty="0"/>
          </a:p>
        </p:txBody>
      </p:sp>
      <p:sp>
        <p:nvSpPr>
          <p:cNvPr id="16" name="Shape 13"/>
          <p:cNvSpPr/>
          <p:nvPr/>
        </p:nvSpPr>
        <p:spPr>
          <a:xfrm>
            <a:off x="4160520" y="1234440"/>
            <a:ext cx="3246120" cy="4462272"/>
          </a:xfrm>
          <a:prstGeom prst="roundRect">
            <a:avLst>
              <a:gd name="adj" fmla="val 1690"/>
            </a:avLst>
          </a:prstGeom>
          <a:solidFill>
            <a:srgbClr val="EAF6FC"/>
          </a:solidFill>
          <a:ln w="8890">
            <a:solidFill>
              <a:srgbClr val="B7DDEF"/>
            </a:solidFill>
            <a:prstDash val="solid"/>
          </a:ln>
        </p:spPr>
      </p:sp>
      <p:sp>
        <p:nvSpPr>
          <p:cNvPr id="17" name="Text 14"/>
          <p:cNvSpPr/>
          <p:nvPr/>
        </p:nvSpPr>
        <p:spPr>
          <a:xfrm>
            <a:off x="4325112" y="1463040"/>
            <a:ext cx="2852928" cy="347472"/>
          </a:xfrm>
          <a:prstGeom prst="rect">
            <a:avLst/>
          </a:prstGeom>
          <a:noFill/>
          <a:ln/>
        </p:spPr>
        <p:txBody>
          <a:bodyPr wrap="square" lIns="635" tIns="635" rIns="635" bIns="635" rtlCol="0" anchor="t">
            <a:normAutofit/>
          </a:bodyPr>
          <a:lstStyle/>
          <a:p>
            <a:pPr algn="l" indent="0" marL="0">
              <a:buNone/>
            </a:pPr>
            <a:r>
              <a:rPr lang="en-US" sz="900" b="1" dirty="0">
                <a:solidFill>
                  <a:srgbClr val="1F2933"/>
                </a:solidFill>
              </a:rPr>
              <a:t>2. Backlog conversion is underestimated</a:t>
            </a:r>
            <a:endParaRPr lang="en-US" sz="900" dirty="0"/>
          </a:p>
        </p:txBody>
      </p:sp>
      <p:sp>
        <p:nvSpPr>
          <p:cNvPr id="18" name="Text 15"/>
          <p:cNvSpPr/>
          <p:nvPr/>
        </p:nvSpPr>
        <p:spPr>
          <a:xfrm>
            <a:off x="4343400" y="2057400"/>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Street assumes</a:t>
            </a:r>
            <a:endParaRPr lang="en-US" sz="600" dirty="0"/>
          </a:p>
        </p:txBody>
      </p:sp>
      <p:sp>
        <p:nvSpPr>
          <p:cNvPr id="19" name="Text 16"/>
          <p:cNvSpPr/>
          <p:nvPr/>
        </p:nvSpPr>
        <p:spPr>
          <a:xfrm>
            <a:off x="4343400" y="2258568"/>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Backlog risk is execution-heavy and temporary</a:t>
            </a:r>
            <a:endParaRPr lang="en-US" sz="670" dirty="0"/>
          </a:p>
        </p:txBody>
      </p:sp>
      <p:sp>
        <p:nvSpPr>
          <p:cNvPr id="20" name="Text 17"/>
          <p:cNvSpPr/>
          <p:nvPr/>
        </p:nvSpPr>
        <p:spPr>
          <a:xfrm>
            <a:off x="4343400" y="2862072"/>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We think</a:t>
            </a:r>
            <a:endParaRPr lang="en-US" sz="600" dirty="0"/>
          </a:p>
        </p:txBody>
      </p:sp>
      <p:sp>
        <p:nvSpPr>
          <p:cNvPr id="21" name="Text 18"/>
          <p:cNvSpPr/>
          <p:nvPr/>
        </p:nvSpPr>
        <p:spPr>
          <a:xfrm>
            <a:off x="4343400" y="3063240"/>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Record orders plus &gt;CHF450m quarterly run-rate target can support a steeper 2027 revenue curve</a:t>
            </a:r>
            <a:endParaRPr lang="en-US" sz="670" dirty="0"/>
          </a:p>
        </p:txBody>
      </p:sp>
      <p:sp>
        <p:nvSpPr>
          <p:cNvPr id="22" name="Text 19"/>
          <p:cNvSpPr/>
          <p:nvPr/>
        </p:nvSpPr>
        <p:spPr>
          <a:xfrm>
            <a:off x="4343400" y="3666744"/>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Earnings implication</a:t>
            </a:r>
            <a:endParaRPr lang="en-US" sz="600" dirty="0"/>
          </a:p>
        </p:txBody>
      </p:sp>
      <p:sp>
        <p:nvSpPr>
          <p:cNvPr id="23" name="Text 20"/>
          <p:cNvSpPr/>
          <p:nvPr/>
        </p:nvSpPr>
        <p:spPr>
          <a:xfrm>
            <a:off x="4343400" y="3867912"/>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Sales and EBITDA acceleration in 2H26/2027</a:t>
            </a:r>
            <a:endParaRPr lang="en-US" sz="670" dirty="0"/>
          </a:p>
        </p:txBody>
      </p:sp>
      <p:sp>
        <p:nvSpPr>
          <p:cNvPr id="24" name="Text 21"/>
          <p:cNvSpPr/>
          <p:nvPr/>
        </p:nvSpPr>
        <p:spPr>
          <a:xfrm>
            <a:off x="4343400" y="4471416"/>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Observable signpost</a:t>
            </a:r>
            <a:endParaRPr lang="en-US" sz="600" dirty="0"/>
          </a:p>
        </p:txBody>
      </p:sp>
      <p:sp>
        <p:nvSpPr>
          <p:cNvPr id="25" name="Text 22"/>
          <p:cNvSpPr/>
          <p:nvPr/>
        </p:nvSpPr>
        <p:spPr>
          <a:xfrm>
            <a:off x="4343400" y="4672584"/>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Q3-Q4 shipments, book-to-bill and backlog conversion</a:t>
            </a:r>
            <a:endParaRPr lang="en-US" sz="670" dirty="0"/>
          </a:p>
        </p:txBody>
      </p:sp>
      <p:sp>
        <p:nvSpPr>
          <p:cNvPr id="26" name="Shape 23"/>
          <p:cNvSpPr/>
          <p:nvPr/>
        </p:nvSpPr>
        <p:spPr>
          <a:xfrm>
            <a:off x="7726680" y="1234440"/>
            <a:ext cx="3246120" cy="4462272"/>
          </a:xfrm>
          <a:prstGeom prst="roundRect">
            <a:avLst>
              <a:gd name="adj" fmla="val 1690"/>
            </a:avLst>
          </a:prstGeom>
          <a:solidFill>
            <a:srgbClr val="FFFFFF"/>
          </a:solidFill>
          <a:ln w="8890">
            <a:solidFill>
              <a:srgbClr val="D7E0E8"/>
            </a:solidFill>
            <a:prstDash val="solid"/>
          </a:ln>
        </p:spPr>
      </p:sp>
      <p:sp>
        <p:nvSpPr>
          <p:cNvPr id="27" name="Text 24"/>
          <p:cNvSpPr/>
          <p:nvPr/>
        </p:nvSpPr>
        <p:spPr>
          <a:xfrm>
            <a:off x="7891272" y="1463040"/>
            <a:ext cx="2852928" cy="347472"/>
          </a:xfrm>
          <a:prstGeom prst="rect">
            <a:avLst/>
          </a:prstGeom>
          <a:noFill/>
          <a:ln/>
        </p:spPr>
        <p:txBody>
          <a:bodyPr wrap="square" lIns="635" tIns="635" rIns="635" bIns="635" rtlCol="0" anchor="t">
            <a:normAutofit/>
          </a:bodyPr>
          <a:lstStyle/>
          <a:p>
            <a:pPr algn="l" indent="0" marL="0">
              <a:buNone/>
            </a:pPr>
            <a:r>
              <a:rPr lang="en-US" sz="900" b="1" dirty="0">
                <a:solidFill>
                  <a:srgbClr val="1F2933"/>
                </a:solidFill>
              </a:rPr>
              <a:t>3. Operating leverage / content is underestimated</a:t>
            </a:r>
            <a:endParaRPr lang="en-US" sz="900" dirty="0"/>
          </a:p>
        </p:txBody>
      </p:sp>
      <p:sp>
        <p:nvSpPr>
          <p:cNvPr id="28" name="Text 25"/>
          <p:cNvSpPr/>
          <p:nvPr/>
        </p:nvSpPr>
        <p:spPr>
          <a:xfrm>
            <a:off x="7909560" y="2057400"/>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Street assumes</a:t>
            </a:r>
            <a:endParaRPr lang="en-US" sz="600" dirty="0"/>
          </a:p>
        </p:txBody>
      </p:sp>
      <p:sp>
        <p:nvSpPr>
          <p:cNvPr id="29" name="Text 26"/>
          <p:cNvSpPr/>
          <p:nvPr/>
        </p:nvSpPr>
        <p:spPr>
          <a:xfrm>
            <a:off x="7909560" y="2258568"/>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Margins stay pressured by hiring and ramp costs</a:t>
            </a:r>
            <a:endParaRPr lang="en-US" sz="670" dirty="0"/>
          </a:p>
        </p:txBody>
      </p:sp>
      <p:sp>
        <p:nvSpPr>
          <p:cNvPr id="30" name="Text 27"/>
          <p:cNvSpPr/>
          <p:nvPr/>
        </p:nvSpPr>
        <p:spPr>
          <a:xfrm>
            <a:off x="7909560" y="2862072"/>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We think</a:t>
            </a:r>
            <a:endParaRPr lang="en-US" sz="600" dirty="0"/>
          </a:p>
        </p:txBody>
      </p:sp>
      <p:sp>
        <p:nvSpPr>
          <p:cNvPr id="31" name="Text 28"/>
          <p:cNvSpPr/>
          <p:nvPr/>
        </p:nvSpPr>
        <p:spPr>
          <a:xfrm>
            <a:off x="7909560" y="3063240"/>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Utilisation, service and adjacencies can offset ramp costs if quality execution holds</a:t>
            </a:r>
            <a:endParaRPr lang="en-US" sz="670" dirty="0"/>
          </a:p>
        </p:txBody>
      </p:sp>
      <p:sp>
        <p:nvSpPr>
          <p:cNvPr id="32" name="Text 29"/>
          <p:cNvSpPr/>
          <p:nvPr/>
        </p:nvSpPr>
        <p:spPr>
          <a:xfrm>
            <a:off x="7909560" y="3666744"/>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Earnings implication</a:t>
            </a:r>
            <a:endParaRPr lang="en-US" sz="600" dirty="0"/>
          </a:p>
        </p:txBody>
      </p:sp>
      <p:sp>
        <p:nvSpPr>
          <p:cNvPr id="33" name="Text 30"/>
          <p:cNvSpPr/>
          <p:nvPr/>
        </p:nvSpPr>
        <p:spPr>
          <a:xfrm>
            <a:off x="7909560" y="3867912"/>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FY28 EBITDA margin can move back into 34-35% zone</a:t>
            </a:r>
            <a:endParaRPr lang="en-US" sz="670" dirty="0"/>
          </a:p>
        </p:txBody>
      </p:sp>
      <p:sp>
        <p:nvSpPr>
          <p:cNvPr id="34" name="Text 31"/>
          <p:cNvSpPr/>
          <p:nvPr/>
        </p:nvSpPr>
        <p:spPr>
          <a:xfrm>
            <a:off x="7909560" y="4471416"/>
            <a:ext cx="1005840" cy="155448"/>
          </a:xfrm>
          <a:prstGeom prst="rect">
            <a:avLst/>
          </a:prstGeom>
          <a:noFill/>
          <a:ln/>
        </p:spPr>
        <p:txBody>
          <a:bodyPr wrap="square" lIns="635" tIns="635" rIns="635" bIns="635" rtlCol="0" anchor="t">
            <a:normAutofit/>
          </a:bodyPr>
          <a:lstStyle/>
          <a:p>
            <a:pPr algn="l" indent="0" marL="0">
              <a:buNone/>
            </a:pPr>
            <a:r>
              <a:rPr lang="en-US" sz="600" b="1" dirty="0">
                <a:solidFill>
                  <a:srgbClr val="5E6978"/>
                </a:solidFill>
              </a:rPr>
              <a:t>Observable signpost</a:t>
            </a:r>
            <a:endParaRPr lang="en-US" sz="600" dirty="0"/>
          </a:p>
        </p:txBody>
      </p:sp>
      <p:sp>
        <p:nvSpPr>
          <p:cNvPr id="35" name="Text 32"/>
          <p:cNvSpPr/>
          <p:nvPr/>
        </p:nvSpPr>
        <p:spPr>
          <a:xfrm>
            <a:off x="7909560" y="4672584"/>
            <a:ext cx="2798064" cy="329184"/>
          </a:xfrm>
          <a:prstGeom prst="rect">
            <a:avLst/>
          </a:prstGeom>
          <a:noFill/>
          <a:ln/>
        </p:spPr>
        <p:txBody>
          <a:bodyPr wrap="square" lIns="635" tIns="635" rIns="635" bIns="635" rtlCol="0" anchor="t">
            <a:normAutofit/>
          </a:bodyPr>
          <a:lstStyle/>
          <a:p>
            <a:pPr algn="l" indent="0" marL="0">
              <a:buNone/>
            </a:pPr>
            <a:r>
              <a:rPr lang="en-US" sz="670" dirty="0">
                <a:solidFill>
                  <a:srgbClr val="1F2933"/>
                </a:solidFill>
              </a:rPr>
              <a:t>Gross margin, service mix, hiring productivity</a:t>
            </a:r>
            <a:endParaRPr lang="en-US" sz="670" dirty="0"/>
          </a:p>
        </p:txBody>
      </p:sp>
      <p:sp>
        <p:nvSpPr>
          <p:cNvPr id="36" name="Shape 33"/>
          <p:cNvSpPr/>
          <p:nvPr/>
        </p:nvSpPr>
        <p:spPr>
          <a:xfrm>
            <a:off x="594360" y="5833872"/>
            <a:ext cx="10378440" cy="384048"/>
          </a:xfrm>
          <a:prstGeom prst="roundRect">
            <a:avLst>
              <a:gd name="adj" fmla="val 14286"/>
            </a:avLst>
          </a:prstGeom>
          <a:solidFill>
            <a:srgbClr val="F9FAFB"/>
          </a:solidFill>
          <a:ln w="8890">
            <a:solidFill>
              <a:srgbClr val="D7E0E8"/>
            </a:solidFill>
            <a:prstDash val="solid"/>
          </a:ln>
        </p:spPr>
      </p:sp>
      <p:sp>
        <p:nvSpPr>
          <p:cNvPr id="37" name="Text 34"/>
          <p:cNvSpPr/>
          <p:nvPr/>
        </p:nvSpPr>
        <p:spPr>
          <a:xfrm>
            <a:off x="758952" y="5952744"/>
            <a:ext cx="10058400" cy="137160"/>
          </a:xfrm>
          <a:prstGeom prst="rect">
            <a:avLst/>
          </a:prstGeom>
          <a:noFill/>
          <a:ln/>
        </p:spPr>
        <p:txBody>
          <a:bodyPr wrap="square" lIns="635" tIns="635" rIns="635" bIns="635" rtlCol="0" anchor="t">
            <a:normAutofit/>
          </a:bodyPr>
          <a:lstStyle/>
          <a:p>
            <a:pPr algn="ctr" indent="0" marL="0">
              <a:buNone/>
            </a:pPr>
            <a:r>
              <a:rPr lang="en-US" sz="640" b="1" dirty="0">
                <a:solidFill>
                  <a:srgbClr val="1F2933"/>
                </a:solidFill>
              </a:rPr>
              <a:t>What would make us wrong: orders roll over before conversion | capacity ramp misses or creates quality problems | leading-edge specification/share deteriorates | valuation de-rates despite EBITDA delivery</a:t>
            </a:r>
            <a:endParaRPr lang="en-US" sz="640" dirty="0"/>
          </a:p>
        </p:txBody>
      </p:sp>
      <p:sp>
        <p:nvSpPr>
          <p:cNvPr id="38" name="Shape 35"/>
          <p:cNvSpPr/>
          <p:nvPr/>
        </p:nvSpPr>
        <p:spPr>
          <a:xfrm>
            <a:off x="411480" y="6428232"/>
            <a:ext cx="11384280" cy="0"/>
          </a:xfrm>
          <a:prstGeom prst="line">
            <a:avLst/>
          </a:prstGeom>
          <a:noFill/>
          <a:ln w="7620">
            <a:solidFill>
              <a:srgbClr val="D7E0E8"/>
            </a:solidFill>
            <a:prstDash val="solid"/>
          </a:ln>
        </p:spPr>
      </p:sp>
      <p:sp>
        <p:nvSpPr>
          <p:cNvPr id="39" name="Text 36"/>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VAT H1 2026 release; VAT 2025 CMD materials; SEMI equipment forecasts; analyst estimates.</a:t>
            </a:r>
            <a:endParaRPr lang="en-US" sz="550" dirty="0"/>
          </a:p>
        </p:txBody>
      </p:sp>
      <p:sp>
        <p:nvSpPr>
          <p:cNvPr id="40" name="Text 37"/>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8</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VAT Group AG (SIX: VACN) | BUY</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VAT deserves a premium for a scarce semiconductor-component franchise - FY28 earnings support CHF800 if backlog converts</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502920" y="1207008"/>
            <a:ext cx="5257800" cy="4873752"/>
          </a:xfrm>
          <a:prstGeom prst="roundRect">
            <a:avLst>
              <a:gd name="adj" fmla="val 1126"/>
            </a:avLst>
          </a:prstGeom>
          <a:solidFill>
            <a:srgbClr val="FFFFFF"/>
          </a:solidFill>
          <a:ln w="8890">
            <a:solidFill>
              <a:srgbClr val="D7E0E8"/>
            </a:solidFill>
            <a:prstDash val="solid"/>
          </a:ln>
        </p:spPr>
      </p:sp>
      <p:sp>
        <p:nvSpPr>
          <p:cNvPr id="7" name="Text 4"/>
          <p:cNvSpPr/>
          <p:nvPr/>
        </p:nvSpPr>
        <p:spPr>
          <a:xfrm>
            <a:off x="713232" y="1435608"/>
            <a:ext cx="3931920" cy="219456"/>
          </a:xfrm>
          <a:prstGeom prst="rect">
            <a:avLst/>
          </a:prstGeom>
          <a:noFill/>
          <a:ln/>
        </p:spPr>
        <p:txBody>
          <a:bodyPr wrap="square" lIns="635" tIns="635" rIns="635" bIns="635" rtlCol="0" anchor="t">
            <a:normAutofit/>
          </a:bodyPr>
          <a:lstStyle/>
          <a:p>
            <a:pPr algn="l" indent="0" marL="0">
              <a:buNone/>
            </a:pPr>
            <a:r>
              <a:rPr lang="en-US" sz="840" b="1" dirty="0">
                <a:solidFill>
                  <a:srgbClr val="1F2933"/>
                </a:solidFill>
              </a:rPr>
              <a:t>Competitive positioning: VAT is the purest high-vacuum valve franchise</a:t>
            </a:r>
            <a:endParaRPr lang="en-US" sz="840" dirty="0"/>
          </a:p>
        </p:txBody>
      </p:sp>
      <p:sp>
        <p:nvSpPr>
          <p:cNvPr id="8" name="Text 5"/>
          <p:cNvSpPr/>
          <p:nvPr/>
        </p:nvSpPr>
        <p:spPr>
          <a:xfrm>
            <a:off x="685800" y="1828800"/>
            <a:ext cx="594360" cy="146304"/>
          </a:xfrm>
          <a:prstGeom prst="rect">
            <a:avLst/>
          </a:prstGeom>
          <a:noFill/>
          <a:ln/>
        </p:spPr>
        <p:txBody>
          <a:bodyPr wrap="square" lIns="635" tIns="635" rIns="635" bIns="635" rtlCol="0" anchor="t">
            <a:normAutofit/>
          </a:bodyPr>
          <a:lstStyle/>
          <a:p>
            <a:pPr algn="l" indent="0" marL="0">
              <a:buNone/>
            </a:pPr>
            <a:r>
              <a:rPr lang="en-US" sz="570" b="1" dirty="0">
                <a:solidFill>
                  <a:srgbClr val="5E6978"/>
                </a:solidFill>
              </a:rPr>
              <a:t>Co.</a:t>
            </a:r>
            <a:endParaRPr lang="en-US" sz="570" dirty="0"/>
          </a:p>
        </p:txBody>
      </p:sp>
      <p:sp>
        <p:nvSpPr>
          <p:cNvPr id="9" name="Text 6"/>
          <p:cNvSpPr/>
          <p:nvPr/>
        </p:nvSpPr>
        <p:spPr>
          <a:xfrm>
            <a:off x="1325880" y="1828800"/>
            <a:ext cx="1508760" cy="146304"/>
          </a:xfrm>
          <a:prstGeom prst="rect">
            <a:avLst/>
          </a:prstGeom>
          <a:noFill/>
          <a:ln/>
        </p:spPr>
        <p:txBody>
          <a:bodyPr wrap="square" lIns="635" tIns="635" rIns="635" bIns="635" rtlCol="0" anchor="t">
            <a:normAutofit/>
          </a:bodyPr>
          <a:lstStyle/>
          <a:p>
            <a:pPr algn="ctr" indent="0" marL="0">
              <a:buNone/>
            </a:pPr>
            <a:r>
              <a:rPr lang="en-US" sz="570" b="1" dirty="0">
                <a:solidFill>
                  <a:srgbClr val="5E6978"/>
                </a:solidFill>
              </a:rPr>
              <a:t>Semi vacuum exposure</a:t>
            </a:r>
            <a:endParaRPr lang="en-US" sz="570" dirty="0"/>
          </a:p>
        </p:txBody>
      </p:sp>
      <p:sp>
        <p:nvSpPr>
          <p:cNvPr id="10" name="Text 7"/>
          <p:cNvSpPr/>
          <p:nvPr/>
        </p:nvSpPr>
        <p:spPr>
          <a:xfrm>
            <a:off x="2971800" y="1828800"/>
            <a:ext cx="1417320" cy="146304"/>
          </a:xfrm>
          <a:prstGeom prst="rect">
            <a:avLst/>
          </a:prstGeom>
          <a:noFill/>
          <a:ln/>
        </p:spPr>
        <p:txBody>
          <a:bodyPr wrap="square" lIns="635" tIns="635" rIns="635" bIns="635" rtlCol="0" anchor="t">
            <a:normAutofit/>
          </a:bodyPr>
          <a:lstStyle/>
          <a:p>
            <a:pPr algn="ctr" indent="0" marL="0">
              <a:buNone/>
            </a:pPr>
            <a:r>
              <a:rPr lang="en-US" sz="570" b="1" dirty="0">
                <a:solidFill>
                  <a:srgbClr val="5E6978"/>
                </a:solidFill>
              </a:rPr>
              <a:t>Position</a:t>
            </a:r>
            <a:endParaRPr lang="en-US" sz="570" dirty="0"/>
          </a:p>
        </p:txBody>
      </p:sp>
      <p:sp>
        <p:nvSpPr>
          <p:cNvPr id="11" name="Text 8"/>
          <p:cNvSpPr/>
          <p:nvPr/>
        </p:nvSpPr>
        <p:spPr>
          <a:xfrm>
            <a:off x="4572000" y="1828800"/>
            <a:ext cx="777240" cy="146304"/>
          </a:xfrm>
          <a:prstGeom prst="rect">
            <a:avLst/>
          </a:prstGeom>
          <a:noFill/>
          <a:ln/>
        </p:spPr>
        <p:txBody>
          <a:bodyPr wrap="square" lIns="635" tIns="635" rIns="635" bIns="635" rtlCol="0" anchor="t">
            <a:normAutofit/>
          </a:bodyPr>
          <a:lstStyle/>
          <a:p>
            <a:pPr algn="ctr" indent="0" marL="0">
              <a:buNone/>
            </a:pPr>
            <a:r>
              <a:rPr lang="en-US" sz="570" b="1" dirty="0">
                <a:solidFill>
                  <a:srgbClr val="5E6978"/>
                </a:solidFill>
              </a:rPr>
              <a:t>Overlap</a:t>
            </a:r>
            <a:endParaRPr lang="en-US" sz="570" dirty="0"/>
          </a:p>
        </p:txBody>
      </p:sp>
      <p:sp>
        <p:nvSpPr>
          <p:cNvPr id="12" name="Text 9"/>
          <p:cNvSpPr/>
          <p:nvPr/>
        </p:nvSpPr>
        <p:spPr>
          <a:xfrm>
            <a:off x="685800" y="2148840"/>
            <a:ext cx="594360" cy="164592"/>
          </a:xfrm>
          <a:prstGeom prst="rect">
            <a:avLst/>
          </a:prstGeom>
          <a:noFill/>
          <a:ln/>
        </p:spPr>
        <p:txBody>
          <a:bodyPr wrap="square" lIns="635" tIns="635" rIns="635" bIns="635" rtlCol="0" anchor="t">
            <a:normAutofit/>
          </a:bodyPr>
          <a:lstStyle/>
          <a:p>
            <a:pPr algn="l" indent="0" marL="0">
              <a:buNone/>
            </a:pPr>
            <a:r>
              <a:rPr lang="en-US" sz="650" b="1" dirty="0">
                <a:solidFill>
                  <a:srgbClr val="1B9BDA"/>
                </a:solidFill>
              </a:rPr>
              <a:t>VAT</a:t>
            </a:r>
            <a:endParaRPr lang="en-US" sz="650" dirty="0"/>
          </a:p>
        </p:txBody>
      </p:sp>
      <p:sp>
        <p:nvSpPr>
          <p:cNvPr id="13" name="Text 10"/>
          <p:cNvSpPr/>
          <p:nvPr/>
        </p:nvSpPr>
        <p:spPr>
          <a:xfrm>
            <a:off x="1325880" y="2148840"/>
            <a:ext cx="1417320" cy="164592"/>
          </a:xfrm>
          <a:prstGeom prst="rect">
            <a:avLst/>
          </a:prstGeom>
          <a:noFill/>
          <a:ln/>
        </p:spPr>
        <p:txBody>
          <a:bodyPr wrap="square" lIns="635" tIns="635" rIns="635" bIns="635" rtlCol="0" anchor="t">
            <a:normAutofit/>
          </a:bodyPr>
          <a:lstStyle/>
          <a:p>
            <a:pPr algn="l" indent="0" marL="0">
              <a:buNone/>
            </a:pPr>
            <a:r>
              <a:rPr lang="en-US" sz="570" dirty="0">
                <a:solidFill>
                  <a:srgbClr val="1F2933"/>
                </a:solidFill>
              </a:rPr>
              <a:t>Core semi valves / modules</a:t>
            </a:r>
            <a:endParaRPr lang="en-US" sz="570" dirty="0"/>
          </a:p>
        </p:txBody>
      </p:sp>
      <p:sp>
        <p:nvSpPr>
          <p:cNvPr id="14" name="Text 11"/>
          <p:cNvSpPr/>
          <p:nvPr/>
        </p:nvSpPr>
        <p:spPr>
          <a:xfrm>
            <a:off x="2971800" y="2148840"/>
            <a:ext cx="1325880" cy="164592"/>
          </a:xfrm>
          <a:prstGeom prst="rect">
            <a:avLst/>
          </a:prstGeom>
          <a:noFill/>
          <a:ln/>
        </p:spPr>
        <p:txBody>
          <a:bodyPr wrap="square" lIns="635" tIns="635" rIns="635" bIns="635" rtlCol="0" anchor="t">
            <a:normAutofit/>
          </a:bodyPr>
          <a:lstStyle/>
          <a:p>
            <a:pPr algn="l" indent="0" marL="0">
              <a:buNone/>
            </a:pPr>
            <a:r>
              <a:rPr lang="en-US" sz="570" dirty="0">
                <a:solidFill>
                  <a:srgbClr val="1F2933"/>
                </a:solidFill>
              </a:rPr>
              <a:t>Leader; &gt;75% core semi</a:t>
            </a:r>
            <a:endParaRPr lang="en-US" sz="570" dirty="0"/>
          </a:p>
        </p:txBody>
      </p:sp>
      <p:sp>
        <p:nvSpPr>
          <p:cNvPr id="15" name="Text 12"/>
          <p:cNvSpPr/>
          <p:nvPr/>
        </p:nvSpPr>
        <p:spPr>
          <a:xfrm>
            <a:off x="4572000" y="2148840"/>
            <a:ext cx="777240" cy="164592"/>
          </a:xfrm>
          <a:prstGeom prst="rect">
            <a:avLst/>
          </a:prstGeom>
          <a:noFill/>
          <a:ln/>
        </p:spPr>
        <p:txBody>
          <a:bodyPr wrap="square" lIns="635" tIns="635" rIns="635" bIns="635" rtlCol="0" anchor="t">
            <a:normAutofit/>
          </a:bodyPr>
          <a:lstStyle/>
          <a:p>
            <a:pPr algn="ctr" indent="0" marL="0">
              <a:buNone/>
            </a:pPr>
            <a:r>
              <a:rPr lang="en-US" sz="570" b="1" dirty="0">
                <a:solidFill>
                  <a:srgbClr val="1B9BDA"/>
                </a:solidFill>
              </a:rPr>
              <a:t>Highest</a:t>
            </a:r>
            <a:endParaRPr lang="en-US" sz="570" dirty="0"/>
          </a:p>
        </p:txBody>
      </p:sp>
      <p:sp>
        <p:nvSpPr>
          <p:cNvPr id="16" name="Text 13"/>
          <p:cNvSpPr/>
          <p:nvPr/>
        </p:nvSpPr>
        <p:spPr>
          <a:xfrm>
            <a:off x="685800" y="2660904"/>
            <a:ext cx="594360" cy="164592"/>
          </a:xfrm>
          <a:prstGeom prst="rect">
            <a:avLst/>
          </a:prstGeom>
          <a:noFill/>
          <a:ln/>
        </p:spPr>
        <p:txBody>
          <a:bodyPr wrap="square" lIns="635" tIns="635" rIns="635" bIns="635" rtlCol="0" anchor="t">
            <a:normAutofit/>
          </a:bodyPr>
          <a:lstStyle/>
          <a:p>
            <a:pPr algn="l" indent="0" marL="0">
              <a:buNone/>
            </a:pPr>
            <a:r>
              <a:rPr lang="en-US" sz="650" b="1" dirty="0">
                <a:solidFill>
                  <a:srgbClr val="1F2933"/>
                </a:solidFill>
              </a:rPr>
              <a:t>MKS</a:t>
            </a:r>
            <a:endParaRPr lang="en-US" sz="650" dirty="0"/>
          </a:p>
        </p:txBody>
      </p:sp>
      <p:sp>
        <p:nvSpPr>
          <p:cNvPr id="17" name="Text 14"/>
          <p:cNvSpPr/>
          <p:nvPr/>
        </p:nvSpPr>
        <p:spPr>
          <a:xfrm>
            <a:off x="1325880" y="2660904"/>
            <a:ext cx="1417320" cy="164592"/>
          </a:xfrm>
          <a:prstGeom prst="rect">
            <a:avLst/>
          </a:prstGeom>
          <a:noFill/>
          <a:ln/>
        </p:spPr>
        <p:txBody>
          <a:bodyPr wrap="square" lIns="635" tIns="635" rIns="635" bIns="635" rtlCol="0" anchor="t">
            <a:normAutofit/>
          </a:bodyPr>
          <a:lstStyle/>
          <a:p>
            <a:pPr algn="l" indent="0" marL="0">
              <a:buNone/>
            </a:pPr>
            <a:r>
              <a:rPr lang="en-US" sz="570" dirty="0">
                <a:solidFill>
                  <a:srgbClr val="1F2933"/>
                </a:solidFill>
              </a:rPr>
              <a:t>Vacuum / RF / instruments</a:t>
            </a:r>
            <a:endParaRPr lang="en-US" sz="570" dirty="0"/>
          </a:p>
        </p:txBody>
      </p:sp>
      <p:sp>
        <p:nvSpPr>
          <p:cNvPr id="18" name="Text 15"/>
          <p:cNvSpPr/>
          <p:nvPr/>
        </p:nvSpPr>
        <p:spPr>
          <a:xfrm>
            <a:off x="2971800" y="2660904"/>
            <a:ext cx="1325880" cy="164592"/>
          </a:xfrm>
          <a:prstGeom prst="rect">
            <a:avLst/>
          </a:prstGeom>
          <a:noFill/>
          <a:ln/>
        </p:spPr>
        <p:txBody>
          <a:bodyPr wrap="square" lIns="635" tIns="635" rIns="635" bIns="635" rtlCol="0" anchor="t">
            <a:normAutofit/>
          </a:bodyPr>
          <a:lstStyle/>
          <a:p>
            <a:pPr algn="l" indent="0" marL="0">
              <a:buNone/>
            </a:pPr>
            <a:r>
              <a:rPr lang="en-US" sz="570" dirty="0">
                <a:solidFill>
                  <a:srgbClr val="1F2933"/>
                </a:solidFill>
              </a:rPr>
              <a:t>Adjacent supplier; broader portfolio</a:t>
            </a:r>
            <a:endParaRPr lang="en-US" sz="570" dirty="0"/>
          </a:p>
        </p:txBody>
      </p:sp>
      <p:sp>
        <p:nvSpPr>
          <p:cNvPr id="19" name="Text 16"/>
          <p:cNvSpPr/>
          <p:nvPr/>
        </p:nvSpPr>
        <p:spPr>
          <a:xfrm>
            <a:off x="4572000" y="2660904"/>
            <a:ext cx="777240" cy="164592"/>
          </a:xfrm>
          <a:prstGeom prst="rect">
            <a:avLst/>
          </a:prstGeom>
          <a:noFill/>
          <a:ln/>
        </p:spPr>
        <p:txBody>
          <a:bodyPr wrap="square" lIns="635" tIns="635" rIns="635" bIns="635" rtlCol="0" anchor="t">
            <a:normAutofit/>
          </a:bodyPr>
          <a:lstStyle/>
          <a:p>
            <a:pPr algn="ctr" indent="0" marL="0">
              <a:buNone/>
            </a:pPr>
            <a:r>
              <a:rPr lang="en-US" sz="570" dirty="0">
                <a:solidFill>
                  <a:srgbClr val="5E6978"/>
                </a:solidFill>
              </a:rPr>
              <a:t>Medium</a:t>
            </a:r>
            <a:endParaRPr lang="en-US" sz="570" dirty="0"/>
          </a:p>
        </p:txBody>
      </p:sp>
      <p:sp>
        <p:nvSpPr>
          <p:cNvPr id="20" name="Text 17"/>
          <p:cNvSpPr/>
          <p:nvPr/>
        </p:nvSpPr>
        <p:spPr>
          <a:xfrm>
            <a:off x="685800" y="3172968"/>
            <a:ext cx="594360" cy="164592"/>
          </a:xfrm>
          <a:prstGeom prst="rect">
            <a:avLst/>
          </a:prstGeom>
          <a:noFill/>
          <a:ln/>
        </p:spPr>
        <p:txBody>
          <a:bodyPr wrap="square" lIns="635" tIns="635" rIns="635" bIns="635" rtlCol="0" anchor="t">
            <a:normAutofit/>
          </a:bodyPr>
          <a:lstStyle/>
          <a:p>
            <a:pPr algn="l" indent="0" marL="0">
              <a:buNone/>
            </a:pPr>
            <a:r>
              <a:rPr lang="en-US" sz="650" b="1" dirty="0">
                <a:solidFill>
                  <a:srgbClr val="1F2933"/>
                </a:solidFill>
              </a:rPr>
              <a:t>Edwards</a:t>
            </a:r>
            <a:endParaRPr lang="en-US" sz="650" dirty="0"/>
          </a:p>
        </p:txBody>
      </p:sp>
      <p:sp>
        <p:nvSpPr>
          <p:cNvPr id="21" name="Text 18"/>
          <p:cNvSpPr/>
          <p:nvPr/>
        </p:nvSpPr>
        <p:spPr>
          <a:xfrm>
            <a:off x="1325880" y="3172968"/>
            <a:ext cx="1417320" cy="164592"/>
          </a:xfrm>
          <a:prstGeom prst="rect">
            <a:avLst/>
          </a:prstGeom>
          <a:noFill/>
          <a:ln/>
        </p:spPr>
        <p:txBody>
          <a:bodyPr wrap="square" lIns="635" tIns="635" rIns="635" bIns="635" rtlCol="0" anchor="t">
            <a:normAutofit/>
          </a:bodyPr>
          <a:lstStyle/>
          <a:p>
            <a:pPr algn="l" indent="0" marL="0">
              <a:buNone/>
            </a:pPr>
            <a:r>
              <a:rPr lang="en-US" sz="570" dirty="0">
                <a:solidFill>
                  <a:srgbClr val="1F2933"/>
                </a:solidFill>
              </a:rPr>
              <a:t>Pumps / abatement</a:t>
            </a:r>
            <a:endParaRPr lang="en-US" sz="570" dirty="0"/>
          </a:p>
        </p:txBody>
      </p:sp>
      <p:sp>
        <p:nvSpPr>
          <p:cNvPr id="22" name="Text 19"/>
          <p:cNvSpPr/>
          <p:nvPr/>
        </p:nvSpPr>
        <p:spPr>
          <a:xfrm>
            <a:off x="2971800" y="3172968"/>
            <a:ext cx="1325880" cy="164592"/>
          </a:xfrm>
          <a:prstGeom prst="rect">
            <a:avLst/>
          </a:prstGeom>
          <a:noFill/>
          <a:ln/>
        </p:spPr>
        <p:txBody>
          <a:bodyPr wrap="square" lIns="635" tIns="635" rIns="635" bIns="635" rtlCol="0" anchor="t">
            <a:normAutofit/>
          </a:bodyPr>
          <a:lstStyle/>
          <a:p>
            <a:pPr algn="l" indent="0" marL="0">
              <a:buNone/>
            </a:pPr>
            <a:r>
              <a:rPr lang="en-US" sz="570" dirty="0">
                <a:solidFill>
                  <a:srgbClr val="1F2933"/>
                </a:solidFill>
              </a:rPr>
              <a:t>Sub-fab vacuum ecosystem</a:t>
            </a:r>
            <a:endParaRPr lang="en-US" sz="570" dirty="0"/>
          </a:p>
        </p:txBody>
      </p:sp>
      <p:sp>
        <p:nvSpPr>
          <p:cNvPr id="23" name="Text 20"/>
          <p:cNvSpPr/>
          <p:nvPr/>
        </p:nvSpPr>
        <p:spPr>
          <a:xfrm>
            <a:off x="4572000" y="3172968"/>
            <a:ext cx="777240" cy="164592"/>
          </a:xfrm>
          <a:prstGeom prst="rect">
            <a:avLst/>
          </a:prstGeom>
          <a:noFill/>
          <a:ln/>
        </p:spPr>
        <p:txBody>
          <a:bodyPr wrap="square" lIns="635" tIns="635" rIns="635" bIns="635" rtlCol="0" anchor="t">
            <a:normAutofit/>
          </a:bodyPr>
          <a:lstStyle/>
          <a:p>
            <a:pPr algn="ctr" indent="0" marL="0">
              <a:buNone/>
            </a:pPr>
            <a:r>
              <a:rPr lang="en-US" sz="570" dirty="0">
                <a:solidFill>
                  <a:srgbClr val="5E6978"/>
                </a:solidFill>
              </a:rPr>
              <a:t>Low / adjacent</a:t>
            </a:r>
            <a:endParaRPr lang="en-US" sz="570" dirty="0"/>
          </a:p>
        </p:txBody>
      </p:sp>
      <p:sp>
        <p:nvSpPr>
          <p:cNvPr id="24" name="Text 21"/>
          <p:cNvSpPr/>
          <p:nvPr/>
        </p:nvSpPr>
        <p:spPr>
          <a:xfrm>
            <a:off x="685800" y="3685032"/>
            <a:ext cx="594360" cy="164592"/>
          </a:xfrm>
          <a:prstGeom prst="rect">
            <a:avLst/>
          </a:prstGeom>
          <a:noFill/>
          <a:ln/>
        </p:spPr>
        <p:txBody>
          <a:bodyPr wrap="square" lIns="635" tIns="635" rIns="635" bIns="635" rtlCol="0" anchor="t">
            <a:normAutofit/>
          </a:bodyPr>
          <a:lstStyle/>
          <a:p>
            <a:pPr algn="l" indent="0" marL="0">
              <a:buNone/>
            </a:pPr>
            <a:r>
              <a:rPr lang="en-US" sz="650" b="1" dirty="0">
                <a:solidFill>
                  <a:srgbClr val="1F2933"/>
                </a:solidFill>
              </a:rPr>
              <a:t>Horiba</a:t>
            </a:r>
            <a:endParaRPr lang="en-US" sz="650" dirty="0"/>
          </a:p>
        </p:txBody>
      </p:sp>
      <p:sp>
        <p:nvSpPr>
          <p:cNvPr id="25" name="Text 22"/>
          <p:cNvSpPr/>
          <p:nvPr/>
        </p:nvSpPr>
        <p:spPr>
          <a:xfrm>
            <a:off x="1325880" y="3685032"/>
            <a:ext cx="1417320" cy="164592"/>
          </a:xfrm>
          <a:prstGeom prst="rect">
            <a:avLst/>
          </a:prstGeom>
          <a:noFill/>
          <a:ln/>
        </p:spPr>
        <p:txBody>
          <a:bodyPr wrap="square" lIns="635" tIns="635" rIns="635" bIns="635" rtlCol="0" anchor="t">
            <a:normAutofit/>
          </a:bodyPr>
          <a:lstStyle/>
          <a:p>
            <a:pPr algn="l" indent="0" marL="0">
              <a:buNone/>
            </a:pPr>
            <a:r>
              <a:rPr lang="en-US" sz="570" dirty="0">
                <a:solidFill>
                  <a:srgbClr val="1F2933"/>
                </a:solidFill>
              </a:rPr>
              <a:t>Gas / process analytics</a:t>
            </a:r>
            <a:endParaRPr lang="en-US" sz="570" dirty="0"/>
          </a:p>
        </p:txBody>
      </p:sp>
      <p:sp>
        <p:nvSpPr>
          <p:cNvPr id="26" name="Text 23"/>
          <p:cNvSpPr/>
          <p:nvPr/>
        </p:nvSpPr>
        <p:spPr>
          <a:xfrm>
            <a:off x="2971800" y="3685032"/>
            <a:ext cx="1325880" cy="164592"/>
          </a:xfrm>
          <a:prstGeom prst="rect">
            <a:avLst/>
          </a:prstGeom>
          <a:noFill/>
          <a:ln/>
        </p:spPr>
        <p:txBody>
          <a:bodyPr wrap="square" lIns="635" tIns="635" rIns="635" bIns="635" rtlCol="0" anchor="t">
            <a:normAutofit/>
          </a:bodyPr>
          <a:lstStyle/>
          <a:p>
            <a:pPr algn="l" indent="0" marL="0">
              <a:buNone/>
            </a:pPr>
            <a:r>
              <a:rPr lang="en-US" sz="570" dirty="0">
                <a:solidFill>
                  <a:srgbClr val="1F2933"/>
                </a:solidFill>
              </a:rPr>
              <a:t>Adjacent process-control exposure</a:t>
            </a:r>
            <a:endParaRPr lang="en-US" sz="570" dirty="0"/>
          </a:p>
        </p:txBody>
      </p:sp>
      <p:sp>
        <p:nvSpPr>
          <p:cNvPr id="27" name="Text 24"/>
          <p:cNvSpPr/>
          <p:nvPr/>
        </p:nvSpPr>
        <p:spPr>
          <a:xfrm>
            <a:off x="4572000" y="3685032"/>
            <a:ext cx="777240" cy="164592"/>
          </a:xfrm>
          <a:prstGeom prst="rect">
            <a:avLst/>
          </a:prstGeom>
          <a:noFill/>
          <a:ln/>
        </p:spPr>
        <p:txBody>
          <a:bodyPr wrap="square" lIns="635" tIns="635" rIns="635" bIns="635" rtlCol="0" anchor="t">
            <a:normAutofit/>
          </a:bodyPr>
          <a:lstStyle/>
          <a:p>
            <a:pPr algn="ctr" indent="0" marL="0">
              <a:buNone/>
            </a:pPr>
            <a:r>
              <a:rPr lang="en-US" sz="570" dirty="0">
                <a:solidFill>
                  <a:srgbClr val="5E6978"/>
                </a:solidFill>
              </a:rPr>
              <a:t>Low / adjacent</a:t>
            </a:r>
            <a:endParaRPr lang="en-US" sz="570" dirty="0"/>
          </a:p>
        </p:txBody>
      </p:sp>
      <p:sp>
        <p:nvSpPr>
          <p:cNvPr id="28" name="Text 25"/>
          <p:cNvSpPr/>
          <p:nvPr/>
        </p:nvSpPr>
        <p:spPr>
          <a:xfrm>
            <a:off x="685800" y="4197096"/>
            <a:ext cx="594360" cy="164592"/>
          </a:xfrm>
          <a:prstGeom prst="rect">
            <a:avLst/>
          </a:prstGeom>
          <a:noFill/>
          <a:ln/>
        </p:spPr>
        <p:txBody>
          <a:bodyPr wrap="square" lIns="635" tIns="635" rIns="635" bIns="635" rtlCol="0" anchor="t">
            <a:normAutofit/>
          </a:bodyPr>
          <a:lstStyle/>
          <a:p>
            <a:pPr algn="l" indent="0" marL="0">
              <a:buNone/>
            </a:pPr>
            <a:r>
              <a:rPr lang="en-US" sz="650" b="1" dirty="0">
                <a:solidFill>
                  <a:srgbClr val="1F2933"/>
                </a:solidFill>
              </a:rPr>
              <a:t>CKD / SMC</a:t>
            </a:r>
            <a:endParaRPr lang="en-US" sz="650" dirty="0"/>
          </a:p>
        </p:txBody>
      </p:sp>
      <p:sp>
        <p:nvSpPr>
          <p:cNvPr id="29" name="Text 26"/>
          <p:cNvSpPr/>
          <p:nvPr/>
        </p:nvSpPr>
        <p:spPr>
          <a:xfrm>
            <a:off x="1325880" y="4197096"/>
            <a:ext cx="1417320" cy="164592"/>
          </a:xfrm>
          <a:prstGeom prst="rect">
            <a:avLst/>
          </a:prstGeom>
          <a:noFill/>
          <a:ln/>
        </p:spPr>
        <p:txBody>
          <a:bodyPr wrap="square" lIns="635" tIns="635" rIns="635" bIns="635" rtlCol="0" anchor="t">
            <a:normAutofit/>
          </a:bodyPr>
          <a:lstStyle/>
          <a:p>
            <a:pPr algn="l" indent="0" marL="0">
              <a:buNone/>
            </a:pPr>
            <a:r>
              <a:rPr lang="en-US" sz="570" dirty="0">
                <a:solidFill>
                  <a:srgbClr val="1F2933"/>
                </a:solidFill>
              </a:rPr>
              <a:t>Pneumatics / valves</a:t>
            </a:r>
            <a:endParaRPr lang="en-US" sz="570" dirty="0"/>
          </a:p>
        </p:txBody>
      </p:sp>
      <p:sp>
        <p:nvSpPr>
          <p:cNvPr id="30" name="Text 27"/>
          <p:cNvSpPr/>
          <p:nvPr/>
        </p:nvSpPr>
        <p:spPr>
          <a:xfrm>
            <a:off x="2971800" y="4197096"/>
            <a:ext cx="1325880" cy="164592"/>
          </a:xfrm>
          <a:prstGeom prst="rect">
            <a:avLst/>
          </a:prstGeom>
          <a:noFill/>
          <a:ln/>
        </p:spPr>
        <p:txBody>
          <a:bodyPr wrap="square" lIns="635" tIns="635" rIns="635" bIns="635" rtlCol="0" anchor="t">
            <a:normAutofit/>
          </a:bodyPr>
          <a:lstStyle/>
          <a:p>
            <a:pPr algn="l" indent="0" marL="0">
              <a:buNone/>
            </a:pPr>
            <a:r>
              <a:rPr lang="en-US" sz="570" dirty="0">
                <a:solidFill>
                  <a:srgbClr val="1F2933"/>
                </a:solidFill>
              </a:rPr>
              <a:t>Selective lower-end overlap</a:t>
            </a:r>
            <a:endParaRPr lang="en-US" sz="570" dirty="0"/>
          </a:p>
        </p:txBody>
      </p:sp>
      <p:sp>
        <p:nvSpPr>
          <p:cNvPr id="31" name="Text 28"/>
          <p:cNvSpPr/>
          <p:nvPr/>
        </p:nvSpPr>
        <p:spPr>
          <a:xfrm>
            <a:off x="4572000" y="4197096"/>
            <a:ext cx="777240" cy="164592"/>
          </a:xfrm>
          <a:prstGeom prst="rect">
            <a:avLst/>
          </a:prstGeom>
          <a:noFill/>
          <a:ln/>
        </p:spPr>
        <p:txBody>
          <a:bodyPr wrap="square" lIns="635" tIns="635" rIns="635" bIns="635" rtlCol="0" anchor="t">
            <a:normAutofit/>
          </a:bodyPr>
          <a:lstStyle/>
          <a:p>
            <a:pPr algn="ctr" indent="0" marL="0">
              <a:buNone/>
            </a:pPr>
            <a:r>
              <a:rPr lang="en-US" sz="570" dirty="0">
                <a:solidFill>
                  <a:srgbClr val="5E6978"/>
                </a:solidFill>
              </a:rPr>
              <a:t>Low</a:t>
            </a:r>
            <a:endParaRPr lang="en-US" sz="570" dirty="0"/>
          </a:p>
        </p:txBody>
      </p:sp>
      <p:sp>
        <p:nvSpPr>
          <p:cNvPr id="32" name="Text 29"/>
          <p:cNvSpPr/>
          <p:nvPr/>
        </p:nvSpPr>
        <p:spPr>
          <a:xfrm>
            <a:off x="713232" y="5376672"/>
            <a:ext cx="4617720" cy="320040"/>
          </a:xfrm>
          <a:prstGeom prst="rect">
            <a:avLst/>
          </a:prstGeom>
          <a:noFill/>
          <a:ln/>
        </p:spPr>
        <p:txBody>
          <a:bodyPr wrap="square" lIns="635" tIns="635" rIns="635" bIns="635" rtlCol="0" anchor="t">
            <a:normAutofit/>
          </a:bodyPr>
          <a:lstStyle/>
          <a:p>
            <a:pPr algn="l" indent="0" marL="0">
              <a:buNone/>
            </a:pPr>
            <a:r>
              <a:rPr lang="en-US" sz="700" b="1" dirty="0">
                <a:solidFill>
                  <a:srgbClr val="1F2933"/>
                </a:solidFill>
              </a:rPr>
              <a:t>Why the premium is rational: market share, leading-edge exposure, qualification moat, high margins / ROIC, installed-base service and scarce pure-play status.</a:t>
            </a:r>
            <a:endParaRPr lang="en-US" sz="700" dirty="0"/>
          </a:p>
        </p:txBody>
      </p:sp>
      <p:sp>
        <p:nvSpPr>
          <p:cNvPr id="33" name="Shape 30"/>
          <p:cNvSpPr/>
          <p:nvPr/>
        </p:nvSpPr>
        <p:spPr>
          <a:xfrm>
            <a:off x="6080760" y="1207008"/>
            <a:ext cx="5257800" cy="4873752"/>
          </a:xfrm>
          <a:prstGeom prst="roundRect">
            <a:avLst>
              <a:gd name="adj" fmla="val 1126"/>
            </a:avLst>
          </a:prstGeom>
          <a:solidFill>
            <a:srgbClr val="F8FAFC"/>
          </a:solidFill>
          <a:ln w="8890">
            <a:solidFill>
              <a:srgbClr val="D7E0E8"/>
            </a:solidFill>
            <a:prstDash val="solid"/>
          </a:ln>
        </p:spPr>
      </p:sp>
      <p:sp>
        <p:nvSpPr>
          <p:cNvPr id="34" name="Text 31"/>
          <p:cNvSpPr/>
          <p:nvPr/>
        </p:nvSpPr>
        <p:spPr>
          <a:xfrm>
            <a:off x="6291072" y="1435608"/>
            <a:ext cx="3200400" cy="219456"/>
          </a:xfrm>
          <a:prstGeom prst="rect">
            <a:avLst/>
          </a:prstGeom>
          <a:noFill/>
          <a:ln/>
        </p:spPr>
        <p:txBody>
          <a:bodyPr wrap="square" lIns="635" tIns="635" rIns="635" bIns="635" rtlCol="0" anchor="t">
            <a:normAutofit/>
          </a:bodyPr>
          <a:lstStyle/>
          <a:p>
            <a:pPr algn="l" indent="0" marL="0">
              <a:buNone/>
            </a:pPr>
            <a:r>
              <a:rPr lang="en-US" sz="840" b="1" dirty="0">
                <a:solidFill>
                  <a:srgbClr val="1F2933"/>
                </a:solidFill>
              </a:rPr>
              <a:t>FY28 EV/EBITDA target-price bridge</a:t>
            </a:r>
            <a:endParaRPr lang="en-US" sz="840" dirty="0"/>
          </a:p>
        </p:txBody>
      </p:sp>
      <p:sp>
        <p:nvSpPr>
          <p:cNvPr id="35" name="Text 32"/>
          <p:cNvSpPr/>
          <p:nvPr/>
        </p:nvSpPr>
        <p:spPr>
          <a:xfrm>
            <a:off x="6492240" y="1856232"/>
            <a:ext cx="2377440" cy="146304"/>
          </a:xfrm>
          <a:prstGeom prst="rect">
            <a:avLst/>
          </a:prstGeom>
          <a:noFill/>
          <a:ln/>
        </p:spPr>
        <p:txBody>
          <a:bodyPr wrap="square" lIns="635" tIns="635" rIns="635" bIns="635" rtlCol="0" anchor="t">
            <a:normAutofit/>
          </a:bodyPr>
          <a:lstStyle/>
          <a:p>
            <a:pPr algn="l" indent="0" marL="0">
              <a:buNone/>
            </a:pPr>
            <a:r>
              <a:rPr lang="en-US" sz="650" dirty="0">
                <a:solidFill>
                  <a:srgbClr val="1F2933"/>
                </a:solidFill>
              </a:rPr>
              <a:t>FY28E revenue</a:t>
            </a:r>
            <a:endParaRPr lang="en-US" sz="650" dirty="0"/>
          </a:p>
        </p:txBody>
      </p:sp>
      <p:sp>
        <p:nvSpPr>
          <p:cNvPr id="36" name="Text 33"/>
          <p:cNvSpPr/>
          <p:nvPr/>
        </p:nvSpPr>
        <p:spPr>
          <a:xfrm>
            <a:off x="9418320" y="1856232"/>
            <a:ext cx="1097280" cy="146304"/>
          </a:xfrm>
          <a:prstGeom prst="rect">
            <a:avLst/>
          </a:prstGeom>
          <a:noFill/>
          <a:ln/>
        </p:spPr>
        <p:txBody>
          <a:bodyPr wrap="square" lIns="635" tIns="635" rIns="635" bIns="635" rtlCol="0" anchor="t">
            <a:normAutofit/>
          </a:bodyPr>
          <a:lstStyle/>
          <a:p>
            <a:pPr algn="r" indent="0" marL="0">
              <a:buNone/>
            </a:pPr>
            <a:r>
              <a:rPr lang="en-US" sz="650" dirty="0">
                <a:solidFill>
                  <a:srgbClr val="1F2933"/>
                </a:solidFill>
              </a:rPr>
              <a:t>CHF 1.75bn</a:t>
            </a:r>
            <a:endParaRPr lang="en-US" sz="650" dirty="0"/>
          </a:p>
        </p:txBody>
      </p:sp>
      <p:sp>
        <p:nvSpPr>
          <p:cNvPr id="37" name="Text 34"/>
          <p:cNvSpPr/>
          <p:nvPr/>
        </p:nvSpPr>
        <p:spPr>
          <a:xfrm>
            <a:off x="6492240" y="2194560"/>
            <a:ext cx="2377440" cy="146304"/>
          </a:xfrm>
          <a:prstGeom prst="rect">
            <a:avLst/>
          </a:prstGeom>
          <a:noFill/>
          <a:ln/>
        </p:spPr>
        <p:txBody>
          <a:bodyPr wrap="square" lIns="635" tIns="635" rIns="635" bIns="635" rtlCol="0" anchor="t">
            <a:normAutofit/>
          </a:bodyPr>
          <a:lstStyle/>
          <a:p>
            <a:pPr algn="l" indent="0" marL="0">
              <a:buNone/>
            </a:pPr>
            <a:r>
              <a:rPr lang="en-US" sz="650" dirty="0">
                <a:solidFill>
                  <a:srgbClr val="1F2933"/>
                </a:solidFill>
              </a:rPr>
              <a:t>× EBITDA margin</a:t>
            </a:r>
            <a:endParaRPr lang="en-US" sz="650" dirty="0"/>
          </a:p>
        </p:txBody>
      </p:sp>
      <p:sp>
        <p:nvSpPr>
          <p:cNvPr id="38" name="Text 35"/>
          <p:cNvSpPr/>
          <p:nvPr/>
        </p:nvSpPr>
        <p:spPr>
          <a:xfrm>
            <a:off x="9418320" y="2194560"/>
            <a:ext cx="1097280" cy="146304"/>
          </a:xfrm>
          <a:prstGeom prst="rect">
            <a:avLst/>
          </a:prstGeom>
          <a:noFill/>
          <a:ln/>
        </p:spPr>
        <p:txBody>
          <a:bodyPr wrap="square" lIns="635" tIns="635" rIns="635" bIns="635" rtlCol="0" anchor="t">
            <a:normAutofit/>
          </a:bodyPr>
          <a:lstStyle/>
          <a:p>
            <a:pPr algn="r" indent="0" marL="0">
              <a:buNone/>
            </a:pPr>
            <a:r>
              <a:rPr lang="en-US" sz="650" dirty="0">
                <a:solidFill>
                  <a:srgbClr val="1F2933"/>
                </a:solidFill>
              </a:rPr>
              <a:t>35.0%</a:t>
            </a:r>
            <a:endParaRPr lang="en-US" sz="650" dirty="0"/>
          </a:p>
        </p:txBody>
      </p:sp>
      <p:sp>
        <p:nvSpPr>
          <p:cNvPr id="39" name="Shape 36"/>
          <p:cNvSpPr/>
          <p:nvPr/>
        </p:nvSpPr>
        <p:spPr>
          <a:xfrm>
            <a:off x="6355080" y="2487168"/>
            <a:ext cx="4389120" cy="256032"/>
          </a:xfrm>
          <a:prstGeom prst="rect">
            <a:avLst/>
          </a:prstGeom>
          <a:solidFill>
            <a:srgbClr val="FFFFFF"/>
          </a:solidFill>
          <a:ln w="6350">
            <a:solidFill>
              <a:srgbClr val="D7E0E8"/>
            </a:solidFill>
            <a:prstDash val="solid"/>
          </a:ln>
        </p:spPr>
      </p:sp>
      <p:sp>
        <p:nvSpPr>
          <p:cNvPr id="40" name="Text 37"/>
          <p:cNvSpPr/>
          <p:nvPr/>
        </p:nvSpPr>
        <p:spPr>
          <a:xfrm>
            <a:off x="6492240" y="2532888"/>
            <a:ext cx="2377440" cy="146304"/>
          </a:xfrm>
          <a:prstGeom prst="rect">
            <a:avLst/>
          </a:prstGeom>
          <a:noFill/>
          <a:ln/>
        </p:spPr>
        <p:txBody>
          <a:bodyPr wrap="square" lIns="635" tIns="635" rIns="635" bIns="635" rtlCol="0" anchor="t">
            <a:normAutofit/>
          </a:bodyPr>
          <a:lstStyle/>
          <a:p>
            <a:pPr algn="l" indent="0" marL="0">
              <a:buNone/>
            </a:pPr>
            <a:r>
              <a:rPr lang="en-US" sz="650" b="1" dirty="0">
                <a:solidFill>
                  <a:srgbClr val="1F2933"/>
                </a:solidFill>
              </a:rPr>
              <a:t>= FY28E EBITDA</a:t>
            </a:r>
            <a:endParaRPr lang="en-US" sz="650" dirty="0"/>
          </a:p>
        </p:txBody>
      </p:sp>
      <p:sp>
        <p:nvSpPr>
          <p:cNvPr id="41" name="Text 38"/>
          <p:cNvSpPr/>
          <p:nvPr/>
        </p:nvSpPr>
        <p:spPr>
          <a:xfrm>
            <a:off x="9418320" y="2532888"/>
            <a:ext cx="1097280" cy="146304"/>
          </a:xfrm>
          <a:prstGeom prst="rect">
            <a:avLst/>
          </a:prstGeom>
          <a:noFill/>
          <a:ln/>
        </p:spPr>
        <p:txBody>
          <a:bodyPr wrap="square" lIns="635" tIns="635" rIns="635" bIns="635" rtlCol="0" anchor="t">
            <a:normAutofit/>
          </a:bodyPr>
          <a:lstStyle/>
          <a:p>
            <a:pPr algn="r" indent="0" marL="0">
              <a:buNone/>
            </a:pPr>
            <a:r>
              <a:rPr lang="en-US" sz="650" b="1" dirty="0">
                <a:solidFill>
                  <a:srgbClr val="1F2933"/>
                </a:solidFill>
              </a:rPr>
              <a:t>CHF 610m</a:t>
            </a:r>
            <a:endParaRPr lang="en-US" sz="650" dirty="0"/>
          </a:p>
        </p:txBody>
      </p:sp>
      <p:sp>
        <p:nvSpPr>
          <p:cNvPr id="42" name="Text 39"/>
          <p:cNvSpPr/>
          <p:nvPr/>
        </p:nvSpPr>
        <p:spPr>
          <a:xfrm>
            <a:off x="6492240" y="2871216"/>
            <a:ext cx="2377440" cy="146304"/>
          </a:xfrm>
          <a:prstGeom prst="rect">
            <a:avLst/>
          </a:prstGeom>
          <a:noFill/>
          <a:ln/>
        </p:spPr>
        <p:txBody>
          <a:bodyPr wrap="square" lIns="635" tIns="635" rIns="635" bIns="635" rtlCol="0" anchor="t">
            <a:normAutofit/>
          </a:bodyPr>
          <a:lstStyle/>
          <a:p>
            <a:pPr algn="l" indent="0" marL="0">
              <a:buNone/>
            </a:pPr>
            <a:r>
              <a:rPr lang="en-US" sz="650" dirty="0">
                <a:solidFill>
                  <a:srgbClr val="1F2933"/>
                </a:solidFill>
              </a:rPr>
              <a:t>× target EV/EBITDA</a:t>
            </a:r>
            <a:endParaRPr lang="en-US" sz="650" dirty="0"/>
          </a:p>
        </p:txBody>
      </p:sp>
      <p:sp>
        <p:nvSpPr>
          <p:cNvPr id="43" name="Text 40"/>
          <p:cNvSpPr/>
          <p:nvPr/>
        </p:nvSpPr>
        <p:spPr>
          <a:xfrm>
            <a:off x="9418320" y="2871216"/>
            <a:ext cx="1097280" cy="146304"/>
          </a:xfrm>
          <a:prstGeom prst="rect">
            <a:avLst/>
          </a:prstGeom>
          <a:noFill/>
          <a:ln/>
        </p:spPr>
        <p:txBody>
          <a:bodyPr wrap="square" lIns="635" tIns="635" rIns="635" bIns="635" rtlCol="0" anchor="t">
            <a:normAutofit/>
          </a:bodyPr>
          <a:lstStyle/>
          <a:p>
            <a:pPr algn="r" indent="0" marL="0">
              <a:buNone/>
            </a:pPr>
            <a:r>
              <a:rPr lang="en-US" sz="650" dirty="0">
                <a:solidFill>
                  <a:srgbClr val="1F2933"/>
                </a:solidFill>
              </a:rPr>
              <a:t>40.0x</a:t>
            </a:r>
            <a:endParaRPr lang="en-US" sz="650" dirty="0"/>
          </a:p>
        </p:txBody>
      </p:sp>
      <p:sp>
        <p:nvSpPr>
          <p:cNvPr id="44" name="Shape 41"/>
          <p:cNvSpPr/>
          <p:nvPr/>
        </p:nvSpPr>
        <p:spPr>
          <a:xfrm>
            <a:off x="6355080" y="3163824"/>
            <a:ext cx="4389120" cy="256032"/>
          </a:xfrm>
          <a:prstGeom prst="rect">
            <a:avLst/>
          </a:prstGeom>
          <a:solidFill>
            <a:srgbClr val="FFFFFF"/>
          </a:solidFill>
          <a:ln w="6350">
            <a:solidFill>
              <a:srgbClr val="D7E0E8"/>
            </a:solidFill>
            <a:prstDash val="solid"/>
          </a:ln>
        </p:spPr>
      </p:sp>
      <p:sp>
        <p:nvSpPr>
          <p:cNvPr id="45" name="Text 42"/>
          <p:cNvSpPr/>
          <p:nvPr/>
        </p:nvSpPr>
        <p:spPr>
          <a:xfrm>
            <a:off x="6492240" y="3209544"/>
            <a:ext cx="2377440" cy="146304"/>
          </a:xfrm>
          <a:prstGeom prst="rect">
            <a:avLst/>
          </a:prstGeom>
          <a:noFill/>
          <a:ln/>
        </p:spPr>
        <p:txBody>
          <a:bodyPr wrap="square" lIns="635" tIns="635" rIns="635" bIns="635" rtlCol="0" anchor="t">
            <a:normAutofit/>
          </a:bodyPr>
          <a:lstStyle/>
          <a:p>
            <a:pPr algn="l" indent="0" marL="0">
              <a:buNone/>
            </a:pPr>
            <a:r>
              <a:rPr lang="en-US" sz="650" b="1" dirty="0">
                <a:solidFill>
                  <a:srgbClr val="1F2933"/>
                </a:solidFill>
              </a:rPr>
              <a:t>= target EV</a:t>
            </a:r>
            <a:endParaRPr lang="en-US" sz="650" dirty="0"/>
          </a:p>
        </p:txBody>
      </p:sp>
      <p:sp>
        <p:nvSpPr>
          <p:cNvPr id="46" name="Text 43"/>
          <p:cNvSpPr/>
          <p:nvPr/>
        </p:nvSpPr>
        <p:spPr>
          <a:xfrm>
            <a:off x="9418320" y="3209544"/>
            <a:ext cx="1097280" cy="146304"/>
          </a:xfrm>
          <a:prstGeom prst="rect">
            <a:avLst/>
          </a:prstGeom>
          <a:noFill/>
          <a:ln/>
        </p:spPr>
        <p:txBody>
          <a:bodyPr wrap="square" lIns="635" tIns="635" rIns="635" bIns="635" rtlCol="0" anchor="t">
            <a:normAutofit/>
          </a:bodyPr>
          <a:lstStyle/>
          <a:p>
            <a:pPr algn="r" indent="0" marL="0">
              <a:buNone/>
            </a:pPr>
            <a:r>
              <a:rPr lang="en-US" sz="650" b="1" dirty="0">
                <a:solidFill>
                  <a:srgbClr val="1F2933"/>
                </a:solidFill>
              </a:rPr>
              <a:t>CHF 24.4bn</a:t>
            </a:r>
            <a:endParaRPr lang="en-US" sz="650" dirty="0"/>
          </a:p>
        </p:txBody>
      </p:sp>
      <p:sp>
        <p:nvSpPr>
          <p:cNvPr id="47" name="Text 44"/>
          <p:cNvSpPr/>
          <p:nvPr/>
        </p:nvSpPr>
        <p:spPr>
          <a:xfrm>
            <a:off x="6492240" y="3547872"/>
            <a:ext cx="2377440" cy="146304"/>
          </a:xfrm>
          <a:prstGeom prst="rect">
            <a:avLst/>
          </a:prstGeom>
          <a:noFill/>
          <a:ln/>
        </p:spPr>
        <p:txBody>
          <a:bodyPr wrap="square" lIns="635" tIns="635" rIns="635" bIns="635" rtlCol="0" anchor="t">
            <a:normAutofit/>
          </a:bodyPr>
          <a:lstStyle/>
          <a:p>
            <a:pPr algn="l" indent="0" marL="0">
              <a:buNone/>
            </a:pPr>
            <a:r>
              <a:rPr lang="en-US" sz="650" dirty="0">
                <a:solidFill>
                  <a:srgbClr val="1F2933"/>
                </a:solidFill>
              </a:rPr>
              <a:t>− net debt / Atonarp debt</a:t>
            </a:r>
            <a:endParaRPr lang="en-US" sz="650" dirty="0"/>
          </a:p>
        </p:txBody>
      </p:sp>
      <p:sp>
        <p:nvSpPr>
          <p:cNvPr id="48" name="Text 45"/>
          <p:cNvSpPr/>
          <p:nvPr/>
        </p:nvSpPr>
        <p:spPr>
          <a:xfrm>
            <a:off x="9418320" y="3547872"/>
            <a:ext cx="1097280" cy="146304"/>
          </a:xfrm>
          <a:prstGeom prst="rect">
            <a:avLst/>
          </a:prstGeom>
          <a:noFill/>
          <a:ln/>
        </p:spPr>
        <p:txBody>
          <a:bodyPr wrap="square" lIns="635" tIns="635" rIns="635" bIns="635" rtlCol="0" anchor="t">
            <a:normAutofit/>
          </a:bodyPr>
          <a:lstStyle/>
          <a:p>
            <a:pPr algn="r" indent="0" marL="0">
              <a:buNone/>
            </a:pPr>
            <a:r>
              <a:rPr lang="en-US" sz="650" dirty="0">
                <a:solidFill>
                  <a:srgbClr val="1F2933"/>
                </a:solidFill>
              </a:rPr>
              <a:t>CHF 0.4bn</a:t>
            </a:r>
            <a:endParaRPr lang="en-US" sz="650" dirty="0"/>
          </a:p>
        </p:txBody>
      </p:sp>
      <p:sp>
        <p:nvSpPr>
          <p:cNvPr id="49" name="Text 46"/>
          <p:cNvSpPr/>
          <p:nvPr/>
        </p:nvSpPr>
        <p:spPr>
          <a:xfrm>
            <a:off x="6492240" y="3886200"/>
            <a:ext cx="2377440" cy="146304"/>
          </a:xfrm>
          <a:prstGeom prst="rect">
            <a:avLst/>
          </a:prstGeom>
          <a:noFill/>
          <a:ln/>
        </p:spPr>
        <p:txBody>
          <a:bodyPr wrap="square" lIns="635" tIns="635" rIns="635" bIns="635" rtlCol="0" anchor="t">
            <a:normAutofit/>
          </a:bodyPr>
          <a:lstStyle/>
          <a:p>
            <a:pPr algn="l" indent="0" marL="0">
              <a:buNone/>
            </a:pPr>
            <a:r>
              <a:rPr lang="en-US" sz="650" dirty="0">
                <a:solidFill>
                  <a:srgbClr val="1F2933"/>
                </a:solidFill>
              </a:rPr>
              <a:t>= equity value</a:t>
            </a:r>
            <a:endParaRPr lang="en-US" sz="650" dirty="0"/>
          </a:p>
        </p:txBody>
      </p:sp>
      <p:sp>
        <p:nvSpPr>
          <p:cNvPr id="50" name="Text 47"/>
          <p:cNvSpPr/>
          <p:nvPr/>
        </p:nvSpPr>
        <p:spPr>
          <a:xfrm>
            <a:off x="9418320" y="3886200"/>
            <a:ext cx="1097280" cy="146304"/>
          </a:xfrm>
          <a:prstGeom prst="rect">
            <a:avLst/>
          </a:prstGeom>
          <a:noFill/>
          <a:ln/>
        </p:spPr>
        <p:txBody>
          <a:bodyPr wrap="square" lIns="635" tIns="635" rIns="635" bIns="635" rtlCol="0" anchor="t">
            <a:normAutofit/>
          </a:bodyPr>
          <a:lstStyle/>
          <a:p>
            <a:pPr algn="r" indent="0" marL="0">
              <a:buNone/>
            </a:pPr>
            <a:r>
              <a:rPr lang="en-US" sz="650" dirty="0">
                <a:solidFill>
                  <a:srgbClr val="1F2933"/>
                </a:solidFill>
              </a:rPr>
              <a:t>CHF 24.0bn</a:t>
            </a:r>
            <a:endParaRPr lang="en-US" sz="650" dirty="0"/>
          </a:p>
        </p:txBody>
      </p:sp>
      <p:sp>
        <p:nvSpPr>
          <p:cNvPr id="51" name="Text 48"/>
          <p:cNvSpPr/>
          <p:nvPr/>
        </p:nvSpPr>
        <p:spPr>
          <a:xfrm>
            <a:off x="6492240" y="4224528"/>
            <a:ext cx="2377440" cy="146304"/>
          </a:xfrm>
          <a:prstGeom prst="rect">
            <a:avLst/>
          </a:prstGeom>
          <a:noFill/>
          <a:ln/>
        </p:spPr>
        <p:txBody>
          <a:bodyPr wrap="square" lIns="635" tIns="635" rIns="635" bIns="635" rtlCol="0" anchor="t">
            <a:normAutofit/>
          </a:bodyPr>
          <a:lstStyle/>
          <a:p>
            <a:pPr algn="l" indent="0" marL="0">
              <a:buNone/>
            </a:pPr>
            <a:r>
              <a:rPr lang="en-US" sz="650" dirty="0">
                <a:solidFill>
                  <a:srgbClr val="1F2933"/>
                </a:solidFill>
              </a:rPr>
              <a:t>÷ diluted shares</a:t>
            </a:r>
            <a:endParaRPr lang="en-US" sz="650" dirty="0"/>
          </a:p>
        </p:txBody>
      </p:sp>
      <p:sp>
        <p:nvSpPr>
          <p:cNvPr id="52" name="Text 49"/>
          <p:cNvSpPr/>
          <p:nvPr/>
        </p:nvSpPr>
        <p:spPr>
          <a:xfrm>
            <a:off x="9418320" y="4224528"/>
            <a:ext cx="1097280" cy="146304"/>
          </a:xfrm>
          <a:prstGeom prst="rect">
            <a:avLst/>
          </a:prstGeom>
          <a:noFill/>
          <a:ln/>
        </p:spPr>
        <p:txBody>
          <a:bodyPr wrap="square" lIns="635" tIns="635" rIns="635" bIns="635" rtlCol="0" anchor="t">
            <a:normAutofit/>
          </a:bodyPr>
          <a:lstStyle/>
          <a:p>
            <a:pPr algn="r" indent="0" marL="0">
              <a:buNone/>
            </a:pPr>
            <a:r>
              <a:rPr lang="en-US" sz="650" dirty="0">
                <a:solidFill>
                  <a:srgbClr val="1F2933"/>
                </a:solidFill>
              </a:rPr>
              <a:t>30.0m</a:t>
            </a:r>
            <a:endParaRPr lang="en-US" sz="650" dirty="0"/>
          </a:p>
        </p:txBody>
      </p:sp>
      <p:sp>
        <p:nvSpPr>
          <p:cNvPr id="53" name="Shape 50"/>
          <p:cNvSpPr/>
          <p:nvPr/>
        </p:nvSpPr>
        <p:spPr>
          <a:xfrm>
            <a:off x="6355080" y="4517136"/>
            <a:ext cx="4389120" cy="256032"/>
          </a:xfrm>
          <a:prstGeom prst="rect">
            <a:avLst/>
          </a:prstGeom>
          <a:solidFill>
            <a:srgbClr val="EAF6FC"/>
          </a:solidFill>
          <a:ln w="6350">
            <a:solidFill>
              <a:srgbClr val="B7DDEF"/>
            </a:solidFill>
            <a:prstDash val="solid"/>
          </a:ln>
        </p:spPr>
      </p:sp>
      <p:sp>
        <p:nvSpPr>
          <p:cNvPr id="54" name="Text 51"/>
          <p:cNvSpPr/>
          <p:nvPr/>
        </p:nvSpPr>
        <p:spPr>
          <a:xfrm>
            <a:off x="6492240" y="4562856"/>
            <a:ext cx="2377440" cy="146304"/>
          </a:xfrm>
          <a:prstGeom prst="rect">
            <a:avLst/>
          </a:prstGeom>
          <a:noFill/>
          <a:ln/>
        </p:spPr>
        <p:txBody>
          <a:bodyPr wrap="square" lIns="635" tIns="635" rIns="635" bIns="635" rtlCol="0" anchor="t">
            <a:normAutofit/>
          </a:bodyPr>
          <a:lstStyle/>
          <a:p>
            <a:pPr algn="l" indent="0" marL="0">
              <a:buNone/>
            </a:pPr>
            <a:r>
              <a:rPr lang="en-US" sz="730" b="1" dirty="0">
                <a:solidFill>
                  <a:srgbClr val="1F2933"/>
                </a:solidFill>
              </a:rPr>
              <a:t>= target price</a:t>
            </a:r>
            <a:endParaRPr lang="en-US" sz="730" dirty="0"/>
          </a:p>
        </p:txBody>
      </p:sp>
      <p:sp>
        <p:nvSpPr>
          <p:cNvPr id="55" name="Text 52"/>
          <p:cNvSpPr/>
          <p:nvPr/>
        </p:nvSpPr>
        <p:spPr>
          <a:xfrm>
            <a:off x="9418320" y="4562856"/>
            <a:ext cx="1097280" cy="146304"/>
          </a:xfrm>
          <a:prstGeom prst="rect">
            <a:avLst/>
          </a:prstGeom>
          <a:noFill/>
          <a:ln/>
        </p:spPr>
        <p:txBody>
          <a:bodyPr wrap="square" lIns="635" tIns="635" rIns="635" bIns="635" rtlCol="0" anchor="t">
            <a:normAutofit/>
          </a:bodyPr>
          <a:lstStyle/>
          <a:p>
            <a:pPr algn="r" indent="0" marL="0">
              <a:buNone/>
            </a:pPr>
            <a:r>
              <a:rPr lang="en-US" sz="850" b="1" dirty="0">
                <a:solidFill>
                  <a:srgbClr val="1B9BDA"/>
                </a:solidFill>
              </a:rPr>
              <a:t>CHF 800</a:t>
            </a:r>
            <a:endParaRPr lang="en-US" sz="850" dirty="0"/>
          </a:p>
        </p:txBody>
      </p:sp>
      <p:sp>
        <p:nvSpPr>
          <p:cNvPr id="56" name="Shape 53"/>
          <p:cNvSpPr/>
          <p:nvPr/>
        </p:nvSpPr>
        <p:spPr>
          <a:xfrm>
            <a:off x="6446520" y="5212080"/>
            <a:ext cx="4279392" cy="658368"/>
          </a:xfrm>
          <a:prstGeom prst="roundRect">
            <a:avLst>
              <a:gd name="adj" fmla="val 8333"/>
            </a:avLst>
          </a:prstGeom>
          <a:solidFill>
            <a:srgbClr val="FFFFFF"/>
          </a:solidFill>
          <a:ln w="8890">
            <a:solidFill>
              <a:srgbClr val="D7E0E8"/>
            </a:solidFill>
            <a:prstDash val="solid"/>
          </a:ln>
        </p:spPr>
      </p:sp>
      <p:sp>
        <p:nvSpPr>
          <p:cNvPr id="57" name="Text 54"/>
          <p:cNvSpPr/>
          <p:nvPr/>
        </p:nvSpPr>
        <p:spPr>
          <a:xfrm>
            <a:off x="6601968" y="5340096"/>
            <a:ext cx="3977640" cy="155448"/>
          </a:xfrm>
          <a:prstGeom prst="rect">
            <a:avLst/>
          </a:prstGeom>
          <a:noFill/>
          <a:ln/>
        </p:spPr>
        <p:txBody>
          <a:bodyPr wrap="square" lIns="635" tIns="635" rIns="635" bIns="635" rtlCol="0" anchor="t">
            <a:normAutofit/>
          </a:bodyPr>
          <a:lstStyle/>
          <a:p>
            <a:pPr algn="ctr" indent="0" marL="0">
              <a:buNone/>
            </a:pPr>
            <a:r>
              <a:rPr lang="en-US" sz="800" b="1" dirty="0">
                <a:solidFill>
                  <a:srgbClr val="1B9BDA"/>
                </a:solidFill>
              </a:rPr>
              <a:t>BUY | CHF604 current | CHF800 target | ~33% upside</a:t>
            </a:r>
            <a:endParaRPr lang="en-US" sz="800" dirty="0"/>
          </a:p>
        </p:txBody>
      </p:sp>
      <p:sp>
        <p:nvSpPr>
          <p:cNvPr id="58" name="Text 55"/>
          <p:cNvSpPr/>
          <p:nvPr/>
        </p:nvSpPr>
        <p:spPr>
          <a:xfrm>
            <a:off x="6601968" y="5504688"/>
            <a:ext cx="3977640" cy="155448"/>
          </a:xfrm>
          <a:prstGeom prst="rect">
            <a:avLst/>
          </a:prstGeom>
          <a:noFill/>
          <a:ln/>
        </p:spPr>
        <p:txBody>
          <a:bodyPr wrap="square" lIns="635" tIns="635" rIns="635" bIns="635" rtlCol="0" anchor="t">
            <a:normAutofit/>
          </a:bodyPr>
          <a:lstStyle/>
          <a:p>
            <a:pPr algn="ctr" indent="0" marL="0">
              <a:buNone/>
            </a:pPr>
            <a:r>
              <a:rPr lang="en-US" sz="660" b="1" dirty="0">
                <a:solidFill>
                  <a:srgbClr val="1F2933"/>
                </a:solidFill>
              </a:rPr>
              <a:t>Three reasons: rising vacuum intensity | specification-driven share | backlog/capacity conversion.</a:t>
            </a:r>
            <a:endParaRPr lang="en-US" sz="660" dirty="0"/>
          </a:p>
        </p:txBody>
      </p:sp>
      <p:sp>
        <p:nvSpPr>
          <p:cNvPr id="59" name="Shape 56"/>
          <p:cNvSpPr/>
          <p:nvPr/>
        </p:nvSpPr>
        <p:spPr>
          <a:xfrm>
            <a:off x="411480" y="6428232"/>
            <a:ext cx="11384280" cy="0"/>
          </a:xfrm>
          <a:prstGeom prst="line">
            <a:avLst/>
          </a:prstGeom>
          <a:noFill/>
          <a:ln w="7620">
            <a:solidFill>
              <a:srgbClr val="D7E0E8"/>
            </a:solidFill>
            <a:prstDash val="solid"/>
          </a:ln>
        </p:spPr>
      </p:sp>
      <p:sp>
        <p:nvSpPr>
          <p:cNvPr id="60" name="Text 57"/>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VAT H1 2026 release; StockAnalysis.com market data, 28 Jul 2026; VAT Atonarp release; company filings; analyst estimates. Valuation is illustrative, not consensus.</a:t>
            </a:r>
            <a:endParaRPr lang="en-US" sz="550" dirty="0"/>
          </a:p>
        </p:txBody>
      </p:sp>
      <p:sp>
        <p:nvSpPr>
          <p:cNvPr id="61" name="Text 58"/>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9</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VAT product portfolio: from individual valves to higher-content modules and sensing adjacencies</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731520" y="1417320"/>
            <a:ext cx="2194560" cy="1060704"/>
          </a:xfrm>
          <a:prstGeom prst="roundRect">
            <a:avLst>
              <a:gd name="adj" fmla="val 5172"/>
            </a:avLst>
          </a:prstGeom>
          <a:solidFill>
            <a:srgbClr val="FFFFFF"/>
          </a:solidFill>
          <a:ln w="8890">
            <a:solidFill>
              <a:srgbClr val="D7E0E8"/>
            </a:solidFill>
            <a:prstDash val="solid"/>
          </a:ln>
        </p:spPr>
      </p:sp>
      <p:sp>
        <p:nvSpPr>
          <p:cNvPr id="7" name="Text 4"/>
          <p:cNvSpPr/>
          <p:nvPr/>
        </p:nvSpPr>
        <p:spPr>
          <a:xfrm>
            <a:off x="868680" y="1600200"/>
            <a:ext cx="1920240" cy="210312"/>
          </a:xfrm>
          <a:prstGeom prst="rect">
            <a:avLst/>
          </a:prstGeom>
          <a:noFill/>
          <a:ln/>
        </p:spPr>
        <p:txBody>
          <a:bodyPr wrap="square" lIns="635" tIns="635" rIns="635" bIns="635" rtlCol="0" anchor="t">
            <a:normAutofit/>
          </a:bodyPr>
          <a:lstStyle/>
          <a:p>
            <a:pPr algn="ctr" indent="0" marL="0">
              <a:buNone/>
            </a:pPr>
            <a:r>
              <a:rPr lang="en-US" sz="800" b="1" dirty="0">
                <a:solidFill>
                  <a:srgbClr val="1F2933"/>
                </a:solidFill>
              </a:rPr>
              <a:t>Control valves</a:t>
            </a:r>
            <a:endParaRPr lang="en-US" sz="800" dirty="0"/>
          </a:p>
        </p:txBody>
      </p:sp>
      <p:sp>
        <p:nvSpPr>
          <p:cNvPr id="8" name="Text 5"/>
          <p:cNvSpPr/>
          <p:nvPr/>
        </p:nvSpPr>
        <p:spPr>
          <a:xfrm>
            <a:off x="896112" y="1947672"/>
            <a:ext cx="1828800" cy="256032"/>
          </a:xfrm>
          <a:prstGeom prst="rect">
            <a:avLst/>
          </a:prstGeom>
          <a:noFill/>
          <a:ln/>
        </p:spPr>
        <p:txBody>
          <a:bodyPr wrap="square" lIns="635" tIns="635" rIns="635" bIns="635" rtlCol="0" anchor="t">
            <a:normAutofit/>
          </a:bodyPr>
          <a:lstStyle/>
          <a:p>
            <a:pPr algn="ctr" indent="0" marL="0">
              <a:buNone/>
            </a:pPr>
            <a:r>
              <a:rPr lang="en-US" sz="640" dirty="0">
                <a:solidFill>
                  <a:srgbClr val="5E6978"/>
                </a:solidFill>
              </a:rPr>
              <a:t>Continuously regulate chamber pressure</a:t>
            </a:r>
            <a:endParaRPr lang="en-US" sz="640" dirty="0"/>
          </a:p>
        </p:txBody>
      </p:sp>
      <p:sp>
        <p:nvSpPr>
          <p:cNvPr id="9" name="Shape 6"/>
          <p:cNvSpPr/>
          <p:nvPr/>
        </p:nvSpPr>
        <p:spPr>
          <a:xfrm>
            <a:off x="3474720" y="1417320"/>
            <a:ext cx="2194560" cy="1060704"/>
          </a:xfrm>
          <a:prstGeom prst="roundRect">
            <a:avLst>
              <a:gd name="adj" fmla="val 5172"/>
            </a:avLst>
          </a:prstGeom>
          <a:solidFill>
            <a:srgbClr val="FFFFFF"/>
          </a:solidFill>
          <a:ln w="8890">
            <a:solidFill>
              <a:srgbClr val="D7E0E8"/>
            </a:solidFill>
            <a:prstDash val="solid"/>
          </a:ln>
        </p:spPr>
      </p:sp>
      <p:sp>
        <p:nvSpPr>
          <p:cNvPr id="10" name="Text 7"/>
          <p:cNvSpPr/>
          <p:nvPr/>
        </p:nvSpPr>
        <p:spPr>
          <a:xfrm>
            <a:off x="3611880" y="1600200"/>
            <a:ext cx="1920240" cy="210312"/>
          </a:xfrm>
          <a:prstGeom prst="rect">
            <a:avLst/>
          </a:prstGeom>
          <a:noFill/>
          <a:ln/>
        </p:spPr>
        <p:txBody>
          <a:bodyPr wrap="square" lIns="635" tIns="635" rIns="635" bIns="635" rtlCol="0" anchor="t">
            <a:normAutofit/>
          </a:bodyPr>
          <a:lstStyle/>
          <a:p>
            <a:pPr algn="ctr" indent="0" marL="0">
              <a:buNone/>
            </a:pPr>
            <a:r>
              <a:rPr lang="en-US" sz="800" b="1" dirty="0">
                <a:solidFill>
                  <a:srgbClr val="1F2933"/>
                </a:solidFill>
              </a:rPr>
              <a:t>Isolation valves</a:t>
            </a:r>
            <a:endParaRPr lang="en-US" sz="800" dirty="0"/>
          </a:p>
        </p:txBody>
      </p:sp>
      <p:sp>
        <p:nvSpPr>
          <p:cNvPr id="11" name="Text 8"/>
          <p:cNvSpPr/>
          <p:nvPr/>
        </p:nvSpPr>
        <p:spPr>
          <a:xfrm>
            <a:off x="3639312" y="1947672"/>
            <a:ext cx="1828800" cy="256032"/>
          </a:xfrm>
          <a:prstGeom prst="rect">
            <a:avLst/>
          </a:prstGeom>
          <a:noFill/>
          <a:ln/>
        </p:spPr>
        <p:txBody>
          <a:bodyPr wrap="square" lIns="635" tIns="635" rIns="635" bIns="635" rtlCol="0" anchor="t">
            <a:normAutofit/>
          </a:bodyPr>
          <a:lstStyle/>
          <a:p>
            <a:pPr algn="ctr" indent="0" marL="0">
              <a:buNone/>
            </a:pPr>
            <a:r>
              <a:rPr lang="en-US" sz="640" dirty="0">
                <a:solidFill>
                  <a:srgbClr val="5E6978"/>
                </a:solidFill>
              </a:rPr>
              <a:t>Seal one chamber or section from another</a:t>
            </a:r>
            <a:endParaRPr lang="en-US" sz="640" dirty="0"/>
          </a:p>
        </p:txBody>
      </p:sp>
      <p:sp>
        <p:nvSpPr>
          <p:cNvPr id="12" name="Shape 9"/>
          <p:cNvSpPr/>
          <p:nvPr/>
        </p:nvSpPr>
        <p:spPr>
          <a:xfrm>
            <a:off x="6217920" y="1417320"/>
            <a:ext cx="2194560" cy="1060704"/>
          </a:xfrm>
          <a:prstGeom prst="roundRect">
            <a:avLst>
              <a:gd name="adj" fmla="val 5172"/>
            </a:avLst>
          </a:prstGeom>
          <a:solidFill>
            <a:srgbClr val="FFFFFF"/>
          </a:solidFill>
          <a:ln w="8890">
            <a:solidFill>
              <a:srgbClr val="D7E0E8"/>
            </a:solidFill>
            <a:prstDash val="solid"/>
          </a:ln>
        </p:spPr>
      </p:sp>
      <p:sp>
        <p:nvSpPr>
          <p:cNvPr id="13" name="Text 10"/>
          <p:cNvSpPr/>
          <p:nvPr/>
        </p:nvSpPr>
        <p:spPr>
          <a:xfrm>
            <a:off x="6355080" y="1600200"/>
            <a:ext cx="1920240" cy="210312"/>
          </a:xfrm>
          <a:prstGeom prst="rect">
            <a:avLst/>
          </a:prstGeom>
          <a:noFill/>
          <a:ln/>
        </p:spPr>
        <p:txBody>
          <a:bodyPr wrap="square" lIns="635" tIns="635" rIns="635" bIns="635" rtlCol="0" anchor="t">
            <a:normAutofit/>
          </a:bodyPr>
          <a:lstStyle/>
          <a:p>
            <a:pPr algn="ctr" indent="0" marL="0">
              <a:buNone/>
            </a:pPr>
            <a:r>
              <a:rPr lang="en-US" sz="800" b="1" dirty="0">
                <a:solidFill>
                  <a:srgbClr val="1F2933"/>
                </a:solidFill>
              </a:rPr>
              <a:t>Transfer / gate valves</a:t>
            </a:r>
            <a:endParaRPr lang="en-US" sz="800" dirty="0"/>
          </a:p>
        </p:txBody>
      </p:sp>
      <p:sp>
        <p:nvSpPr>
          <p:cNvPr id="14" name="Text 11"/>
          <p:cNvSpPr/>
          <p:nvPr/>
        </p:nvSpPr>
        <p:spPr>
          <a:xfrm>
            <a:off x="6382512" y="1947672"/>
            <a:ext cx="1828800" cy="256032"/>
          </a:xfrm>
          <a:prstGeom prst="rect">
            <a:avLst/>
          </a:prstGeom>
          <a:noFill/>
          <a:ln/>
        </p:spPr>
        <p:txBody>
          <a:bodyPr wrap="square" lIns="635" tIns="635" rIns="635" bIns="635" rtlCol="0" anchor="t">
            <a:normAutofit/>
          </a:bodyPr>
          <a:lstStyle/>
          <a:p>
            <a:pPr algn="ctr" indent="0" marL="0">
              <a:buNone/>
            </a:pPr>
            <a:r>
              <a:rPr lang="en-US" sz="640" dirty="0">
                <a:solidFill>
                  <a:srgbClr val="5E6978"/>
                </a:solidFill>
              </a:rPr>
              <a:t>Open clean passage for wafer movement</a:t>
            </a:r>
            <a:endParaRPr lang="en-US" sz="640" dirty="0"/>
          </a:p>
        </p:txBody>
      </p:sp>
      <p:sp>
        <p:nvSpPr>
          <p:cNvPr id="15" name="Shape 12"/>
          <p:cNvSpPr/>
          <p:nvPr/>
        </p:nvSpPr>
        <p:spPr>
          <a:xfrm>
            <a:off x="8961120" y="1417320"/>
            <a:ext cx="2194560" cy="1060704"/>
          </a:xfrm>
          <a:prstGeom prst="roundRect">
            <a:avLst>
              <a:gd name="adj" fmla="val 5172"/>
            </a:avLst>
          </a:prstGeom>
          <a:solidFill>
            <a:srgbClr val="FFFFFF"/>
          </a:solidFill>
          <a:ln w="8890">
            <a:solidFill>
              <a:srgbClr val="D7E0E8"/>
            </a:solidFill>
            <a:prstDash val="solid"/>
          </a:ln>
        </p:spPr>
      </p:sp>
      <p:sp>
        <p:nvSpPr>
          <p:cNvPr id="16" name="Text 13"/>
          <p:cNvSpPr/>
          <p:nvPr/>
        </p:nvSpPr>
        <p:spPr>
          <a:xfrm>
            <a:off x="9098280" y="1600200"/>
            <a:ext cx="1920240" cy="210312"/>
          </a:xfrm>
          <a:prstGeom prst="rect">
            <a:avLst/>
          </a:prstGeom>
          <a:noFill/>
          <a:ln/>
        </p:spPr>
        <p:txBody>
          <a:bodyPr wrap="square" lIns="635" tIns="635" rIns="635" bIns="635" rtlCol="0" anchor="t">
            <a:normAutofit/>
          </a:bodyPr>
          <a:lstStyle/>
          <a:p>
            <a:pPr algn="ctr" indent="0" marL="0">
              <a:buNone/>
            </a:pPr>
            <a:r>
              <a:rPr lang="en-US" sz="800" b="1" dirty="0">
                <a:solidFill>
                  <a:srgbClr val="1F2933"/>
                </a:solidFill>
              </a:rPr>
              <a:t>Vacuum modules</a:t>
            </a:r>
            <a:endParaRPr lang="en-US" sz="800" dirty="0"/>
          </a:p>
        </p:txBody>
      </p:sp>
      <p:sp>
        <p:nvSpPr>
          <p:cNvPr id="17" name="Text 14"/>
          <p:cNvSpPr/>
          <p:nvPr/>
        </p:nvSpPr>
        <p:spPr>
          <a:xfrm>
            <a:off x="9125712" y="1947672"/>
            <a:ext cx="1828800" cy="256032"/>
          </a:xfrm>
          <a:prstGeom prst="rect">
            <a:avLst/>
          </a:prstGeom>
          <a:noFill/>
          <a:ln/>
        </p:spPr>
        <p:txBody>
          <a:bodyPr wrap="square" lIns="635" tIns="635" rIns="635" bIns="635" rtlCol="0" anchor="t">
            <a:normAutofit/>
          </a:bodyPr>
          <a:lstStyle/>
          <a:p>
            <a:pPr algn="ctr" indent="0" marL="0">
              <a:buNone/>
            </a:pPr>
            <a:r>
              <a:rPr lang="en-US" sz="640" dirty="0">
                <a:solidFill>
                  <a:srgbClr val="5E6978"/>
                </a:solidFill>
              </a:rPr>
              <a:t>Integrate multiple vacuum functions</a:t>
            </a:r>
            <a:endParaRPr lang="en-US" sz="640" dirty="0"/>
          </a:p>
        </p:txBody>
      </p:sp>
      <p:sp>
        <p:nvSpPr>
          <p:cNvPr id="18" name="Shape 15"/>
          <p:cNvSpPr/>
          <p:nvPr/>
        </p:nvSpPr>
        <p:spPr>
          <a:xfrm>
            <a:off x="731520" y="3017520"/>
            <a:ext cx="2194560" cy="1060704"/>
          </a:xfrm>
          <a:prstGeom prst="roundRect">
            <a:avLst>
              <a:gd name="adj" fmla="val 5172"/>
            </a:avLst>
          </a:prstGeom>
          <a:solidFill>
            <a:srgbClr val="FFFFFF"/>
          </a:solidFill>
          <a:ln w="8890">
            <a:solidFill>
              <a:srgbClr val="D7E0E8"/>
            </a:solidFill>
            <a:prstDash val="solid"/>
          </a:ln>
        </p:spPr>
      </p:sp>
      <p:sp>
        <p:nvSpPr>
          <p:cNvPr id="19" name="Text 16"/>
          <p:cNvSpPr/>
          <p:nvPr/>
        </p:nvSpPr>
        <p:spPr>
          <a:xfrm>
            <a:off x="868680" y="3200400"/>
            <a:ext cx="1920240" cy="210312"/>
          </a:xfrm>
          <a:prstGeom prst="rect">
            <a:avLst/>
          </a:prstGeom>
          <a:noFill/>
          <a:ln/>
        </p:spPr>
        <p:txBody>
          <a:bodyPr wrap="square" lIns="635" tIns="635" rIns="635" bIns="635" rtlCol="0" anchor="t">
            <a:normAutofit/>
          </a:bodyPr>
          <a:lstStyle/>
          <a:p>
            <a:pPr algn="ctr" indent="0" marL="0">
              <a:buNone/>
            </a:pPr>
            <a:r>
              <a:rPr lang="en-US" sz="800" b="1" dirty="0">
                <a:solidFill>
                  <a:srgbClr val="1F2933"/>
                </a:solidFill>
              </a:rPr>
              <a:t>Gas-inlet valves</a:t>
            </a:r>
            <a:endParaRPr lang="en-US" sz="800" dirty="0"/>
          </a:p>
        </p:txBody>
      </p:sp>
      <p:sp>
        <p:nvSpPr>
          <p:cNvPr id="20" name="Text 17"/>
          <p:cNvSpPr/>
          <p:nvPr/>
        </p:nvSpPr>
        <p:spPr>
          <a:xfrm>
            <a:off x="896112" y="3547872"/>
            <a:ext cx="1828800" cy="256032"/>
          </a:xfrm>
          <a:prstGeom prst="rect">
            <a:avLst/>
          </a:prstGeom>
          <a:noFill/>
          <a:ln/>
        </p:spPr>
        <p:txBody>
          <a:bodyPr wrap="square" lIns="635" tIns="635" rIns="635" bIns="635" rtlCol="0" anchor="t">
            <a:normAutofit/>
          </a:bodyPr>
          <a:lstStyle/>
          <a:p>
            <a:pPr algn="ctr" indent="0" marL="0">
              <a:buNone/>
            </a:pPr>
            <a:r>
              <a:rPr lang="en-US" sz="640" dirty="0">
                <a:solidFill>
                  <a:srgbClr val="5E6978"/>
                </a:solidFill>
              </a:rPr>
              <a:t>Control process chemistry entering chamber</a:t>
            </a:r>
            <a:endParaRPr lang="en-US" sz="640" dirty="0"/>
          </a:p>
        </p:txBody>
      </p:sp>
      <p:sp>
        <p:nvSpPr>
          <p:cNvPr id="21" name="Shape 18"/>
          <p:cNvSpPr/>
          <p:nvPr/>
        </p:nvSpPr>
        <p:spPr>
          <a:xfrm>
            <a:off x="3474720" y="3017520"/>
            <a:ext cx="2194560" cy="1060704"/>
          </a:xfrm>
          <a:prstGeom prst="roundRect">
            <a:avLst>
              <a:gd name="adj" fmla="val 5172"/>
            </a:avLst>
          </a:prstGeom>
          <a:solidFill>
            <a:srgbClr val="FFFFFF"/>
          </a:solidFill>
          <a:ln w="8890">
            <a:solidFill>
              <a:srgbClr val="D7E0E8"/>
            </a:solidFill>
            <a:prstDash val="solid"/>
          </a:ln>
        </p:spPr>
      </p:sp>
      <p:sp>
        <p:nvSpPr>
          <p:cNvPr id="22" name="Text 19"/>
          <p:cNvSpPr/>
          <p:nvPr/>
        </p:nvSpPr>
        <p:spPr>
          <a:xfrm>
            <a:off x="3611880" y="3200400"/>
            <a:ext cx="1920240" cy="210312"/>
          </a:xfrm>
          <a:prstGeom prst="rect">
            <a:avLst/>
          </a:prstGeom>
          <a:noFill/>
          <a:ln/>
        </p:spPr>
        <p:txBody>
          <a:bodyPr wrap="square" lIns="635" tIns="635" rIns="635" bIns="635" rtlCol="0" anchor="t">
            <a:normAutofit/>
          </a:bodyPr>
          <a:lstStyle/>
          <a:p>
            <a:pPr algn="ctr" indent="0" marL="0">
              <a:buNone/>
            </a:pPr>
            <a:r>
              <a:rPr lang="en-US" sz="800" b="1" dirty="0">
                <a:solidFill>
                  <a:srgbClr val="1F2933"/>
                </a:solidFill>
              </a:rPr>
              <a:t>Motion / pin lifters</a:t>
            </a:r>
            <a:endParaRPr lang="en-US" sz="800" dirty="0"/>
          </a:p>
        </p:txBody>
      </p:sp>
      <p:sp>
        <p:nvSpPr>
          <p:cNvPr id="23" name="Text 20"/>
          <p:cNvSpPr/>
          <p:nvPr/>
        </p:nvSpPr>
        <p:spPr>
          <a:xfrm>
            <a:off x="3639312" y="3547872"/>
            <a:ext cx="1828800" cy="256032"/>
          </a:xfrm>
          <a:prstGeom prst="rect">
            <a:avLst/>
          </a:prstGeom>
          <a:noFill/>
          <a:ln/>
        </p:spPr>
        <p:txBody>
          <a:bodyPr wrap="square" lIns="635" tIns="635" rIns="635" bIns="635" rtlCol="0" anchor="t">
            <a:normAutofit/>
          </a:bodyPr>
          <a:lstStyle/>
          <a:p>
            <a:pPr algn="ctr" indent="0" marL="0">
              <a:buNone/>
            </a:pPr>
            <a:r>
              <a:rPr lang="en-US" sz="640" dirty="0">
                <a:solidFill>
                  <a:srgbClr val="5E6978"/>
                </a:solidFill>
              </a:rPr>
              <a:t>Position wafers precisely inside chambers</a:t>
            </a:r>
            <a:endParaRPr lang="en-US" sz="640" dirty="0"/>
          </a:p>
        </p:txBody>
      </p:sp>
      <p:sp>
        <p:nvSpPr>
          <p:cNvPr id="24" name="Shape 21"/>
          <p:cNvSpPr/>
          <p:nvPr/>
        </p:nvSpPr>
        <p:spPr>
          <a:xfrm>
            <a:off x="6217920" y="3017520"/>
            <a:ext cx="2194560" cy="1060704"/>
          </a:xfrm>
          <a:prstGeom prst="roundRect">
            <a:avLst>
              <a:gd name="adj" fmla="val 5172"/>
            </a:avLst>
          </a:prstGeom>
          <a:solidFill>
            <a:srgbClr val="FFFFFF"/>
          </a:solidFill>
          <a:ln w="8890">
            <a:solidFill>
              <a:srgbClr val="D7E0E8"/>
            </a:solidFill>
            <a:prstDash val="solid"/>
          </a:ln>
        </p:spPr>
      </p:sp>
      <p:sp>
        <p:nvSpPr>
          <p:cNvPr id="25" name="Text 22"/>
          <p:cNvSpPr/>
          <p:nvPr/>
        </p:nvSpPr>
        <p:spPr>
          <a:xfrm>
            <a:off x="6355080" y="3200400"/>
            <a:ext cx="1920240" cy="210312"/>
          </a:xfrm>
          <a:prstGeom prst="rect">
            <a:avLst/>
          </a:prstGeom>
          <a:noFill/>
          <a:ln/>
        </p:spPr>
        <p:txBody>
          <a:bodyPr wrap="square" lIns="635" tIns="635" rIns="635" bIns="635" rtlCol="0" anchor="t">
            <a:normAutofit/>
          </a:bodyPr>
          <a:lstStyle/>
          <a:p>
            <a:pPr algn="ctr" indent="0" marL="0">
              <a:buNone/>
            </a:pPr>
            <a:r>
              <a:rPr lang="en-US" sz="800" b="1" dirty="0">
                <a:solidFill>
                  <a:srgbClr val="1F2933"/>
                </a:solidFill>
              </a:rPr>
              <a:t>Global Service</a:t>
            </a:r>
            <a:endParaRPr lang="en-US" sz="800" dirty="0"/>
          </a:p>
        </p:txBody>
      </p:sp>
      <p:sp>
        <p:nvSpPr>
          <p:cNvPr id="26" name="Text 23"/>
          <p:cNvSpPr/>
          <p:nvPr/>
        </p:nvSpPr>
        <p:spPr>
          <a:xfrm>
            <a:off x="6382512" y="3547872"/>
            <a:ext cx="1828800" cy="256032"/>
          </a:xfrm>
          <a:prstGeom prst="rect">
            <a:avLst/>
          </a:prstGeom>
          <a:noFill/>
          <a:ln/>
        </p:spPr>
        <p:txBody>
          <a:bodyPr wrap="square" lIns="635" tIns="635" rIns="635" bIns="635" rtlCol="0" anchor="t">
            <a:normAutofit/>
          </a:bodyPr>
          <a:lstStyle/>
          <a:p>
            <a:pPr algn="ctr" indent="0" marL="0">
              <a:buNone/>
            </a:pPr>
            <a:r>
              <a:rPr lang="en-US" sz="640" dirty="0">
                <a:solidFill>
                  <a:srgbClr val="5E6978"/>
                </a:solidFill>
              </a:rPr>
              <a:t>Spares, repairs, upgrades, retrofits</a:t>
            </a:r>
            <a:endParaRPr lang="en-US" sz="640" dirty="0"/>
          </a:p>
        </p:txBody>
      </p:sp>
      <p:sp>
        <p:nvSpPr>
          <p:cNvPr id="27" name="Shape 24"/>
          <p:cNvSpPr/>
          <p:nvPr/>
        </p:nvSpPr>
        <p:spPr>
          <a:xfrm>
            <a:off x="8961120" y="3017520"/>
            <a:ext cx="2194560" cy="1060704"/>
          </a:xfrm>
          <a:prstGeom prst="roundRect">
            <a:avLst>
              <a:gd name="adj" fmla="val 5172"/>
            </a:avLst>
          </a:prstGeom>
          <a:solidFill>
            <a:srgbClr val="EAF6FC"/>
          </a:solidFill>
          <a:ln w="8890">
            <a:solidFill>
              <a:srgbClr val="B7DDEF"/>
            </a:solidFill>
            <a:prstDash val="solid"/>
          </a:ln>
        </p:spPr>
      </p:sp>
      <p:sp>
        <p:nvSpPr>
          <p:cNvPr id="28" name="Text 25"/>
          <p:cNvSpPr/>
          <p:nvPr/>
        </p:nvSpPr>
        <p:spPr>
          <a:xfrm>
            <a:off x="9098280" y="3200400"/>
            <a:ext cx="1920240" cy="210312"/>
          </a:xfrm>
          <a:prstGeom prst="rect">
            <a:avLst/>
          </a:prstGeom>
          <a:noFill/>
          <a:ln/>
        </p:spPr>
        <p:txBody>
          <a:bodyPr wrap="square" lIns="635" tIns="635" rIns="635" bIns="635" rtlCol="0" anchor="t">
            <a:normAutofit/>
          </a:bodyPr>
          <a:lstStyle/>
          <a:p>
            <a:pPr algn="ctr" indent="0" marL="0">
              <a:buNone/>
            </a:pPr>
            <a:r>
              <a:rPr lang="en-US" sz="800" b="1" dirty="0">
                <a:solidFill>
                  <a:srgbClr val="1B9BDA"/>
                </a:solidFill>
              </a:rPr>
              <a:t>Atonarp sensors</a:t>
            </a:r>
            <a:endParaRPr lang="en-US" sz="800" dirty="0"/>
          </a:p>
        </p:txBody>
      </p:sp>
      <p:sp>
        <p:nvSpPr>
          <p:cNvPr id="29" name="Text 26"/>
          <p:cNvSpPr/>
          <p:nvPr/>
        </p:nvSpPr>
        <p:spPr>
          <a:xfrm>
            <a:off x="9125712" y="3547872"/>
            <a:ext cx="1828800" cy="256032"/>
          </a:xfrm>
          <a:prstGeom prst="rect">
            <a:avLst/>
          </a:prstGeom>
          <a:noFill/>
          <a:ln/>
        </p:spPr>
        <p:txBody>
          <a:bodyPr wrap="square" lIns="635" tIns="635" rIns="635" bIns="635" rtlCol="0" anchor="t">
            <a:normAutofit/>
          </a:bodyPr>
          <a:lstStyle/>
          <a:p>
            <a:pPr algn="ctr" indent="0" marL="0">
              <a:buNone/>
            </a:pPr>
            <a:r>
              <a:rPr lang="en-US" sz="640" dirty="0">
                <a:solidFill>
                  <a:srgbClr val="5E6978"/>
                </a:solidFill>
              </a:rPr>
              <a:t>In-situ molecular process monitoring</a:t>
            </a:r>
            <a:endParaRPr lang="en-US" sz="640" dirty="0"/>
          </a:p>
        </p:txBody>
      </p:sp>
      <p:sp>
        <p:nvSpPr>
          <p:cNvPr id="30" name="Shape 27"/>
          <p:cNvSpPr/>
          <p:nvPr/>
        </p:nvSpPr>
        <p:spPr>
          <a:xfrm>
            <a:off x="411480" y="6428232"/>
            <a:ext cx="11384280" cy="0"/>
          </a:xfrm>
          <a:prstGeom prst="line">
            <a:avLst/>
          </a:prstGeom>
          <a:noFill/>
          <a:ln w="7620">
            <a:solidFill>
              <a:srgbClr val="D7E0E8"/>
            </a:solidFill>
            <a:prstDash val="solid"/>
          </a:ln>
        </p:spPr>
      </p:sp>
      <p:sp>
        <p:nvSpPr>
          <p:cNvPr id="31" name="Text 28"/>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VAT product pages; VAT Atonarp release; uploaded VAT 101 document.</a:t>
            </a:r>
            <a:endParaRPr lang="en-US" sz="550" dirty="0"/>
          </a:p>
        </p:txBody>
      </p:sp>
      <p:sp>
        <p:nvSpPr>
          <p:cNvPr id="32" name="Text 29"/>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10</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Vacuum valve types: control, isolation and transfer valves solve different chamber problems</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822960" y="1463040"/>
            <a:ext cx="2194560" cy="1463040"/>
          </a:xfrm>
          <a:prstGeom prst="roundRect">
            <a:avLst>
              <a:gd name="adj" fmla="val 3750"/>
            </a:avLst>
          </a:prstGeom>
          <a:solidFill>
            <a:srgbClr val="FFFFFF"/>
          </a:solidFill>
          <a:ln w="8890">
            <a:solidFill>
              <a:srgbClr val="D7E0E8"/>
            </a:solidFill>
            <a:prstDash val="solid"/>
          </a:ln>
        </p:spPr>
      </p:sp>
      <p:sp>
        <p:nvSpPr>
          <p:cNvPr id="7" name="Shape 4"/>
          <p:cNvSpPr/>
          <p:nvPr/>
        </p:nvSpPr>
        <p:spPr>
          <a:xfrm>
            <a:off x="822960" y="1463040"/>
            <a:ext cx="73152" cy="1463040"/>
          </a:xfrm>
          <a:prstGeom prst="rect">
            <a:avLst/>
          </a:prstGeom>
          <a:solidFill>
            <a:srgbClr val="1B9BDA"/>
          </a:solidFill>
          <a:ln w="12700">
            <a:solidFill>
              <a:srgbClr val="1B9BDA">
                <a:alpha val="0"/>
              </a:srgbClr>
            </a:solidFill>
            <a:prstDash val="solid"/>
          </a:ln>
        </p:spPr>
      </p:sp>
      <p:sp>
        <p:nvSpPr>
          <p:cNvPr id="8" name="Text 5"/>
          <p:cNvSpPr/>
          <p:nvPr/>
        </p:nvSpPr>
        <p:spPr>
          <a:xfrm>
            <a:off x="969264" y="1545336"/>
            <a:ext cx="199339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Control valve</a:t>
            </a:r>
            <a:endParaRPr lang="en-US" sz="760" dirty="0"/>
          </a:p>
        </p:txBody>
      </p:sp>
      <p:sp>
        <p:nvSpPr>
          <p:cNvPr id="9" name="Text 6"/>
          <p:cNvSpPr/>
          <p:nvPr/>
        </p:nvSpPr>
        <p:spPr>
          <a:xfrm>
            <a:off x="969264" y="1792224"/>
            <a:ext cx="1993392" cy="106070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Throttles opening to hit precise pressure set-point</a:t>
            </a:r>
            <a:endParaRPr lang="en-US" sz="580" dirty="0"/>
          </a:p>
          <a:p>
            <a:pPr algn="l" indent="0" marL="0">
              <a:buNone/>
            </a:pPr>
            <a:r>
              <a:rPr lang="en-US" sz="580" dirty="0">
                <a:solidFill>
                  <a:srgbClr val="5E6978"/>
                </a:solidFill>
              </a:rPr>
              <a:t>Economic role: Pressure stability / plasma conditions</a:t>
            </a:r>
            <a:endParaRPr lang="en-US" sz="580" dirty="0"/>
          </a:p>
        </p:txBody>
      </p:sp>
      <p:sp>
        <p:nvSpPr>
          <p:cNvPr id="10" name="Shape 7"/>
          <p:cNvSpPr/>
          <p:nvPr/>
        </p:nvSpPr>
        <p:spPr>
          <a:xfrm>
            <a:off x="3566160" y="1463040"/>
            <a:ext cx="2194560" cy="1463040"/>
          </a:xfrm>
          <a:prstGeom prst="roundRect">
            <a:avLst>
              <a:gd name="adj" fmla="val 3750"/>
            </a:avLst>
          </a:prstGeom>
          <a:solidFill>
            <a:srgbClr val="FFFFFF"/>
          </a:solidFill>
          <a:ln w="8890">
            <a:solidFill>
              <a:srgbClr val="D7E0E8"/>
            </a:solidFill>
            <a:prstDash val="solid"/>
          </a:ln>
        </p:spPr>
      </p:sp>
      <p:sp>
        <p:nvSpPr>
          <p:cNvPr id="11" name="Shape 8"/>
          <p:cNvSpPr/>
          <p:nvPr/>
        </p:nvSpPr>
        <p:spPr>
          <a:xfrm>
            <a:off x="3566160" y="1463040"/>
            <a:ext cx="73152" cy="1463040"/>
          </a:xfrm>
          <a:prstGeom prst="rect">
            <a:avLst/>
          </a:prstGeom>
          <a:solidFill>
            <a:srgbClr val="1B9BDA"/>
          </a:solidFill>
          <a:ln w="12700">
            <a:solidFill>
              <a:srgbClr val="1B9BDA">
                <a:alpha val="0"/>
              </a:srgbClr>
            </a:solidFill>
            <a:prstDash val="solid"/>
          </a:ln>
        </p:spPr>
      </p:sp>
      <p:sp>
        <p:nvSpPr>
          <p:cNvPr id="12" name="Text 9"/>
          <p:cNvSpPr/>
          <p:nvPr/>
        </p:nvSpPr>
        <p:spPr>
          <a:xfrm>
            <a:off x="3712464" y="1545336"/>
            <a:ext cx="199339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Isolation valve</a:t>
            </a:r>
            <a:endParaRPr lang="en-US" sz="760" dirty="0"/>
          </a:p>
        </p:txBody>
      </p:sp>
      <p:sp>
        <p:nvSpPr>
          <p:cNvPr id="13" name="Text 10"/>
          <p:cNvSpPr/>
          <p:nvPr/>
        </p:nvSpPr>
        <p:spPr>
          <a:xfrm>
            <a:off x="3712464" y="1792224"/>
            <a:ext cx="1993392" cy="106070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Fully closes a vacuum path or chamber</a:t>
            </a:r>
            <a:endParaRPr lang="en-US" sz="580" dirty="0"/>
          </a:p>
          <a:p>
            <a:pPr algn="l" indent="0" marL="0">
              <a:buNone/>
            </a:pPr>
            <a:r>
              <a:rPr lang="en-US" sz="580" dirty="0">
                <a:solidFill>
                  <a:srgbClr val="5E6978"/>
                </a:solidFill>
              </a:rPr>
              <a:t>Economic role: Leak-tight separation and contamination control</a:t>
            </a:r>
            <a:endParaRPr lang="en-US" sz="580" dirty="0"/>
          </a:p>
        </p:txBody>
      </p:sp>
      <p:sp>
        <p:nvSpPr>
          <p:cNvPr id="14" name="Shape 11"/>
          <p:cNvSpPr/>
          <p:nvPr/>
        </p:nvSpPr>
        <p:spPr>
          <a:xfrm>
            <a:off x="6309360" y="1463040"/>
            <a:ext cx="2194560" cy="1463040"/>
          </a:xfrm>
          <a:prstGeom prst="roundRect">
            <a:avLst>
              <a:gd name="adj" fmla="val 3750"/>
            </a:avLst>
          </a:prstGeom>
          <a:solidFill>
            <a:srgbClr val="FFFFFF"/>
          </a:solidFill>
          <a:ln w="8890">
            <a:solidFill>
              <a:srgbClr val="D7E0E8"/>
            </a:solidFill>
            <a:prstDash val="solid"/>
          </a:ln>
        </p:spPr>
      </p:sp>
      <p:sp>
        <p:nvSpPr>
          <p:cNvPr id="15" name="Shape 12"/>
          <p:cNvSpPr/>
          <p:nvPr/>
        </p:nvSpPr>
        <p:spPr>
          <a:xfrm>
            <a:off x="6309360" y="1463040"/>
            <a:ext cx="73152" cy="1463040"/>
          </a:xfrm>
          <a:prstGeom prst="rect">
            <a:avLst/>
          </a:prstGeom>
          <a:solidFill>
            <a:srgbClr val="7B8794"/>
          </a:solidFill>
          <a:ln w="12700">
            <a:solidFill>
              <a:srgbClr val="7B8794">
                <a:alpha val="0"/>
              </a:srgbClr>
            </a:solidFill>
            <a:prstDash val="solid"/>
          </a:ln>
        </p:spPr>
      </p:sp>
      <p:sp>
        <p:nvSpPr>
          <p:cNvPr id="16" name="Text 13"/>
          <p:cNvSpPr/>
          <p:nvPr/>
        </p:nvSpPr>
        <p:spPr>
          <a:xfrm>
            <a:off x="6455664" y="1545336"/>
            <a:ext cx="199339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Transfer / gate valve</a:t>
            </a:r>
            <a:endParaRPr lang="en-US" sz="760" dirty="0"/>
          </a:p>
        </p:txBody>
      </p:sp>
      <p:sp>
        <p:nvSpPr>
          <p:cNvPr id="17" name="Text 14"/>
          <p:cNvSpPr/>
          <p:nvPr/>
        </p:nvSpPr>
        <p:spPr>
          <a:xfrm>
            <a:off x="6455664" y="1792224"/>
            <a:ext cx="1993392" cy="106070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Opens a large clean passage for wafer transfer</a:t>
            </a:r>
            <a:endParaRPr lang="en-US" sz="580" dirty="0"/>
          </a:p>
          <a:p>
            <a:pPr algn="l" indent="0" marL="0">
              <a:buNone/>
            </a:pPr>
            <a:r>
              <a:rPr lang="en-US" sz="580" dirty="0">
                <a:solidFill>
                  <a:srgbClr val="5E6978"/>
                </a:solidFill>
              </a:rPr>
              <a:t>Economic role: Particle-minimised robot movement</a:t>
            </a:r>
            <a:endParaRPr lang="en-US" sz="580" dirty="0"/>
          </a:p>
        </p:txBody>
      </p:sp>
      <p:sp>
        <p:nvSpPr>
          <p:cNvPr id="18" name="Shape 15"/>
          <p:cNvSpPr/>
          <p:nvPr/>
        </p:nvSpPr>
        <p:spPr>
          <a:xfrm>
            <a:off x="9052560" y="1463040"/>
            <a:ext cx="2194560" cy="1463040"/>
          </a:xfrm>
          <a:prstGeom prst="roundRect">
            <a:avLst>
              <a:gd name="adj" fmla="val 3750"/>
            </a:avLst>
          </a:prstGeom>
          <a:solidFill>
            <a:srgbClr val="FFFFFF"/>
          </a:solidFill>
          <a:ln w="8890">
            <a:solidFill>
              <a:srgbClr val="D7E0E8"/>
            </a:solidFill>
            <a:prstDash val="solid"/>
          </a:ln>
        </p:spPr>
      </p:sp>
      <p:sp>
        <p:nvSpPr>
          <p:cNvPr id="19" name="Shape 16"/>
          <p:cNvSpPr/>
          <p:nvPr/>
        </p:nvSpPr>
        <p:spPr>
          <a:xfrm>
            <a:off x="9052560" y="1463040"/>
            <a:ext cx="73152" cy="1463040"/>
          </a:xfrm>
          <a:prstGeom prst="rect">
            <a:avLst/>
          </a:prstGeom>
          <a:solidFill>
            <a:srgbClr val="7B8794"/>
          </a:solidFill>
          <a:ln w="12700">
            <a:solidFill>
              <a:srgbClr val="7B8794">
                <a:alpha val="0"/>
              </a:srgbClr>
            </a:solidFill>
            <a:prstDash val="solid"/>
          </a:ln>
        </p:spPr>
      </p:sp>
      <p:sp>
        <p:nvSpPr>
          <p:cNvPr id="20" name="Text 17"/>
          <p:cNvSpPr/>
          <p:nvPr/>
        </p:nvSpPr>
        <p:spPr>
          <a:xfrm>
            <a:off x="9198864" y="1545336"/>
            <a:ext cx="199339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Gas inlet</a:t>
            </a:r>
            <a:endParaRPr lang="en-US" sz="760" dirty="0"/>
          </a:p>
        </p:txBody>
      </p:sp>
      <p:sp>
        <p:nvSpPr>
          <p:cNvPr id="21" name="Text 18"/>
          <p:cNvSpPr/>
          <p:nvPr/>
        </p:nvSpPr>
        <p:spPr>
          <a:xfrm>
            <a:off x="9198864" y="1792224"/>
            <a:ext cx="1993392" cy="106070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Doses process gas to chamber</a:t>
            </a:r>
            <a:endParaRPr lang="en-US" sz="580" dirty="0"/>
          </a:p>
          <a:p>
            <a:pPr algn="l" indent="0" marL="0">
              <a:buNone/>
            </a:pPr>
            <a:r>
              <a:rPr lang="en-US" sz="580" dirty="0">
                <a:solidFill>
                  <a:srgbClr val="5E6978"/>
                </a:solidFill>
              </a:rPr>
              <a:t>Economic role: Chemistry precision at advanced nodes</a:t>
            </a:r>
            <a:endParaRPr lang="en-US" sz="580" dirty="0"/>
          </a:p>
        </p:txBody>
      </p:sp>
      <p:sp>
        <p:nvSpPr>
          <p:cNvPr id="22" name="Text 19"/>
          <p:cNvSpPr/>
          <p:nvPr/>
        </p:nvSpPr>
        <p:spPr>
          <a:xfrm>
            <a:off x="960120" y="4069080"/>
            <a:ext cx="9784080" cy="457200"/>
          </a:xfrm>
          <a:prstGeom prst="rect">
            <a:avLst/>
          </a:prstGeom>
          <a:noFill/>
          <a:ln/>
        </p:spPr>
        <p:txBody>
          <a:bodyPr wrap="square" lIns="635" tIns="635" rIns="635" bIns="635" rtlCol="0" anchor="t">
            <a:normAutofit/>
          </a:bodyPr>
          <a:lstStyle/>
          <a:p>
            <a:pPr algn="ctr" indent="0" marL="0">
              <a:buNone/>
            </a:pPr>
            <a:r>
              <a:rPr lang="en-US" sz="1500" b="1" dirty="0">
                <a:solidFill>
                  <a:srgbClr val="1B9BDA"/>
                </a:solidFill>
              </a:rPr>
              <a:t>The common attribute is qualification risk: after chamber integration, small procurement savings are rarely worth retesting, yield or tool-uptime risk.</a:t>
            </a:r>
            <a:endParaRPr lang="en-US" sz="1500" dirty="0"/>
          </a:p>
        </p:txBody>
      </p:sp>
      <p:sp>
        <p:nvSpPr>
          <p:cNvPr id="23" name="Shape 20"/>
          <p:cNvSpPr/>
          <p:nvPr/>
        </p:nvSpPr>
        <p:spPr>
          <a:xfrm>
            <a:off x="411480" y="6428232"/>
            <a:ext cx="11384280" cy="0"/>
          </a:xfrm>
          <a:prstGeom prst="line">
            <a:avLst/>
          </a:prstGeom>
          <a:noFill/>
          <a:ln w="7620">
            <a:solidFill>
              <a:srgbClr val="D7E0E8"/>
            </a:solidFill>
            <a:prstDash val="solid"/>
          </a:ln>
        </p:spPr>
      </p:sp>
      <p:sp>
        <p:nvSpPr>
          <p:cNvPr id="24" name="Text 21"/>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VAT product pages; uploaded VAT 101 document; analyst estimates.</a:t>
            </a:r>
            <a:endParaRPr lang="en-US" sz="550" dirty="0"/>
          </a:p>
        </p:txBody>
      </p:sp>
      <p:sp>
        <p:nvSpPr>
          <p:cNvPr id="25" name="Text 22"/>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11</a:t>
            </a:r>
            <a:endParaRPr lang="en-US" sz="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Detailed process heatmap: VAT relevance is concentrated in vacuum-intensive chamber environments</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Text 3"/>
          <p:cNvSpPr/>
          <p:nvPr/>
        </p:nvSpPr>
        <p:spPr>
          <a:xfrm>
            <a:off x="731520" y="1371600"/>
            <a:ext cx="1005840"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Process</a:t>
            </a:r>
            <a:endParaRPr lang="en-US" sz="650" dirty="0"/>
          </a:p>
        </p:txBody>
      </p:sp>
      <p:sp>
        <p:nvSpPr>
          <p:cNvPr id="7" name="Text 4"/>
          <p:cNvSpPr/>
          <p:nvPr/>
        </p:nvSpPr>
        <p:spPr>
          <a:xfrm>
            <a:off x="2011680" y="1371600"/>
            <a:ext cx="2194560"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Key OEMs</a:t>
            </a:r>
            <a:endParaRPr lang="en-US" sz="650" dirty="0"/>
          </a:p>
        </p:txBody>
      </p:sp>
      <p:sp>
        <p:nvSpPr>
          <p:cNvPr id="8" name="Text 5"/>
          <p:cNvSpPr/>
          <p:nvPr/>
        </p:nvSpPr>
        <p:spPr>
          <a:xfrm>
            <a:off x="4663440" y="1371600"/>
            <a:ext cx="1097280"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VAT relevance</a:t>
            </a:r>
            <a:endParaRPr lang="en-US" sz="650" dirty="0"/>
          </a:p>
        </p:txBody>
      </p:sp>
      <p:sp>
        <p:nvSpPr>
          <p:cNvPr id="9" name="Text 6"/>
          <p:cNvSpPr/>
          <p:nvPr/>
        </p:nvSpPr>
        <p:spPr>
          <a:xfrm>
            <a:off x="6126480" y="1371600"/>
            <a:ext cx="3931920"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Reason</a:t>
            </a:r>
            <a:endParaRPr lang="en-US" sz="650" dirty="0"/>
          </a:p>
        </p:txBody>
      </p:sp>
      <p:sp>
        <p:nvSpPr>
          <p:cNvPr id="10" name="Text 7"/>
          <p:cNvSpPr/>
          <p:nvPr/>
        </p:nvSpPr>
        <p:spPr>
          <a:xfrm>
            <a:off x="731520" y="1737360"/>
            <a:ext cx="1005840" cy="201168"/>
          </a:xfrm>
          <a:prstGeom prst="rect">
            <a:avLst/>
          </a:prstGeom>
          <a:noFill/>
          <a:ln/>
        </p:spPr>
        <p:txBody>
          <a:bodyPr wrap="square" lIns="635" tIns="635" rIns="635" bIns="635" rtlCol="0" anchor="t">
            <a:normAutofit/>
          </a:bodyPr>
          <a:lstStyle/>
          <a:p>
            <a:pPr algn="l" indent="0" marL="0">
              <a:buNone/>
            </a:pPr>
            <a:r>
              <a:rPr lang="en-US" sz="700" b="1" dirty="0">
                <a:solidFill>
                  <a:srgbClr val="1F2933"/>
                </a:solidFill>
              </a:rPr>
              <a:t>Deposition</a:t>
            </a:r>
            <a:endParaRPr lang="en-US" sz="700" dirty="0"/>
          </a:p>
        </p:txBody>
      </p:sp>
      <p:sp>
        <p:nvSpPr>
          <p:cNvPr id="11" name="Text 8"/>
          <p:cNvSpPr/>
          <p:nvPr/>
        </p:nvSpPr>
        <p:spPr>
          <a:xfrm>
            <a:off x="2011680" y="1737360"/>
            <a:ext cx="219456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Applied / Lam / TEL</a:t>
            </a:r>
            <a:endParaRPr lang="en-US" sz="700" dirty="0"/>
          </a:p>
        </p:txBody>
      </p:sp>
      <p:sp>
        <p:nvSpPr>
          <p:cNvPr id="12" name="Text 9"/>
          <p:cNvSpPr/>
          <p:nvPr/>
        </p:nvSpPr>
        <p:spPr>
          <a:xfrm>
            <a:off x="4663440" y="1737360"/>
            <a:ext cx="1097280" cy="201168"/>
          </a:xfrm>
          <a:prstGeom prst="rect">
            <a:avLst/>
          </a:prstGeom>
          <a:noFill/>
          <a:ln/>
        </p:spPr>
        <p:txBody>
          <a:bodyPr wrap="square" lIns="635" tIns="635" rIns="635" bIns="635" rtlCol="0" anchor="t">
            <a:normAutofit/>
          </a:bodyPr>
          <a:lstStyle/>
          <a:p>
            <a:pPr algn="l" indent="0" marL="0">
              <a:buNone/>
            </a:pPr>
            <a:r>
              <a:rPr lang="en-US" sz="700" dirty="0">
                <a:solidFill>
                  <a:srgbClr val="1B9BDA"/>
                </a:solidFill>
              </a:rPr>
              <a:t>High</a:t>
            </a:r>
            <a:endParaRPr lang="en-US" sz="700" dirty="0"/>
          </a:p>
        </p:txBody>
      </p:sp>
      <p:sp>
        <p:nvSpPr>
          <p:cNvPr id="13" name="Text 10"/>
          <p:cNvSpPr/>
          <p:nvPr/>
        </p:nvSpPr>
        <p:spPr>
          <a:xfrm>
            <a:off x="6126480" y="1737360"/>
            <a:ext cx="393192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Atomic-scale films, reactive gases, pressure control</a:t>
            </a:r>
            <a:endParaRPr lang="en-US" sz="700" dirty="0"/>
          </a:p>
        </p:txBody>
      </p:sp>
      <p:sp>
        <p:nvSpPr>
          <p:cNvPr id="14" name="Text 11"/>
          <p:cNvSpPr/>
          <p:nvPr/>
        </p:nvSpPr>
        <p:spPr>
          <a:xfrm>
            <a:off x="731520" y="2313432"/>
            <a:ext cx="1005840" cy="201168"/>
          </a:xfrm>
          <a:prstGeom prst="rect">
            <a:avLst/>
          </a:prstGeom>
          <a:noFill/>
          <a:ln/>
        </p:spPr>
        <p:txBody>
          <a:bodyPr wrap="square" lIns="635" tIns="635" rIns="635" bIns="635" rtlCol="0" anchor="t">
            <a:normAutofit/>
          </a:bodyPr>
          <a:lstStyle/>
          <a:p>
            <a:pPr algn="l" indent="0" marL="0">
              <a:buNone/>
            </a:pPr>
            <a:r>
              <a:rPr lang="en-US" sz="700" b="1" dirty="0">
                <a:solidFill>
                  <a:srgbClr val="1F2933"/>
                </a:solidFill>
              </a:rPr>
              <a:t>Dry etch</a:t>
            </a:r>
            <a:endParaRPr lang="en-US" sz="700" dirty="0"/>
          </a:p>
        </p:txBody>
      </p:sp>
      <p:sp>
        <p:nvSpPr>
          <p:cNvPr id="15" name="Text 12"/>
          <p:cNvSpPr/>
          <p:nvPr/>
        </p:nvSpPr>
        <p:spPr>
          <a:xfrm>
            <a:off x="2011680" y="2313432"/>
            <a:ext cx="219456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Lam / Applied / TEL</a:t>
            </a:r>
            <a:endParaRPr lang="en-US" sz="700" dirty="0"/>
          </a:p>
        </p:txBody>
      </p:sp>
      <p:sp>
        <p:nvSpPr>
          <p:cNvPr id="16" name="Text 13"/>
          <p:cNvSpPr/>
          <p:nvPr/>
        </p:nvSpPr>
        <p:spPr>
          <a:xfrm>
            <a:off x="4663440" y="2313432"/>
            <a:ext cx="1097280" cy="201168"/>
          </a:xfrm>
          <a:prstGeom prst="rect">
            <a:avLst/>
          </a:prstGeom>
          <a:noFill/>
          <a:ln/>
        </p:spPr>
        <p:txBody>
          <a:bodyPr wrap="square" lIns="635" tIns="635" rIns="635" bIns="635" rtlCol="0" anchor="t">
            <a:normAutofit/>
          </a:bodyPr>
          <a:lstStyle/>
          <a:p>
            <a:pPr algn="l" indent="0" marL="0">
              <a:buNone/>
            </a:pPr>
            <a:r>
              <a:rPr lang="en-US" sz="700" dirty="0">
                <a:solidFill>
                  <a:srgbClr val="1B9BDA"/>
                </a:solidFill>
              </a:rPr>
              <a:t>High</a:t>
            </a:r>
            <a:endParaRPr lang="en-US" sz="700" dirty="0"/>
          </a:p>
        </p:txBody>
      </p:sp>
      <p:sp>
        <p:nvSpPr>
          <p:cNvPr id="17" name="Text 14"/>
          <p:cNvSpPr/>
          <p:nvPr/>
        </p:nvSpPr>
        <p:spPr>
          <a:xfrm>
            <a:off x="6126480" y="2313432"/>
            <a:ext cx="393192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Plasma, deep structures, particle sensitivity</a:t>
            </a:r>
            <a:endParaRPr lang="en-US" sz="700" dirty="0"/>
          </a:p>
        </p:txBody>
      </p:sp>
      <p:sp>
        <p:nvSpPr>
          <p:cNvPr id="18" name="Text 15"/>
          <p:cNvSpPr/>
          <p:nvPr/>
        </p:nvSpPr>
        <p:spPr>
          <a:xfrm>
            <a:off x="731520" y="2889504"/>
            <a:ext cx="1005840" cy="201168"/>
          </a:xfrm>
          <a:prstGeom prst="rect">
            <a:avLst/>
          </a:prstGeom>
          <a:noFill/>
          <a:ln/>
        </p:spPr>
        <p:txBody>
          <a:bodyPr wrap="square" lIns="635" tIns="635" rIns="635" bIns="635" rtlCol="0" anchor="t">
            <a:normAutofit/>
          </a:bodyPr>
          <a:lstStyle/>
          <a:p>
            <a:pPr algn="l" indent="0" marL="0">
              <a:buNone/>
            </a:pPr>
            <a:r>
              <a:rPr lang="en-US" sz="700" b="1" dirty="0">
                <a:solidFill>
                  <a:srgbClr val="1F2933"/>
                </a:solidFill>
              </a:rPr>
              <a:t>Lithography</a:t>
            </a:r>
            <a:endParaRPr lang="en-US" sz="700" dirty="0"/>
          </a:p>
        </p:txBody>
      </p:sp>
      <p:sp>
        <p:nvSpPr>
          <p:cNvPr id="19" name="Text 16"/>
          <p:cNvSpPr/>
          <p:nvPr/>
        </p:nvSpPr>
        <p:spPr>
          <a:xfrm>
            <a:off x="2011680" y="2889504"/>
            <a:ext cx="219456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ASML</a:t>
            </a:r>
            <a:endParaRPr lang="en-US" sz="700" dirty="0"/>
          </a:p>
        </p:txBody>
      </p:sp>
      <p:sp>
        <p:nvSpPr>
          <p:cNvPr id="20" name="Text 17"/>
          <p:cNvSpPr/>
          <p:nvPr/>
        </p:nvSpPr>
        <p:spPr>
          <a:xfrm>
            <a:off x="4663440" y="2889504"/>
            <a:ext cx="109728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Medium</a:t>
            </a:r>
            <a:endParaRPr lang="en-US" sz="700" dirty="0"/>
          </a:p>
        </p:txBody>
      </p:sp>
      <p:sp>
        <p:nvSpPr>
          <p:cNvPr id="21" name="Text 18"/>
          <p:cNvSpPr/>
          <p:nvPr/>
        </p:nvSpPr>
        <p:spPr>
          <a:xfrm>
            <a:off x="6126480" y="2889504"/>
            <a:ext cx="393192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Selective vacuum environments; do not overstate</a:t>
            </a:r>
            <a:endParaRPr lang="en-US" sz="700" dirty="0"/>
          </a:p>
        </p:txBody>
      </p:sp>
      <p:sp>
        <p:nvSpPr>
          <p:cNvPr id="22" name="Text 19"/>
          <p:cNvSpPr/>
          <p:nvPr/>
        </p:nvSpPr>
        <p:spPr>
          <a:xfrm>
            <a:off x="731520" y="3465576"/>
            <a:ext cx="1005840" cy="201168"/>
          </a:xfrm>
          <a:prstGeom prst="rect">
            <a:avLst/>
          </a:prstGeom>
          <a:noFill/>
          <a:ln/>
        </p:spPr>
        <p:txBody>
          <a:bodyPr wrap="square" lIns="635" tIns="635" rIns="635" bIns="635" rtlCol="0" anchor="t">
            <a:normAutofit/>
          </a:bodyPr>
          <a:lstStyle/>
          <a:p>
            <a:pPr algn="l" indent="0" marL="0">
              <a:buNone/>
            </a:pPr>
            <a:r>
              <a:rPr lang="en-US" sz="700" b="1" dirty="0">
                <a:solidFill>
                  <a:srgbClr val="1F2933"/>
                </a:solidFill>
              </a:rPr>
              <a:t>Ion implantation</a:t>
            </a:r>
            <a:endParaRPr lang="en-US" sz="700" dirty="0"/>
          </a:p>
        </p:txBody>
      </p:sp>
      <p:sp>
        <p:nvSpPr>
          <p:cNvPr id="23" name="Text 20"/>
          <p:cNvSpPr/>
          <p:nvPr/>
        </p:nvSpPr>
        <p:spPr>
          <a:xfrm>
            <a:off x="2011680" y="3465576"/>
            <a:ext cx="219456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Applied / Axcelis-like</a:t>
            </a:r>
            <a:endParaRPr lang="en-US" sz="700" dirty="0"/>
          </a:p>
        </p:txBody>
      </p:sp>
      <p:sp>
        <p:nvSpPr>
          <p:cNvPr id="24" name="Text 21"/>
          <p:cNvSpPr/>
          <p:nvPr/>
        </p:nvSpPr>
        <p:spPr>
          <a:xfrm>
            <a:off x="4663440" y="3465576"/>
            <a:ext cx="109728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Medium</a:t>
            </a:r>
            <a:endParaRPr lang="en-US" sz="700" dirty="0"/>
          </a:p>
        </p:txBody>
      </p:sp>
      <p:sp>
        <p:nvSpPr>
          <p:cNvPr id="25" name="Text 22"/>
          <p:cNvSpPr/>
          <p:nvPr/>
        </p:nvSpPr>
        <p:spPr>
          <a:xfrm>
            <a:off x="6126480" y="3465576"/>
            <a:ext cx="393192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Ion beams and pressure control</a:t>
            </a:r>
            <a:endParaRPr lang="en-US" sz="700" dirty="0"/>
          </a:p>
        </p:txBody>
      </p:sp>
      <p:sp>
        <p:nvSpPr>
          <p:cNvPr id="26" name="Text 23"/>
          <p:cNvSpPr/>
          <p:nvPr/>
        </p:nvSpPr>
        <p:spPr>
          <a:xfrm>
            <a:off x="731520" y="4041648"/>
            <a:ext cx="1005840" cy="201168"/>
          </a:xfrm>
          <a:prstGeom prst="rect">
            <a:avLst/>
          </a:prstGeom>
          <a:noFill/>
          <a:ln/>
        </p:spPr>
        <p:txBody>
          <a:bodyPr wrap="square" lIns="635" tIns="635" rIns="635" bIns="635" rtlCol="0" anchor="t">
            <a:normAutofit/>
          </a:bodyPr>
          <a:lstStyle/>
          <a:p>
            <a:pPr algn="l" indent="0" marL="0">
              <a:buNone/>
            </a:pPr>
            <a:r>
              <a:rPr lang="en-US" sz="700" b="1" dirty="0">
                <a:solidFill>
                  <a:srgbClr val="1F2933"/>
                </a:solidFill>
              </a:rPr>
              <a:t>Cleaning / CMP</a:t>
            </a:r>
            <a:endParaRPr lang="en-US" sz="700" dirty="0"/>
          </a:p>
        </p:txBody>
      </p:sp>
      <p:sp>
        <p:nvSpPr>
          <p:cNvPr id="27" name="Text 24"/>
          <p:cNvSpPr/>
          <p:nvPr/>
        </p:nvSpPr>
        <p:spPr>
          <a:xfrm>
            <a:off x="2011680" y="4041648"/>
            <a:ext cx="219456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TEL / Applied / Ebara</a:t>
            </a:r>
            <a:endParaRPr lang="en-US" sz="700" dirty="0"/>
          </a:p>
        </p:txBody>
      </p:sp>
      <p:sp>
        <p:nvSpPr>
          <p:cNvPr id="28" name="Text 25"/>
          <p:cNvSpPr/>
          <p:nvPr/>
        </p:nvSpPr>
        <p:spPr>
          <a:xfrm>
            <a:off x="4663440" y="4041648"/>
            <a:ext cx="109728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Low-Med</a:t>
            </a:r>
            <a:endParaRPr lang="en-US" sz="700" dirty="0"/>
          </a:p>
        </p:txBody>
      </p:sp>
      <p:sp>
        <p:nvSpPr>
          <p:cNvPr id="29" name="Text 26"/>
          <p:cNvSpPr/>
          <p:nvPr/>
        </p:nvSpPr>
        <p:spPr>
          <a:xfrm>
            <a:off x="6126480" y="4041648"/>
            <a:ext cx="393192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Less consistently vacuum-intensive</a:t>
            </a:r>
            <a:endParaRPr lang="en-US" sz="700" dirty="0"/>
          </a:p>
        </p:txBody>
      </p:sp>
      <p:sp>
        <p:nvSpPr>
          <p:cNvPr id="30" name="Text 27"/>
          <p:cNvSpPr/>
          <p:nvPr/>
        </p:nvSpPr>
        <p:spPr>
          <a:xfrm>
            <a:off x="731520" y="4617720"/>
            <a:ext cx="1005840" cy="201168"/>
          </a:xfrm>
          <a:prstGeom prst="rect">
            <a:avLst/>
          </a:prstGeom>
          <a:noFill/>
          <a:ln/>
        </p:spPr>
        <p:txBody>
          <a:bodyPr wrap="square" lIns="635" tIns="635" rIns="635" bIns="635" rtlCol="0" anchor="t">
            <a:normAutofit/>
          </a:bodyPr>
          <a:lstStyle/>
          <a:p>
            <a:pPr algn="l" indent="0" marL="0">
              <a:buNone/>
            </a:pPr>
            <a:r>
              <a:rPr lang="en-US" sz="700" b="1" dirty="0">
                <a:solidFill>
                  <a:srgbClr val="1F2933"/>
                </a:solidFill>
              </a:rPr>
              <a:t>Metrology</a:t>
            </a:r>
            <a:endParaRPr lang="en-US" sz="700" dirty="0"/>
          </a:p>
        </p:txBody>
      </p:sp>
      <p:sp>
        <p:nvSpPr>
          <p:cNvPr id="31" name="Text 28"/>
          <p:cNvSpPr/>
          <p:nvPr/>
        </p:nvSpPr>
        <p:spPr>
          <a:xfrm>
            <a:off x="2011680" y="4617720"/>
            <a:ext cx="219456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KLA / ASML</a:t>
            </a:r>
            <a:endParaRPr lang="en-US" sz="700" dirty="0"/>
          </a:p>
        </p:txBody>
      </p:sp>
      <p:sp>
        <p:nvSpPr>
          <p:cNvPr id="32" name="Text 29"/>
          <p:cNvSpPr/>
          <p:nvPr/>
        </p:nvSpPr>
        <p:spPr>
          <a:xfrm>
            <a:off x="4663440" y="4617720"/>
            <a:ext cx="109728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Low-Med</a:t>
            </a:r>
            <a:endParaRPr lang="en-US" sz="700" dirty="0"/>
          </a:p>
        </p:txBody>
      </p:sp>
      <p:sp>
        <p:nvSpPr>
          <p:cNvPr id="33" name="Text 30"/>
          <p:cNvSpPr/>
          <p:nvPr/>
        </p:nvSpPr>
        <p:spPr>
          <a:xfrm>
            <a:off x="6126480" y="4617720"/>
            <a:ext cx="3931920" cy="201168"/>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Tool-specific vacuum exposure</a:t>
            </a:r>
            <a:endParaRPr lang="en-US" sz="700" dirty="0"/>
          </a:p>
        </p:txBody>
      </p:sp>
      <p:sp>
        <p:nvSpPr>
          <p:cNvPr id="34" name="Shape 31"/>
          <p:cNvSpPr/>
          <p:nvPr/>
        </p:nvSpPr>
        <p:spPr>
          <a:xfrm>
            <a:off x="411480" y="6428232"/>
            <a:ext cx="11384280" cy="0"/>
          </a:xfrm>
          <a:prstGeom prst="line">
            <a:avLst/>
          </a:prstGeom>
          <a:noFill/>
          <a:ln w="7620">
            <a:solidFill>
              <a:srgbClr val="D7E0E8"/>
            </a:solidFill>
            <a:prstDash val="solid"/>
          </a:ln>
        </p:spPr>
      </p:sp>
      <p:sp>
        <p:nvSpPr>
          <p:cNvPr id="35" name="Text 32"/>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Company product pages and major WFE OEM materials; analyst estimates.</a:t>
            </a:r>
            <a:endParaRPr lang="en-US" sz="550" dirty="0"/>
          </a:p>
        </p:txBody>
      </p:sp>
      <p:sp>
        <p:nvSpPr>
          <p:cNvPr id="36" name="Text 33"/>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12</a:t>
            </a:r>
            <a:endParaRPr lang="en-US" sz="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OEM and customer ecosystem: VAT demand is pulled by fab capex but specified into OEM platforms</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822960" y="1508760"/>
            <a:ext cx="2743200" cy="1097280"/>
          </a:xfrm>
          <a:prstGeom prst="roundRect">
            <a:avLst>
              <a:gd name="adj" fmla="val 5000"/>
            </a:avLst>
          </a:prstGeom>
          <a:solidFill>
            <a:srgbClr val="FFFFFF"/>
          </a:solidFill>
          <a:ln w="8890">
            <a:solidFill>
              <a:srgbClr val="D7E0E8"/>
            </a:solidFill>
            <a:prstDash val="solid"/>
          </a:ln>
        </p:spPr>
      </p:sp>
      <p:sp>
        <p:nvSpPr>
          <p:cNvPr id="7" name="Shape 4"/>
          <p:cNvSpPr/>
          <p:nvPr/>
        </p:nvSpPr>
        <p:spPr>
          <a:xfrm>
            <a:off x="822960" y="1508760"/>
            <a:ext cx="73152" cy="1097280"/>
          </a:xfrm>
          <a:prstGeom prst="rect">
            <a:avLst/>
          </a:prstGeom>
          <a:solidFill>
            <a:srgbClr val="1B9BDA"/>
          </a:solidFill>
          <a:ln w="12700">
            <a:solidFill>
              <a:srgbClr val="1B9BDA">
                <a:alpha val="0"/>
              </a:srgbClr>
            </a:solidFill>
            <a:prstDash val="solid"/>
          </a:ln>
        </p:spPr>
      </p:sp>
      <p:sp>
        <p:nvSpPr>
          <p:cNvPr id="8" name="Text 5"/>
          <p:cNvSpPr/>
          <p:nvPr/>
        </p:nvSpPr>
        <p:spPr>
          <a:xfrm>
            <a:off x="969264" y="1591056"/>
            <a:ext cx="254203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Foundries / IDMs</a:t>
            </a:r>
            <a:endParaRPr lang="en-US" sz="760" dirty="0"/>
          </a:p>
        </p:txBody>
      </p:sp>
      <p:sp>
        <p:nvSpPr>
          <p:cNvPr id="9" name="Text 6"/>
          <p:cNvSpPr/>
          <p:nvPr/>
        </p:nvSpPr>
        <p:spPr>
          <a:xfrm>
            <a:off x="969264" y="1837944"/>
            <a:ext cx="2542032" cy="69494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TSMC, Samsung, Intel, Micron, SK Hynix decide capacity and capex</a:t>
            </a:r>
            <a:endParaRPr lang="en-US" sz="580" dirty="0"/>
          </a:p>
        </p:txBody>
      </p:sp>
      <p:sp>
        <p:nvSpPr>
          <p:cNvPr id="10" name="Shape 7"/>
          <p:cNvSpPr/>
          <p:nvPr/>
        </p:nvSpPr>
        <p:spPr>
          <a:xfrm>
            <a:off x="4572000" y="1508760"/>
            <a:ext cx="2743200" cy="1097280"/>
          </a:xfrm>
          <a:prstGeom prst="roundRect">
            <a:avLst>
              <a:gd name="adj" fmla="val 5000"/>
            </a:avLst>
          </a:prstGeom>
          <a:solidFill>
            <a:srgbClr val="FFFFFF"/>
          </a:solidFill>
          <a:ln w="8890">
            <a:solidFill>
              <a:srgbClr val="D7E0E8"/>
            </a:solidFill>
            <a:prstDash val="solid"/>
          </a:ln>
        </p:spPr>
      </p:sp>
      <p:sp>
        <p:nvSpPr>
          <p:cNvPr id="11" name="Shape 8"/>
          <p:cNvSpPr/>
          <p:nvPr/>
        </p:nvSpPr>
        <p:spPr>
          <a:xfrm>
            <a:off x="4572000" y="1508760"/>
            <a:ext cx="73152" cy="1097280"/>
          </a:xfrm>
          <a:prstGeom prst="rect">
            <a:avLst/>
          </a:prstGeom>
          <a:solidFill>
            <a:srgbClr val="1B9BDA"/>
          </a:solidFill>
          <a:ln w="12700">
            <a:solidFill>
              <a:srgbClr val="1B9BDA">
                <a:alpha val="0"/>
              </a:srgbClr>
            </a:solidFill>
            <a:prstDash val="solid"/>
          </a:ln>
        </p:spPr>
      </p:sp>
      <p:sp>
        <p:nvSpPr>
          <p:cNvPr id="12" name="Text 9"/>
          <p:cNvSpPr/>
          <p:nvPr/>
        </p:nvSpPr>
        <p:spPr>
          <a:xfrm>
            <a:off x="4718304" y="1591056"/>
            <a:ext cx="254203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Equipment OEMs</a:t>
            </a:r>
            <a:endParaRPr lang="en-US" sz="760" dirty="0"/>
          </a:p>
        </p:txBody>
      </p:sp>
      <p:sp>
        <p:nvSpPr>
          <p:cNvPr id="13" name="Text 10"/>
          <p:cNvSpPr/>
          <p:nvPr/>
        </p:nvSpPr>
        <p:spPr>
          <a:xfrm>
            <a:off x="4718304" y="1837944"/>
            <a:ext cx="2542032" cy="69494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ASML, Applied, Lam, TEL, KLA build wafer-fabrication tools</a:t>
            </a:r>
            <a:endParaRPr lang="en-US" sz="580" dirty="0"/>
          </a:p>
        </p:txBody>
      </p:sp>
      <p:sp>
        <p:nvSpPr>
          <p:cNvPr id="14" name="Shape 11"/>
          <p:cNvSpPr/>
          <p:nvPr/>
        </p:nvSpPr>
        <p:spPr>
          <a:xfrm>
            <a:off x="8321040" y="1508760"/>
            <a:ext cx="2743200" cy="1097280"/>
          </a:xfrm>
          <a:prstGeom prst="roundRect">
            <a:avLst>
              <a:gd name="adj" fmla="val 5000"/>
            </a:avLst>
          </a:prstGeom>
          <a:solidFill>
            <a:srgbClr val="FFFFFF"/>
          </a:solidFill>
          <a:ln w="8890">
            <a:solidFill>
              <a:srgbClr val="D7E0E8"/>
            </a:solidFill>
            <a:prstDash val="solid"/>
          </a:ln>
        </p:spPr>
      </p:sp>
      <p:sp>
        <p:nvSpPr>
          <p:cNvPr id="15" name="Shape 12"/>
          <p:cNvSpPr/>
          <p:nvPr/>
        </p:nvSpPr>
        <p:spPr>
          <a:xfrm>
            <a:off x="8321040" y="1508760"/>
            <a:ext cx="73152" cy="1097280"/>
          </a:xfrm>
          <a:prstGeom prst="rect">
            <a:avLst/>
          </a:prstGeom>
          <a:solidFill>
            <a:srgbClr val="1B9BDA"/>
          </a:solidFill>
          <a:ln w="12700">
            <a:solidFill>
              <a:srgbClr val="1B9BDA">
                <a:alpha val="0"/>
              </a:srgbClr>
            </a:solidFill>
            <a:prstDash val="solid"/>
          </a:ln>
        </p:spPr>
      </p:sp>
      <p:sp>
        <p:nvSpPr>
          <p:cNvPr id="16" name="Text 13"/>
          <p:cNvSpPr/>
          <p:nvPr/>
        </p:nvSpPr>
        <p:spPr>
          <a:xfrm>
            <a:off x="8467344" y="1591056"/>
            <a:ext cx="2542032" cy="219456"/>
          </a:xfrm>
          <a:prstGeom prst="rect">
            <a:avLst/>
          </a:prstGeom>
          <a:noFill/>
          <a:ln/>
        </p:spPr>
        <p:txBody>
          <a:bodyPr wrap="square" lIns="635" tIns="635" rIns="635" bIns="635" rtlCol="0" anchor="t">
            <a:normAutofit/>
          </a:bodyPr>
          <a:lstStyle/>
          <a:p>
            <a:pPr algn="l" indent="0" marL="0">
              <a:buNone/>
            </a:pPr>
            <a:r>
              <a:rPr lang="en-US" sz="760" b="1" dirty="0">
                <a:solidFill>
                  <a:srgbClr val="1F2933"/>
                </a:solidFill>
              </a:rPr>
              <a:t>VAT</a:t>
            </a:r>
            <a:endParaRPr lang="en-US" sz="760" dirty="0"/>
          </a:p>
        </p:txBody>
      </p:sp>
      <p:sp>
        <p:nvSpPr>
          <p:cNvPr id="17" name="Text 14"/>
          <p:cNvSpPr/>
          <p:nvPr/>
        </p:nvSpPr>
        <p:spPr>
          <a:xfrm>
            <a:off x="8467344" y="1837944"/>
            <a:ext cx="2542032" cy="694944"/>
          </a:xfrm>
          <a:prstGeom prst="rect">
            <a:avLst/>
          </a:prstGeom>
          <a:noFill/>
          <a:ln/>
        </p:spPr>
        <p:txBody>
          <a:bodyPr wrap="square" lIns="635" tIns="635" rIns="635" bIns="635" rtlCol="0" anchor="t">
            <a:normAutofit/>
          </a:bodyPr>
          <a:lstStyle/>
          <a:p>
            <a:pPr algn="l" indent="0" marL="0">
              <a:buNone/>
            </a:pPr>
            <a:r>
              <a:rPr lang="en-US" sz="580" dirty="0">
                <a:solidFill>
                  <a:srgbClr val="5E6978"/>
                </a:solidFill>
              </a:rPr>
              <a:t>Valves and modules embedded inside OEM tools; service follows installed base</a:t>
            </a:r>
            <a:endParaRPr lang="en-US" sz="580" dirty="0"/>
          </a:p>
        </p:txBody>
      </p:sp>
      <p:sp>
        <p:nvSpPr>
          <p:cNvPr id="18" name="Shape 15"/>
          <p:cNvSpPr/>
          <p:nvPr/>
        </p:nvSpPr>
        <p:spPr>
          <a:xfrm>
            <a:off x="3611880" y="2057400"/>
            <a:ext cx="914400" cy="0"/>
          </a:xfrm>
          <a:prstGeom prst="line">
            <a:avLst/>
          </a:prstGeom>
          <a:noFill/>
          <a:ln w="20320">
            <a:solidFill>
              <a:srgbClr val="1B9BDA"/>
            </a:solidFill>
            <a:prstDash val="solid"/>
            <a:headEnd type="none"/>
            <a:tailEnd type="triangle"/>
          </a:ln>
        </p:spPr>
      </p:sp>
      <p:sp>
        <p:nvSpPr>
          <p:cNvPr id="19" name="Shape 16"/>
          <p:cNvSpPr/>
          <p:nvPr/>
        </p:nvSpPr>
        <p:spPr>
          <a:xfrm>
            <a:off x="7360920" y="2057400"/>
            <a:ext cx="914400" cy="0"/>
          </a:xfrm>
          <a:prstGeom prst="line">
            <a:avLst/>
          </a:prstGeom>
          <a:noFill/>
          <a:ln w="20320">
            <a:solidFill>
              <a:srgbClr val="1B9BDA"/>
            </a:solidFill>
            <a:prstDash val="solid"/>
            <a:headEnd type="none"/>
            <a:tailEnd type="triangle"/>
          </a:ln>
        </p:spPr>
      </p:sp>
      <p:sp>
        <p:nvSpPr>
          <p:cNvPr id="20" name="Text 17"/>
          <p:cNvSpPr/>
          <p:nvPr/>
        </p:nvSpPr>
        <p:spPr>
          <a:xfrm>
            <a:off x="1097280" y="3657600"/>
            <a:ext cx="9601200" cy="502920"/>
          </a:xfrm>
          <a:prstGeom prst="rect">
            <a:avLst/>
          </a:prstGeom>
          <a:noFill/>
          <a:ln/>
        </p:spPr>
        <p:txBody>
          <a:bodyPr wrap="square" lIns="635" tIns="635" rIns="635" bIns="635" rtlCol="0" anchor="t">
            <a:normAutofit/>
          </a:bodyPr>
          <a:lstStyle/>
          <a:p>
            <a:pPr algn="ctr" indent="0" marL="0">
              <a:buNone/>
            </a:pPr>
            <a:r>
              <a:rPr lang="en-US" sz="1700" b="1" dirty="0">
                <a:solidFill>
                  <a:srgbClr val="1F2933"/>
                </a:solidFill>
              </a:rPr>
              <a:t>Important distinction: VAT's direct commercial route is equipment OEM procurement; ultimate demand is foundry / IDM capex.</a:t>
            </a:r>
            <a:endParaRPr lang="en-US" sz="1700" dirty="0"/>
          </a:p>
        </p:txBody>
      </p:sp>
      <p:sp>
        <p:nvSpPr>
          <p:cNvPr id="21" name="Shape 18"/>
          <p:cNvSpPr/>
          <p:nvPr/>
        </p:nvSpPr>
        <p:spPr>
          <a:xfrm>
            <a:off x="411480" y="6428232"/>
            <a:ext cx="11384280" cy="0"/>
          </a:xfrm>
          <a:prstGeom prst="line">
            <a:avLst/>
          </a:prstGeom>
          <a:noFill/>
          <a:ln w="7620">
            <a:solidFill>
              <a:srgbClr val="D7E0E8"/>
            </a:solidFill>
            <a:prstDash val="solid"/>
          </a:ln>
        </p:spPr>
      </p:sp>
      <p:sp>
        <p:nvSpPr>
          <p:cNvPr id="22" name="Text 19"/>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Uploaded VAT 101 document; VAT IR materials; analyst estimates.</a:t>
            </a:r>
            <a:endParaRPr lang="en-US" sz="550" dirty="0"/>
          </a:p>
        </p:txBody>
      </p:sp>
      <p:sp>
        <p:nvSpPr>
          <p:cNvPr id="23" name="Text 20"/>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13</a:t>
            </a:r>
            <a:endParaRPr lang="en-US" sz="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Fabless vs foundry vs IDM: the semiconductor buyer map in one slide</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1005840" y="1645920"/>
            <a:ext cx="2834640" cy="2377440"/>
          </a:xfrm>
          <a:prstGeom prst="roundRect">
            <a:avLst>
              <a:gd name="adj" fmla="val 2308"/>
            </a:avLst>
          </a:prstGeom>
          <a:solidFill>
            <a:srgbClr val="FFFFFF"/>
          </a:solidFill>
          <a:ln w="8890">
            <a:solidFill>
              <a:srgbClr val="D7E0E8"/>
            </a:solidFill>
            <a:prstDash val="solid"/>
          </a:ln>
        </p:spPr>
      </p:sp>
      <p:sp>
        <p:nvSpPr>
          <p:cNvPr id="7" name="Text 4"/>
          <p:cNvSpPr/>
          <p:nvPr/>
        </p:nvSpPr>
        <p:spPr>
          <a:xfrm>
            <a:off x="1234440" y="1920240"/>
            <a:ext cx="2377440" cy="320040"/>
          </a:xfrm>
          <a:prstGeom prst="rect">
            <a:avLst/>
          </a:prstGeom>
          <a:noFill/>
          <a:ln/>
        </p:spPr>
        <p:txBody>
          <a:bodyPr wrap="square" lIns="635" tIns="635" rIns="635" bIns="635" rtlCol="0" anchor="t">
            <a:normAutofit/>
          </a:bodyPr>
          <a:lstStyle/>
          <a:p>
            <a:pPr algn="ctr" indent="0" marL="0">
              <a:buNone/>
            </a:pPr>
            <a:r>
              <a:rPr lang="en-US" sz="1600" b="1" dirty="0">
                <a:solidFill>
                  <a:srgbClr val="1F2933"/>
                </a:solidFill>
              </a:rPr>
              <a:t>Fabless</a:t>
            </a:r>
            <a:endParaRPr lang="en-US" sz="1600" dirty="0"/>
          </a:p>
        </p:txBody>
      </p:sp>
      <p:sp>
        <p:nvSpPr>
          <p:cNvPr id="8" name="Text 5"/>
          <p:cNvSpPr/>
          <p:nvPr/>
        </p:nvSpPr>
        <p:spPr>
          <a:xfrm>
            <a:off x="1234440" y="2514600"/>
            <a:ext cx="2377440" cy="365760"/>
          </a:xfrm>
          <a:prstGeom prst="rect">
            <a:avLst/>
          </a:prstGeom>
          <a:noFill/>
          <a:ln/>
        </p:spPr>
        <p:txBody>
          <a:bodyPr wrap="square" lIns="635" tIns="635" rIns="635" bIns="635" rtlCol="0" anchor="t">
            <a:normAutofit/>
          </a:bodyPr>
          <a:lstStyle/>
          <a:p>
            <a:pPr algn="ctr" indent="0" marL="0">
              <a:buNone/>
            </a:pPr>
            <a:r>
              <a:rPr lang="en-US" sz="900" dirty="0">
                <a:solidFill>
                  <a:srgbClr val="1F2933"/>
                </a:solidFill>
              </a:rPr>
              <a:t>Designs chips, outsources fabrication</a:t>
            </a:r>
            <a:endParaRPr lang="en-US" sz="900" dirty="0"/>
          </a:p>
        </p:txBody>
      </p:sp>
      <p:sp>
        <p:nvSpPr>
          <p:cNvPr id="9" name="Text 6"/>
          <p:cNvSpPr/>
          <p:nvPr/>
        </p:nvSpPr>
        <p:spPr>
          <a:xfrm>
            <a:off x="1234440" y="3246120"/>
            <a:ext cx="2377440" cy="320040"/>
          </a:xfrm>
          <a:prstGeom prst="rect">
            <a:avLst/>
          </a:prstGeom>
          <a:noFill/>
          <a:ln/>
        </p:spPr>
        <p:txBody>
          <a:bodyPr wrap="square" lIns="635" tIns="635" rIns="635" bIns="635" rtlCol="0" anchor="t">
            <a:normAutofit/>
          </a:bodyPr>
          <a:lstStyle/>
          <a:p>
            <a:pPr algn="ctr" indent="0" marL="0">
              <a:buNone/>
            </a:pPr>
            <a:r>
              <a:rPr lang="en-US" sz="800" b="1" dirty="0">
                <a:solidFill>
                  <a:srgbClr val="5E6978"/>
                </a:solidFill>
              </a:rPr>
              <a:t>Nvidia, AMD, Apple, Qualcomm</a:t>
            </a:r>
            <a:endParaRPr lang="en-US" sz="800" dirty="0"/>
          </a:p>
        </p:txBody>
      </p:sp>
      <p:sp>
        <p:nvSpPr>
          <p:cNvPr id="10" name="Shape 7"/>
          <p:cNvSpPr/>
          <p:nvPr/>
        </p:nvSpPr>
        <p:spPr>
          <a:xfrm>
            <a:off x="4526280" y="1645920"/>
            <a:ext cx="2834640" cy="2377440"/>
          </a:xfrm>
          <a:prstGeom prst="roundRect">
            <a:avLst>
              <a:gd name="adj" fmla="val 2308"/>
            </a:avLst>
          </a:prstGeom>
          <a:solidFill>
            <a:srgbClr val="EAF6FC"/>
          </a:solidFill>
          <a:ln w="8890">
            <a:solidFill>
              <a:srgbClr val="B7DDEF"/>
            </a:solidFill>
            <a:prstDash val="solid"/>
          </a:ln>
        </p:spPr>
      </p:sp>
      <p:sp>
        <p:nvSpPr>
          <p:cNvPr id="11" name="Text 8"/>
          <p:cNvSpPr/>
          <p:nvPr/>
        </p:nvSpPr>
        <p:spPr>
          <a:xfrm>
            <a:off x="4754880" y="1920240"/>
            <a:ext cx="2377440" cy="320040"/>
          </a:xfrm>
          <a:prstGeom prst="rect">
            <a:avLst/>
          </a:prstGeom>
          <a:noFill/>
          <a:ln/>
        </p:spPr>
        <p:txBody>
          <a:bodyPr wrap="square" lIns="635" tIns="635" rIns="635" bIns="635" rtlCol="0" anchor="t">
            <a:normAutofit/>
          </a:bodyPr>
          <a:lstStyle/>
          <a:p>
            <a:pPr algn="ctr" indent="0" marL="0">
              <a:buNone/>
            </a:pPr>
            <a:r>
              <a:rPr lang="en-US" sz="1600" b="1" dirty="0">
                <a:solidFill>
                  <a:srgbClr val="1B9BDA"/>
                </a:solidFill>
              </a:rPr>
              <a:t>Foundry</a:t>
            </a:r>
            <a:endParaRPr lang="en-US" sz="1600" dirty="0"/>
          </a:p>
        </p:txBody>
      </p:sp>
      <p:sp>
        <p:nvSpPr>
          <p:cNvPr id="12" name="Text 9"/>
          <p:cNvSpPr/>
          <p:nvPr/>
        </p:nvSpPr>
        <p:spPr>
          <a:xfrm>
            <a:off x="4754880" y="2514600"/>
            <a:ext cx="2377440" cy="365760"/>
          </a:xfrm>
          <a:prstGeom prst="rect">
            <a:avLst/>
          </a:prstGeom>
          <a:noFill/>
          <a:ln/>
        </p:spPr>
        <p:txBody>
          <a:bodyPr wrap="square" lIns="635" tIns="635" rIns="635" bIns="635" rtlCol="0" anchor="t">
            <a:normAutofit/>
          </a:bodyPr>
          <a:lstStyle/>
          <a:p>
            <a:pPr algn="ctr" indent="0" marL="0">
              <a:buNone/>
            </a:pPr>
            <a:r>
              <a:rPr lang="en-US" sz="900" dirty="0">
                <a:solidFill>
                  <a:srgbClr val="1F2933"/>
                </a:solidFill>
              </a:rPr>
              <a:t>Manufactures chips for third parties</a:t>
            </a:r>
            <a:endParaRPr lang="en-US" sz="900" dirty="0"/>
          </a:p>
        </p:txBody>
      </p:sp>
      <p:sp>
        <p:nvSpPr>
          <p:cNvPr id="13" name="Text 10"/>
          <p:cNvSpPr/>
          <p:nvPr/>
        </p:nvSpPr>
        <p:spPr>
          <a:xfrm>
            <a:off x="4754880" y="3246120"/>
            <a:ext cx="2377440" cy="320040"/>
          </a:xfrm>
          <a:prstGeom prst="rect">
            <a:avLst/>
          </a:prstGeom>
          <a:noFill/>
          <a:ln/>
        </p:spPr>
        <p:txBody>
          <a:bodyPr wrap="square" lIns="635" tIns="635" rIns="635" bIns="635" rtlCol="0" anchor="t">
            <a:normAutofit/>
          </a:bodyPr>
          <a:lstStyle/>
          <a:p>
            <a:pPr algn="ctr" indent="0" marL="0">
              <a:buNone/>
            </a:pPr>
            <a:r>
              <a:rPr lang="en-US" sz="800" b="1" dirty="0">
                <a:solidFill>
                  <a:srgbClr val="5E6978"/>
                </a:solidFill>
              </a:rPr>
              <a:t>TSMC, Samsung Foundry</a:t>
            </a:r>
            <a:endParaRPr lang="en-US" sz="800" dirty="0"/>
          </a:p>
        </p:txBody>
      </p:sp>
      <p:sp>
        <p:nvSpPr>
          <p:cNvPr id="14" name="Shape 11"/>
          <p:cNvSpPr/>
          <p:nvPr/>
        </p:nvSpPr>
        <p:spPr>
          <a:xfrm>
            <a:off x="8046720" y="1645920"/>
            <a:ext cx="2834640" cy="2377440"/>
          </a:xfrm>
          <a:prstGeom prst="roundRect">
            <a:avLst>
              <a:gd name="adj" fmla="val 2308"/>
            </a:avLst>
          </a:prstGeom>
          <a:solidFill>
            <a:srgbClr val="FFFFFF"/>
          </a:solidFill>
          <a:ln w="8890">
            <a:solidFill>
              <a:srgbClr val="D7E0E8"/>
            </a:solidFill>
            <a:prstDash val="solid"/>
          </a:ln>
        </p:spPr>
      </p:sp>
      <p:sp>
        <p:nvSpPr>
          <p:cNvPr id="15" name="Text 12"/>
          <p:cNvSpPr/>
          <p:nvPr/>
        </p:nvSpPr>
        <p:spPr>
          <a:xfrm>
            <a:off x="8275320" y="1920240"/>
            <a:ext cx="2377440" cy="320040"/>
          </a:xfrm>
          <a:prstGeom prst="rect">
            <a:avLst/>
          </a:prstGeom>
          <a:noFill/>
          <a:ln/>
        </p:spPr>
        <p:txBody>
          <a:bodyPr wrap="square" lIns="635" tIns="635" rIns="635" bIns="635" rtlCol="0" anchor="t">
            <a:normAutofit/>
          </a:bodyPr>
          <a:lstStyle/>
          <a:p>
            <a:pPr algn="ctr" indent="0" marL="0">
              <a:buNone/>
            </a:pPr>
            <a:r>
              <a:rPr lang="en-US" sz="1600" b="1" dirty="0">
                <a:solidFill>
                  <a:srgbClr val="1F2933"/>
                </a:solidFill>
              </a:rPr>
              <a:t>IDM</a:t>
            </a:r>
            <a:endParaRPr lang="en-US" sz="1600" dirty="0"/>
          </a:p>
        </p:txBody>
      </p:sp>
      <p:sp>
        <p:nvSpPr>
          <p:cNvPr id="16" name="Text 13"/>
          <p:cNvSpPr/>
          <p:nvPr/>
        </p:nvSpPr>
        <p:spPr>
          <a:xfrm>
            <a:off x="8275320" y="2514600"/>
            <a:ext cx="2377440" cy="365760"/>
          </a:xfrm>
          <a:prstGeom prst="rect">
            <a:avLst/>
          </a:prstGeom>
          <a:noFill/>
          <a:ln/>
        </p:spPr>
        <p:txBody>
          <a:bodyPr wrap="square" lIns="635" tIns="635" rIns="635" bIns="635" rtlCol="0" anchor="t">
            <a:normAutofit/>
          </a:bodyPr>
          <a:lstStyle/>
          <a:p>
            <a:pPr algn="ctr" indent="0" marL="0">
              <a:buNone/>
            </a:pPr>
            <a:r>
              <a:rPr lang="en-US" sz="900" dirty="0">
                <a:solidFill>
                  <a:srgbClr val="1F2933"/>
                </a:solidFill>
              </a:rPr>
              <a:t>Designs and manufactures chips</a:t>
            </a:r>
            <a:endParaRPr lang="en-US" sz="900" dirty="0"/>
          </a:p>
        </p:txBody>
      </p:sp>
      <p:sp>
        <p:nvSpPr>
          <p:cNvPr id="17" name="Text 14"/>
          <p:cNvSpPr/>
          <p:nvPr/>
        </p:nvSpPr>
        <p:spPr>
          <a:xfrm>
            <a:off x="8275320" y="3246120"/>
            <a:ext cx="2377440" cy="320040"/>
          </a:xfrm>
          <a:prstGeom prst="rect">
            <a:avLst/>
          </a:prstGeom>
          <a:noFill/>
          <a:ln/>
        </p:spPr>
        <p:txBody>
          <a:bodyPr wrap="square" lIns="635" tIns="635" rIns="635" bIns="635" rtlCol="0" anchor="t">
            <a:normAutofit/>
          </a:bodyPr>
          <a:lstStyle/>
          <a:p>
            <a:pPr algn="ctr" indent="0" marL="0">
              <a:buNone/>
            </a:pPr>
            <a:r>
              <a:rPr lang="en-US" sz="800" b="1" dirty="0">
                <a:solidFill>
                  <a:srgbClr val="5E6978"/>
                </a:solidFill>
              </a:rPr>
              <a:t>Intel, Samsung, Micron, SK Hynix</a:t>
            </a:r>
            <a:endParaRPr lang="en-US" sz="800" dirty="0"/>
          </a:p>
        </p:txBody>
      </p:sp>
      <p:sp>
        <p:nvSpPr>
          <p:cNvPr id="18" name="Shape 15"/>
          <p:cNvSpPr/>
          <p:nvPr/>
        </p:nvSpPr>
        <p:spPr>
          <a:xfrm>
            <a:off x="411480" y="6428232"/>
            <a:ext cx="11384280" cy="0"/>
          </a:xfrm>
          <a:prstGeom prst="line">
            <a:avLst/>
          </a:prstGeom>
          <a:noFill/>
          <a:ln w="7620">
            <a:solidFill>
              <a:srgbClr val="D7E0E8"/>
            </a:solidFill>
            <a:prstDash val="solid"/>
          </a:ln>
        </p:spPr>
      </p:sp>
      <p:sp>
        <p:nvSpPr>
          <p:cNvPr id="19" name="Text 16"/>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Uploaded VAT 101 document; company materials.</a:t>
            </a:r>
            <a:endParaRPr lang="en-US" sz="550" dirty="0"/>
          </a:p>
        </p:txBody>
      </p:sp>
      <p:sp>
        <p:nvSpPr>
          <p:cNvPr id="20" name="Text 17"/>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14</a:t>
            </a:r>
            <a:endParaRPr lang="en-US" sz="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WFE cyclicality: orders lead reported sales and can reverse faster than chip consumption</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graphicFrame>
        <p:nvGraphicFramePr>
          <p:cNvPr id="6" name="Chart 0" descr=""/>
          <p:cNvGraphicFramePr/>
          <p:nvPr/>
        </p:nvGraphicFramePr>
        <p:xfrm>
          <a:off x="914400" y="1508760"/>
          <a:ext cx="4754880" cy="219456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6309360" y="1691640"/>
            <a:ext cx="4389120" cy="822960"/>
          </a:xfrm>
          <a:prstGeom prst="rect">
            <a:avLst/>
          </a:prstGeom>
          <a:noFill/>
          <a:ln/>
        </p:spPr>
        <p:txBody>
          <a:bodyPr wrap="square" lIns="635" tIns="635" rIns="635" bIns="635" rtlCol="0" anchor="t">
            <a:normAutofit/>
          </a:bodyPr>
          <a:lstStyle/>
          <a:p>
            <a:pPr algn="l" indent="0" marL="0">
              <a:buNone/>
            </a:pPr>
            <a:r>
              <a:rPr lang="en-US" sz="1500" b="1" dirty="0">
                <a:solidFill>
                  <a:srgbClr val="1F2933"/>
                </a:solidFill>
              </a:rPr>
              <a:t>The semiconductor capex cycle usually moves: chip demand -&gt; utilisation -&gt; fab capex -&gt; OEM orders -&gt; VAT orders -&gt; VAT revenue -&gt; new supply.</a:t>
            </a:r>
            <a:endParaRPr lang="en-US" sz="1500" dirty="0"/>
          </a:p>
        </p:txBody>
      </p:sp>
      <p:sp>
        <p:nvSpPr>
          <p:cNvPr id="8" name="Text 4"/>
          <p:cNvSpPr/>
          <p:nvPr/>
        </p:nvSpPr>
        <p:spPr>
          <a:xfrm>
            <a:off x="6309360" y="2971800"/>
            <a:ext cx="4389120" cy="685800"/>
          </a:xfrm>
          <a:prstGeom prst="rect">
            <a:avLst/>
          </a:prstGeom>
          <a:noFill/>
          <a:ln/>
        </p:spPr>
        <p:txBody>
          <a:bodyPr wrap="square" lIns="635" tIns="635" rIns="635" bIns="635" rtlCol="0" anchor="t">
            <a:normAutofit/>
          </a:bodyPr>
          <a:lstStyle/>
          <a:p>
            <a:pPr algn="l" indent="0" marL="0">
              <a:buNone/>
            </a:pPr>
            <a:r>
              <a:rPr lang="en-US" sz="1100" b="1" dirty="0">
                <a:solidFill>
                  <a:srgbClr val="1B9BDA"/>
                </a:solidFill>
              </a:rPr>
              <a:t>The pitch is not that VAT is non-cyclical. The pitch is that the current cycle is reinforced by structural vacuum-intensity growth and a large installed base.</a:t>
            </a:r>
            <a:endParaRPr lang="en-US" sz="1100" dirty="0"/>
          </a:p>
        </p:txBody>
      </p:sp>
      <p:sp>
        <p:nvSpPr>
          <p:cNvPr id="9" name="Shape 5"/>
          <p:cNvSpPr/>
          <p:nvPr/>
        </p:nvSpPr>
        <p:spPr>
          <a:xfrm>
            <a:off x="411480" y="6428232"/>
            <a:ext cx="11384280" cy="0"/>
          </a:xfrm>
          <a:prstGeom prst="line">
            <a:avLst/>
          </a:prstGeom>
          <a:noFill/>
          <a:ln w="7620">
            <a:solidFill>
              <a:srgbClr val="D7E0E8"/>
            </a:solidFill>
            <a:prstDash val="solid"/>
          </a:ln>
        </p:spPr>
      </p:sp>
      <p:sp>
        <p:nvSpPr>
          <p:cNvPr id="10" name="Text 6"/>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Uploaded VAT 101 document; VAT reported results; analyst estimates.</a:t>
            </a:r>
            <a:endParaRPr lang="en-US" sz="550" dirty="0"/>
          </a:p>
        </p:txBody>
      </p:sp>
      <p:sp>
        <p:nvSpPr>
          <p:cNvPr id="11" name="Text 7"/>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15</a:t>
            </a:r>
            <a:endParaRPr lang="en-US" sz="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Logic, HBM and NAND: why advanced architectures increase process complexity</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914400" y="1371600"/>
            <a:ext cx="10058400" cy="960120"/>
          </a:xfrm>
          <a:prstGeom prst="roundRect">
            <a:avLst>
              <a:gd name="adj" fmla="val 5714"/>
            </a:avLst>
          </a:prstGeom>
          <a:solidFill>
            <a:srgbClr val="FFFFFF"/>
          </a:solidFill>
          <a:ln w="8890">
            <a:solidFill>
              <a:srgbClr val="D7E0E8"/>
            </a:solidFill>
            <a:prstDash val="solid"/>
          </a:ln>
        </p:spPr>
      </p:sp>
      <p:sp>
        <p:nvSpPr>
          <p:cNvPr id="7" name="Text 4"/>
          <p:cNvSpPr/>
          <p:nvPr/>
        </p:nvSpPr>
        <p:spPr>
          <a:xfrm>
            <a:off x="1143000" y="1600200"/>
            <a:ext cx="1463040" cy="228600"/>
          </a:xfrm>
          <a:prstGeom prst="rect">
            <a:avLst/>
          </a:prstGeom>
          <a:noFill/>
          <a:ln/>
        </p:spPr>
        <p:txBody>
          <a:bodyPr wrap="square" lIns="635" tIns="635" rIns="635" bIns="635" rtlCol="0" anchor="t">
            <a:normAutofit/>
          </a:bodyPr>
          <a:lstStyle/>
          <a:p>
            <a:pPr algn="l" indent="0" marL="0">
              <a:buNone/>
            </a:pPr>
            <a:r>
              <a:rPr lang="en-US" sz="1000" b="1" dirty="0">
                <a:solidFill>
                  <a:srgbClr val="1F2933"/>
                </a:solidFill>
              </a:rPr>
              <a:t>Logic / GAA</a:t>
            </a:r>
            <a:endParaRPr lang="en-US" sz="1000" dirty="0"/>
          </a:p>
        </p:txBody>
      </p:sp>
      <p:sp>
        <p:nvSpPr>
          <p:cNvPr id="8" name="Text 5"/>
          <p:cNvSpPr/>
          <p:nvPr/>
        </p:nvSpPr>
        <p:spPr>
          <a:xfrm>
            <a:off x="2834640" y="1536192"/>
            <a:ext cx="3291840" cy="320040"/>
          </a:xfrm>
          <a:prstGeom prst="rect">
            <a:avLst/>
          </a:prstGeom>
          <a:noFill/>
          <a:ln/>
        </p:spPr>
        <p:txBody>
          <a:bodyPr wrap="square" lIns="635" tIns="635" rIns="635" bIns="635" rtlCol="0" anchor="t">
            <a:normAutofit/>
          </a:bodyPr>
          <a:lstStyle/>
          <a:p>
            <a:pPr algn="l" indent="0" marL="0">
              <a:buNone/>
            </a:pPr>
            <a:r>
              <a:rPr lang="en-US" sz="800" dirty="0">
                <a:solidFill>
                  <a:srgbClr val="1F2933"/>
                </a:solidFill>
              </a:rPr>
              <a:t>More demanding transistor structures and tighter process windows</a:t>
            </a:r>
            <a:endParaRPr lang="en-US" sz="800" dirty="0"/>
          </a:p>
        </p:txBody>
      </p:sp>
      <p:sp>
        <p:nvSpPr>
          <p:cNvPr id="9" name="Text 6"/>
          <p:cNvSpPr/>
          <p:nvPr/>
        </p:nvSpPr>
        <p:spPr>
          <a:xfrm>
            <a:off x="6400800" y="1536192"/>
            <a:ext cx="4023360" cy="320040"/>
          </a:xfrm>
          <a:prstGeom prst="rect">
            <a:avLst/>
          </a:prstGeom>
          <a:noFill/>
          <a:ln/>
        </p:spPr>
        <p:txBody>
          <a:bodyPr wrap="square" lIns="635" tIns="635" rIns="635" bIns="635" rtlCol="0" anchor="t">
            <a:normAutofit/>
          </a:bodyPr>
          <a:lstStyle/>
          <a:p>
            <a:pPr algn="l" indent="0" marL="0">
              <a:buNone/>
            </a:pPr>
            <a:r>
              <a:rPr lang="en-US" sz="800" b="1" dirty="0">
                <a:solidFill>
                  <a:srgbClr val="1F2933"/>
                </a:solidFill>
              </a:rPr>
              <a:t>More deposition / etch complexity and pressure control</a:t>
            </a:r>
            <a:endParaRPr lang="en-US" sz="800" dirty="0"/>
          </a:p>
        </p:txBody>
      </p:sp>
      <p:sp>
        <p:nvSpPr>
          <p:cNvPr id="10" name="Shape 7"/>
          <p:cNvSpPr/>
          <p:nvPr/>
        </p:nvSpPr>
        <p:spPr>
          <a:xfrm>
            <a:off x="914400" y="2697480"/>
            <a:ext cx="10058400" cy="960120"/>
          </a:xfrm>
          <a:prstGeom prst="roundRect">
            <a:avLst>
              <a:gd name="adj" fmla="val 5714"/>
            </a:avLst>
          </a:prstGeom>
          <a:solidFill>
            <a:srgbClr val="EAF6FC"/>
          </a:solidFill>
          <a:ln w="8890">
            <a:solidFill>
              <a:srgbClr val="B7DDEF"/>
            </a:solidFill>
            <a:prstDash val="solid"/>
          </a:ln>
        </p:spPr>
      </p:sp>
      <p:sp>
        <p:nvSpPr>
          <p:cNvPr id="11" name="Text 8"/>
          <p:cNvSpPr/>
          <p:nvPr/>
        </p:nvSpPr>
        <p:spPr>
          <a:xfrm>
            <a:off x="1143000" y="2926080"/>
            <a:ext cx="1463040" cy="228600"/>
          </a:xfrm>
          <a:prstGeom prst="rect">
            <a:avLst/>
          </a:prstGeom>
          <a:noFill/>
          <a:ln/>
        </p:spPr>
        <p:txBody>
          <a:bodyPr wrap="square" lIns="635" tIns="635" rIns="635" bIns="635" rtlCol="0" anchor="t">
            <a:normAutofit/>
          </a:bodyPr>
          <a:lstStyle/>
          <a:p>
            <a:pPr algn="l" indent="0" marL="0">
              <a:buNone/>
            </a:pPr>
            <a:r>
              <a:rPr lang="en-US" sz="1000" b="1" dirty="0">
                <a:solidFill>
                  <a:srgbClr val="1B9BDA"/>
                </a:solidFill>
              </a:rPr>
              <a:t>HBM / DRAM</a:t>
            </a:r>
            <a:endParaRPr lang="en-US" sz="1000" dirty="0"/>
          </a:p>
        </p:txBody>
      </p:sp>
      <p:sp>
        <p:nvSpPr>
          <p:cNvPr id="12" name="Text 9"/>
          <p:cNvSpPr/>
          <p:nvPr/>
        </p:nvSpPr>
        <p:spPr>
          <a:xfrm>
            <a:off x="2834640" y="2862072"/>
            <a:ext cx="3291840" cy="320040"/>
          </a:xfrm>
          <a:prstGeom prst="rect">
            <a:avLst/>
          </a:prstGeom>
          <a:noFill/>
          <a:ln/>
        </p:spPr>
        <p:txBody>
          <a:bodyPr wrap="square" lIns="635" tIns="635" rIns="635" bIns="635" rtlCol="0" anchor="t">
            <a:normAutofit/>
          </a:bodyPr>
          <a:lstStyle/>
          <a:p>
            <a:pPr algn="l" indent="0" marL="0">
              <a:buNone/>
            </a:pPr>
            <a:r>
              <a:rPr lang="en-US" sz="800" dirty="0">
                <a:solidFill>
                  <a:srgbClr val="1F2933"/>
                </a:solidFill>
              </a:rPr>
              <a:t>Stacked high-performance memory; AI server bottleneck</a:t>
            </a:r>
            <a:endParaRPr lang="en-US" sz="800" dirty="0"/>
          </a:p>
        </p:txBody>
      </p:sp>
      <p:sp>
        <p:nvSpPr>
          <p:cNvPr id="13" name="Text 10"/>
          <p:cNvSpPr/>
          <p:nvPr/>
        </p:nvSpPr>
        <p:spPr>
          <a:xfrm>
            <a:off x="6400800" y="2862072"/>
            <a:ext cx="4023360" cy="320040"/>
          </a:xfrm>
          <a:prstGeom prst="rect">
            <a:avLst/>
          </a:prstGeom>
          <a:noFill/>
          <a:ln/>
        </p:spPr>
        <p:txBody>
          <a:bodyPr wrap="square" lIns="635" tIns="635" rIns="635" bIns="635" rtlCol="0" anchor="t">
            <a:normAutofit/>
          </a:bodyPr>
          <a:lstStyle/>
          <a:p>
            <a:pPr algn="l" indent="0" marL="0">
              <a:buNone/>
            </a:pPr>
            <a:r>
              <a:rPr lang="en-US" sz="800" b="1" dirty="0">
                <a:solidFill>
                  <a:srgbClr val="1F2933"/>
                </a:solidFill>
              </a:rPr>
              <a:t>Additional leading-edge memory capacity and tool demand</a:t>
            </a:r>
            <a:endParaRPr lang="en-US" sz="800" dirty="0"/>
          </a:p>
        </p:txBody>
      </p:sp>
      <p:sp>
        <p:nvSpPr>
          <p:cNvPr id="14" name="Shape 11"/>
          <p:cNvSpPr/>
          <p:nvPr/>
        </p:nvSpPr>
        <p:spPr>
          <a:xfrm>
            <a:off x="914400" y="4023360"/>
            <a:ext cx="10058400" cy="960120"/>
          </a:xfrm>
          <a:prstGeom prst="roundRect">
            <a:avLst>
              <a:gd name="adj" fmla="val 5714"/>
            </a:avLst>
          </a:prstGeom>
          <a:solidFill>
            <a:srgbClr val="FFFFFF"/>
          </a:solidFill>
          <a:ln w="8890">
            <a:solidFill>
              <a:srgbClr val="D7E0E8"/>
            </a:solidFill>
            <a:prstDash val="solid"/>
          </a:ln>
        </p:spPr>
      </p:sp>
      <p:sp>
        <p:nvSpPr>
          <p:cNvPr id="15" name="Text 12"/>
          <p:cNvSpPr/>
          <p:nvPr/>
        </p:nvSpPr>
        <p:spPr>
          <a:xfrm>
            <a:off x="1143000" y="4251960"/>
            <a:ext cx="1463040" cy="228600"/>
          </a:xfrm>
          <a:prstGeom prst="rect">
            <a:avLst/>
          </a:prstGeom>
          <a:noFill/>
          <a:ln/>
        </p:spPr>
        <p:txBody>
          <a:bodyPr wrap="square" lIns="635" tIns="635" rIns="635" bIns="635" rtlCol="0" anchor="t">
            <a:normAutofit/>
          </a:bodyPr>
          <a:lstStyle/>
          <a:p>
            <a:pPr algn="l" indent="0" marL="0">
              <a:buNone/>
            </a:pPr>
            <a:r>
              <a:rPr lang="en-US" sz="1000" b="1" dirty="0">
                <a:solidFill>
                  <a:srgbClr val="1F2933"/>
                </a:solidFill>
              </a:rPr>
              <a:t>3D NAND</a:t>
            </a:r>
            <a:endParaRPr lang="en-US" sz="1000" dirty="0"/>
          </a:p>
        </p:txBody>
      </p:sp>
      <p:sp>
        <p:nvSpPr>
          <p:cNvPr id="16" name="Text 13"/>
          <p:cNvSpPr/>
          <p:nvPr/>
        </p:nvSpPr>
        <p:spPr>
          <a:xfrm>
            <a:off x="2834640" y="4187952"/>
            <a:ext cx="3291840" cy="320040"/>
          </a:xfrm>
          <a:prstGeom prst="rect">
            <a:avLst/>
          </a:prstGeom>
          <a:noFill/>
          <a:ln/>
        </p:spPr>
        <p:txBody>
          <a:bodyPr wrap="square" lIns="635" tIns="635" rIns="635" bIns="635" rtlCol="0" anchor="t">
            <a:normAutofit/>
          </a:bodyPr>
          <a:lstStyle/>
          <a:p>
            <a:pPr algn="l" indent="0" marL="0">
              <a:buNone/>
            </a:pPr>
            <a:r>
              <a:rPr lang="en-US" sz="800" dirty="0">
                <a:solidFill>
                  <a:srgbClr val="1F2933"/>
                </a:solidFill>
              </a:rPr>
              <a:t>Vertical scaling by more layers</a:t>
            </a:r>
            <a:endParaRPr lang="en-US" sz="800" dirty="0"/>
          </a:p>
        </p:txBody>
      </p:sp>
      <p:sp>
        <p:nvSpPr>
          <p:cNvPr id="17" name="Text 14"/>
          <p:cNvSpPr/>
          <p:nvPr/>
        </p:nvSpPr>
        <p:spPr>
          <a:xfrm>
            <a:off x="6400800" y="4187952"/>
            <a:ext cx="4023360" cy="320040"/>
          </a:xfrm>
          <a:prstGeom prst="rect">
            <a:avLst/>
          </a:prstGeom>
          <a:noFill/>
          <a:ln/>
        </p:spPr>
        <p:txBody>
          <a:bodyPr wrap="square" lIns="635" tIns="635" rIns="635" bIns="635" rtlCol="0" anchor="t">
            <a:normAutofit/>
          </a:bodyPr>
          <a:lstStyle/>
          <a:p>
            <a:pPr algn="l" indent="0" marL="0">
              <a:buNone/>
            </a:pPr>
            <a:r>
              <a:rPr lang="en-US" sz="800" b="1" dirty="0">
                <a:solidFill>
                  <a:srgbClr val="1F2933"/>
                </a:solidFill>
              </a:rPr>
              <a:t>Deep high-aspect-ratio etch and deposition intensity</a:t>
            </a:r>
            <a:endParaRPr lang="en-US" sz="800" dirty="0"/>
          </a:p>
        </p:txBody>
      </p:sp>
      <p:sp>
        <p:nvSpPr>
          <p:cNvPr id="18" name="Shape 15"/>
          <p:cNvSpPr/>
          <p:nvPr/>
        </p:nvSpPr>
        <p:spPr>
          <a:xfrm>
            <a:off x="411480" y="6428232"/>
            <a:ext cx="11384280" cy="0"/>
          </a:xfrm>
          <a:prstGeom prst="line">
            <a:avLst/>
          </a:prstGeom>
          <a:noFill/>
          <a:ln w="7620">
            <a:solidFill>
              <a:srgbClr val="D7E0E8"/>
            </a:solidFill>
            <a:prstDash val="solid"/>
          </a:ln>
        </p:spPr>
      </p:sp>
      <p:sp>
        <p:nvSpPr>
          <p:cNvPr id="19" name="Text 16"/>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SEMI; VAT 2025 CMD materials; major equipment OEM materials; analyst estimates.</a:t>
            </a:r>
            <a:endParaRPr lang="en-US" sz="550" dirty="0"/>
          </a:p>
        </p:txBody>
      </p:sp>
      <p:sp>
        <p:nvSpPr>
          <p:cNvPr id="20" name="Text 17"/>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16</a:t>
            </a:r>
            <a:endParaRPr lang="en-US" sz="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Market share and service economics: the installed base makes the quality franchise more durable</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960120" y="1554480"/>
            <a:ext cx="2194560" cy="1143000"/>
          </a:xfrm>
          <a:prstGeom prst="roundRect">
            <a:avLst>
              <a:gd name="adj" fmla="val 4800"/>
            </a:avLst>
          </a:prstGeom>
          <a:solidFill>
            <a:srgbClr val="EAF6FC"/>
          </a:solidFill>
          <a:ln w="8890">
            <a:solidFill>
              <a:srgbClr val="B7DDEF"/>
            </a:solidFill>
            <a:prstDash val="solid"/>
          </a:ln>
        </p:spPr>
      </p:sp>
      <p:sp>
        <p:nvSpPr>
          <p:cNvPr id="7" name="Text 4"/>
          <p:cNvSpPr/>
          <p:nvPr/>
        </p:nvSpPr>
        <p:spPr>
          <a:xfrm>
            <a:off x="1069848" y="1645920"/>
            <a:ext cx="197510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Core semi share</a:t>
            </a:r>
            <a:endParaRPr lang="en-US" sz="650" dirty="0"/>
          </a:p>
        </p:txBody>
      </p:sp>
      <p:sp>
        <p:nvSpPr>
          <p:cNvPr id="8" name="Text 5"/>
          <p:cNvSpPr/>
          <p:nvPr/>
        </p:nvSpPr>
        <p:spPr>
          <a:xfrm>
            <a:off x="1069848" y="1874520"/>
            <a:ext cx="197510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&gt;75%</a:t>
            </a:r>
            <a:endParaRPr lang="en-US" sz="2000" dirty="0"/>
          </a:p>
        </p:txBody>
      </p:sp>
      <p:sp>
        <p:nvSpPr>
          <p:cNvPr id="9" name="Text 6"/>
          <p:cNvSpPr/>
          <p:nvPr/>
        </p:nvSpPr>
        <p:spPr>
          <a:xfrm>
            <a:off x="1069848" y="2267712"/>
            <a:ext cx="197510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VAT CMD metric</a:t>
            </a:r>
            <a:endParaRPr lang="en-US" sz="640" dirty="0"/>
          </a:p>
        </p:txBody>
      </p:sp>
      <p:sp>
        <p:nvSpPr>
          <p:cNvPr id="10" name="Shape 7"/>
          <p:cNvSpPr/>
          <p:nvPr/>
        </p:nvSpPr>
        <p:spPr>
          <a:xfrm>
            <a:off x="3657600" y="1554480"/>
            <a:ext cx="2194560" cy="1143000"/>
          </a:xfrm>
          <a:prstGeom prst="roundRect">
            <a:avLst>
              <a:gd name="adj" fmla="val 4800"/>
            </a:avLst>
          </a:prstGeom>
          <a:solidFill>
            <a:srgbClr val="EAF6FC"/>
          </a:solidFill>
          <a:ln w="8890">
            <a:solidFill>
              <a:srgbClr val="B7DDEF"/>
            </a:solidFill>
            <a:prstDash val="solid"/>
          </a:ln>
        </p:spPr>
      </p:sp>
      <p:sp>
        <p:nvSpPr>
          <p:cNvPr id="11" name="Text 8"/>
          <p:cNvSpPr/>
          <p:nvPr/>
        </p:nvSpPr>
        <p:spPr>
          <a:xfrm>
            <a:off x="3767328" y="1645920"/>
            <a:ext cx="197510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Leading-edge share</a:t>
            </a:r>
            <a:endParaRPr lang="en-US" sz="650" dirty="0"/>
          </a:p>
        </p:txBody>
      </p:sp>
      <p:sp>
        <p:nvSpPr>
          <p:cNvPr id="12" name="Text 9"/>
          <p:cNvSpPr/>
          <p:nvPr/>
        </p:nvSpPr>
        <p:spPr>
          <a:xfrm>
            <a:off x="3767328" y="1874520"/>
            <a:ext cx="197510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&gt;90%</a:t>
            </a:r>
            <a:endParaRPr lang="en-US" sz="2000" dirty="0"/>
          </a:p>
        </p:txBody>
      </p:sp>
      <p:sp>
        <p:nvSpPr>
          <p:cNvPr id="13" name="Text 10"/>
          <p:cNvSpPr/>
          <p:nvPr/>
        </p:nvSpPr>
        <p:spPr>
          <a:xfrm>
            <a:off x="3767328" y="2267712"/>
            <a:ext cx="197510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VAT CMD metric</a:t>
            </a:r>
            <a:endParaRPr lang="en-US" sz="640" dirty="0"/>
          </a:p>
        </p:txBody>
      </p:sp>
      <p:sp>
        <p:nvSpPr>
          <p:cNvPr id="14" name="Shape 11"/>
          <p:cNvSpPr/>
          <p:nvPr/>
        </p:nvSpPr>
        <p:spPr>
          <a:xfrm>
            <a:off x="6355080" y="1554480"/>
            <a:ext cx="2194560" cy="1143000"/>
          </a:xfrm>
          <a:prstGeom prst="roundRect">
            <a:avLst>
              <a:gd name="adj" fmla="val 4800"/>
            </a:avLst>
          </a:prstGeom>
          <a:solidFill>
            <a:srgbClr val="EAF6FC"/>
          </a:solidFill>
          <a:ln w="8890">
            <a:solidFill>
              <a:srgbClr val="B7DDEF"/>
            </a:solidFill>
            <a:prstDash val="solid"/>
          </a:ln>
        </p:spPr>
      </p:sp>
      <p:sp>
        <p:nvSpPr>
          <p:cNvPr id="15" name="Text 12"/>
          <p:cNvSpPr/>
          <p:nvPr/>
        </p:nvSpPr>
        <p:spPr>
          <a:xfrm>
            <a:off x="6464808" y="1645920"/>
            <a:ext cx="197510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Installed base</a:t>
            </a:r>
            <a:endParaRPr lang="en-US" sz="650" dirty="0"/>
          </a:p>
        </p:txBody>
      </p:sp>
      <p:sp>
        <p:nvSpPr>
          <p:cNvPr id="16" name="Text 13"/>
          <p:cNvSpPr/>
          <p:nvPr/>
        </p:nvSpPr>
        <p:spPr>
          <a:xfrm>
            <a:off x="6464808" y="1874520"/>
            <a:ext cx="197510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~1.7m valves</a:t>
            </a:r>
            <a:endParaRPr lang="en-US" sz="2000" dirty="0"/>
          </a:p>
        </p:txBody>
      </p:sp>
      <p:sp>
        <p:nvSpPr>
          <p:cNvPr id="17" name="Text 14"/>
          <p:cNvSpPr/>
          <p:nvPr/>
        </p:nvSpPr>
        <p:spPr>
          <a:xfrm>
            <a:off x="6464808" y="2267712"/>
            <a:ext cx="197510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Serviceable installed base</a:t>
            </a:r>
            <a:endParaRPr lang="en-US" sz="640" dirty="0"/>
          </a:p>
        </p:txBody>
      </p:sp>
      <p:sp>
        <p:nvSpPr>
          <p:cNvPr id="18" name="Shape 15"/>
          <p:cNvSpPr/>
          <p:nvPr/>
        </p:nvSpPr>
        <p:spPr>
          <a:xfrm>
            <a:off x="9052560" y="1554480"/>
            <a:ext cx="2194560" cy="1143000"/>
          </a:xfrm>
          <a:prstGeom prst="roundRect">
            <a:avLst>
              <a:gd name="adj" fmla="val 4800"/>
            </a:avLst>
          </a:prstGeom>
          <a:solidFill>
            <a:srgbClr val="EAF6FC"/>
          </a:solidFill>
          <a:ln w="8890">
            <a:solidFill>
              <a:srgbClr val="B7DDEF"/>
            </a:solidFill>
            <a:prstDash val="solid"/>
          </a:ln>
        </p:spPr>
      </p:sp>
      <p:sp>
        <p:nvSpPr>
          <p:cNvPr id="19" name="Text 16"/>
          <p:cNvSpPr/>
          <p:nvPr/>
        </p:nvSpPr>
        <p:spPr>
          <a:xfrm>
            <a:off x="9162288" y="1645920"/>
            <a:ext cx="197510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Service lifetime value</a:t>
            </a:r>
            <a:endParaRPr lang="en-US" sz="650" dirty="0"/>
          </a:p>
        </p:txBody>
      </p:sp>
      <p:sp>
        <p:nvSpPr>
          <p:cNvPr id="20" name="Text 17"/>
          <p:cNvSpPr/>
          <p:nvPr/>
        </p:nvSpPr>
        <p:spPr>
          <a:xfrm>
            <a:off x="9162288" y="1874520"/>
            <a:ext cx="197510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3-5x</a:t>
            </a:r>
            <a:endParaRPr lang="en-US" sz="2000" dirty="0"/>
          </a:p>
        </p:txBody>
      </p:sp>
      <p:sp>
        <p:nvSpPr>
          <p:cNvPr id="21" name="Text 18"/>
          <p:cNvSpPr/>
          <p:nvPr/>
        </p:nvSpPr>
        <p:spPr>
          <a:xfrm>
            <a:off x="9162288" y="2267712"/>
            <a:ext cx="197510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vs. original valve sale</a:t>
            </a:r>
            <a:endParaRPr lang="en-US" sz="640" dirty="0"/>
          </a:p>
        </p:txBody>
      </p:sp>
      <p:sp>
        <p:nvSpPr>
          <p:cNvPr id="22" name="Text 19"/>
          <p:cNvSpPr/>
          <p:nvPr/>
        </p:nvSpPr>
        <p:spPr>
          <a:xfrm>
            <a:off x="1143000" y="3749040"/>
            <a:ext cx="9601200" cy="594360"/>
          </a:xfrm>
          <a:prstGeom prst="rect">
            <a:avLst/>
          </a:prstGeom>
          <a:noFill/>
          <a:ln/>
        </p:spPr>
        <p:txBody>
          <a:bodyPr wrap="square" lIns="635" tIns="635" rIns="635" bIns="635" rtlCol="0" anchor="t">
            <a:normAutofit/>
          </a:bodyPr>
          <a:lstStyle/>
          <a:p>
            <a:pPr algn="ctr" indent="0" marL="0">
              <a:buNone/>
            </a:pPr>
            <a:r>
              <a:rPr lang="en-US" sz="1500" b="1" dirty="0">
                <a:solidFill>
                  <a:srgbClr val="1F2933"/>
                </a:solidFill>
              </a:rPr>
              <a:t>Global Service is recurring-like but not subscription revenue: spares, consumables, repairs and retrofits still depend on fab utilisation and installed-base activity.</a:t>
            </a:r>
            <a:endParaRPr lang="en-US" sz="1500" dirty="0"/>
          </a:p>
        </p:txBody>
      </p:sp>
      <p:sp>
        <p:nvSpPr>
          <p:cNvPr id="23" name="Shape 20"/>
          <p:cNvSpPr/>
          <p:nvPr/>
        </p:nvSpPr>
        <p:spPr>
          <a:xfrm>
            <a:off x="411480" y="6428232"/>
            <a:ext cx="11384280" cy="0"/>
          </a:xfrm>
          <a:prstGeom prst="line">
            <a:avLst/>
          </a:prstGeom>
          <a:noFill/>
          <a:ln w="7620">
            <a:solidFill>
              <a:srgbClr val="D7E0E8"/>
            </a:solidFill>
            <a:prstDash val="solid"/>
          </a:ln>
        </p:spPr>
      </p:sp>
      <p:sp>
        <p:nvSpPr>
          <p:cNvPr id="24" name="Text 21"/>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VAT 2025 CMD materials; uploaded VAT 101 document; analyst estimates.</a:t>
            </a:r>
            <a:endParaRPr lang="en-US" sz="550" dirty="0"/>
          </a:p>
        </p:txBody>
      </p:sp>
      <p:sp>
        <p:nvSpPr>
          <p:cNvPr id="25" name="Text 22"/>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17</a:t>
            </a:r>
            <a:endParaRPr lang="en-US" sz="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Backlog / book-to-bill / capacity: the near-term debate is execution, not demand visibility</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graphicFrame>
        <p:nvGraphicFramePr>
          <p:cNvPr id="6" name="Chart 0" descr=""/>
          <p:cNvGraphicFramePr/>
          <p:nvPr/>
        </p:nvGraphicFramePr>
        <p:xfrm>
          <a:off x="868680" y="1417320"/>
          <a:ext cx="4846320" cy="21488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6446520" y="1444752"/>
            <a:ext cx="1508760" cy="1051560"/>
          </a:xfrm>
          <a:prstGeom prst="roundRect">
            <a:avLst>
              <a:gd name="adj" fmla="val 5217"/>
            </a:avLst>
          </a:prstGeom>
          <a:solidFill>
            <a:srgbClr val="EAF6FC"/>
          </a:solidFill>
          <a:ln w="8890">
            <a:solidFill>
              <a:srgbClr val="B7DDEF"/>
            </a:solidFill>
            <a:prstDash val="solid"/>
          </a:ln>
        </p:spPr>
      </p:sp>
      <p:sp>
        <p:nvSpPr>
          <p:cNvPr id="8" name="Text 4"/>
          <p:cNvSpPr/>
          <p:nvPr/>
        </p:nvSpPr>
        <p:spPr>
          <a:xfrm>
            <a:off x="6556248" y="1536192"/>
            <a:ext cx="128930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Q2 book-to-bill</a:t>
            </a:r>
            <a:endParaRPr lang="en-US" sz="650" dirty="0"/>
          </a:p>
        </p:txBody>
      </p:sp>
      <p:sp>
        <p:nvSpPr>
          <p:cNvPr id="9" name="Text 5"/>
          <p:cNvSpPr/>
          <p:nvPr/>
        </p:nvSpPr>
        <p:spPr>
          <a:xfrm>
            <a:off x="6556248" y="1764792"/>
            <a:ext cx="128930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1.7x</a:t>
            </a:r>
            <a:endParaRPr lang="en-US" sz="2000" dirty="0"/>
          </a:p>
        </p:txBody>
      </p:sp>
      <p:sp>
        <p:nvSpPr>
          <p:cNvPr id="10" name="Text 6"/>
          <p:cNvSpPr/>
          <p:nvPr/>
        </p:nvSpPr>
        <p:spPr>
          <a:xfrm>
            <a:off x="6556248" y="2157984"/>
            <a:ext cx="128930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Orders / sales</a:t>
            </a:r>
            <a:endParaRPr lang="en-US" sz="640" dirty="0"/>
          </a:p>
        </p:txBody>
      </p:sp>
      <p:sp>
        <p:nvSpPr>
          <p:cNvPr id="11" name="Shape 7"/>
          <p:cNvSpPr/>
          <p:nvPr/>
        </p:nvSpPr>
        <p:spPr>
          <a:xfrm>
            <a:off x="8183880" y="1444752"/>
            <a:ext cx="1508760" cy="1051560"/>
          </a:xfrm>
          <a:prstGeom prst="roundRect">
            <a:avLst>
              <a:gd name="adj" fmla="val 5217"/>
            </a:avLst>
          </a:prstGeom>
          <a:solidFill>
            <a:srgbClr val="EAF6FC"/>
          </a:solidFill>
          <a:ln w="8890">
            <a:solidFill>
              <a:srgbClr val="B7DDEF"/>
            </a:solidFill>
            <a:prstDash val="solid"/>
          </a:ln>
        </p:spPr>
      </p:sp>
      <p:sp>
        <p:nvSpPr>
          <p:cNvPr id="12" name="Text 8"/>
          <p:cNvSpPr/>
          <p:nvPr/>
        </p:nvSpPr>
        <p:spPr>
          <a:xfrm>
            <a:off x="8293608" y="1536192"/>
            <a:ext cx="128930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Backlog</a:t>
            </a:r>
            <a:endParaRPr lang="en-US" sz="650" dirty="0"/>
          </a:p>
        </p:txBody>
      </p:sp>
      <p:sp>
        <p:nvSpPr>
          <p:cNvPr id="13" name="Text 9"/>
          <p:cNvSpPr/>
          <p:nvPr/>
        </p:nvSpPr>
        <p:spPr>
          <a:xfrm>
            <a:off x="8293608" y="1764792"/>
            <a:ext cx="128930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CHF648m</a:t>
            </a:r>
            <a:endParaRPr lang="en-US" sz="2000" dirty="0"/>
          </a:p>
        </p:txBody>
      </p:sp>
      <p:sp>
        <p:nvSpPr>
          <p:cNvPr id="14" name="Text 10"/>
          <p:cNvSpPr/>
          <p:nvPr/>
        </p:nvSpPr>
        <p:spPr>
          <a:xfrm>
            <a:off x="8293608" y="2157984"/>
            <a:ext cx="128930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+121% YoY</a:t>
            </a:r>
            <a:endParaRPr lang="en-US" sz="640" dirty="0"/>
          </a:p>
        </p:txBody>
      </p:sp>
      <p:sp>
        <p:nvSpPr>
          <p:cNvPr id="15" name="Shape 11"/>
          <p:cNvSpPr/>
          <p:nvPr/>
        </p:nvSpPr>
        <p:spPr>
          <a:xfrm>
            <a:off x="9921240" y="1444752"/>
            <a:ext cx="1508760" cy="1051560"/>
          </a:xfrm>
          <a:prstGeom prst="roundRect">
            <a:avLst>
              <a:gd name="adj" fmla="val 5217"/>
            </a:avLst>
          </a:prstGeom>
          <a:solidFill>
            <a:srgbClr val="EAF6FC"/>
          </a:solidFill>
          <a:ln w="8890">
            <a:solidFill>
              <a:srgbClr val="B7DDEF"/>
            </a:solidFill>
            <a:prstDash val="solid"/>
          </a:ln>
        </p:spPr>
      </p:sp>
      <p:sp>
        <p:nvSpPr>
          <p:cNvPr id="16" name="Text 12"/>
          <p:cNvSpPr/>
          <p:nvPr/>
        </p:nvSpPr>
        <p:spPr>
          <a:xfrm>
            <a:off x="10030968" y="1536192"/>
            <a:ext cx="1289304" cy="201168"/>
          </a:xfrm>
          <a:prstGeom prst="rect">
            <a:avLst/>
          </a:prstGeom>
          <a:noFill/>
          <a:ln/>
        </p:spPr>
        <p:txBody>
          <a:bodyPr wrap="square" lIns="635" tIns="635" rIns="635" bIns="635" rtlCol="0" anchor="t">
            <a:normAutofit/>
          </a:bodyPr>
          <a:lstStyle/>
          <a:p>
            <a:pPr algn="l" indent="0" marL="0">
              <a:buNone/>
            </a:pPr>
            <a:r>
              <a:rPr lang="en-US" sz="650" b="1" dirty="0">
                <a:solidFill>
                  <a:srgbClr val="5E6978"/>
                </a:solidFill>
              </a:rPr>
              <a:t>Run-rate target</a:t>
            </a:r>
            <a:endParaRPr lang="en-US" sz="650" dirty="0"/>
          </a:p>
        </p:txBody>
      </p:sp>
      <p:sp>
        <p:nvSpPr>
          <p:cNvPr id="17" name="Text 13"/>
          <p:cNvSpPr/>
          <p:nvPr/>
        </p:nvSpPr>
        <p:spPr>
          <a:xfrm>
            <a:off x="10030968" y="1764792"/>
            <a:ext cx="1289304" cy="347472"/>
          </a:xfrm>
          <a:prstGeom prst="rect">
            <a:avLst/>
          </a:prstGeom>
          <a:noFill/>
          <a:ln/>
        </p:spPr>
        <p:txBody>
          <a:bodyPr wrap="square" lIns="635" tIns="635" rIns="635" bIns="635" rtlCol="0" anchor="t">
            <a:normAutofit/>
          </a:bodyPr>
          <a:lstStyle/>
          <a:p>
            <a:pPr algn="l" indent="0" marL="0">
              <a:buNone/>
            </a:pPr>
            <a:r>
              <a:rPr lang="en-US" sz="2000" b="1" dirty="0">
                <a:solidFill>
                  <a:srgbClr val="1B9BDA"/>
                </a:solidFill>
              </a:rPr>
              <a:t>&gt;CHF450m</a:t>
            </a:r>
            <a:endParaRPr lang="en-US" sz="2000" dirty="0"/>
          </a:p>
        </p:txBody>
      </p:sp>
      <p:sp>
        <p:nvSpPr>
          <p:cNvPr id="18" name="Text 14"/>
          <p:cNvSpPr/>
          <p:nvPr/>
        </p:nvSpPr>
        <p:spPr>
          <a:xfrm>
            <a:off x="10030968" y="2157984"/>
            <a:ext cx="1289304" cy="201168"/>
          </a:xfrm>
          <a:prstGeom prst="rect">
            <a:avLst/>
          </a:prstGeom>
          <a:noFill/>
          <a:ln/>
        </p:spPr>
        <p:txBody>
          <a:bodyPr wrap="square" lIns="635" tIns="635" rIns="635" bIns="635" rtlCol="0" anchor="t">
            <a:normAutofit/>
          </a:bodyPr>
          <a:lstStyle/>
          <a:p>
            <a:pPr algn="l" indent="0" marL="0">
              <a:buNone/>
            </a:pPr>
            <a:r>
              <a:rPr lang="en-US" sz="640" dirty="0">
                <a:solidFill>
                  <a:srgbClr val="5E6978"/>
                </a:solidFill>
              </a:rPr>
              <a:t>Quarterly by YE26</a:t>
            </a:r>
            <a:endParaRPr lang="en-US" sz="640" dirty="0"/>
          </a:p>
        </p:txBody>
      </p:sp>
      <p:sp>
        <p:nvSpPr>
          <p:cNvPr id="19" name="Text 15"/>
          <p:cNvSpPr/>
          <p:nvPr/>
        </p:nvSpPr>
        <p:spPr>
          <a:xfrm>
            <a:off x="960120" y="4343400"/>
            <a:ext cx="10241280" cy="548640"/>
          </a:xfrm>
          <a:prstGeom prst="rect">
            <a:avLst/>
          </a:prstGeom>
          <a:noFill/>
          <a:ln/>
        </p:spPr>
        <p:txBody>
          <a:bodyPr wrap="square" lIns="635" tIns="635" rIns="635" bIns="635" rtlCol="0" anchor="t">
            <a:normAutofit/>
          </a:bodyPr>
          <a:lstStyle/>
          <a:p>
            <a:pPr algn="ctr" indent="0" marL="0">
              <a:buNone/>
            </a:pPr>
            <a:r>
              <a:rPr lang="en-US" sz="1400" b="1" dirty="0">
                <a:solidFill>
                  <a:srgbClr val="1F2933"/>
                </a:solidFill>
              </a:rPr>
              <a:t>H1 2026 demand accelerated faster than shipped sales. Management is expanding the supply chain and inventory while hiring manufacturing personnel; the thesis requires clean backlog conversion.</a:t>
            </a:r>
            <a:endParaRPr lang="en-US" sz="1400" dirty="0"/>
          </a:p>
        </p:txBody>
      </p:sp>
      <p:sp>
        <p:nvSpPr>
          <p:cNvPr id="20" name="Shape 16"/>
          <p:cNvSpPr/>
          <p:nvPr/>
        </p:nvSpPr>
        <p:spPr>
          <a:xfrm>
            <a:off x="411480" y="6428232"/>
            <a:ext cx="11384280" cy="0"/>
          </a:xfrm>
          <a:prstGeom prst="line">
            <a:avLst/>
          </a:prstGeom>
          <a:noFill/>
          <a:ln w="7620">
            <a:solidFill>
              <a:srgbClr val="D7E0E8"/>
            </a:solidFill>
            <a:prstDash val="solid"/>
          </a:ln>
        </p:spPr>
      </p:sp>
      <p:sp>
        <p:nvSpPr>
          <p:cNvPr id="21" name="Text 17"/>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VAT H1 2026 release; VAT letter to stakeholders.</a:t>
            </a:r>
            <a:endParaRPr lang="en-US" sz="550" dirty="0"/>
          </a:p>
        </p:txBody>
      </p:sp>
      <p:sp>
        <p:nvSpPr>
          <p:cNvPr id="22" name="Text 18"/>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18</a:t>
            </a:r>
            <a:endParaRPr lang="en-US" sz="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Historical financials and forecast bridge</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graphicFrame>
        <p:nvGraphicFramePr>
          <p:cNvPr id="6" name="Chart 0" descr=""/>
          <p:cNvGraphicFramePr/>
          <p:nvPr/>
        </p:nvGraphicFramePr>
        <p:xfrm>
          <a:off x="822960" y="1417320"/>
          <a:ext cx="4937760" cy="224028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1" descr=""/>
          <p:cNvGraphicFramePr/>
          <p:nvPr/>
        </p:nvGraphicFramePr>
        <p:xfrm>
          <a:off x="6400800" y="1417320"/>
          <a:ext cx="4389120" cy="2240280"/>
        </p:xfrm>
        <a:graphic xmlns:a="http://schemas.openxmlformats.org/drawingml/2006/main">
          <a:graphicData uri="http://schemas.openxmlformats.org/drawingml/2006/chart">
            <c:chart xmlns:c="http://schemas.openxmlformats.org/drawingml/2006/chart" r:id="rId3"/>
          </a:graphicData>
        </a:graphic>
      </p:graphicFrame>
      <p:sp>
        <p:nvSpPr>
          <p:cNvPr id="8" name="Text 3"/>
          <p:cNvSpPr/>
          <p:nvPr/>
        </p:nvSpPr>
        <p:spPr>
          <a:xfrm>
            <a:off x="1005840" y="4389120"/>
            <a:ext cx="9875520" cy="457200"/>
          </a:xfrm>
          <a:prstGeom prst="rect">
            <a:avLst/>
          </a:prstGeom>
          <a:noFill/>
          <a:ln/>
        </p:spPr>
        <p:txBody>
          <a:bodyPr wrap="square" lIns="635" tIns="635" rIns="635" bIns="635" rtlCol="0" anchor="t">
            <a:normAutofit/>
          </a:bodyPr>
          <a:lstStyle/>
          <a:p>
            <a:pPr algn="ctr" indent="0" marL="0">
              <a:buNone/>
            </a:pPr>
            <a:r>
              <a:rPr lang="en-US" sz="1300" b="1" dirty="0">
                <a:solidFill>
                  <a:srgbClr val="1F2933"/>
                </a:solidFill>
              </a:rPr>
              <a:t>Forecast is analyst estimate, not company guidance: steepness depends on backlog conversion, run-rate expansion and margins normalising as utilisation improves.</a:t>
            </a:r>
            <a:endParaRPr lang="en-US" sz="1300" dirty="0"/>
          </a:p>
        </p:txBody>
      </p:sp>
      <p:sp>
        <p:nvSpPr>
          <p:cNvPr id="9" name="Shape 4"/>
          <p:cNvSpPr/>
          <p:nvPr/>
        </p:nvSpPr>
        <p:spPr>
          <a:xfrm>
            <a:off x="411480" y="6428232"/>
            <a:ext cx="11384280" cy="0"/>
          </a:xfrm>
          <a:prstGeom prst="line">
            <a:avLst/>
          </a:prstGeom>
          <a:noFill/>
          <a:ln w="7620">
            <a:solidFill>
              <a:srgbClr val="D7E0E8"/>
            </a:solidFill>
            <a:prstDash val="solid"/>
          </a:ln>
        </p:spPr>
      </p:sp>
      <p:sp>
        <p:nvSpPr>
          <p:cNvPr id="10" name="Text 5"/>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VAT FY2023-FY2025 results; VAT H1 2026 release; analyst estimates.</a:t>
            </a:r>
            <a:endParaRPr lang="en-US" sz="550" dirty="0"/>
          </a:p>
        </p:txBody>
      </p:sp>
      <p:sp>
        <p:nvSpPr>
          <p:cNvPr id="11" name="Text 6"/>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19</a:t>
            </a:r>
            <a:endParaRPr lang="en-US" sz="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Risk matrix: what breaks the thesis</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Shape 3"/>
          <p:cNvSpPr/>
          <p:nvPr/>
        </p:nvSpPr>
        <p:spPr>
          <a:xfrm>
            <a:off x="822960" y="1417320"/>
            <a:ext cx="10058400" cy="438912"/>
          </a:xfrm>
          <a:prstGeom prst="rect">
            <a:avLst>
              <a:gd name="adj" fmla="val 12500"/>
            </a:avLst>
          </a:prstGeom>
          <a:solidFill>
            <a:srgbClr val="FFFFFF"/>
          </a:solidFill>
          <a:ln w="8890">
            <a:solidFill>
              <a:srgbClr val="D7E0E8"/>
            </a:solidFill>
            <a:prstDash val="solid"/>
          </a:ln>
        </p:spPr>
      </p:sp>
      <p:sp>
        <p:nvSpPr>
          <p:cNvPr id="7" name="Text 4"/>
          <p:cNvSpPr/>
          <p:nvPr/>
        </p:nvSpPr>
        <p:spPr>
          <a:xfrm>
            <a:off x="1005840" y="1545336"/>
            <a:ext cx="2468880" cy="146304"/>
          </a:xfrm>
          <a:prstGeom prst="rect">
            <a:avLst/>
          </a:prstGeom>
          <a:noFill/>
          <a:ln/>
        </p:spPr>
        <p:txBody>
          <a:bodyPr wrap="square" lIns="635" tIns="635" rIns="635" bIns="635" rtlCol="0" anchor="t">
            <a:normAutofit/>
          </a:bodyPr>
          <a:lstStyle/>
          <a:p>
            <a:pPr algn="l" indent="0" marL="0">
              <a:buNone/>
            </a:pPr>
            <a:r>
              <a:rPr lang="en-US" sz="720" b="1" dirty="0">
                <a:solidFill>
                  <a:srgbClr val="1F2933"/>
                </a:solidFill>
              </a:rPr>
              <a:t>WFE / memory downturn</a:t>
            </a:r>
            <a:endParaRPr lang="en-US" sz="720" dirty="0"/>
          </a:p>
        </p:txBody>
      </p:sp>
      <p:sp>
        <p:nvSpPr>
          <p:cNvPr id="8" name="Text 5"/>
          <p:cNvSpPr/>
          <p:nvPr/>
        </p:nvSpPr>
        <p:spPr>
          <a:xfrm>
            <a:off x="3749040" y="1545336"/>
            <a:ext cx="4572000" cy="146304"/>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Orders roll over before backlog conversion</a:t>
            </a:r>
            <a:endParaRPr lang="en-US" sz="700" dirty="0"/>
          </a:p>
        </p:txBody>
      </p:sp>
      <p:sp>
        <p:nvSpPr>
          <p:cNvPr id="9" name="Shape 6"/>
          <p:cNvSpPr/>
          <p:nvPr/>
        </p:nvSpPr>
        <p:spPr>
          <a:xfrm>
            <a:off x="9326880" y="1508760"/>
            <a:ext cx="822960" cy="228600"/>
          </a:xfrm>
          <a:prstGeom prst="roundRect">
            <a:avLst>
              <a:gd name="adj" fmla="val 32000"/>
            </a:avLst>
          </a:prstGeom>
          <a:solidFill>
            <a:srgbClr val="FDEDEE"/>
          </a:solidFill>
          <a:ln w="12700">
            <a:solidFill>
              <a:srgbClr val="FDEDEE">
                <a:alpha val="0"/>
              </a:srgbClr>
            </a:solidFill>
            <a:prstDash val="solid"/>
          </a:ln>
        </p:spPr>
      </p:sp>
      <p:sp>
        <p:nvSpPr>
          <p:cNvPr id="10" name="Text 7"/>
          <p:cNvSpPr/>
          <p:nvPr/>
        </p:nvSpPr>
        <p:spPr>
          <a:xfrm>
            <a:off x="9372600" y="1559052"/>
            <a:ext cx="731520" cy="155448"/>
          </a:xfrm>
          <a:prstGeom prst="rect">
            <a:avLst/>
          </a:prstGeom>
          <a:noFill/>
          <a:ln/>
        </p:spPr>
        <p:txBody>
          <a:bodyPr wrap="square" lIns="0" tIns="0" rIns="0" bIns="0" rtlCol="0" anchor="ctr">
            <a:normAutofit/>
          </a:bodyPr>
          <a:lstStyle/>
          <a:p>
            <a:pPr algn="ctr" indent="0" marL="0">
              <a:buNone/>
            </a:pPr>
            <a:r>
              <a:rPr lang="en-US" sz="570" b="1" dirty="0">
                <a:solidFill>
                  <a:srgbClr val="D64545"/>
                </a:solidFill>
              </a:rPr>
              <a:t>High</a:t>
            </a:r>
            <a:endParaRPr lang="en-US" sz="570" dirty="0"/>
          </a:p>
        </p:txBody>
      </p:sp>
      <p:sp>
        <p:nvSpPr>
          <p:cNvPr id="11" name="Shape 8"/>
          <p:cNvSpPr/>
          <p:nvPr/>
        </p:nvSpPr>
        <p:spPr>
          <a:xfrm>
            <a:off x="822960" y="2075688"/>
            <a:ext cx="10058400" cy="438912"/>
          </a:xfrm>
          <a:prstGeom prst="rect">
            <a:avLst>
              <a:gd name="adj" fmla="val 12500"/>
            </a:avLst>
          </a:prstGeom>
          <a:solidFill>
            <a:srgbClr val="F8FAFC"/>
          </a:solidFill>
          <a:ln w="8890">
            <a:solidFill>
              <a:srgbClr val="D7E0E8"/>
            </a:solidFill>
            <a:prstDash val="solid"/>
          </a:ln>
        </p:spPr>
      </p:sp>
      <p:sp>
        <p:nvSpPr>
          <p:cNvPr id="12" name="Text 9"/>
          <p:cNvSpPr/>
          <p:nvPr/>
        </p:nvSpPr>
        <p:spPr>
          <a:xfrm>
            <a:off x="1005840" y="2203704"/>
            <a:ext cx="2468880" cy="146304"/>
          </a:xfrm>
          <a:prstGeom prst="rect">
            <a:avLst/>
          </a:prstGeom>
          <a:noFill/>
          <a:ln/>
        </p:spPr>
        <p:txBody>
          <a:bodyPr wrap="square" lIns="635" tIns="635" rIns="635" bIns="635" rtlCol="0" anchor="t">
            <a:normAutofit/>
          </a:bodyPr>
          <a:lstStyle/>
          <a:p>
            <a:pPr algn="l" indent="0" marL="0">
              <a:buNone/>
            </a:pPr>
            <a:r>
              <a:rPr lang="en-US" sz="720" b="1" dirty="0">
                <a:solidFill>
                  <a:srgbClr val="1F2933"/>
                </a:solidFill>
              </a:rPr>
              <a:t>Capacity ramp failure</a:t>
            </a:r>
            <a:endParaRPr lang="en-US" sz="720" dirty="0"/>
          </a:p>
        </p:txBody>
      </p:sp>
      <p:sp>
        <p:nvSpPr>
          <p:cNvPr id="13" name="Text 10"/>
          <p:cNvSpPr/>
          <p:nvPr/>
        </p:nvSpPr>
        <p:spPr>
          <a:xfrm>
            <a:off x="3749040" y="2203704"/>
            <a:ext cx="4572000" cy="146304"/>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Quality, delivery or lead-time misses</a:t>
            </a:r>
            <a:endParaRPr lang="en-US" sz="700" dirty="0"/>
          </a:p>
        </p:txBody>
      </p:sp>
      <p:sp>
        <p:nvSpPr>
          <p:cNvPr id="14" name="Shape 11"/>
          <p:cNvSpPr/>
          <p:nvPr/>
        </p:nvSpPr>
        <p:spPr>
          <a:xfrm>
            <a:off x="9326880" y="2167128"/>
            <a:ext cx="822960" cy="228600"/>
          </a:xfrm>
          <a:prstGeom prst="roundRect">
            <a:avLst>
              <a:gd name="adj" fmla="val 32000"/>
            </a:avLst>
          </a:prstGeom>
          <a:solidFill>
            <a:srgbClr val="FDEDEE"/>
          </a:solidFill>
          <a:ln w="12700">
            <a:solidFill>
              <a:srgbClr val="FDEDEE">
                <a:alpha val="0"/>
              </a:srgbClr>
            </a:solidFill>
            <a:prstDash val="solid"/>
          </a:ln>
        </p:spPr>
      </p:sp>
      <p:sp>
        <p:nvSpPr>
          <p:cNvPr id="15" name="Text 12"/>
          <p:cNvSpPr/>
          <p:nvPr/>
        </p:nvSpPr>
        <p:spPr>
          <a:xfrm>
            <a:off x="9372600" y="2217420"/>
            <a:ext cx="731520" cy="155448"/>
          </a:xfrm>
          <a:prstGeom prst="rect">
            <a:avLst/>
          </a:prstGeom>
          <a:noFill/>
          <a:ln/>
        </p:spPr>
        <p:txBody>
          <a:bodyPr wrap="square" lIns="0" tIns="0" rIns="0" bIns="0" rtlCol="0" anchor="ctr">
            <a:normAutofit/>
          </a:bodyPr>
          <a:lstStyle/>
          <a:p>
            <a:pPr algn="ctr" indent="0" marL="0">
              <a:buNone/>
            </a:pPr>
            <a:r>
              <a:rPr lang="en-US" sz="570" b="1" dirty="0">
                <a:solidFill>
                  <a:srgbClr val="D64545"/>
                </a:solidFill>
              </a:rPr>
              <a:t>High</a:t>
            </a:r>
            <a:endParaRPr lang="en-US" sz="570" dirty="0"/>
          </a:p>
        </p:txBody>
      </p:sp>
      <p:sp>
        <p:nvSpPr>
          <p:cNvPr id="16" name="Shape 13"/>
          <p:cNvSpPr/>
          <p:nvPr/>
        </p:nvSpPr>
        <p:spPr>
          <a:xfrm>
            <a:off x="822960" y="2734056"/>
            <a:ext cx="10058400" cy="438912"/>
          </a:xfrm>
          <a:prstGeom prst="rect">
            <a:avLst>
              <a:gd name="adj" fmla="val 12500"/>
            </a:avLst>
          </a:prstGeom>
          <a:solidFill>
            <a:srgbClr val="FFFFFF"/>
          </a:solidFill>
          <a:ln w="8890">
            <a:solidFill>
              <a:srgbClr val="D7E0E8"/>
            </a:solidFill>
            <a:prstDash val="solid"/>
          </a:ln>
        </p:spPr>
      </p:sp>
      <p:sp>
        <p:nvSpPr>
          <p:cNvPr id="17" name="Text 14"/>
          <p:cNvSpPr/>
          <p:nvPr/>
        </p:nvSpPr>
        <p:spPr>
          <a:xfrm>
            <a:off x="1005840" y="2862072"/>
            <a:ext cx="2468880" cy="146304"/>
          </a:xfrm>
          <a:prstGeom prst="rect">
            <a:avLst/>
          </a:prstGeom>
          <a:noFill/>
          <a:ln/>
        </p:spPr>
        <p:txBody>
          <a:bodyPr wrap="square" lIns="635" tIns="635" rIns="635" bIns="635" rtlCol="0" anchor="t">
            <a:normAutofit/>
          </a:bodyPr>
          <a:lstStyle/>
          <a:p>
            <a:pPr algn="l" indent="0" marL="0">
              <a:buNone/>
            </a:pPr>
            <a:r>
              <a:rPr lang="en-US" sz="720" b="1" dirty="0">
                <a:solidFill>
                  <a:srgbClr val="1F2933"/>
                </a:solidFill>
              </a:rPr>
              <a:t>Margin dilution</a:t>
            </a:r>
            <a:endParaRPr lang="en-US" sz="720" dirty="0"/>
          </a:p>
        </p:txBody>
      </p:sp>
      <p:sp>
        <p:nvSpPr>
          <p:cNvPr id="18" name="Text 15"/>
          <p:cNvSpPr/>
          <p:nvPr/>
        </p:nvSpPr>
        <p:spPr>
          <a:xfrm>
            <a:off x="3749040" y="2862072"/>
            <a:ext cx="4572000" cy="146304"/>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Hiring and inventory costs absorb gross-profit upside</a:t>
            </a:r>
            <a:endParaRPr lang="en-US" sz="700" dirty="0"/>
          </a:p>
        </p:txBody>
      </p:sp>
      <p:sp>
        <p:nvSpPr>
          <p:cNvPr id="19" name="Shape 16"/>
          <p:cNvSpPr/>
          <p:nvPr/>
        </p:nvSpPr>
        <p:spPr>
          <a:xfrm>
            <a:off x="9326880" y="2825496"/>
            <a:ext cx="822960" cy="228600"/>
          </a:xfrm>
          <a:prstGeom prst="roundRect">
            <a:avLst>
              <a:gd name="adj" fmla="val 32000"/>
            </a:avLst>
          </a:prstGeom>
          <a:solidFill>
            <a:srgbClr val="FFF7E8"/>
          </a:solidFill>
          <a:ln w="12700">
            <a:solidFill>
              <a:srgbClr val="FFF7E8">
                <a:alpha val="0"/>
              </a:srgbClr>
            </a:solidFill>
            <a:prstDash val="solid"/>
          </a:ln>
        </p:spPr>
      </p:sp>
      <p:sp>
        <p:nvSpPr>
          <p:cNvPr id="20" name="Text 17"/>
          <p:cNvSpPr/>
          <p:nvPr/>
        </p:nvSpPr>
        <p:spPr>
          <a:xfrm>
            <a:off x="9372600" y="2875788"/>
            <a:ext cx="731520" cy="155448"/>
          </a:xfrm>
          <a:prstGeom prst="rect">
            <a:avLst/>
          </a:prstGeom>
          <a:noFill/>
          <a:ln/>
        </p:spPr>
        <p:txBody>
          <a:bodyPr wrap="square" lIns="0" tIns="0" rIns="0" bIns="0" rtlCol="0" anchor="ctr">
            <a:normAutofit/>
          </a:bodyPr>
          <a:lstStyle/>
          <a:p>
            <a:pPr algn="ctr" indent="0" marL="0">
              <a:buNone/>
            </a:pPr>
            <a:r>
              <a:rPr lang="en-US" sz="570" b="1" dirty="0">
                <a:solidFill>
                  <a:srgbClr val="F59E0B"/>
                </a:solidFill>
              </a:rPr>
              <a:t>Medium</a:t>
            </a:r>
            <a:endParaRPr lang="en-US" sz="570" dirty="0"/>
          </a:p>
        </p:txBody>
      </p:sp>
      <p:sp>
        <p:nvSpPr>
          <p:cNvPr id="21" name="Shape 18"/>
          <p:cNvSpPr/>
          <p:nvPr/>
        </p:nvSpPr>
        <p:spPr>
          <a:xfrm>
            <a:off x="822960" y="3392424"/>
            <a:ext cx="10058400" cy="438912"/>
          </a:xfrm>
          <a:prstGeom prst="rect">
            <a:avLst>
              <a:gd name="adj" fmla="val 12500"/>
            </a:avLst>
          </a:prstGeom>
          <a:solidFill>
            <a:srgbClr val="F8FAFC"/>
          </a:solidFill>
          <a:ln w="8890">
            <a:solidFill>
              <a:srgbClr val="D7E0E8"/>
            </a:solidFill>
            <a:prstDash val="solid"/>
          </a:ln>
        </p:spPr>
      </p:sp>
      <p:sp>
        <p:nvSpPr>
          <p:cNvPr id="22" name="Text 19"/>
          <p:cNvSpPr/>
          <p:nvPr/>
        </p:nvSpPr>
        <p:spPr>
          <a:xfrm>
            <a:off x="1005840" y="3520440"/>
            <a:ext cx="2468880" cy="146304"/>
          </a:xfrm>
          <a:prstGeom prst="rect">
            <a:avLst/>
          </a:prstGeom>
          <a:noFill/>
          <a:ln/>
        </p:spPr>
        <p:txBody>
          <a:bodyPr wrap="square" lIns="635" tIns="635" rIns="635" bIns="635" rtlCol="0" anchor="t">
            <a:normAutofit/>
          </a:bodyPr>
          <a:lstStyle/>
          <a:p>
            <a:pPr algn="l" indent="0" marL="0">
              <a:buNone/>
            </a:pPr>
            <a:r>
              <a:rPr lang="en-US" sz="720" b="1" dirty="0">
                <a:solidFill>
                  <a:srgbClr val="1F2933"/>
                </a:solidFill>
              </a:rPr>
              <a:t>Customer second-sourcing</a:t>
            </a:r>
            <a:endParaRPr lang="en-US" sz="720" dirty="0"/>
          </a:p>
        </p:txBody>
      </p:sp>
      <p:sp>
        <p:nvSpPr>
          <p:cNvPr id="23" name="Text 20"/>
          <p:cNvSpPr/>
          <p:nvPr/>
        </p:nvSpPr>
        <p:spPr>
          <a:xfrm>
            <a:off x="3749040" y="3520440"/>
            <a:ext cx="4572000" cy="146304"/>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Spec-win strength weakens at leading edge</a:t>
            </a:r>
            <a:endParaRPr lang="en-US" sz="700" dirty="0"/>
          </a:p>
        </p:txBody>
      </p:sp>
      <p:sp>
        <p:nvSpPr>
          <p:cNvPr id="24" name="Shape 21"/>
          <p:cNvSpPr/>
          <p:nvPr/>
        </p:nvSpPr>
        <p:spPr>
          <a:xfrm>
            <a:off x="9326880" y="3483864"/>
            <a:ext cx="822960" cy="228600"/>
          </a:xfrm>
          <a:prstGeom prst="roundRect">
            <a:avLst>
              <a:gd name="adj" fmla="val 32000"/>
            </a:avLst>
          </a:prstGeom>
          <a:solidFill>
            <a:srgbClr val="FFF7E8"/>
          </a:solidFill>
          <a:ln w="12700">
            <a:solidFill>
              <a:srgbClr val="FFF7E8">
                <a:alpha val="0"/>
              </a:srgbClr>
            </a:solidFill>
            <a:prstDash val="solid"/>
          </a:ln>
        </p:spPr>
      </p:sp>
      <p:sp>
        <p:nvSpPr>
          <p:cNvPr id="25" name="Text 22"/>
          <p:cNvSpPr/>
          <p:nvPr/>
        </p:nvSpPr>
        <p:spPr>
          <a:xfrm>
            <a:off x="9372600" y="3534156"/>
            <a:ext cx="731520" cy="155448"/>
          </a:xfrm>
          <a:prstGeom prst="rect">
            <a:avLst/>
          </a:prstGeom>
          <a:noFill/>
          <a:ln/>
        </p:spPr>
        <p:txBody>
          <a:bodyPr wrap="square" lIns="0" tIns="0" rIns="0" bIns="0" rtlCol="0" anchor="ctr">
            <a:normAutofit/>
          </a:bodyPr>
          <a:lstStyle/>
          <a:p>
            <a:pPr algn="ctr" indent="0" marL="0">
              <a:buNone/>
            </a:pPr>
            <a:r>
              <a:rPr lang="en-US" sz="570" b="1" dirty="0">
                <a:solidFill>
                  <a:srgbClr val="F59E0B"/>
                </a:solidFill>
              </a:rPr>
              <a:t>Medium</a:t>
            </a:r>
            <a:endParaRPr lang="en-US" sz="570" dirty="0"/>
          </a:p>
        </p:txBody>
      </p:sp>
      <p:sp>
        <p:nvSpPr>
          <p:cNvPr id="26" name="Shape 23"/>
          <p:cNvSpPr/>
          <p:nvPr/>
        </p:nvSpPr>
        <p:spPr>
          <a:xfrm>
            <a:off x="822960" y="4050792"/>
            <a:ext cx="10058400" cy="438912"/>
          </a:xfrm>
          <a:prstGeom prst="rect">
            <a:avLst>
              <a:gd name="adj" fmla="val 12500"/>
            </a:avLst>
          </a:prstGeom>
          <a:solidFill>
            <a:srgbClr val="FFFFFF"/>
          </a:solidFill>
          <a:ln w="8890">
            <a:solidFill>
              <a:srgbClr val="D7E0E8"/>
            </a:solidFill>
            <a:prstDash val="solid"/>
          </a:ln>
        </p:spPr>
      </p:sp>
      <p:sp>
        <p:nvSpPr>
          <p:cNvPr id="27" name="Text 24"/>
          <p:cNvSpPr/>
          <p:nvPr/>
        </p:nvSpPr>
        <p:spPr>
          <a:xfrm>
            <a:off x="1005840" y="4178808"/>
            <a:ext cx="2468880" cy="146304"/>
          </a:xfrm>
          <a:prstGeom prst="rect">
            <a:avLst/>
          </a:prstGeom>
          <a:noFill/>
          <a:ln/>
        </p:spPr>
        <p:txBody>
          <a:bodyPr wrap="square" lIns="635" tIns="635" rIns="635" bIns="635" rtlCol="0" anchor="t">
            <a:normAutofit/>
          </a:bodyPr>
          <a:lstStyle/>
          <a:p>
            <a:pPr algn="l" indent="0" marL="0">
              <a:buNone/>
            </a:pPr>
            <a:r>
              <a:rPr lang="en-US" sz="720" b="1" dirty="0">
                <a:solidFill>
                  <a:srgbClr val="1F2933"/>
                </a:solidFill>
              </a:rPr>
              <a:t>China / export controls</a:t>
            </a:r>
            <a:endParaRPr lang="en-US" sz="720" dirty="0"/>
          </a:p>
        </p:txBody>
      </p:sp>
      <p:sp>
        <p:nvSpPr>
          <p:cNvPr id="28" name="Text 25"/>
          <p:cNvSpPr/>
          <p:nvPr/>
        </p:nvSpPr>
        <p:spPr>
          <a:xfrm>
            <a:off x="3749040" y="4178808"/>
            <a:ext cx="4572000" cy="146304"/>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Demand/geographic mix disruption</a:t>
            </a:r>
            <a:endParaRPr lang="en-US" sz="700" dirty="0"/>
          </a:p>
        </p:txBody>
      </p:sp>
      <p:sp>
        <p:nvSpPr>
          <p:cNvPr id="29" name="Shape 26"/>
          <p:cNvSpPr/>
          <p:nvPr/>
        </p:nvSpPr>
        <p:spPr>
          <a:xfrm>
            <a:off x="9326880" y="4142232"/>
            <a:ext cx="822960" cy="228600"/>
          </a:xfrm>
          <a:prstGeom prst="roundRect">
            <a:avLst>
              <a:gd name="adj" fmla="val 32000"/>
            </a:avLst>
          </a:prstGeom>
          <a:solidFill>
            <a:srgbClr val="FFF7E8"/>
          </a:solidFill>
          <a:ln w="12700">
            <a:solidFill>
              <a:srgbClr val="FFF7E8">
                <a:alpha val="0"/>
              </a:srgbClr>
            </a:solidFill>
            <a:prstDash val="solid"/>
          </a:ln>
        </p:spPr>
      </p:sp>
      <p:sp>
        <p:nvSpPr>
          <p:cNvPr id="30" name="Text 27"/>
          <p:cNvSpPr/>
          <p:nvPr/>
        </p:nvSpPr>
        <p:spPr>
          <a:xfrm>
            <a:off x="9372600" y="4192524"/>
            <a:ext cx="731520" cy="155448"/>
          </a:xfrm>
          <a:prstGeom prst="rect">
            <a:avLst/>
          </a:prstGeom>
          <a:noFill/>
          <a:ln/>
        </p:spPr>
        <p:txBody>
          <a:bodyPr wrap="square" lIns="0" tIns="0" rIns="0" bIns="0" rtlCol="0" anchor="ctr">
            <a:normAutofit/>
          </a:bodyPr>
          <a:lstStyle/>
          <a:p>
            <a:pPr algn="ctr" indent="0" marL="0">
              <a:buNone/>
            </a:pPr>
            <a:r>
              <a:rPr lang="en-US" sz="570" b="1" dirty="0">
                <a:solidFill>
                  <a:srgbClr val="F59E0B"/>
                </a:solidFill>
              </a:rPr>
              <a:t>Medium</a:t>
            </a:r>
            <a:endParaRPr lang="en-US" sz="570" dirty="0"/>
          </a:p>
        </p:txBody>
      </p:sp>
      <p:sp>
        <p:nvSpPr>
          <p:cNvPr id="31" name="Shape 28"/>
          <p:cNvSpPr/>
          <p:nvPr/>
        </p:nvSpPr>
        <p:spPr>
          <a:xfrm>
            <a:off x="822960" y="4709160"/>
            <a:ext cx="10058400" cy="438912"/>
          </a:xfrm>
          <a:prstGeom prst="rect">
            <a:avLst>
              <a:gd name="adj" fmla="val 12500"/>
            </a:avLst>
          </a:prstGeom>
          <a:solidFill>
            <a:srgbClr val="F8FAFC"/>
          </a:solidFill>
          <a:ln w="8890">
            <a:solidFill>
              <a:srgbClr val="D7E0E8"/>
            </a:solidFill>
            <a:prstDash val="solid"/>
          </a:ln>
        </p:spPr>
      </p:sp>
      <p:sp>
        <p:nvSpPr>
          <p:cNvPr id="32" name="Text 29"/>
          <p:cNvSpPr/>
          <p:nvPr/>
        </p:nvSpPr>
        <p:spPr>
          <a:xfrm>
            <a:off x="1005840" y="4837176"/>
            <a:ext cx="2468880" cy="146304"/>
          </a:xfrm>
          <a:prstGeom prst="rect">
            <a:avLst/>
          </a:prstGeom>
          <a:noFill/>
          <a:ln/>
        </p:spPr>
        <p:txBody>
          <a:bodyPr wrap="square" lIns="635" tIns="635" rIns="635" bIns="635" rtlCol="0" anchor="t">
            <a:normAutofit/>
          </a:bodyPr>
          <a:lstStyle/>
          <a:p>
            <a:pPr algn="l" indent="0" marL="0">
              <a:buNone/>
            </a:pPr>
            <a:r>
              <a:rPr lang="en-US" sz="720" b="1" dirty="0">
                <a:solidFill>
                  <a:srgbClr val="1F2933"/>
                </a:solidFill>
              </a:rPr>
              <a:t>Valuation de-rating</a:t>
            </a:r>
            <a:endParaRPr lang="en-US" sz="720" dirty="0"/>
          </a:p>
        </p:txBody>
      </p:sp>
      <p:sp>
        <p:nvSpPr>
          <p:cNvPr id="33" name="Text 30"/>
          <p:cNvSpPr/>
          <p:nvPr/>
        </p:nvSpPr>
        <p:spPr>
          <a:xfrm>
            <a:off x="3749040" y="4837176"/>
            <a:ext cx="4572000" cy="146304"/>
          </a:xfrm>
          <a:prstGeom prst="rect">
            <a:avLst/>
          </a:prstGeom>
          <a:noFill/>
          <a:ln/>
        </p:spPr>
        <p:txBody>
          <a:bodyPr wrap="square" lIns="635" tIns="635" rIns="635" bIns="635" rtlCol="0" anchor="t">
            <a:normAutofit/>
          </a:bodyPr>
          <a:lstStyle/>
          <a:p>
            <a:pPr algn="l" indent="0" marL="0">
              <a:buNone/>
            </a:pPr>
            <a:r>
              <a:rPr lang="en-US" sz="700" dirty="0">
                <a:solidFill>
                  <a:srgbClr val="1F2933"/>
                </a:solidFill>
              </a:rPr>
              <a:t>Premium multiple cannot hold if rates/growth reset</a:t>
            </a:r>
            <a:endParaRPr lang="en-US" sz="700" dirty="0"/>
          </a:p>
        </p:txBody>
      </p:sp>
      <p:sp>
        <p:nvSpPr>
          <p:cNvPr id="34" name="Shape 31"/>
          <p:cNvSpPr/>
          <p:nvPr/>
        </p:nvSpPr>
        <p:spPr>
          <a:xfrm>
            <a:off x="9326880" y="4800600"/>
            <a:ext cx="822960" cy="228600"/>
          </a:xfrm>
          <a:prstGeom prst="roundRect">
            <a:avLst>
              <a:gd name="adj" fmla="val 32000"/>
            </a:avLst>
          </a:prstGeom>
          <a:solidFill>
            <a:srgbClr val="FDEDEE"/>
          </a:solidFill>
          <a:ln w="12700">
            <a:solidFill>
              <a:srgbClr val="FDEDEE">
                <a:alpha val="0"/>
              </a:srgbClr>
            </a:solidFill>
            <a:prstDash val="solid"/>
          </a:ln>
        </p:spPr>
      </p:sp>
      <p:sp>
        <p:nvSpPr>
          <p:cNvPr id="35" name="Text 32"/>
          <p:cNvSpPr/>
          <p:nvPr/>
        </p:nvSpPr>
        <p:spPr>
          <a:xfrm>
            <a:off x="9372600" y="4850892"/>
            <a:ext cx="731520" cy="155448"/>
          </a:xfrm>
          <a:prstGeom prst="rect">
            <a:avLst/>
          </a:prstGeom>
          <a:noFill/>
          <a:ln/>
        </p:spPr>
        <p:txBody>
          <a:bodyPr wrap="square" lIns="0" tIns="0" rIns="0" bIns="0" rtlCol="0" anchor="ctr">
            <a:normAutofit/>
          </a:bodyPr>
          <a:lstStyle/>
          <a:p>
            <a:pPr algn="ctr" indent="0" marL="0">
              <a:buNone/>
            </a:pPr>
            <a:r>
              <a:rPr lang="en-US" sz="570" b="1" dirty="0">
                <a:solidFill>
                  <a:srgbClr val="D64545"/>
                </a:solidFill>
              </a:rPr>
              <a:t>High</a:t>
            </a:r>
            <a:endParaRPr lang="en-US" sz="570" dirty="0"/>
          </a:p>
        </p:txBody>
      </p:sp>
      <p:sp>
        <p:nvSpPr>
          <p:cNvPr id="36" name="Shape 33"/>
          <p:cNvSpPr/>
          <p:nvPr/>
        </p:nvSpPr>
        <p:spPr>
          <a:xfrm>
            <a:off x="411480" y="6428232"/>
            <a:ext cx="11384280" cy="0"/>
          </a:xfrm>
          <a:prstGeom prst="line">
            <a:avLst/>
          </a:prstGeom>
          <a:noFill/>
          <a:ln w="7620">
            <a:solidFill>
              <a:srgbClr val="D7E0E8"/>
            </a:solidFill>
            <a:prstDash val="solid"/>
          </a:ln>
        </p:spPr>
      </p:sp>
      <p:sp>
        <p:nvSpPr>
          <p:cNvPr id="37" name="Text 34"/>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VAT filings; analyst estimates.</a:t>
            </a:r>
            <a:endParaRPr lang="en-US" sz="550" dirty="0"/>
          </a:p>
        </p:txBody>
      </p:sp>
      <p:sp>
        <p:nvSpPr>
          <p:cNvPr id="38" name="Text 35"/>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20</a:t>
            </a:r>
            <a:endParaRPr lang="en-US" sz="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11480" y="164592"/>
            <a:ext cx="4389120" cy="164592"/>
          </a:xfrm>
          <a:prstGeom prst="rect">
            <a:avLst/>
          </a:prstGeom>
          <a:noFill/>
          <a:ln/>
        </p:spPr>
        <p:txBody>
          <a:bodyPr wrap="square" lIns="0" tIns="0" rIns="0" bIns="0" rtlCol="0" anchor="ctr"/>
          <a:lstStyle/>
          <a:p>
            <a:pPr indent="0" marL="0">
              <a:buNone/>
            </a:pPr>
            <a:r>
              <a:rPr lang="en-US" sz="660" b="1" dirty="0">
                <a:solidFill>
                  <a:srgbClr val="5E6978"/>
                </a:solidFill>
              </a:rPr>
              <a:t>APPENDIX | VAT Group AG</a:t>
            </a:r>
            <a:endParaRPr lang="en-US" sz="660" dirty="0"/>
          </a:p>
        </p:txBody>
      </p:sp>
      <p:sp>
        <p:nvSpPr>
          <p:cNvPr id="3" name="Text 1"/>
          <p:cNvSpPr/>
          <p:nvPr/>
        </p:nvSpPr>
        <p:spPr>
          <a:xfrm>
            <a:off x="411480" y="402336"/>
            <a:ext cx="9966960" cy="502920"/>
          </a:xfrm>
          <a:prstGeom prst="rect">
            <a:avLst/>
          </a:prstGeom>
          <a:noFill/>
          <a:ln/>
        </p:spPr>
        <p:txBody>
          <a:bodyPr wrap="square" lIns="0" tIns="0" rIns="0" bIns="0" rtlCol="0" anchor="ctr">
            <a:normAutofit/>
          </a:bodyPr>
          <a:lstStyle/>
          <a:p>
            <a:pPr indent="0" marL="0">
              <a:buNone/>
            </a:pPr>
            <a:r>
              <a:rPr lang="en-US" sz="1720" b="1" dirty="0">
                <a:solidFill>
                  <a:srgbClr val="1F2933"/>
                </a:solidFill>
              </a:rPr>
              <a:t>Valuation sensitivity: CHF800 requires both execution and a premium scarcity multiple</a:t>
            </a:r>
            <a:endParaRPr lang="en-US" sz="1720" dirty="0"/>
          </a:p>
        </p:txBody>
      </p:sp>
      <p:pic>
        <p:nvPicPr>
          <p:cNvPr id="4" name="Image 0" descr="/mnt/data/ab08a03e-4af6-4181-9828-46f44d67b543.png">    </p:cNvPr>
          <p:cNvPicPr>
            <a:picLocks noChangeAspect="1"/>
          </p:cNvPicPr>
          <p:nvPr/>
        </p:nvPicPr>
        <p:blipFill>
          <a:blip r:embed="rId1"/>
          <a:stretch>
            <a:fillRect/>
          </a:stretch>
        </p:blipFill>
        <p:spPr>
          <a:xfrm>
            <a:off x="10442448" y="201168"/>
            <a:ext cx="1417320" cy="329184"/>
          </a:xfrm>
          <a:prstGeom prst="rect">
            <a:avLst/>
          </a:prstGeom>
        </p:spPr>
      </p:pic>
      <p:sp>
        <p:nvSpPr>
          <p:cNvPr id="5" name="Shape 2"/>
          <p:cNvSpPr/>
          <p:nvPr/>
        </p:nvSpPr>
        <p:spPr>
          <a:xfrm>
            <a:off x="411480" y="960120"/>
            <a:ext cx="11384280" cy="0"/>
          </a:xfrm>
          <a:prstGeom prst="line">
            <a:avLst/>
          </a:prstGeom>
          <a:noFill/>
          <a:ln w="10160">
            <a:solidFill>
              <a:srgbClr val="D7E0E8"/>
            </a:solidFill>
            <a:prstDash val="solid"/>
          </a:ln>
        </p:spPr>
      </p:sp>
      <p:sp>
        <p:nvSpPr>
          <p:cNvPr id="6" name="Text 3"/>
          <p:cNvSpPr/>
          <p:nvPr/>
        </p:nvSpPr>
        <p:spPr>
          <a:xfrm>
            <a:off x="914400" y="1234440"/>
            <a:ext cx="9601200" cy="228600"/>
          </a:xfrm>
          <a:prstGeom prst="rect">
            <a:avLst/>
          </a:prstGeom>
          <a:noFill/>
          <a:ln/>
        </p:spPr>
        <p:txBody>
          <a:bodyPr wrap="square" lIns="635" tIns="635" rIns="635" bIns="635" rtlCol="0" anchor="t">
            <a:normAutofit/>
          </a:bodyPr>
          <a:lstStyle/>
          <a:p>
            <a:pPr algn="l" indent="0" marL="0">
              <a:buNone/>
            </a:pPr>
            <a:r>
              <a:rPr lang="en-US" sz="800" b="1" dirty="0">
                <a:solidFill>
                  <a:srgbClr val="5E6978"/>
                </a:solidFill>
              </a:rPr>
              <a:t>Target price per share (CHF), assuming ~CHF0.4bn net debt incl. Atonarp funding and 30.0m diluted shares</a:t>
            </a:r>
            <a:endParaRPr lang="en-US" sz="800" dirty="0"/>
          </a:p>
        </p:txBody>
      </p:sp>
      <p:sp>
        <p:nvSpPr>
          <p:cNvPr id="7" name="Text 4"/>
          <p:cNvSpPr/>
          <p:nvPr/>
        </p:nvSpPr>
        <p:spPr>
          <a:xfrm>
            <a:off x="914400" y="1600200"/>
            <a:ext cx="2560320" cy="182880"/>
          </a:xfrm>
          <a:prstGeom prst="rect">
            <a:avLst/>
          </a:prstGeom>
          <a:noFill/>
          <a:ln/>
        </p:spPr>
        <p:txBody>
          <a:bodyPr wrap="square" lIns="635" tIns="635" rIns="635" bIns="635" rtlCol="0" anchor="t">
            <a:normAutofit/>
          </a:bodyPr>
          <a:lstStyle/>
          <a:p>
            <a:pPr algn="l" indent="0" marL="0">
              <a:buNone/>
            </a:pPr>
            <a:r>
              <a:rPr lang="en-US" sz="700" b="1" dirty="0">
                <a:solidFill>
                  <a:srgbClr val="5E6978"/>
                </a:solidFill>
              </a:rPr>
              <a:t>FY28 EBITDA / EV multiple</a:t>
            </a:r>
            <a:endParaRPr lang="en-US" sz="700" dirty="0"/>
          </a:p>
        </p:txBody>
      </p:sp>
      <p:sp>
        <p:nvSpPr>
          <p:cNvPr id="8" name="Text 5"/>
          <p:cNvSpPr/>
          <p:nvPr/>
        </p:nvSpPr>
        <p:spPr>
          <a:xfrm>
            <a:off x="3657600" y="1600200"/>
            <a:ext cx="731520" cy="182880"/>
          </a:xfrm>
          <a:prstGeom prst="rect">
            <a:avLst/>
          </a:prstGeom>
          <a:noFill/>
          <a:ln/>
        </p:spPr>
        <p:txBody>
          <a:bodyPr wrap="square" lIns="635" tIns="635" rIns="635" bIns="635" rtlCol="0" anchor="t">
            <a:normAutofit/>
          </a:bodyPr>
          <a:lstStyle/>
          <a:p>
            <a:pPr algn="ctr" indent="0" marL="0">
              <a:buNone/>
            </a:pPr>
            <a:r>
              <a:rPr lang="en-US" sz="700" b="1" dirty="0">
                <a:solidFill>
                  <a:srgbClr val="5E6978"/>
                </a:solidFill>
              </a:rPr>
              <a:t>32x</a:t>
            </a:r>
            <a:endParaRPr lang="en-US" sz="700" dirty="0"/>
          </a:p>
        </p:txBody>
      </p:sp>
      <p:sp>
        <p:nvSpPr>
          <p:cNvPr id="9" name="Text 6"/>
          <p:cNvSpPr/>
          <p:nvPr/>
        </p:nvSpPr>
        <p:spPr>
          <a:xfrm>
            <a:off x="5074920" y="1600200"/>
            <a:ext cx="731520" cy="182880"/>
          </a:xfrm>
          <a:prstGeom prst="rect">
            <a:avLst/>
          </a:prstGeom>
          <a:noFill/>
          <a:ln/>
        </p:spPr>
        <p:txBody>
          <a:bodyPr wrap="square" lIns="635" tIns="635" rIns="635" bIns="635" rtlCol="0" anchor="t">
            <a:normAutofit/>
          </a:bodyPr>
          <a:lstStyle/>
          <a:p>
            <a:pPr algn="ctr" indent="0" marL="0">
              <a:buNone/>
            </a:pPr>
            <a:r>
              <a:rPr lang="en-US" sz="700" b="1" dirty="0">
                <a:solidFill>
                  <a:srgbClr val="5E6978"/>
                </a:solidFill>
              </a:rPr>
              <a:t>36x</a:t>
            </a:r>
            <a:endParaRPr lang="en-US" sz="700" dirty="0"/>
          </a:p>
        </p:txBody>
      </p:sp>
      <p:sp>
        <p:nvSpPr>
          <p:cNvPr id="10" name="Text 7"/>
          <p:cNvSpPr/>
          <p:nvPr/>
        </p:nvSpPr>
        <p:spPr>
          <a:xfrm>
            <a:off x="6492240" y="1600200"/>
            <a:ext cx="731520" cy="182880"/>
          </a:xfrm>
          <a:prstGeom prst="rect">
            <a:avLst/>
          </a:prstGeom>
          <a:noFill/>
          <a:ln/>
        </p:spPr>
        <p:txBody>
          <a:bodyPr wrap="square" lIns="635" tIns="635" rIns="635" bIns="635" rtlCol="0" anchor="t">
            <a:normAutofit/>
          </a:bodyPr>
          <a:lstStyle/>
          <a:p>
            <a:pPr algn="ctr" indent="0" marL="0">
              <a:buNone/>
            </a:pPr>
            <a:r>
              <a:rPr lang="en-US" sz="700" b="1" dirty="0">
                <a:solidFill>
                  <a:srgbClr val="5E6978"/>
                </a:solidFill>
              </a:rPr>
              <a:t>40x</a:t>
            </a:r>
            <a:endParaRPr lang="en-US" sz="700" dirty="0"/>
          </a:p>
        </p:txBody>
      </p:sp>
      <p:sp>
        <p:nvSpPr>
          <p:cNvPr id="11" name="Text 8"/>
          <p:cNvSpPr/>
          <p:nvPr/>
        </p:nvSpPr>
        <p:spPr>
          <a:xfrm>
            <a:off x="7909560" y="1600200"/>
            <a:ext cx="731520" cy="182880"/>
          </a:xfrm>
          <a:prstGeom prst="rect">
            <a:avLst/>
          </a:prstGeom>
          <a:noFill/>
          <a:ln/>
        </p:spPr>
        <p:txBody>
          <a:bodyPr wrap="square" lIns="635" tIns="635" rIns="635" bIns="635" rtlCol="0" anchor="t">
            <a:normAutofit/>
          </a:bodyPr>
          <a:lstStyle/>
          <a:p>
            <a:pPr algn="ctr" indent="0" marL="0">
              <a:buNone/>
            </a:pPr>
            <a:r>
              <a:rPr lang="en-US" sz="700" b="1" dirty="0">
                <a:solidFill>
                  <a:srgbClr val="5E6978"/>
                </a:solidFill>
              </a:rPr>
              <a:t>44x</a:t>
            </a:r>
            <a:endParaRPr lang="en-US" sz="700" dirty="0"/>
          </a:p>
        </p:txBody>
      </p:sp>
      <p:sp>
        <p:nvSpPr>
          <p:cNvPr id="12" name="Text 9"/>
          <p:cNvSpPr/>
          <p:nvPr/>
        </p:nvSpPr>
        <p:spPr>
          <a:xfrm>
            <a:off x="1097280" y="2057400"/>
            <a:ext cx="1463040" cy="182880"/>
          </a:xfrm>
          <a:prstGeom prst="rect">
            <a:avLst/>
          </a:prstGeom>
          <a:noFill/>
          <a:ln/>
        </p:spPr>
        <p:txBody>
          <a:bodyPr wrap="square" lIns="635" tIns="635" rIns="635" bIns="635" rtlCol="0" anchor="t">
            <a:normAutofit/>
          </a:bodyPr>
          <a:lstStyle/>
          <a:p>
            <a:pPr algn="l" indent="0" marL="0">
              <a:buNone/>
            </a:pPr>
            <a:r>
              <a:rPr lang="en-US" sz="700" b="1" dirty="0">
                <a:solidFill>
                  <a:srgbClr val="1F2933"/>
                </a:solidFill>
              </a:rPr>
              <a:t>CHF 550m</a:t>
            </a:r>
            <a:endParaRPr lang="en-US" sz="700" dirty="0"/>
          </a:p>
        </p:txBody>
      </p:sp>
      <p:sp>
        <p:nvSpPr>
          <p:cNvPr id="13" name="Shape 10"/>
          <p:cNvSpPr/>
          <p:nvPr/>
        </p:nvSpPr>
        <p:spPr>
          <a:xfrm>
            <a:off x="3520440" y="1993392"/>
            <a:ext cx="1005840" cy="310896"/>
          </a:xfrm>
          <a:prstGeom prst="roundRect">
            <a:avLst>
              <a:gd name="adj" fmla="val 17647"/>
            </a:avLst>
          </a:prstGeom>
          <a:solidFill>
            <a:srgbClr val="FFFFFF"/>
          </a:solidFill>
          <a:ln w="8890">
            <a:solidFill>
              <a:srgbClr val="D7E0E8"/>
            </a:solidFill>
            <a:prstDash val="solid"/>
          </a:ln>
        </p:spPr>
      </p:sp>
      <p:sp>
        <p:nvSpPr>
          <p:cNvPr id="14" name="Text 11"/>
          <p:cNvSpPr/>
          <p:nvPr/>
        </p:nvSpPr>
        <p:spPr>
          <a:xfrm>
            <a:off x="3685032" y="2084832"/>
            <a:ext cx="658368" cy="109728"/>
          </a:xfrm>
          <a:prstGeom prst="rect">
            <a:avLst/>
          </a:prstGeom>
          <a:noFill/>
          <a:ln/>
        </p:spPr>
        <p:txBody>
          <a:bodyPr wrap="square" lIns="635" tIns="635" rIns="635" bIns="635" rtlCol="0" anchor="t">
            <a:normAutofit/>
          </a:bodyPr>
          <a:lstStyle/>
          <a:p>
            <a:pPr algn="ctr" indent="0" marL="0">
              <a:buNone/>
            </a:pPr>
            <a:r>
              <a:rPr lang="en-US" sz="680" dirty="0">
                <a:solidFill>
                  <a:srgbClr val="1F2933"/>
                </a:solidFill>
              </a:rPr>
              <a:t>574</a:t>
            </a:r>
            <a:endParaRPr lang="en-US" sz="680" dirty="0"/>
          </a:p>
        </p:txBody>
      </p:sp>
      <p:sp>
        <p:nvSpPr>
          <p:cNvPr id="15" name="Shape 12"/>
          <p:cNvSpPr/>
          <p:nvPr/>
        </p:nvSpPr>
        <p:spPr>
          <a:xfrm>
            <a:off x="4937760" y="1993392"/>
            <a:ext cx="1005840" cy="310896"/>
          </a:xfrm>
          <a:prstGeom prst="roundRect">
            <a:avLst>
              <a:gd name="adj" fmla="val 17647"/>
            </a:avLst>
          </a:prstGeom>
          <a:solidFill>
            <a:srgbClr val="FFFFFF"/>
          </a:solidFill>
          <a:ln w="8890">
            <a:solidFill>
              <a:srgbClr val="D7E0E8"/>
            </a:solidFill>
            <a:prstDash val="solid"/>
          </a:ln>
        </p:spPr>
      </p:sp>
      <p:sp>
        <p:nvSpPr>
          <p:cNvPr id="16" name="Text 13"/>
          <p:cNvSpPr/>
          <p:nvPr/>
        </p:nvSpPr>
        <p:spPr>
          <a:xfrm>
            <a:off x="5102352" y="2084832"/>
            <a:ext cx="658368" cy="109728"/>
          </a:xfrm>
          <a:prstGeom prst="rect">
            <a:avLst/>
          </a:prstGeom>
          <a:noFill/>
          <a:ln/>
        </p:spPr>
        <p:txBody>
          <a:bodyPr wrap="square" lIns="635" tIns="635" rIns="635" bIns="635" rtlCol="0" anchor="t">
            <a:normAutofit/>
          </a:bodyPr>
          <a:lstStyle/>
          <a:p>
            <a:pPr algn="ctr" indent="0" marL="0">
              <a:buNone/>
            </a:pPr>
            <a:r>
              <a:rPr lang="en-US" sz="680" dirty="0">
                <a:solidFill>
                  <a:srgbClr val="1F2933"/>
                </a:solidFill>
              </a:rPr>
              <a:t>648</a:t>
            </a:r>
            <a:endParaRPr lang="en-US" sz="680" dirty="0"/>
          </a:p>
        </p:txBody>
      </p:sp>
      <p:sp>
        <p:nvSpPr>
          <p:cNvPr id="17" name="Shape 14"/>
          <p:cNvSpPr/>
          <p:nvPr/>
        </p:nvSpPr>
        <p:spPr>
          <a:xfrm>
            <a:off x="6355080" y="1993392"/>
            <a:ext cx="1005840" cy="310896"/>
          </a:xfrm>
          <a:prstGeom prst="roundRect">
            <a:avLst>
              <a:gd name="adj" fmla="val 17647"/>
            </a:avLst>
          </a:prstGeom>
          <a:solidFill>
            <a:srgbClr val="FFFFFF"/>
          </a:solidFill>
          <a:ln w="8890">
            <a:solidFill>
              <a:srgbClr val="D7E0E8"/>
            </a:solidFill>
            <a:prstDash val="solid"/>
          </a:ln>
        </p:spPr>
      </p:sp>
      <p:sp>
        <p:nvSpPr>
          <p:cNvPr id="18" name="Text 15"/>
          <p:cNvSpPr/>
          <p:nvPr/>
        </p:nvSpPr>
        <p:spPr>
          <a:xfrm>
            <a:off x="6519672" y="2084832"/>
            <a:ext cx="658368" cy="109728"/>
          </a:xfrm>
          <a:prstGeom prst="rect">
            <a:avLst/>
          </a:prstGeom>
          <a:noFill/>
          <a:ln/>
        </p:spPr>
        <p:txBody>
          <a:bodyPr wrap="square" lIns="635" tIns="635" rIns="635" bIns="635" rtlCol="0" anchor="t">
            <a:normAutofit/>
          </a:bodyPr>
          <a:lstStyle/>
          <a:p>
            <a:pPr algn="ctr" indent="0" marL="0">
              <a:buNone/>
            </a:pPr>
            <a:r>
              <a:rPr lang="en-US" sz="680" dirty="0">
                <a:solidFill>
                  <a:srgbClr val="1F2933"/>
                </a:solidFill>
              </a:rPr>
              <a:t>721</a:t>
            </a:r>
            <a:endParaRPr lang="en-US" sz="680" dirty="0"/>
          </a:p>
        </p:txBody>
      </p:sp>
      <p:sp>
        <p:nvSpPr>
          <p:cNvPr id="19" name="Shape 16"/>
          <p:cNvSpPr/>
          <p:nvPr/>
        </p:nvSpPr>
        <p:spPr>
          <a:xfrm>
            <a:off x="7772400" y="1993392"/>
            <a:ext cx="1005840" cy="310896"/>
          </a:xfrm>
          <a:prstGeom prst="roundRect">
            <a:avLst>
              <a:gd name="adj" fmla="val 17647"/>
            </a:avLst>
          </a:prstGeom>
          <a:solidFill>
            <a:srgbClr val="EAF6FC"/>
          </a:solidFill>
          <a:ln w="8890">
            <a:solidFill>
              <a:srgbClr val="B7DDEF"/>
            </a:solidFill>
            <a:prstDash val="solid"/>
          </a:ln>
        </p:spPr>
      </p:sp>
      <p:sp>
        <p:nvSpPr>
          <p:cNvPr id="20" name="Text 17"/>
          <p:cNvSpPr/>
          <p:nvPr/>
        </p:nvSpPr>
        <p:spPr>
          <a:xfrm>
            <a:off x="7936992" y="2084832"/>
            <a:ext cx="658368" cy="109728"/>
          </a:xfrm>
          <a:prstGeom prst="rect">
            <a:avLst/>
          </a:prstGeom>
          <a:noFill/>
          <a:ln/>
        </p:spPr>
        <p:txBody>
          <a:bodyPr wrap="square" lIns="635" tIns="635" rIns="635" bIns="635" rtlCol="0" anchor="t">
            <a:normAutofit/>
          </a:bodyPr>
          <a:lstStyle/>
          <a:p>
            <a:pPr algn="ctr" indent="0" marL="0">
              <a:buNone/>
            </a:pPr>
            <a:r>
              <a:rPr lang="en-US" sz="680" b="1" dirty="0">
                <a:solidFill>
                  <a:srgbClr val="1B9BDA"/>
                </a:solidFill>
              </a:rPr>
              <a:t>794</a:t>
            </a:r>
            <a:endParaRPr lang="en-US" sz="680" dirty="0"/>
          </a:p>
        </p:txBody>
      </p:sp>
      <p:sp>
        <p:nvSpPr>
          <p:cNvPr id="21" name="Text 18"/>
          <p:cNvSpPr/>
          <p:nvPr/>
        </p:nvSpPr>
        <p:spPr>
          <a:xfrm>
            <a:off x="1097280" y="2560320"/>
            <a:ext cx="1463040" cy="182880"/>
          </a:xfrm>
          <a:prstGeom prst="rect">
            <a:avLst/>
          </a:prstGeom>
          <a:noFill/>
          <a:ln/>
        </p:spPr>
        <p:txBody>
          <a:bodyPr wrap="square" lIns="635" tIns="635" rIns="635" bIns="635" rtlCol="0" anchor="t">
            <a:normAutofit/>
          </a:bodyPr>
          <a:lstStyle/>
          <a:p>
            <a:pPr algn="l" indent="0" marL="0">
              <a:buNone/>
            </a:pPr>
            <a:r>
              <a:rPr lang="en-US" sz="700" b="1" dirty="0">
                <a:solidFill>
                  <a:srgbClr val="1F2933"/>
                </a:solidFill>
              </a:rPr>
              <a:t>CHF 610m</a:t>
            </a:r>
            <a:endParaRPr lang="en-US" sz="700" dirty="0"/>
          </a:p>
        </p:txBody>
      </p:sp>
      <p:sp>
        <p:nvSpPr>
          <p:cNvPr id="22" name="Shape 19"/>
          <p:cNvSpPr/>
          <p:nvPr/>
        </p:nvSpPr>
        <p:spPr>
          <a:xfrm>
            <a:off x="3520440" y="2496312"/>
            <a:ext cx="1005840" cy="310896"/>
          </a:xfrm>
          <a:prstGeom prst="roundRect">
            <a:avLst>
              <a:gd name="adj" fmla="val 17647"/>
            </a:avLst>
          </a:prstGeom>
          <a:solidFill>
            <a:srgbClr val="FFFFFF"/>
          </a:solidFill>
          <a:ln w="8890">
            <a:solidFill>
              <a:srgbClr val="D7E0E8"/>
            </a:solidFill>
            <a:prstDash val="solid"/>
          </a:ln>
        </p:spPr>
      </p:sp>
      <p:sp>
        <p:nvSpPr>
          <p:cNvPr id="23" name="Text 20"/>
          <p:cNvSpPr/>
          <p:nvPr/>
        </p:nvSpPr>
        <p:spPr>
          <a:xfrm>
            <a:off x="3685032" y="2587752"/>
            <a:ext cx="658368" cy="109728"/>
          </a:xfrm>
          <a:prstGeom prst="rect">
            <a:avLst/>
          </a:prstGeom>
          <a:noFill/>
          <a:ln/>
        </p:spPr>
        <p:txBody>
          <a:bodyPr wrap="square" lIns="635" tIns="635" rIns="635" bIns="635" rtlCol="0" anchor="t">
            <a:normAutofit/>
          </a:bodyPr>
          <a:lstStyle/>
          <a:p>
            <a:pPr algn="ctr" indent="0" marL="0">
              <a:buNone/>
            </a:pPr>
            <a:r>
              <a:rPr lang="en-US" sz="680" dirty="0">
                <a:solidFill>
                  <a:srgbClr val="1F2933"/>
                </a:solidFill>
              </a:rPr>
              <a:t>638</a:t>
            </a:r>
            <a:endParaRPr lang="en-US" sz="680" dirty="0"/>
          </a:p>
        </p:txBody>
      </p:sp>
      <p:sp>
        <p:nvSpPr>
          <p:cNvPr id="24" name="Shape 21"/>
          <p:cNvSpPr/>
          <p:nvPr/>
        </p:nvSpPr>
        <p:spPr>
          <a:xfrm>
            <a:off x="4937760" y="2496312"/>
            <a:ext cx="1005840" cy="310896"/>
          </a:xfrm>
          <a:prstGeom prst="roundRect">
            <a:avLst>
              <a:gd name="adj" fmla="val 17647"/>
            </a:avLst>
          </a:prstGeom>
          <a:solidFill>
            <a:srgbClr val="FFFFFF"/>
          </a:solidFill>
          <a:ln w="8890">
            <a:solidFill>
              <a:srgbClr val="D7E0E8"/>
            </a:solidFill>
            <a:prstDash val="solid"/>
          </a:ln>
        </p:spPr>
      </p:sp>
      <p:sp>
        <p:nvSpPr>
          <p:cNvPr id="25" name="Text 22"/>
          <p:cNvSpPr/>
          <p:nvPr/>
        </p:nvSpPr>
        <p:spPr>
          <a:xfrm>
            <a:off x="5102352" y="2587752"/>
            <a:ext cx="658368" cy="109728"/>
          </a:xfrm>
          <a:prstGeom prst="rect">
            <a:avLst/>
          </a:prstGeom>
          <a:noFill/>
          <a:ln/>
        </p:spPr>
        <p:txBody>
          <a:bodyPr wrap="square" lIns="635" tIns="635" rIns="635" bIns="635" rtlCol="0" anchor="t">
            <a:normAutofit/>
          </a:bodyPr>
          <a:lstStyle/>
          <a:p>
            <a:pPr algn="ctr" indent="0" marL="0">
              <a:buNone/>
            </a:pPr>
            <a:r>
              <a:rPr lang="en-US" sz="680" dirty="0">
                <a:solidFill>
                  <a:srgbClr val="1F2933"/>
                </a:solidFill>
              </a:rPr>
              <a:t>720</a:t>
            </a:r>
            <a:endParaRPr lang="en-US" sz="680" dirty="0"/>
          </a:p>
        </p:txBody>
      </p:sp>
      <p:sp>
        <p:nvSpPr>
          <p:cNvPr id="26" name="Shape 23"/>
          <p:cNvSpPr/>
          <p:nvPr/>
        </p:nvSpPr>
        <p:spPr>
          <a:xfrm>
            <a:off x="6355080" y="2496312"/>
            <a:ext cx="1005840" cy="310896"/>
          </a:xfrm>
          <a:prstGeom prst="roundRect">
            <a:avLst>
              <a:gd name="adj" fmla="val 17647"/>
            </a:avLst>
          </a:prstGeom>
          <a:solidFill>
            <a:srgbClr val="EAF6FC"/>
          </a:solidFill>
          <a:ln w="8890">
            <a:solidFill>
              <a:srgbClr val="B7DDEF"/>
            </a:solidFill>
            <a:prstDash val="solid"/>
          </a:ln>
        </p:spPr>
      </p:sp>
      <p:sp>
        <p:nvSpPr>
          <p:cNvPr id="27" name="Text 24"/>
          <p:cNvSpPr/>
          <p:nvPr/>
        </p:nvSpPr>
        <p:spPr>
          <a:xfrm>
            <a:off x="6519672" y="2587752"/>
            <a:ext cx="658368" cy="109728"/>
          </a:xfrm>
          <a:prstGeom prst="rect">
            <a:avLst/>
          </a:prstGeom>
          <a:noFill/>
          <a:ln/>
        </p:spPr>
        <p:txBody>
          <a:bodyPr wrap="square" lIns="635" tIns="635" rIns="635" bIns="635" rtlCol="0" anchor="t">
            <a:normAutofit/>
          </a:bodyPr>
          <a:lstStyle/>
          <a:p>
            <a:pPr algn="ctr" indent="0" marL="0">
              <a:buNone/>
            </a:pPr>
            <a:r>
              <a:rPr lang="en-US" sz="680" b="1" dirty="0">
                <a:solidFill>
                  <a:srgbClr val="1B9BDA"/>
                </a:solidFill>
              </a:rPr>
              <a:t>801</a:t>
            </a:r>
            <a:endParaRPr lang="en-US" sz="680" dirty="0"/>
          </a:p>
        </p:txBody>
      </p:sp>
      <p:sp>
        <p:nvSpPr>
          <p:cNvPr id="28" name="Shape 25"/>
          <p:cNvSpPr/>
          <p:nvPr/>
        </p:nvSpPr>
        <p:spPr>
          <a:xfrm>
            <a:off x="7772400" y="2496312"/>
            <a:ext cx="1005840" cy="310896"/>
          </a:xfrm>
          <a:prstGeom prst="roundRect">
            <a:avLst>
              <a:gd name="adj" fmla="val 17647"/>
            </a:avLst>
          </a:prstGeom>
          <a:solidFill>
            <a:srgbClr val="FFFFFF"/>
          </a:solidFill>
          <a:ln w="8890">
            <a:solidFill>
              <a:srgbClr val="D7E0E8"/>
            </a:solidFill>
            <a:prstDash val="solid"/>
          </a:ln>
        </p:spPr>
      </p:sp>
      <p:sp>
        <p:nvSpPr>
          <p:cNvPr id="29" name="Text 26"/>
          <p:cNvSpPr/>
          <p:nvPr/>
        </p:nvSpPr>
        <p:spPr>
          <a:xfrm>
            <a:off x="7936992" y="2587752"/>
            <a:ext cx="658368" cy="109728"/>
          </a:xfrm>
          <a:prstGeom prst="rect">
            <a:avLst/>
          </a:prstGeom>
          <a:noFill/>
          <a:ln/>
        </p:spPr>
        <p:txBody>
          <a:bodyPr wrap="square" lIns="635" tIns="635" rIns="635" bIns="635" rtlCol="0" anchor="t">
            <a:normAutofit/>
          </a:bodyPr>
          <a:lstStyle/>
          <a:p>
            <a:pPr algn="ctr" indent="0" marL="0">
              <a:buNone/>
            </a:pPr>
            <a:r>
              <a:rPr lang="en-US" sz="680" dirty="0">
                <a:solidFill>
                  <a:srgbClr val="1F2933"/>
                </a:solidFill>
              </a:rPr>
              <a:t>882</a:t>
            </a:r>
            <a:endParaRPr lang="en-US" sz="680" dirty="0"/>
          </a:p>
        </p:txBody>
      </p:sp>
      <p:sp>
        <p:nvSpPr>
          <p:cNvPr id="30" name="Text 27"/>
          <p:cNvSpPr/>
          <p:nvPr/>
        </p:nvSpPr>
        <p:spPr>
          <a:xfrm>
            <a:off x="1097280" y="3063240"/>
            <a:ext cx="1463040" cy="182880"/>
          </a:xfrm>
          <a:prstGeom prst="rect">
            <a:avLst/>
          </a:prstGeom>
          <a:noFill/>
          <a:ln/>
        </p:spPr>
        <p:txBody>
          <a:bodyPr wrap="square" lIns="635" tIns="635" rIns="635" bIns="635" rtlCol="0" anchor="t">
            <a:normAutofit/>
          </a:bodyPr>
          <a:lstStyle/>
          <a:p>
            <a:pPr algn="l" indent="0" marL="0">
              <a:buNone/>
            </a:pPr>
            <a:r>
              <a:rPr lang="en-US" sz="700" b="1" dirty="0">
                <a:solidFill>
                  <a:srgbClr val="1F2933"/>
                </a:solidFill>
              </a:rPr>
              <a:t>CHF 670m</a:t>
            </a:r>
            <a:endParaRPr lang="en-US" sz="700" dirty="0"/>
          </a:p>
        </p:txBody>
      </p:sp>
      <p:sp>
        <p:nvSpPr>
          <p:cNvPr id="31" name="Shape 28"/>
          <p:cNvSpPr/>
          <p:nvPr/>
        </p:nvSpPr>
        <p:spPr>
          <a:xfrm>
            <a:off x="3520440" y="2999232"/>
            <a:ext cx="1005840" cy="310896"/>
          </a:xfrm>
          <a:prstGeom prst="roundRect">
            <a:avLst>
              <a:gd name="adj" fmla="val 17647"/>
            </a:avLst>
          </a:prstGeom>
          <a:solidFill>
            <a:srgbClr val="FFFFFF"/>
          </a:solidFill>
          <a:ln w="8890">
            <a:solidFill>
              <a:srgbClr val="D7E0E8"/>
            </a:solidFill>
            <a:prstDash val="solid"/>
          </a:ln>
        </p:spPr>
      </p:sp>
      <p:sp>
        <p:nvSpPr>
          <p:cNvPr id="32" name="Text 29"/>
          <p:cNvSpPr/>
          <p:nvPr/>
        </p:nvSpPr>
        <p:spPr>
          <a:xfrm>
            <a:off x="3685032" y="3090672"/>
            <a:ext cx="658368" cy="109728"/>
          </a:xfrm>
          <a:prstGeom prst="rect">
            <a:avLst/>
          </a:prstGeom>
          <a:noFill/>
          <a:ln/>
        </p:spPr>
        <p:txBody>
          <a:bodyPr wrap="square" lIns="635" tIns="635" rIns="635" bIns="635" rtlCol="0" anchor="t">
            <a:normAutofit/>
          </a:bodyPr>
          <a:lstStyle/>
          <a:p>
            <a:pPr algn="ctr" indent="0" marL="0">
              <a:buNone/>
            </a:pPr>
            <a:r>
              <a:rPr lang="en-US" sz="680" dirty="0">
                <a:solidFill>
                  <a:srgbClr val="1F2933"/>
                </a:solidFill>
              </a:rPr>
              <a:t>702</a:t>
            </a:r>
            <a:endParaRPr lang="en-US" sz="680" dirty="0"/>
          </a:p>
        </p:txBody>
      </p:sp>
      <p:sp>
        <p:nvSpPr>
          <p:cNvPr id="33" name="Shape 30"/>
          <p:cNvSpPr/>
          <p:nvPr/>
        </p:nvSpPr>
        <p:spPr>
          <a:xfrm>
            <a:off x="4937760" y="2999232"/>
            <a:ext cx="1005840" cy="310896"/>
          </a:xfrm>
          <a:prstGeom prst="roundRect">
            <a:avLst>
              <a:gd name="adj" fmla="val 17647"/>
            </a:avLst>
          </a:prstGeom>
          <a:solidFill>
            <a:srgbClr val="EAF6FC"/>
          </a:solidFill>
          <a:ln w="8890">
            <a:solidFill>
              <a:srgbClr val="B7DDEF"/>
            </a:solidFill>
            <a:prstDash val="solid"/>
          </a:ln>
        </p:spPr>
      </p:sp>
      <p:sp>
        <p:nvSpPr>
          <p:cNvPr id="34" name="Text 31"/>
          <p:cNvSpPr/>
          <p:nvPr/>
        </p:nvSpPr>
        <p:spPr>
          <a:xfrm>
            <a:off x="5102352" y="3090672"/>
            <a:ext cx="658368" cy="109728"/>
          </a:xfrm>
          <a:prstGeom prst="rect">
            <a:avLst/>
          </a:prstGeom>
          <a:noFill/>
          <a:ln/>
        </p:spPr>
        <p:txBody>
          <a:bodyPr wrap="square" lIns="635" tIns="635" rIns="635" bIns="635" rtlCol="0" anchor="t">
            <a:normAutofit/>
          </a:bodyPr>
          <a:lstStyle/>
          <a:p>
            <a:pPr algn="ctr" indent="0" marL="0">
              <a:buNone/>
            </a:pPr>
            <a:r>
              <a:rPr lang="en-US" sz="680" b="1" dirty="0">
                <a:solidFill>
                  <a:srgbClr val="1B9BDA"/>
                </a:solidFill>
              </a:rPr>
              <a:t>792</a:t>
            </a:r>
            <a:endParaRPr lang="en-US" sz="680" dirty="0"/>
          </a:p>
        </p:txBody>
      </p:sp>
      <p:sp>
        <p:nvSpPr>
          <p:cNvPr id="35" name="Shape 32"/>
          <p:cNvSpPr/>
          <p:nvPr/>
        </p:nvSpPr>
        <p:spPr>
          <a:xfrm>
            <a:off x="6355080" y="2999232"/>
            <a:ext cx="1005840" cy="310896"/>
          </a:xfrm>
          <a:prstGeom prst="roundRect">
            <a:avLst>
              <a:gd name="adj" fmla="val 17647"/>
            </a:avLst>
          </a:prstGeom>
          <a:solidFill>
            <a:srgbClr val="FFFFFF"/>
          </a:solidFill>
          <a:ln w="8890">
            <a:solidFill>
              <a:srgbClr val="D7E0E8"/>
            </a:solidFill>
            <a:prstDash val="solid"/>
          </a:ln>
        </p:spPr>
      </p:sp>
      <p:sp>
        <p:nvSpPr>
          <p:cNvPr id="36" name="Text 33"/>
          <p:cNvSpPr/>
          <p:nvPr/>
        </p:nvSpPr>
        <p:spPr>
          <a:xfrm>
            <a:off x="6519672" y="3090672"/>
            <a:ext cx="658368" cy="109728"/>
          </a:xfrm>
          <a:prstGeom prst="rect">
            <a:avLst/>
          </a:prstGeom>
          <a:noFill/>
          <a:ln/>
        </p:spPr>
        <p:txBody>
          <a:bodyPr wrap="square" lIns="635" tIns="635" rIns="635" bIns="635" rtlCol="0" anchor="t">
            <a:normAutofit/>
          </a:bodyPr>
          <a:lstStyle/>
          <a:p>
            <a:pPr algn="ctr" indent="0" marL="0">
              <a:buNone/>
            </a:pPr>
            <a:r>
              <a:rPr lang="en-US" sz="680" dirty="0">
                <a:solidFill>
                  <a:srgbClr val="1F2933"/>
                </a:solidFill>
              </a:rPr>
              <a:t>881</a:t>
            </a:r>
            <a:endParaRPr lang="en-US" sz="680" dirty="0"/>
          </a:p>
        </p:txBody>
      </p:sp>
      <p:sp>
        <p:nvSpPr>
          <p:cNvPr id="37" name="Shape 34"/>
          <p:cNvSpPr/>
          <p:nvPr/>
        </p:nvSpPr>
        <p:spPr>
          <a:xfrm>
            <a:off x="7772400" y="2999232"/>
            <a:ext cx="1005840" cy="310896"/>
          </a:xfrm>
          <a:prstGeom prst="roundRect">
            <a:avLst>
              <a:gd name="adj" fmla="val 17647"/>
            </a:avLst>
          </a:prstGeom>
          <a:solidFill>
            <a:srgbClr val="FFFFFF"/>
          </a:solidFill>
          <a:ln w="8890">
            <a:solidFill>
              <a:srgbClr val="D7E0E8"/>
            </a:solidFill>
            <a:prstDash val="solid"/>
          </a:ln>
        </p:spPr>
      </p:sp>
      <p:sp>
        <p:nvSpPr>
          <p:cNvPr id="38" name="Text 35"/>
          <p:cNvSpPr/>
          <p:nvPr/>
        </p:nvSpPr>
        <p:spPr>
          <a:xfrm>
            <a:off x="7936992" y="3090672"/>
            <a:ext cx="658368" cy="109728"/>
          </a:xfrm>
          <a:prstGeom prst="rect">
            <a:avLst/>
          </a:prstGeom>
          <a:noFill/>
          <a:ln/>
        </p:spPr>
        <p:txBody>
          <a:bodyPr wrap="square" lIns="635" tIns="635" rIns="635" bIns="635" rtlCol="0" anchor="t">
            <a:normAutofit/>
          </a:bodyPr>
          <a:lstStyle/>
          <a:p>
            <a:pPr algn="ctr" indent="0" marL="0">
              <a:buNone/>
            </a:pPr>
            <a:r>
              <a:rPr lang="en-US" sz="680" dirty="0">
                <a:solidFill>
                  <a:srgbClr val="1F2933"/>
                </a:solidFill>
              </a:rPr>
              <a:t>971</a:t>
            </a:r>
            <a:endParaRPr lang="en-US" sz="680" dirty="0"/>
          </a:p>
        </p:txBody>
      </p:sp>
      <p:sp>
        <p:nvSpPr>
          <p:cNvPr id="39" name="Text 36"/>
          <p:cNvSpPr/>
          <p:nvPr/>
        </p:nvSpPr>
        <p:spPr>
          <a:xfrm>
            <a:off x="914400" y="4389120"/>
            <a:ext cx="9875520" cy="640080"/>
          </a:xfrm>
          <a:prstGeom prst="rect">
            <a:avLst/>
          </a:prstGeom>
          <a:noFill/>
          <a:ln/>
        </p:spPr>
        <p:txBody>
          <a:bodyPr wrap="square" lIns="635" tIns="635" rIns="635" bIns="635" rtlCol="0" anchor="t">
            <a:normAutofit/>
          </a:bodyPr>
          <a:lstStyle/>
          <a:p>
            <a:pPr algn="ctr" indent="0" marL="0">
              <a:buNone/>
            </a:pPr>
            <a:r>
              <a:rPr lang="en-US" sz="1300" b="1" dirty="0">
                <a:solidFill>
                  <a:srgbClr val="1F2933"/>
                </a:solidFill>
              </a:rPr>
              <a:t>CHF800 is not a mechanical output. It is the cell where FY28 EBITDA reaches roughly CHF610m and the market still capitalises VAT as a scarce, high-share leading-edge semiconductor component franchise.</a:t>
            </a:r>
            <a:endParaRPr lang="en-US" sz="1300" dirty="0"/>
          </a:p>
        </p:txBody>
      </p:sp>
      <p:sp>
        <p:nvSpPr>
          <p:cNvPr id="40" name="Shape 37"/>
          <p:cNvSpPr/>
          <p:nvPr/>
        </p:nvSpPr>
        <p:spPr>
          <a:xfrm>
            <a:off x="411480" y="6428232"/>
            <a:ext cx="11384280" cy="0"/>
          </a:xfrm>
          <a:prstGeom prst="line">
            <a:avLst/>
          </a:prstGeom>
          <a:noFill/>
          <a:ln w="7620">
            <a:solidFill>
              <a:srgbClr val="D7E0E8"/>
            </a:solidFill>
            <a:prstDash val="solid"/>
          </a:ln>
        </p:spPr>
      </p:sp>
      <p:sp>
        <p:nvSpPr>
          <p:cNvPr id="41" name="Text 38"/>
          <p:cNvSpPr/>
          <p:nvPr/>
        </p:nvSpPr>
        <p:spPr>
          <a:xfrm>
            <a:off x="411480" y="6501384"/>
            <a:ext cx="10515600" cy="201168"/>
          </a:xfrm>
          <a:prstGeom prst="rect">
            <a:avLst/>
          </a:prstGeom>
          <a:noFill/>
          <a:ln/>
        </p:spPr>
        <p:txBody>
          <a:bodyPr wrap="square" lIns="0" tIns="0" rIns="0" bIns="0" rtlCol="0" anchor="ctr">
            <a:normAutofit/>
          </a:bodyPr>
          <a:lstStyle/>
          <a:p>
            <a:pPr indent="0" marL="0">
              <a:buNone/>
            </a:pPr>
            <a:r>
              <a:rPr lang="en-US" sz="550" dirty="0">
                <a:solidFill>
                  <a:srgbClr val="7B8794"/>
                </a:solidFill>
              </a:rPr>
              <a:t>Source: Analyst estimates; VAT H1 2026 market data and net debt; VAT Atonarp release.</a:t>
            </a:r>
            <a:endParaRPr lang="en-US" sz="550" dirty="0"/>
          </a:p>
        </p:txBody>
      </p:sp>
      <p:sp>
        <p:nvSpPr>
          <p:cNvPr id="42" name="Text 39"/>
          <p:cNvSpPr/>
          <p:nvPr/>
        </p:nvSpPr>
        <p:spPr>
          <a:xfrm>
            <a:off x="11521440" y="6492240"/>
            <a:ext cx="274320" cy="182880"/>
          </a:xfrm>
          <a:prstGeom prst="rect">
            <a:avLst/>
          </a:prstGeom>
          <a:noFill/>
          <a:ln/>
        </p:spPr>
        <p:txBody>
          <a:bodyPr wrap="square" lIns="0" tIns="0" rIns="0" bIns="0" rtlCol="0" anchor="ctr"/>
          <a:lstStyle/>
          <a:p>
            <a:pPr algn="r" indent="0" marL="0">
              <a:buNone/>
            </a:pPr>
            <a:r>
              <a:rPr lang="en-US" sz="550" dirty="0">
                <a:solidFill>
                  <a:srgbClr val="7B8794"/>
                </a:solidFill>
              </a:rPr>
              <a:t>21</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VAT Group AG - 10 minute institutional stock pitch</dc:title>
  <dc:subject>VAT Group AG stock pitch</dc:subject>
  <dc:creator>OpenAI</dc:creator>
  <cp:lastModifiedBy>OpenAI</cp:lastModifiedBy>
  <cp:revision>1</cp:revision>
  <dcterms:created xsi:type="dcterms:W3CDTF">2026-08-10T05:46:40Z</dcterms:created>
  <dcterms:modified xsi:type="dcterms:W3CDTF">2026-08-10T05:46:40Z</dcterms:modified>
</cp:coreProperties>
</file>