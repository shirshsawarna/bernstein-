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Index</c:v>
                </c:pt>
              </c:strCache>
            </c:strRef>
          </c:tx>
          <c:spPr>
            <a:solidFill>
              <a:srgbClr val="199BD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Dep</c:v>
                  </c:pt>
                  <c:pt idx="1">
                    <c:v>Lith</c:v>
                  </c:pt>
                  <c:pt idx="2">
                    <c:v>Etch</c:v>
                  </c:pt>
                  <c:pt idx="3">
                    <c:v>Impl</c:v>
                  </c:pt>
                  <c:pt idx="4">
                    <c:v>Metro</c:v>
                  </c:pt>
                </c:lvl>
              </c:multiLvlStrCache>
            </c:multiLvlStrRef>
          </c:cat>
          <c:val>
            <c:numRef>
              <c:f>Sheet1!$B$2:$B$6</c:f>
              <c:numCache>
                <c:formatCode>General</c:formatCode>
                <c:ptCount val="5"/>
                <c:pt idx="0">
                  <c:v>5</c:v>
                </c:pt>
                <c:pt idx="1">
                  <c:v>3</c:v>
                </c:pt>
                <c:pt idx="2">
                  <c:v>5</c:v>
                </c:pt>
                <c:pt idx="3">
                  <c:v>3</c:v>
                </c:pt>
                <c:pt idx="4">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WFE</c:v>
                </c:pt>
              </c:strCache>
            </c:strRef>
          </c:tx>
          <c:spPr>
            <a:solidFill>
              <a:srgbClr val="199BD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2023</c:v>
                  </c:pt>
                  <c:pt idx="1">
                    <c:v>2024</c:v>
                  </c:pt>
                  <c:pt idx="2">
                    <c:v>2025E</c:v>
                  </c:pt>
                  <c:pt idx="3">
                    <c:v>2026E</c:v>
                  </c:pt>
                </c:lvl>
              </c:multiLvlStrCache>
            </c:multiLvlStrRef>
          </c:cat>
          <c:val>
            <c:numRef>
              <c:f>Sheet1!$B$2:$B$5</c:f>
              <c:numCache>
                <c:formatCode>General</c:formatCode>
                <c:ptCount val="4"/>
                <c:pt idx="0">
                  <c:v>96</c:v>
                </c:pt>
                <c:pt idx="1">
                  <c:v>110</c:v>
                </c:pt>
                <c:pt idx="2">
                  <c:v>120</c:v>
                </c:pt>
                <c:pt idx="3">
                  <c:v>144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Illustrative orders</c:v>
                </c:pt>
              </c:strCache>
            </c:strRef>
          </c:tx>
          <c:spPr>
            <a:solidFill>
              <a:srgbClr val="199BD7"/>
            </a:solidFill>
            <a:ln w="25400" cap="flat">
              <a:solidFill>
                <a:srgbClr val="199BD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99BD7"/>
              </a:solidFill>
              <a:ln w="9525" cap="flat">
                <a:solidFill>
                  <a:srgbClr val="199BD7"/>
                </a:solidFill>
                <a:prstDash val="solid"/>
                <a:round/>
              </a:ln>
              <a:effectLst/>
            </c:spPr>
          </c:marker>
          <c:cat>
            <c:multiLvlStrRef>
              <c:f>Sheet1!$A$2:$A$8</c:f>
              <c:multiLvlStrCache>
                <c:ptCount val="7"/>
                <c:lvl>
                  <c:pt idx="0">
                    <c:v>T-4</c:v>
                  </c:pt>
                  <c:pt idx="1">
                    <c:v>T-3</c:v>
                  </c:pt>
                  <c:pt idx="2">
                    <c:v>T-2</c:v>
                  </c:pt>
                  <c:pt idx="3">
                    <c:v>T-1</c:v>
                  </c:pt>
                  <c:pt idx="4">
                    <c:v>Peak</c:v>
                  </c:pt>
                  <c:pt idx="5">
                    <c:v>T+1</c:v>
                  </c:pt>
                  <c:pt idx="6">
                    <c:v>T+2</c:v>
                  </c:pt>
                </c:lvl>
              </c:multiLvlStrCache>
            </c:multiLvlStrRef>
          </c:cat>
          <c:val>
            <c:numRef>
              <c:f>Sheet1!$B$2:$B$8</c:f>
              <c:numCache>
                <c:formatCode>General</c:formatCode>
                <c:ptCount val="7"/>
                <c:pt idx="0">
                  <c:v>70</c:v>
                </c:pt>
                <c:pt idx="1">
                  <c:v>82</c:v>
                </c:pt>
                <c:pt idx="2">
                  <c:v>95</c:v>
                </c:pt>
                <c:pt idx="3">
                  <c:v>118</c:v>
                </c:pt>
                <c:pt idx="4">
                  <c:v>140</c:v>
                </c:pt>
                <c:pt idx="5">
                  <c:v>92</c:v>
                </c:pt>
                <c:pt idx="6">
                  <c:v>105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
          <c:min val="5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199BD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H1 24</c:v>
                  </c:pt>
                  <c:pt idx="1">
                    <c:v>H1 25</c:v>
                  </c:pt>
                  <c:pt idx="2">
                    <c:v>H1 26</c:v>
                  </c:pt>
                </c:lvl>
              </c:multiLvlStrCache>
            </c:multiLvlStrRef>
          </c:cat>
          <c:val>
            <c:numRef>
              <c:f>Sheet1!$B$2:$B$4</c:f>
              <c:numCache>
                <c:formatCode>General</c:formatCode>
                <c:ptCount val="3"/>
                <c:pt idx="0">
                  <c:v>470</c:v>
                </c:pt>
                <c:pt idx="1">
                  <c:v>489</c:v>
                </c:pt>
                <c:pt idx="2">
                  <c:v>856</c:v>
                </c:pt>
              </c:numCache>
            </c:numRef>
          </c:val>
        </c:ser>
        <c:ser>
          <c:idx val="1"/>
          <c:order val="1"/>
          <c:tx>
            <c:strRef>
              <c:f>Sheet1!$C$1</c:f>
              <c:strCache>
                <c:ptCount val="1"/>
                <c:pt idx="0">
                  <c:v>Sales</c:v>
                </c:pt>
              </c:strCache>
            </c:strRef>
          </c:tx>
          <c:spPr>
            <a:solidFill>
              <a:srgbClr val="9AAA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H1 24</c:v>
                  </c:pt>
                  <c:pt idx="1">
                    <c:v>H1 25</c:v>
                  </c:pt>
                  <c:pt idx="2">
                    <c:v>H1 26</c:v>
                  </c:pt>
                </c:lvl>
              </c:multiLvlStrCache>
            </c:multiLvlStrRef>
          </c:cat>
          <c:val>
            <c:numRef>
              <c:f>Sheet1!$C$2:$C$4</c:f>
              <c:numCache>
                <c:formatCode>General</c:formatCode>
                <c:ptCount val="3"/>
                <c:pt idx="0">
                  <c:v>435</c:v>
                </c:pt>
                <c:pt idx="1">
                  <c:v>556</c:v>
                </c:pt>
                <c:pt idx="2">
                  <c:v>512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5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199BD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FY23</c:v>
                  </c:pt>
                  <c:pt idx="1">
                    <c:v>FY24</c:v>
                  </c:pt>
                  <c:pt idx="2">
                    <c:v>FY25E</c:v>
                  </c:pt>
                  <c:pt idx="3">
                    <c:v>FY26E</c:v>
                  </c:pt>
                  <c:pt idx="4">
                    <c:v>FY27E</c:v>
                  </c:pt>
                  <c:pt idx="5">
                    <c:v>FY28E</c:v>
                  </c:pt>
                </c:lvl>
              </c:multiLvlStrCache>
            </c:multiLvlStrRef>
          </c:cat>
          <c:val>
            <c:numRef>
              <c:f>Sheet1!$B$2:$B$7</c:f>
              <c:numCache>
                <c:formatCode>General</c:formatCode>
                <c:ptCount val="6"/>
                <c:pt idx="0">
                  <c:v>885</c:v>
                </c:pt>
                <c:pt idx="1">
                  <c:v>942</c:v>
                </c:pt>
                <c:pt idx="2">
                  <c:v>1074</c:v>
                </c:pt>
                <c:pt idx="3">
                  <c:v>1300</c:v>
                </c:pt>
                <c:pt idx="4">
                  <c:v>1550</c:v>
                </c:pt>
                <c:pt idx="5">
                  <c:v>1750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EBITDA margin</c:v>
                </c:pt>
              </c:strCache>
            </c:strRef>
          </c:tx>
          <c:spPr>
            <a:solidFill>
              <a:srgbClr val="E69A21"/>
            </a:solidFill>
            <a:ln w="25400" cap="flat">
              <a:solidFill>
                <a:srgbClr val="E69A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69A21"/>
              </a:solidFill>
              <a:ln w="9525" cap="flat">
                <a:solidFill>
                  <a:srgbClr val="E69A21"/>
                </a:solidFill>
                <a:prstDash val="solid"/>
                <a:round/>
              </a:ln>
              <a:effectLst/>
            </c:spPr>
          </c:marker>
          <c:cat>
            <c:multiLvlStrRef>
              <c:f>Sheet1!$A$2:$A$7</c:f>
              <c:multiLvlStrCache>
                <c:ptCount val="6"/>
                <c:lvl>
                  <c:pt idx="0">
                    <c:v>FY23</c:v>
                  </c:pt>
                  <c:pt idx="1">
                    <c:v>FY24</c:v>
                  </c:pt>
                  <c:pt idx="2">
                    <c:v>FY25E</c:v>
                  </c:pt>
                  <c:pt idx="3">
                    <c:v>FY26E</c:v>
                  </c:pt>
                  <c:pt idx="4">
                    <c:v>FY27E</c:v>
                  </c:pt>
                  <c:pt idx="5">
                    <c:v>FY28E</c:v>
                  </c:pt>
                </c:lvl>
              </c:multiLvlStrCache>
            </c:multiLvlStrRef>
          </c:cat>
          <c:val>
            <c:numRef>
              <c:f>Sheet1!$B$2:$B$7</c:f>
              <c:numCache>
                <c:formatCode>General</c:formatCode>
                <c:ptCount val="6"/>
                <c:pt idx="0">
                  <c:v>30.6</c:v>
                </c:pt>
                <c:pt idx="1">
                  <c:v>31.2</c:v>
                </c:pt>
                <c:pt idx="2">
                  <c:v>30</c:v>
                </c:pt>
                <c:pt idx="3">
                  <c:v>31.5</c:v>
                </c:pt>
                <c:pt idx="4">
                  <c:v>33</c:v>
                </c:pt>
                <c:pt idx="5">
                  <c:v>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
          <c:min val="2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stock call, not the technology. VAT is a BUY because reported orders and backlog imply a visible conversion opportunity while structural vacuum intensity should allow VAT to outgrow generic WFE over the cycle.
Point the audience to the key tension: demand has accelerated; reported sales have not yet caught up because the constraint is manufacturing output and ramp execution.
Transition: the next slide explains how AI demand becomes demand for a vacuum valve without implying that Nvidia is a direct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rest of the deck. The demand starts with AI servers and other end markets, passes through chip designers, then to foundries and IDMs, then to equipment OEMs, and finally to subsystem suppliers.
Emphasise that VAT is not a chip company and not a full equipment company. It supplies critical components inside the equipment.
Transition: to understand why this matters, the audience needs the basic chip taxonomy: logic, memory and specialty semiconductors.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simple definition: a chip is a silicon device with billions of switches called transistors. The point is not physics; the point is which chip categories create equipment demand.
Logic includes GPUs and AI accelerators. Memory includes HBM and advanced DRAM, which matter because AI compute needs very high bandwidth. NAND benefits from more vertical layers and difficult etch.
Transition: those chips are not made in one step. They are built through a repeated manufacturing sequence, where vacuum-intensive steps are VAT's relevance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chip manufacturing repeatedly adds, patterns, removes and measures material. The most relevant steps for VAT are deposition, etch and other vacuum chamber environments.
Be precise. Lithography is central to advanced chips, but we should not overstate VAT's role in lithography unless specific tool-level data support it.
Transition: now show the economic reason a valve can matter enough to create a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 claim is straightforward. A VAT valve may be small relative to the tool cost, but it sits at a point where failure can stop the process or damage wafer yield.
Explain the four vacuum functions: remove unwanted gases, introduce only the required chemistry, control pressure precisely and prevent cross-contamination.
Transition: the product matters because advanced semiconductor capex is becoming more vacuum intensive, and that drives VAT's revenue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cyclical from structural. WFE is cyclical and VAT will remain exposed to capex cycles. But within WFE, advanced logic, HBM, advanced DRAM and higher-layer NAND increase vacuum intensity.
The revenue equation is the most important part of the slide. VAT can outgrow WFE if vacuum intensity, content per tool, share and service installed base all contribute.
Transition: the next question is why VAT specifically captures this, instead of the economics getting competed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links structural moat to near-term earnings. VAT's share is protected less by the mechanical complexity of the valve alone and more by qualification, co-development, customer intimacy and failure cost.
Then pivot to the bridge on the right. Orders and backlog are already visible. The question is conversion: capacity, quality, shipping and margin absorption.
Transition: now turn this into the variant perception. If VAT is a known quality compounder, what exactly is the market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investment slide. The market already understands VAT is a high-quality franchise. The variant perception must therefore be specific.
There are three pillars: vacuum intensity is underestimated; backlog conversion is underappreciated; and operating leverage could reappear if the ramp is executed cleanly.
Stress the signposts. This is not a faith-based thesis; it can be tracked quarter by quarter.
Transition: the final slide translates the thesis into valuation and the CHF800 target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investment conclusion. VAT deserves a premium because it is a scarce semiconductor component franchise with very high share and qualification-driven switching costs.
Walk through the target framework transparently. It is not a reverse-engineered CHF800; it requires a credible FY28 EBITDA base and a premium multiple consistent with a scarce high-share semi-component supplier.
Finish with the three reasons to own the stock: vacuum intensity, moat and backlog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5.xml"/><Relationship Id="rId3" Type="http://schemas.openxmlformats.org/officeDocument/2006/relationships/chart" Target="/ppt/charts/chart6.xm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E"/>
        </a:solidFill>
      </p:bgPr>
    </p:bg>
    <p:spTree>
      <p:nvGrpSpPr>
        <p:cNvPr id="1" name=""/>
        <p:cNvGrpSpPr/>
        <p:nvPr/>
      </p:nvGrpSpPr>
      <p:grpSpPr>
        <a:xfrm>
          <a:off x="0" y="0"/>
          <a:ext cx="0" cy="0"/>
          <a:chOff x="0" y="0"/>
          <a:chExt cx="0" cy="0"/>
        </a:xfrm>
      </p:grpSpPr>
      <p:pic>
        <p:nvPicPr>
          <p:cNvPr id="2" name="Image 0" descr="/mnt/data/a_sleek_futuristic_macro_close_up_technology_scen_batch_4.png">    </p:cNvPr>
          <p:cNvPicPr>
            <a:picLocks noChangeAspect="1"/>
          </p:cNvPicPr>
          <p:nvPr/>
        </p:nvPicPr>
        <p:blipFill>
          <a:blip r:embed="rId1"/>
          <a:srcRect l="12000" r="27368" t="0" b="0"/>
          <a:stretch/>
        </p:blipFill>
        <p:spPr>
          <a:xfrm>
            <a:off x="4800600" y="0"/>
            <a:ext cx="7388352" cy="6858000"/>
          </a:xfrm>
          <a:prstGeom prst="rect">
            <a:avLst/>
          </a:prstGeom>
        </p:spPr>
      </p:pic>
      <p:sp>
        <p:nvSpPr>
          <p:cNvPr id="3" name="Shape 0"/>
          <p:cNvSpPr/>
          <p:nvPr/>
        </p:nvSpPr>
        <p:spPr>
          <a:xfrm>
            <a:off x="0" y="0"/>
            <a:ext cx="12191695" cy="6858000"/>
          </a:xfrm>
          <a:prstGeom prst="rect">
            <a:avLst>
              <a:gd name="adj" fmla="val 1067"/>
            </a:avLst>
          </a:prstGeom>
          <a:solidFill>
            <a:srgbClr val="071A2E">
              <a:alpha val="88000"/>
            </a:srgbClr>
          </a:solidFill>
          <a:ln w="8890">
            <a:solidFill>
              <a:srgbClr val="071A2E">
                <a:alpha val="0"/>
              </a:srgbClr>
            </a:solidFill>
            <a:prstDash val="solid"/>
          </a:ln>
        </p:spPr>
      </p:sp>
      <p:sp>
        <p:nvSpPr>
          <p:cNvPr id="4" name="Shape 1"/>
          <p:cNvSpPr/>
          <p:nvPr/>
        </p:nvSpPr>
        <p:spPr>
          <a:xfrm>
            <a:off x="0" y="0"/>
            <a:ext cx="5715000" cy="6858000"/>
          </a:xfrm>
          <a:prstGeom prst="rect">
            <a:avLst>
              <a:gd name="adj" fmla="val 1280"/>
            </a:avLst>
          </a:prstGeom>
          <a:solidFill>
            <a:srgbClr val="071A2E"/>
          </a:solidFill>
          <a:ln w="8890">
            <a:solidFill>
              <a:srgbClr val="071A2E">
                <a:alpha val="0"/>
              </a:srgbClr>
            </a:solidFill>
            <a:prstDash val="solid"/>
          </a:ln>
        </p:spPr>
      </p:sp>
      <p:sp>
        <p:nvSpPr>
          <p:cNvPr id="5" name="Shape 2"/>
          <p:cNvSpPr/>
          <p:nvPr/>
        </p:nvSpPr>
        <p:spPr>
          <a:xfrm>
            <a:off x="5166360" y="0"/>
            <a:ext cx="868680" cy="6858000"/>
          </a:xfrm>
          <a:prstGeom prst="rect">
            <a:avLst>
              <a:gd name="adj" fmla="val 8421"/>
            </a:avLst>
          </a:prstGeom>
          <a:solidFill>
            <a:srgbClr val="071A2E">
              <a:alpha val="65000"/>
            </a:srgbClr>
          </a:solidFill>
          <a:ln w="8890">
            <a:solidFill>
              <a:srgbClr val="071A2E">
                <a:alpha val="0"/>
              </a:srgbClr>
            </a:solidFill>
            <a:prstDash val="solid"/>
          </a:ln>
        </p:spPr>
      </p:sp>
      <p:pic>
        <p:nvPicPr>
          <p:cNvPr id="6" name="Image 1" descr="/mnt/data/ab08a03e-4af6-4181-9828-46f44d67b543.png">    </p:cNvPr>
          <p:cNvPicPr>
            <a:picLocks noChangeAspect="1"/>
          </p:cNvPicPr>
          <p:nvPr/>
        </p:nvPicPr>
        <p:blipFill>
          <a:blip r:embed="rId2"/>
          <a:stretch>
            <a:fillRect/>
          </a:stretch>
        </p:blipFill>
        <p:spPr>
          <a:xfrm>
            <a:off x="502920" y="329184"/>
            <a:ext cx="1572768" cy="365760"/>
          </a:xfrm>
          <a:prstGeom prst="rect">
            <a:avLst/>
          </a:prstGeom>
        </p:spPr>
      </p:pic>
      <p:sp>
        <p:nvSpPr>
          <p:cNvPr id="7" name="Text 3"/>
          <p:cNvSpPr/>
          <p:nvPr/>
        </p:nvSpPr>
        <p:spPr>
          <a:xfrm>
            <a:off x="530352" y="1097280"/>
            <a:ext cx="4617720" cy="1234440"/>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Aptos" pitchFamily="34" charset="0"/>
                <a:ea typeface="Aptos" pitchFamily="34" charset="-122"/>
                <a:cs typeface="Aptos" pitchFamily="34" charset="-120"/>
              </a:rPr>
              <a:t>VAT is the semiconductor industry's vacuum-control leader - orders create the next earnings inflection</a:t>
            </a:r>
            <a:endParaRPr lang="en-US" sz="2800" dirty="0"/>
          </a:p>
        </p:txBody>
      </p:sp>
      <p:sp>
        <p:nvSpPr>
          <p:cNvPr id="8" name="Text 4"/>
          <p:cNvSpPr/>
          <p:nvPr/>
        </p:nvSpPr>
        <p:spPr>
          <a:xfrm>
            <a:off x="566928" y="2450592"/>
            <a:ext cx="2331720" cy="237744"/>
          </a:xfrm>
          <a:prstGeom prst="rect">
            <a:avLst/>
          </a:prstGeom>
          <a:noFill/>
          <a:ln/>
        </p:spPr>
        <p:txBody>
          <a:bodyPr wrap="square" lIns="0" tIns="0" rIns="0" bIns="0" rtlCol="0" anchor="t">
            <a:normAutofit/>
          </a:bodyPr>
          <a:lstStyle/>
          <a:p>
            <a:pPr algn="l" indent="0" marL="0">
              <a:buNone/>
            </a:pPr>
            <a:r>
              <a:rPr lang="en-US" sz="840" b="1" dirty="0">
                <a:solidFill>
                  <a:srgbClr val="50D2E8"/>
                </a:solidFill>
                <a:latin typeface="Aptos" pitchFamily="34" charset="0"/>
                <a:ea typeface="Aptos" pitchFamily="34" charset="-122"/>
                <a:cs typeface="Aptos" pitchFamily="34" charset="-120"/>
              </a:rPr>
              <a:t>BUY | VAT Group AG (SIX: VACN)</a:t>
            </a:r>
            <a:endParaRPr lang="en-US" sz="840" dirty="0"/>
          </a:p>
        </p:txBody>
      </p:sp>
      <p:sp>
        <p:nvSpPr>
          <p:cNvPr id="9" name="Text 5"/>
          <p:cNvSpPr/>
          <p:nvPr/>
        </p:nvSpPr>
        <p:spPr>
          <a:xfrm>
            <a:off x="566928" y="2852928"/>
            <a:ext cx="4343400" cy="658368"/>
          </a:xfrm>
          <a:prstGeom prst="rect">
            <a:avLst/>
          </a:prstGeom>
          <a:noFill/>
          <a:ln/>
        </p:spPr>
        <p:txBody>
          <a:bodyPr wrap="square" lIns="0" tIns="0" rIns="0" bIns="0" rtlCol="0" anchor="t">
            <a:normAutofit/>
          </a:bodyPr>
          <a:lstStyle/>
          <a:p>
            <a:pPr algn="l" indent="0" marL="0">
              <a:buNone/>
            </a:pPr>
            <a:r>
              <a:rPr lang="en-US" sz="1100" dirty="0">
                <a:solidFill>
                  <a:srgbClr val="D8E4EE"/>
                </a:solidFill>
                <a:latin typeface="Aptos" pitchFamily="34" charset="0"/>
                <a:ea typeface="Aptos" pitchFamily="34" charset="-122"/>
                <a:cs typeface="Aptos" pitchFamily="34" charset="-120"/>
              </a:rPr>
              <a:t>Dominant supplier of mission-critical vacuum valves and modules embedded inside semiconductor equipment; the stock call is about backlog conversion and structural vacuum intensity, not generic AI exposure.</a:t>
            </a:r>
            <a:endParaRPr lang="en-US" sz="1100" dirty="0"/>
          </a:p>
        </p:txBody>
      </p:sp>
      <p:sp>
        <p:nvSpPr>
          <p:cNvPr id="10" name="Shape 6"/>
          <p:cNvSpPr/>
          <p:nvPr/>
        </p:nvSpPr>
        <p:spPr>
          <a:xfrm>
            <a:off x="566928" y="3886200"/>
            <a:ext cx="1024128" cy="914400"/>
          </a:xfrm>
          <a:prstGeom prst="roundRect">
            <a:avLst>
              <a:gd name="adj" fmla="val 8000"/>
            </a:avLst>
          </a:prstGeom>
          <a:solidFill>
            <a:srgbClr val="0D2C4D">
              <a:alpha val="96000"/>
            </a:srgbClr>
          </a:solidFill>
          <a:ln w="7620">
            <a:solidFill>
              <a:srgbClr val="2B5E7E"/>
            </a:solidFill>
            <a:prstDash val="solid"/>
          </a:ln>
        </p:spPr>
      </p:sp>
      <p:sp>
        <p:nvSpPr>
          <p:cNvPr id="11" name="Text 7"/>
          <p:cNvSpPr/>
          <p:nvPr/>
        </p:nvSpPr>
        <p:spPr>
          <a:xfrm>
            <a:off x="676656" y="3986784"/>
            <a:ext cx="804672" cy="182880"/>
          </a:xfrm>
          <a:prstGeom prst="rect">
            <a:avLst/>
          </a:prstGeom>
          <a:noFill/>
          <a:ln/>
        </p:spPr>
        <p:txBody>
          <a:bodyPr wrap="square" lIns="0" tIns="0" rIns="0" bIns="0" rtlCol="0" anchor="t">
            <a:normAutofit/>
          </a:bodyPr>
          <a:lstStyle/>
          <a:p>
            <a:pPr algn="l" indent="0" marL="0">
              <a:buNone/>
            </a:pPr>
            <a:r>
              <a:rPr lang="en-US" sz="640" b="1" dirty="0">
                <a:solidFill>
                  <a:srgbClr val="B7CAD9"/>
                </a:solidFill>
                <a:latin typeface="Aptos" pitchFamily="34" charset="0"/>
                <a:ea typeface="Aptos" pitchFamily="34" charset="-122"/>
                <a:cs typeface="Aptos" pitchFamily="34" charset="-120"/>
              </a:rPr>
              <a:t>Price</a:t>
            </a:r>
            <a:endParaRPr lang="en-US" sz="640" dirty="0"/>
          </a:p>
        </p:txBody>
      </p:sp>
      <p:sp>
        <p:nvSpPr>
          <p:cNvPr id="12" name="Text 8"/>
          <p:cNvSpPr/>
          <p:nvPr/>
        </p:nvSpPr>
        <p:spPr>
          <a:xfrm>
            <a:off x="676656" y="4215384"/>
            <a:ext cx="804672" cy="347472"/>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CHF 604</a:t>
            </a:r>
            <a:endParaRPr lang="en-US" sz="1600" dirty="0"/>
          </a:p>
        </p:txBody>
      </p:sp>
      <p:sp>
        <p:nvSpPr>
          <p:cNvPr id="13" name="Text 9"/>
          <p:cNvSpPr/>
          <p:nvPr/>
        </p:nvSpPr>
        <p:spPr>
          <a:xfrm>
            <a:off x="676656" y="4608576"/>
            <a:ext cx="804672" cy="201168"/>
          </a:xfrm>
          <a:prstGeom prst="rect">
            <a:avLst/>
          </a:prstGeom>
          <a:noFill/>
          <a:ln/>
        </p:spPr>
        <p:txBody>
          <a:bodyPr wrap="square" lIns="0" tIns="0" rIns="0" bIns="0" rtlCol="0" anchor="t">
            <a:normAutofit/>
          </a:bodyPr>
          <a:lstStyle/>
          <a:p>
            <a:pPr algn="l" indent="0" marL="0">
              <a:buNone/>
            </a:pPr>
            <a:r>
              <a:rPr lang="en-US" sz="620" dirty="0">
                <a:solidFill>
                  <a:srgbClr val="B7CAD9"/>
                </a:solidFill>
                <a:latin typeface="Aptos" pitchFamily="34" charset="0"/>
                <a:ea typeface="Aptos" pitchFamily="34" charset="-122"/>
                <a:cs typeface="Aptos" pitchFamily="34" charset="-120"/>
              </a:rPr>
              <a:t>28 Jul 2026</a:t>
            </a:r>
            <a:endParaRPr lang="en-US" sz="620" dirty="0"/>
          </a:p>
        </p:txBody>
      </p:sp>
      <p:sp>
        <p:nvSpPr>
          <p:cNvPr id="14" name="Shape 10"/>
          <p:cNvSpPr/>
          <p:nvPr/>
        </p:nvSpPr>
        <p:spPr>
          <a:xfrm>
            <a:off x="1709928" y="3886200"/>
            <a:ext cx="1024128" cy="914400"/>
          </a:xfrm>
          <a:prstGeom prst="roundRect">
            <a:avLst>
              <a:gd name="adj" fmla="val 8000"/>
            </a:avLst>
          </a:prstGeom>
          <a:solidFill>
            <a:srgbClr val="0D2C4D">
              <a:alpha val="96000"/>
            </a:srgbClr>
          </a:solidFill>
          <a:ln w="7620">
            <a:solidFill>
              <a:srgbClr val="2B5E7E"/>
            </a:solidFill>
            <a:prstDash val="solid"/>
          </a:ln>
        </p:spPr>
      </p:sp>
      <p:sp>
        <p:nvSpPr>
          <p:cNvPr id="15" name="Text 11"/>
          <p:cNvSpPr/>
          <p:nvPr/>
        </p:nvSpPr>
        <p:spPr>
          <a:xfrm>
            <a:off x="1819656" y="3986784"/>
            <a:ext cx="804672" cy="182880"/>
          </a:xfrm>
          <a:prstGeom prst="rect">
            <a:avLst/>
          </a:prstGeom>
          <a:noFill/>
          <a:ln/>
        </p:spPr>
        <p:txBody>
          <a:bodyPr wrap="square" lIns="0" tIns="0" rIns="0" bIns="0" rtlCol="0" anchor="t">
            <a:normAutofit/>
          </a:bodyPr>
          <a:lstStyle/>
          <a:p>
            <a:pPr algn="l" indent="0" marL="0">
              <a:buNone/>
            </a:pPr>
            <a:r>
              <a:rPr lang="en-US" sz="640" b="1" dirty="0">
                <a:solidFill>
                  <a:srgbClr val="B7CAD9"/>
                </a:solidFill>
                <a:latin typeface="Aptos" pitchFamily="34" charset="0"/>
                <a:ea typeface="Aptos" pitchFamily="34" charset="-122"/>
                <a:cs typeface="Aptos" pitchFamily="34" charset="-120"/>
              </a:rPr>
              <a:t>Target</a:t>
            </a:r>
            <a:endParaRPr lang="en-US" sz="640" dirty="0"/>
          </a:p>
        </p:txBody>
      </p:sp>
      <p:sp>
        <p:nvSpPr>
          <p:cNvPr id="16" name="Text 12"/>
          <p:cNvSpPr/>
          <p:nvPr/>
        </p:nvSpPr>
        <p:spPr>
          <a:xfrm>
            <a:off x="1819656" y="4215384"/>
            <a:ext cx="804672" cy="347472"/>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CHF 800</a:t>
            </a:r>
            <a:endParaRPr lang="en-US" sz="1600" dirty="0"/>
          </a:p>
        </p:txBody>
      </p:sp>
      <p:sp>
        <p:nvSpPr>
          <p:cNvPr id="17" name="Text 13"/>
          <p:cNvSpPr/>
          <p:nvPr/>
        </p:nvSpPr>
        <p:spPr>
          <a:xfrm>
            <a:off x="1819656" y="4608576"/>
            <a:ext cx="804672" cy="201168"/>
          </a:xfrm>
          <a:prstGeom prst="rect">
            <a:avLst/>
          </a:prstGeom>
          <a:noFill/>
          <a:ln/>
        </p:spPr>
        <p:txBody>
          <a:bodyPr wrap="square" lIns="0" tIns="0" rIns="0" bIns="0" rtlCol="0" anchor="t">
            <a:normAutofit/>
          </a:bodyPr>
          <a:lstStyle/>
          <a:p>
            <a:pPr algn="l" indent="0" marL="0">
              <a:buNone/>
            </a:pPr>
            <a:r>
              <a:rPr lang="en-US" sz="620" dirty="0">
                <a:solidFill>
                  <a:srgbClr val="B7CAD9"/>
                </a:solidFill>
                <a:latin typeface="Aptos" pitchFamily="34" charset="0"/>
                <a:ea typeface="Aptos" pitchFamily="34" charset="-122"/>
                <a:cs typeface="Aptos" pitchFamily="34" charset="-120"/>
              </a:rPr>
              <a:t>FY28 framework</a:t>
            </a:r>
            <a:endParaRPr lang="en-US" sz="620" dirty="0"/>
          </a:p>
        </p:txBody>
      </p:sp>
      <p:sp>
        <p:nvSpPr>
          <p:cNvPr id="18" name="Shape 14"/>
          <p:cNvSpPr/>
          <p:nvPr/>
        </p:nvSpPr>
        <p:spPr>
          <a:xfrm>
            <a:off x="2852928" y="3886200"/>
            <a:ext cx="1024128" cy="914400"/>
          </a:xfrm>
          <a:prstGeom prst="roundRect">
            <a:avLst>
              <a:gd name="adj" fmla="val 8000"/>
            </a:avLst>
          </a:prstGeom>
          <a:solidFill>
            <a:srgbClr val="0D2C4D">
              <a:alpha val="96000"/>
            </a:srgbClr>
          </a:solidFill>
          <a:ln w="7620">
            <a:solidFill>
              <a:srgbClr val="2B5E7E"/>
            </a:solidFill>
            <a:prstDash val="solid"/>
          </a:ln>
        </p:spPr>
      </p:sp>
      <p:sp>
        <p:nvSpPr>
          <p:cNvPr id="19" name="Text 15"/>
          <p:cNvSpPr/>
          <p:nvPr/>
        </p:nvSpPr>
        <p:spPr>
          <a:xfrm>
            <a:off x="2962656" y="3986784"/>
            <a:ext cx="804672" cy="182880"/>
          </a:xfrm>
          <a:prstGeom prst="rect">
            <a:avLst/>
          </a:prstGeom>
          <a:noFill/>
          <a:ln/>
        </p:spPr>
        <p:txBody>
          <a:bodyPr wrap="square" lIns="0" tIns="0" rIns="0" bIns="0" rtlCol="0" anchor="t">
            <a:normAutofit/>
          </a:bodyPr>
          <a:lstStyle/>
          <a:p>
            <a:pPr algn="l" indent="0" marL="0">
              <a:buNone/>
            </a:pPr>
            <a:r>
              <a:rPr lang="en-US" sz="640" b="1" dirty="0">
                <a:solidFill>
                  <a:srgbClr val="B7CAD9"/>
                </a:solidFill>
                <a:latin typeface="Aptos" pitchFamily="34" charset="0"/>
                <a:ea typeface="Aptos" pitchFamily="34" charset="-122"/>
                <a:cs typeface="Aptos" pitchFamily="34" charset="-120"/>
              </a:rPr>
              <a:t>Upside</a:t>
            </a:r>
            <a:endParaRPr lang="en-US" sz="640" dirty="0"/>
          </a:p>
        </p:txBody>
      </p:sp>
      <p:sp>
        <p:nvSpPr>
          <p:cNvPr id="20" name="Text 16"/>
          <p:cNvSpPr/>
          <p:nvPr/>
        </p:nvSpPr>
        <p:spPr>
          <a:xfrm>
            <a:off x="2962656" y="4215384"/>
            <a:ext cx="804672" cy="347472"/>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~33%</a:t>
            </a:r>
            <a:endParaRPr lang="en-US" sz="1600" dirty="0"/>
          </a:p>
        </p:txBody>
      </p:sp>
      <p:sp>
        <p:nvSpPr>
          <p:cNvPr id="21" name="Text 17"/>
          <p:cNvSpPr/>
          <p:nvPr/>
        </p:nvSpPr>
        <p:spPr>
          <a:xfrm>
            <a:off x="2962656" y="4608576"/>
            <a:ext cx="804672" cy="201168"/>
          </a:xfrm>
          <a:prstGeom prst="rect">
            <a:avLst/>
          </a:prstGeom>
          <a:noFill/>
          <a:ln/>
        </p:spPr>
        <p:txBody>
          <a:bodyPr wrap="square" lIns="0" tIns="0" rIns="0" bIns="0" rtlCol="0" anchor="t">
            <a:normAutofit/>
          </a:bodyPr>
          <a:lstStyle/>
          <a:p>
            <a:pPr algn="l" indent="0" marL="0">
              <a:buNone/>
            </a:pPr>
            <a:r>
              <a:rPr lang="en-US" sz="620" dirty="0">
                <a:solidFill>
                  <a:srgbClr val="B7CAD9"/>
                </a:solidFill>
                <a:latin typeface="Aptos" pitchFamily="34" charset="0"/>
                <a:ea typeface="Aptos" pitchFamily="34" charset="-122"/>
                <a:cs typeface="Aptos" pitchFamily="34" charset="-120"/>
              </a:rPr>
              <a:t>vs. spot</a:t>
            </a:r>
            <a:endParaRPr lang="en-US" sz="620" dirty="0"/>
          </a:p>
        </p:txBody>
      </p:sp>
      <p:sp>
        <p:nvSpPr>
          <p:cNvPr id="22" name="Shape 18"/>
          <p:cNvSpPr/>
          <p:nvPr/>
        </p:nvSpPr>
        <p:spPr>
          <a:xfrm>
            <a:off x="3995928" y="3886200"/>
            <a:ext cx="1024128" cy="914400"/>
          </a:xfrm>
          <a:prstGeom prst="roundRect">
            <a:avLst>
              <a:gd name="adj" fmla="val 8000"/>
            </a:avLst>
          </a:prstGeom>
          <a:solidFill>
            <a:srgbClr val="0D2C4D">
              <a:alpha val="96000"/>
            </a:srgbClr>
          </a:solidFill>
          <a:ln w="7620">
            <a:solidFill>
              <a:srgbClr val="2B5E7E"/>
            </a:solidFill>
            <a:prstDash val="solid"/>
          </a:ln>
        </p:spPr>
      </p:sp>
      <p:sp>
        <p:nvSpPr>
          <p:cNvPr id="23" name="Text 19"/>
          <p:cNvSpPr/>
          <p:nvPr/>
        </p:nvSpPr>
        <p:spPr>
          <a:xfrm>
            <a:off x="4105656" y="3986784"/>
            <a:ext cx="804672" cy="182880"/>
          </a:xfrm>
          <a:prstGeom prst="rect">
            <a:avLst/>
          </a:prstGeom>
          <a:noFill/>
          <a:ln/>
        </p:spPr>
        <p:txBody>
          <a:bodyPr wrap="square" lIns="0" tIns="0" rIns="0" bIns="0" rtlCol="0" anchor="t">
            <a:normAutofit/>
          </a:bodyPr>
          <a:lstStyle/>
          <a:p>
            <a:pPr algn="l" indent="0" marL="0">
              <a:buNone/>
            </a:pPr>
            <a:r>
              <a:rPr lang="en-US" sz="640" b="1" dirty="0">
                <a:solidFill>
                  <a:srgbClr val="B7CAD9"/>
                </a:solidFill>
                <a:latin typeface="Aptos" pitchFamily="34" charset="0"/>
                <a:ea typeface="Aptos" pitchFamily="34" charset="-122"/>
                <a:cs typeface="Aptos" pitchFamily="34" charset="-120"/>
              </a:rPr>
              <a:t>Mkt cap</a:t>
            </a:r>
            <a:endParaRPr lang="en-US" sz="640" dirty="0"/>
          </a:p>
        </p:txBody>
      </p:sp>
      <p:sp>
        <p:nvSpPr>
          <p:cNvPr id="24" name="Text 20"/>
          <p:cNvSpPr/>
          <p:nvPr/>
        </p:nvSpPr>
        <p:spPr>
          <a:xfrm>
            <a:off x="4105656" y="4215384"/>
            <a:ext cx="804672" cy="347472"/>
          </a:xfrm>
          <a:prstGeom prst="rect">
            <a:avLst/>
          </a:prstGeom>
          <a:noFill/>
          <a:ln/>
        </p:spPr>
        <p:txBody>
          <a:bodyPr wrap="square" lIns="0" tIns="0" rIns="0" bIns="0" rtlCol="0" anchor="t">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CHF 18.1bn</a:t>
            </a:r>
            <a:endParaRPr lang="en-US" sz="1300" dirty="0"/>
          </a:p>
        </p:txBody>
      </p:sp>
      <p:sp>
        <p:nvSpPr>
          <p:cNvPr id="25" name="Text 21"/>
          <p:cNvSpPr/>
          <p:nvPr/>
        </p:nvSpPr>
        <p:spPr>
          <a:xfrm>
            <a:off x="4105656" y="4608576"/>
            <a:ext cx="804672" cy="201168"/>
          </a:xfrm>
          <a:prstGeom prst="rect">
            <a:avLst/>
          </a:prstGeom>
          <a:noFill/>
          <a:ln/>
        </p:spPr>
        <p:txBody>
          <a:bodyPr wrap="square" lIns="0" tIns="0" rIns="0" bIns="0" rtlCol="0" anchor="t">
            <a:normAutofit/>
          </a:bodyPr>
          <a:lstStyle/>
          <a:p>
            <a:pPr algn="l" indent="0" marL="0">
              <a:buNone/>
            </a:pPr>
            <a:r>
              <a:rPr lang="en-US" sz="620" dirty="0">
                <a:solidFill>
                  <a:srgbClr val="B7CAD9"/>
                </a:solidFill>
                <a:latin typeface="Aptos" pitchFamily="34" charset="0"/>
                <a:ea typeface="Aptos" pitchFamily="34" charset="-122"/>
                <a:cs typeface="Aptos" pitchFamily="34" charset="-120"/>
              </a:rPr>
              <a:t>~30m shares</a:t>
            </a:r>
            <a:endParaRPr lang="en-US" sz="620" dirty="0"/>
          </a:p>
        </p:txBody>
      </p:sp>
      <p:sp>
        <p:nvSpPr>
          <p:cNvPr id="26" name="Shape 22"/>
          <p:cNvSpPr/>
          <p:nvPr/>
        </p:nvSpPr>
        <p:spPr>
          <a:xfrm>
            <a:off x="566928" y="5120640"/>
            <a:ext cx="4434840" cy="713232"/>
          </a:xfrm>
          <a:prstGeom prst="roundRect">
            <a:avLst>
              <a:gd name="adj" fmla="val 10256"/>
            </a:avLst>
          </a:prstGeom>
          <a:solidFill>
            <a:srgbClr val="092844"/>
          </a:solidFill>
          <a:ln w="8890">
            <a:solidFill>
              <a:srgbClr val="2B5E7E"/>
            </a:solidFill>
            <a:prstDash val="solid"/>
          </a:ln>
        </p:spPr>
      </p:sp>
      <p:sp>
        <p:nvSpPr>
          <p:cNvPr id="27" name="Text 23"/>
          <p:cNvSpPr/>
          <p:nvPr/>
        </p:nvSpPr>
        <p:spPr>
          <a:xfrm>
            <a:off x="749808" y="5312664"/>
            <a:ext cx="4069080" cy="228600"/>
          </a:xfrm>
          <a:prstGeom prst="rect">
            <a:avLst/>
          </a:prstGeom>
          <a:noFill/>
          <a:ln/>
        </p:spPr>
        <p:txBody>
          <a:bodyPr wrap="square" lIns="0" tIns="0" rIns="0" bIns="0" rtlCol="0" anchor="t">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H1 2026: order intake CHF856m (+75% YoY); backlog CHF648m (+121% YoY) vs revenue CHF512m (-8%).</a:t>
            </a:r>
            <a:endParaRPr lang="en-US" sz="920" dirty="0"/>
          </a:p>
        </p:txBody>
      </p:sp>
      <p:sp>
        <p:nvSpPr>
          <p:cNvPr id="28" name="Text 24"/>
          <p:cNvSpPr/>
          <p:nvPr/>
        </p:nvSpPr>
        <p:spPr>
          <a:xfrm>
            <a:off x="749808" y="5596128"/>
            <a:ext cx="4023360" cy="182880"/>
          </a:xfrm>
          <a:prstGeom prst="rect">
            <a:avLst/>
          </a:prstGeom>
          <a:noFill/>
          <a:ln/>
        </p:spPr>
        <p:txBody>
          <a:bodyPr wrap="square" lIns="0" tIns="0" rIns="0" bIns="0" rtlCol="0" anchor="t">
            <a:normAutofit/>
          </a:bodyPr>
          <a:lstStyle/>
          <a:p>
            <a:pPr algn="l" indent="0" marL="0">
              <a:buNone/>
            </a:pPr>
            <a:r>
              <a:rPr lang="en-US" sz="760" dirty="0">
                <a:solidFill>
                  <a:srgbClr val="B7CAD9"/>
                </a:solidFill>
                <a:latin typeface="Aptos" pitchFamily="34" charset="0"/>
                <a:ea typeface="Aptos" pitchFamily="34" charset="-122"/>
                <a:cs typeface="Aptos" pitchFamily="34" charset="-120"/>
              </a:rPr>
              <a:t>Near-term debate: manufacturing ramp execution rather than end-demand discovery.</a:t>
            </a:r>
            <a:endParaRPr lang="en-US" sz="760" dirty="0"/>
          </a:p>
        </p:txBody>
      </p:sp>
      <p:sp>
        <p:nvSpPr>
          <p:cNvPr id="29" name="Shape 25"/>
          <p:cNvSpPr/>
          <p:nvPr/>
        </p:nvSpPr>
        <p:spPr>
          <a:xfrm>
            <a:off x="7772400" y="5166360"/>
            <a:ext cx="3639312" cy="804672"/>
          </a:xfrm>
          <a:prstGeom prst="roundRect">
            <a:avLst>
              <a:gd name="adj" fmla="val 9091"/>
            </a:avLst>
          </a:prstGeom>
          <a:solidFill>
            <a:srgbClr val="FFFFFF">
              <a:alpha val="96000"/>
            </a:srgbClr>
          </a:solidFill>
          <a:ln w="8890">
            <a:solidFill>
              <a:srgbClr val="FFFFFF"/>
            </a:solidFill>
            <a:prstDash val="solid"/>
          </a:ln>
        </p:spPr>
      </p:sp>
      <p:sp>
        <p:nvSpPr>
          <p:cNvPr id="30" name="Text 26"/>
          <p:cNvSpPr/>
          <p:nvPr/>
        </p:nvSpPr>
        <p:spPr>
          <a:xfrm>
            <a:off x="7973568" y="5321808"/>
            <a:ext cx="2103120" cy="146304"/>
          </a:xfrm>
          <a:prstGeom prst="rect">
            <a:avLst/>
          </a:prstGeom>
          <a:noFill/>
          <a:ln/>
        </p:spPr>
        <p:txBody>
          <a:bodyPr wrap="square" lIns="0" tIns="0" rIns="0" bIns="0" rtlCol="0" anchor="t">
            <a:normAutofit/>
          </a:bodyPr>
          <a:lstStyle/>
          <a:p>
            <a:pPr algn="l" indent="0" marL="0">
              <a:buNone/>
            </a:pPr>
            <a:r>
              <a:rPr lang="en-US" sz="640" b="1" dirty="0">
                <a:solidFill>
                  <a:srgbClr val="B7CAD9"/>
                </a:solidFill>
                <a:latin typeface="Aptos" pitchFamily="34" charset="0"/>
                <a:ea typeface="Aptos" pitchFamily="34" charset="-122"/>
                <a:cs typeface="Aptos" pitchFamily="34" charset="-120"/>
              </a:rPr>
              <a:t>FY23-FY25 sales / EBITDA (CHFm)</a:t>
            </a:r>
            <a:endParaRPr lang="en-US" sz="640" dirty="0"/>
          </a:p>
        </p:txBody>
      </p:sp>
      <p:sp>
        <p:nvSpPr>
          <p:cNvPr id="31" name="Text 27"/>
          <p:cNvSpPr/>
          <p:nvPr/>
        </p:nvSpPr>
        <p:spPr>
          <a:xfrm>
            <a:off x="7973568" y="5568696"/>
            <a:ext cx="777240" cy="192024"/>
          </a:xfrm>
          <a:prstGeom prst="rect">
            <a:avLst/>
          </a:prstGeom>
          <a:noFill/>
          <a:ln/>
        </p:spPr>
        <p:txBody>
          <a:bodyPr wrap="square" lIns="0" tIns="0" rIns="0" bIns="0" rtlCol="0" anchor="t">
            <a:normAutofit/>
          </a:bodyPr>
          <a:lstStyle/>
          <a:p>
            <a:pPr algn="l" indent="0" marL="0">
              <a:buNone/>
            </a:pPr>
            <a:r>
              <a:rPr lang="en-US" sz="800" b="1" dirty="0">
                <a:solidFill>
                  <a:srgbClr val="FFFFFF"/>
                </a:solidFill>
                <a:latin typeface="Aptos" pitchFamily="34" charset="0"/>
                <a:ea typeface="Aptos" pitchFamily="34" charset="-122"/>
                <a:cs typeface="Aptos" pitchFamily="34" charset="-120"/>
              </a:rPr>
              <a:t>885 / 271</a:t>
            </a:r>
            <a:endParaRPr lang="en-US" sz="800" dirty="0"/>
          </a:p>
        </p:txBody>
      </p:sp>
      <p:sp>
        <p:nvSpPr>
          <p:cNvPr id="32" name="Text 28"/>
          <p:cNvSpPr/>
          <p:nvPr/>
        </p:nvSpPr>
        <p:spPr>
          <a:xfrm>
            <a:off x="8915400" y="5568696"/>
            <a:ext cx="777240" cy="192024"/>
          </a:xfrm>
          <a:prstGeom prst="rect">
            <a:avLst/>
          </a:prstGeom>
          <a:noFill/>
          <a:ln/>
        </p:spPr>
        <p:txBody>
          <a:bodyPr wrap="square" lIns="0" tIns="0" rIns="0" bIns="0" rtlCol="0" anchor="t">
            <a:normAutofit/>
          </a:bodyPr>
          <a:lstStyle/>
          <a:p>
            <a:pPr algn="l" indent="0" marL="0">
              <a:buNone/>
            </a:pPr>
            <a:r>
              <a:rPr lang="en-US" sz="800" b="1" dirty="0">
                <a:solidFill>
                  <a:srgbClr val="FFFFFF"/>
                </a:solidFill>
                <a:latin typeface="Aptos" pitchFamily="34" charset="0"/>
                <a:ea typeface="Aptos" pitchFamily="34" charset="-122"/>
                <a:cs typeface="Aptos" pitchFamily="34" charset="-120"/>
              </a:rPr>
              <a:t>942 / 294</a:t>
            </a:r>
            <a:endParaRPr lang="en-US" sz="800" dirty="0"/>
          </a:p>
        </p:txBody>
      </p:sp>
      <p:sp>
        <p:nvSpPr>
          <p:cNvPr id="33" name="Text 29"/>
          <p:cNvSpPr/>
          <p:nvPr/>
        </p:nvSpPr>
        <p:spPr>
          <a:xfrm>
            <a:off x="9875520" y="5568696"/>
            <a:ext cx="960120" cy="192024"/>
          </a:xfrm>
          <a:prstGeom prst="rect">
            <a:avLst/>
          </a:prstGeom>
          <a:noFill/>
          <a:ln/>
        </p:spPr>
        <p:txBody>
          <a:bodyPr wrap="square" lIns="0" tIns="0" rIns="0" bIns="0" rtlCol="0" anchor="t">
            <a:normAutofit/>
          </a:bodyPr>
          <a:lstStyle/>
          <a:p>
            <a:pPr algn="l" indent="0" marL="0">
              <a:buNone/>
            </a:pPr>
            <a:r>
              <a:rPr lang="en-US" sz="800" b="1" dirty="0">
                <a:solidFill>
                  <a:srgbClr val="FFFFFF"/>
                </a:solidFill>
                <a:latin typeface="Aptos" pitchFamily="34" charset="0"/>
                <a:ea typeface="Aptos" pitchFamily="34" charset="-122"/>
                <a:cs typeface="Aptos" pitchFamily="34" charset="-120"/>
              </a:rPr>
              <a:t>1,074 / 322</a:t>
            </a:r>
            <a:endParaRPr lang="en-US" sz="800" dirty="0"/>
          </a:p>
        </p:txBody>
      </p:sp>
      <p:sp>
        <p:nvSpPr>
          <p:cNvPr id="34" name="Text 30"/>
          <p:cNvSpPr/>
          <p:nvPr/>
        </p:nvSpPr>
        <p:spPr>
          <a:xfrm>
            <a:off x="7973568" y="5797296"/>
            <a:ext cx="548640" cy="137160"/>
          </a:xfrm>
          <a:prstGeom prst="rect">
            <a:avLst/>
          </a:prstGeom>
          <a:noFill/>
          <a:ln/>
        </p:spPr>
        <p:txBody>
          <a:bodyPr wrap="square" lIns="0" tIns="0" rIns="0" bIns="0" rtlCol="0" anchor="t">
            <a:normAutofit/>
          </a:bodyPr>
          <a:lstStyle/>
          <a:p>
            <a:pPr algn="l" indent="0" marL="0">
              <a:buNone/>
            </a:pPr>
            <a:r>
              <a:rPr lang="en-US" sz="550" dirty="0">
                <a:solidFill>
                  <a:srgbClr val="B7CAD9"/>
                </a:solidFill>
                <a:latin typeface="Aptos" pitchFamily="34" charset="0"/>
                <a:ea typeface="Aptos" pitchFamily="34" charset="-122"/>
                <a:cs typeface="Aptos" pitchFamily="34" charset="-120"/>
              </a:rPr>
              <a:t>FY23</a:t>
            </a:r>
            <a:endParaRPr lang="en-US" sz="550" dirty="0"/>
          </a:p>
        </p:txBody>
      </p:sp>
      <p:sp>
        <p:nvSpPr>
          <p:cNvPr id="35" name="Text 31"/>
          <p:cNvSpPr/>
          <p:nvPr/>
        </p:nvSpPr>
        <p:spPr>
          <a:xfrm>
            <a:off x="8915400" y="5797296"/>
            <a:ext cx="548640" cy="137160"/>
          </a:xfrm>
          <a:prstGeom prst="rect">
            <a:avLst/>
          </a:prstGeom>
          <a:noFill/>
          <a:ln/>
        </p:spPr>
        <p:txBody>
          <a:bodyPr wrap="square" lIns="0" tIns="0" rIns="0" bIns="0" rtlCol="0" anchor="t">
            <a:normAutofit/>
          </a:bodyPr>
          <a:lstStyle/>
          <a:p>
            <a:pPr algn="l" indent="0" marL="0">
              <a:buNone/>
            </a:pPr>
            <a:r>
              <a:rPr lang="en-US" sz="550" dirty="0">
                <a:solidFill>
                  <a:srgbClr val="B7CAD9"/>
                </a:solidFill>
                <a:latin typeface="Aptos" pitchFamily="34" charset="0"/>
                <a:ea typeface="Aptos" pitchFamily="34" charset="-122"/>
                <a:cs typeface="Aptos" pitchFamily="34" charset="-120"/>
              </a:rPr>
              <a:t>FY24</a:t>
            </a:r>
            <a:endParaRPr lang="en-US" sz="550" dirty="0"/>
          </a:p>
        </p:txBody>
      </p:sp>
      <p:sp>
        <p:nvSpPr>
          <p:cNvPr id="36" name="Text 32"/>
          <p:cNvSpPr/>
          <p:nvPr/>
        </p:nvSpPr>
        <p:spPr>
          <a:xfrm>
            <a:off x="9857232" y="5797296"/>
            <a:ext cx="548640" cy="137160"/>
          </a:xfrm>
          <a:prstGeom prst="rect">
            <a:avLst/>
          </a:prstGeom>
          <a:noFill/>
          <a:ln/>
        </p:spPr>
        <p:txBody>
          <a:bodyPr wrap="square" lIns="0" tIns="0" rIns="0" bIns="0" rtlCol="0" anchor="t">
            <a:normAutofit/>
          </a:bodyPr>
          <a:lstStyle/>
          <a:p>
            <a:pPr algn="l" indent="0" marL="0">
              <a:buNone/>
            </a:pPr>
            <a:r>
              <a:rPr lang="en-US" sz="550" dirty="0">
                <a:solidFill>
                  <a:srgbClr val="B7CAD9"/>
                </a:solidFill>
                <a:latin typeface="Aptos" pitchFamily="34" charset="0"/>
                <a:ea typeface="Aptos" pitchFamily="34" charset="-122"/>
                <a:cs typeface="Aptos" pitchFamily="34" charset="-120"/>
              </a:rPr>
              <a:t>FY25</a:t>
            </a:r>
            <a:endParaRPr lang="en-US" sz="550" dirty="0"/>
          </a:p>
        </p:txBody>
      </p:sp>
      <p:sp>
        <p:nvSpPr>
          <p:cNvPr id="37" name="Shape 33"/>
          <p:cNvSpPr/>
          <p:nvPr/>
        </p:nvSpPr>
        <p:spPr>
          <a:xfrm>
            <a:off x="420624" y="6419088"/>
            <a:ext cx="11338560" cy="0"/>
          </a:xfrm>
          <a:prstGeom prst="line">
            <a:avLst/>
          </a:prstGeom>
          <a:noFill/>
          <a:ln w="7620">
            <a:solidFill>
              <a:srgbClr val="2B4563"/>
            </a:solidFill>
            <a:prstDash val="solid"/>
            <a:headEnd type="none"/>
            <a:tailEnd type="none"/>
          </a:ln>
        </p:spPr>
      </p:sp>
      <p:sp>
        <p:nvSpPr>
          <p:cNvPr id="38" name="Text 34"/>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A8B4BF"/>
                </a:solidFill>
                <a:latin typeface="Aptos" pitchFamily="34" charset="0"/>
                <a:ea typeface="Aptos" pitchFamily="34" charset="-122"/>
                <a:cs typeface="Aptos" pitchFamily="34" charset="-120"/>
              </a:rPr>
              <a:t>Source: VAT FY2023-FY2025 results; VAT H1 2026 release; market data as at 28 Jul 2026; analyst estimates.</a:t>
            </a:r>
            <a:endParaRPr lang="en-US" sz="540" dirty="0"/>
          </a:p>
        </p:txBody>
      </p:sp>
      <p:sp>
        <p:nvSpPr>
          <p:cNvPr id="39" name="Text 35"/>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A8B4BF"/>
                </a:solidFill>
                <a:latin typeface="Aptos" pitchFamily="34" charset="0"/>
                <a:ea typeface="Aptos" pitchFamily="34" charset="-122"/>
                <a:cs typeface="Aptos" pitchFamily="34" charset="-120"/>
              </a:rPr>
              <a:t>1</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SEMICONDUCTOR VALUE CHAIN</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From an AI server to a vacuum valve: VAT monetises semiconductor capex several layers downstream</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457200" y="1298448"/>
            <a:ext cx="11201400" cy="4343400"/>
          </a:xfrm>
          <a:prstGeom prst="rect">
            <a:avLst>
              <a:gd name="adj" fmla="val 1684"/>
            </a:avLst>
          </a:prstGeom>
          <a:solidFill>
            <a:srgbClr val="F7FAFC"/>
          </a:solidFill>
          <a:ln w="8890">
            <a:solidFill>
              <a:srgbClr val="F7FAFC">
                <a:alpha val="0"/>
              </a:srgbClr>
            </a:solidFill>
            <a:prstDash val="solid"/>
          </a:ln>
        </p:spPr>
      </p:sp>
      <p:sp>
        <p:nvSpPr>
          <p:cNvPr id="7" name="Shape 4"/>
          <p:cNvSpPr/>
          <p:nvPr/>
        </p:nvSpPr>
        <p:spPr>
          <a:xfrm>
            <a:off x="685800" y="1673352"/>
            <a:ext cx="1600200" cy="3063240"/>
          </a:xfrm>
          <a:prstGeom prst="roundRect">
            <a:avLst>
              <a:gd name="adj" fmla="val 4571"/>
            </a:avLst>
          </a:prstGeom>
          <a:solidFill>
            <a:srgbClr val="FFFFFF"/>
          </a:solidFill>
          <a:ln w="8890">
            <a:solidFill>
              <a:srgbClr val="D7E2EB"/>
            </a:solidFill>
            <a:prstDash val="solid"/>
          </a:ln>
        </p:spPr>
      </p:sp>
      <p:sp>
        <p:nvSpPr>
          <p:cNvPr id="8" name="Text 5"/>
          <p:cNvSpPr/>
          <p:nvPr/>
        </p:nvSpPr>
        <p:spPr>
          <a:xfrm>
            <a:off x="795528" y="1856232"/>
            <a:ext cx="1380744" cy="201168"/>
          </a:xfrm>
          <a:prstGeom prst="rect">
            <a:avLst/>
          </a:prstGeom>
          <a:noFill/>
          <a:ln/>
        </p:spPr>
        <p:txBody>
          <a:bodyPr wrap="square" lIns="0" tIns="0" rIns="0" bIns="0" rtlCol="0" anchor="t">
            <a:normAutofit/>
          </a:bodyPr>
          <a:lstStyle/>
          <a:p>
            <a:pPr algn="ctr" indent="0" marL="0">
              <a:buNone/>
            </a:pPr>
            <a:r>
              <a:rPr lang="en-US" sz="750" b="1" dirty="0">
                <a:solidFill>
                  <a:srgbClr val="687486"/>
                </a:solidFill>
                <a:latin typeface="Aptos" pitchFamily="34" charset="0"/>
                <a:ea typeface="Aptos" pitchFamily="34" charset="-122"/>
                <a:cs typeface="Aptos" pitchFamily="34" charset="-120"/>
              </a:rPr>
              <a:t>END DEMAND</a:t>
            </a:r>
            <a:endParaRPr lang="en-US" sz="750" dirty="0"/>
          </a:p>
        </p:txBody>
      </p:sp>
      <p:sp>
        <p:nvSpPr>
          <p:cNvPr id="9" name="Text 6"/>
          <p:cNvSpPr/>
          <p:nvPr/>
        </p:nvSpPr>
        <p:spPr>
          <a:xfrm>
            <a:off x="850392" y="2368296"/>
            <a:ext cx="1271016" cy="914400"/>
          </a:xfrm>
          <a:prstGeom prst="rect">
            <a:avLst/>
          </a:prstGeom>
          <a:noFill/>
          <a:ln/>
        </p:spPr>
        <p:txBody>
          <a:bodyPr wrap="square" lIns="0" tIns="0" rIns="0" bIns="0" rtlCol="0" anchor="t">
            <a:normAutofit/>
          </a:bodyPr>
          <a:lstStyle/>
          <a:p>
            <a:pPr algn="ctr" indent="0" marL="0">
              <a:buNone/>
            </a:pPr>
            <a:r>
              <a:rPr lang="en-US" sz="930" dirty="0">
                <a:solidFill>
                  <a:srgbClr val="17212B"/>
                </a:solidFill>
                <a:latin typeface="Aptos" pitchFamily="34" charset="0"/>
                <a:ea typeface="Aptos" pitchFamily="34" charset="-122"/>
                <a:cs typeface="Aptos" pitchFamily="34" charset="-120"/>
              </a:rPr>
              <a:t>AI servers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Cars / phones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Industrial</a:t>
            </a:r>
            <a:endParaRPr lang="en-US" sz="930" dirty="0"/>
          </a:p>
        </p:txBody>
      </p:sp>
      <p:sp>
        <p:nvSpPr>
          <p:cNvPr id="10" name="Shape 7"/>
          <p:cNvSpPr/>
          <p:nvPr/>
        </p:nvSpPr>
        <p:spPr>
          <a:xfrm>
            <a:off x="868680" y="3547872"/>
            <a:ext cx="1234440" cy="201168"/>
          </a:xfrm>
          <a:prstGeom prst="roundRect">
            <a:avLst>
              <a:gd name="adj" fmla="val 54545"/>
            </a:avLst>
          </a:prstGeom>
          <a:solidFill>
            <a:srgbClr val="F1F5F9"/>
          </a:solidFill>
          <a:ln w="8890">
            <a:solidFill>
              <a:srgbClr val="F1F5F9">
                <a:alpha val="0"/>
              </a:srgbClr>
            </a:solidFill>
            <a:prstDash val="solid"/>
          </a:ln>
        </p:spPr>
      </p:sp>
      <p:sp>
        <p:nvSpPr>
          <p:cNvPr id="11" name="Text 8"/>
          <p:cNvSpPr/>
          <p:nvPr/>
        </p:nvSpPr>
        <p:spPr>
          <a:xfrm>
            <a:off x="923544" y="3598164"/>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AI server</a:t>
            </a:r>
            <a:endParaRPr lang="en-US" sz="560" dirty="0"/>
          </a:p>
        </p:txBody>
      </p:sp>
      <p:sp>
        <p:nvSpPr>
          <p:cNvPr id="12" name="Shape 9"/>
          <p:cNvSpPr/>
          <p:nvPr/>
        </p:nvSpPr>
        <p:spPr>
          <a:xfrm>
            <a:off x="868680" y="3858768"/>
            <a:ext cx="1234440" cy="201168"/>
          </a:xfrm>
          <a:prstGeom prst="roundRect">
            <a:avLst>
              <a:gd name="adj" fmla="val 54545"/>
            </a:avLst>
          </a:prstGeom>
          <a:solidFill>
            <a:srgbClr val="F1F5F9"/>
          </a:solidFill>
          <a:ln w="8890">
            <a:solidFill>
              <a:srgbClr val="F1F5F9">
                <a:alpha val="0"/>
              </a:srgbClr>
            </a:solidFill>
            <a:prstDash val="solid"/>
          </a:ln>
        </p:spPr>
      </p:sp>
      <p:sp>
        <p:nvSpPr>
          <p:cNvPr id="13" name="Text 10"/>
          <p:cNvSpPr/>
          <p:nvPr/>
        </p:nvSpPr>
        <p:spPr>
          <a:xfrm>
            <a:off x="923544" y="3909060"/>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EV</a:t>
            </a:r>
            <a:endParaRPr lang="en-US" sz="560" dirty="0"/>
          </a:p>
        </p:txBody>
      </p:sp>
      <p:sp>
        <p:nvSpPr>
          <p:cNvPr id="14" name="Shape 11"/>
          <p:cNvSpPr/>
          <p:nvPr/>
        </p:nvSpPr>
        <p:spPr>
          <a:xfrm>
            <a:off x="868680" y="4169664"/>
            <a:ext cx="1234440" cy="201168"/>
          </a:xfrm>
          <a:prstGeom prst="roundRect">
            <a:avLst>
              <a:gd name="adj" fmla="val 54545"/>
            </a:avLst>
          </a:prstGeom>
          <a:solidFill>
            <a:srgbClr val="F1F5F9"/>
          </a:solidFill>
          <a:ln w="8890">
            <a:solidFill>
              <a:srgbClr val="F1F5F9">
                <a:alpha val="0"/>
              </a:srgbClr>
            </a:solidFill>
            <a:prstDash val="solid"/>
          </a:ln>
        </p:spPr>
      </p:sp>
      <p:sp>
        <p:nvSpPr>
          <p:cNvPr id="15" name="Text 12"/>
          <p:cNvSpPr/>
          <p:nvPr/>
        </p:nvSpPr>
        <p:spPr>
          <a:xfrm>
            <a:off x="923544" y="4219956"/>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Phone</a:t>
            </a:r>
            <a:endParaRPr lang="en-US" sz="560" dirty="0"/>
          </a:p>
        </p:txBody>
      </p:sp>
      <p:sp>
        <p:nvSpPr>
          <p:cNvPr id="16" name="Shape 13"/>
          <p:cNvSpPr/>
          <p:nvPr/>
        </p:nvSpPr>
        <p:spPr>
          <a:xfrm>
            <a:off x="2423160" y="3227832"/>
            <a:ext cx="182880" cy="0"/>
          </a:xfrm>
          <a:prstGeom prst="line">
            <a:avLst/>
          </a:prstGeom>
          <a:noFill/>
          <a:ln w="20320">
            <a:solidFill>
              <a:srgbClr val="199BD7"/>
            </a:solidFill>
            <a:prstDash val="solid"/>
            <a:headEnd type="none"/>
            <a:tailEnd type="triangle"/>
          </a:ln>
        </p:spPr>
      </p:sp>
      <p:sp>
        <p:nvSpPr>
          <p:cNvPr id="17" name="Shape 14"/>
          <p:cNvSpPr/>
          <p:nvPr/>
        </p:nvSpPr>
        <p:spPr>
          <a:xfrm>
            <a:off x="2697480" y="1673352"/>
            <a:ext cx="1600200" cy="3063240"/>
          </a:xfrm>
          <a:prstGeom prst="roundRect">
            <a:avLst>
              <a:gd name="adj" fmla="val 4571"/>
            </a:avLst>
          </a:prstGeom>
          <a:solidFill>
            <a:srgbClr val="FFFFFF"/>
          </a:solidFill>
          <a:ln w="8890">
            <a:solidFill>
              <a:srgbClr val="D7E2EB"/>
            </a:solidFill>
            <a:prstDash val="solid"/>
          </a:ln>
        </p:spPr>
      </p:sp>
      <p:sp>
        <p:nvSpPr>
          <p:cNvPr id="18" name="Text 15"/>
          <p:cNvSpPr/>
          <p:nvPr/>
        </p:nvSpPr>
        <p:spPr>
          <a:xfrm>
            <a:off x="2807208" y="1856232"/>
            <a:ext cx="1380744" cy="201168"/>
          </a:xfrm>
          <a:prstGeom prst="rect">
            <a:avLst/>
          </a:prstGeom>
          <a:noFill/>
          <a:ln/>
        </p:spPr>
        <p:txBody>
          <a:bodyPr wrap="square" lIns="0" tIns="0" rIns="0" bIns="0" rtlCol="0" anchor="t">
            <a:normAutofit/>
          </a:bodyPr>
          <a:lstStyle/>
          <a:p>
            <a:pPr algn="ctr" indent="0" marL="0">
              <a:buNone/>
            </a:pPr>
            <a:r>
              <a:rPr lang="en-US" sz="750" b="1" dirty="0">
                <a:solidFill>
                  <a:srgbClr val="687486"/>
                </a:solidFill>
                <a:latin typeface="Aptos" pitchFamily="34" charset="0"/>
                <a:ea typeface="Aptos" pitchFamily="34" charset="-122"/>
                <a:cs typeface="Aptos" pitchFamily="34" charset="-120"/>
              </a:rPr>
              <a:t>FABLESS</a:t>
            </a:r>
            <a:endParaRPr lang="en-US" sz="750" dirty="0"/>
          </a:p>
        </p:txBody>
      </p:sp>
      <p:sp>
        <p:nvSpPr>
          <p:cNvPr id="19" name="Text 16"/>
          <p:cNvSpPr/>
          <p:nvPr/>
        </p:nvSpPr>
        <p:spPr>
          <a:xfrm>
            <a:off x="2862072" y="2368296"/>
            <a:ext cx="1271016" cy="914400"/>
          </a:xfrm>
          <a:prstGeom prst="rect">
            <a:avLst/>
          </a:prstGeom>
          <a:noFill/>
          <a:ln/>
        </p:spPr>
        <p:txBody>
          <a:bodyPr wrap="square" lIns="0" tIns="0" rIns="0" bIns="0" rtlCol="0" anchor="t">
            <a:normAutofit/>
          </a:bodyPr>
          <a:lstStyle/>
          <a:p>
            <a:pPr algn="ctr" indent="0" marL="0">
              <a:buNone/>
            </a:pPr>
            <a:r>
              <a:rPr lang="en-US" sz="930" dirty="0">
                <a:solidFill>
                  <a:srgbClr val="17212B"/>
                </a:solidFill>
                <a:latin typeface="Aptos" pitchFamily="34" charset="0"/>
                <a:ea typeface="Aptos" pitchFamily="34" charset="-122"/>
                <a:cs typeface="Aptos" pitchFamily="34" charset="-120"/>
              </a:rPr>
              <a:t>Design chips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No owned fabs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Nvidia / AMD / Apple</a:t>
            </a:r>
            <a:endParaRPr lang="en-US" sz="930" dirty="0"/>
          </a:p>
        </p:txBody>
      </p:sp>
      <p:sp>
        <p:nvSpPr>
          <p:cNvPr id="20" name="Shape 17"/>
          <p:cNvSpPr/>
          <p:nvPr/>
        </p:nvSpPr>
        <p:spPr>
          <a:xfrm>
            <a:off x="2880360" y="3547872"/>
            <a:ext cx="1234440" cy="201168"/>
          </a:xfrm>
          <a:prstGeom prst="roundRect">
            <a:avLst>
              <a:gd name="adj" fmla="val 54545"/>
            </a:avLst>
          </a:prstGeom>
          <a:solidFill>
            <a:srgbClr val="F1F5F9"/>
          </a:solidFill>
          <a:ln w="8890">
            <a:solidFill>
              <a:srgbClr val="F1F5F9">
                <a:alpha val="0"/>
              </a:srgbClr>
            </a:solidFill>
            <a:prstDash val="solid"/>
          </a:ln>
        </p:spPr>
      </p:sp>
      <p:sp>
        <p:nvSpPr>
          <p:cNvPr id="21" name="Text 18"/>
          <p:cNvSpPr/>
          <p:nvPr/>
        </p:nvSpPr>
        <p:spPr>
          <a:xfrm>
            <a:off x="2935224" y="3598164"/>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NVIDIA</a:t>
            </a:r>
            <a:endParaRPr lang="en-US" sz="560" dirty="0"/>
          </a:p>
        </p:txBody>
      </p:sp>
      <p:sp>
        <p:nvSpPr>
          <p:cNvPr id="22" name="Shape 19"/>
          <p:cNvSpPr/>
          <p:nvPr/>
        </p:nvSpPr>
        <p:spPr>
          <a:xfrm>
            <a:off x="2880360" y="3858768"/>
            <a:ext cx="1234440" cy="201168"/>
          </a:xfrm>
          <a:prstGeom prst="roundRect">
            <a:avLst>
              <a:gd name="adj" fmla="val 54545"/>
            </a:avLst>
          </a:prstGeom>
          <a:solidFill>
            <a:srgbClr val="F1F5F9"/>
          </a:solidFill>
          <a:ln w="8890">
            <a:solidFill>
              <a:srgbClr val="F1F5F9">
                <a:alpha val="0"/>
              </a:srgbClr>
            </a:solidFill>
            <a:prstDash val="solid"/>
          </a:ln>
        </p:spPr>
      </p:sp>
      <p:sp>
        <p:nvSpPr>
          <p:cNvPr id="23" name="Text 20"/>
          <p:cNvSpPr/>
          <p:nvPr/>
        </p:nvSpPr>
        <p:spPr>
          <a:xfrm>
            <a:off x="2935224" y="3909060"/>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AMD</a:t>
            </a:r>
            <a:endParaRPr lang="en-US" sz="560" dirty="0"/>
          </a:p>
        </p:txBody>
      </p:sp>
      <p:sp>
        <p:nvSpPr>
          <p:cNvPr id="24" name="Shape 21"/>
          <p:cNvSpPr/>
          <p:nvPr/>
        </p:nvSpPr>
        <p:spPr>
          <a:xfrm>
            <a:off x="2880360" y="4169664"/>
            <a:ext cx="1234440" cy="201168"/>
          </a:xfrm>
          <a:prstGeom prst="roundRect">
            <a:avLst>
              <a:gd name="adj" fmla="val 54545"/>
            </a:avLst>
          </a:prstGeom>
          <a:solidFill>
            <a:srgbClr val="F1F5F9"/>
          </a:solidFill>
          <a:ln w="8890">
            <a:solidFill>
              <a:srgbClr val="F1F5F9">
                <a:alpha val="0"/>
              </a:srgbClr>
            </a:solidFill>
            <a:prstDash val="solid"/>
          </a:ln>
        </p:spPr>
      </p:sp>
      <p:sp>
        <p:nvSpPr>
          <p:cNvPr id="25" name="Text 22"/>
          <p:cNvSpPr/>
          <p:nvPr/>
        </p:nvSpPr>
        <p:spPr>
          <a:xfrm>
            <a:off x="2935224" y="4219956"/>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Apple</a:t>
            </a:r>
            <a:endParaRPr lang="en-US" sz="560" dirty="0"/>
          </a:p>
        </p:txBody>
      </p:sp>
      <p:sp>
        <p:nvSpPr>
          <p:cNvPr id="26" name="Shape 23"/>
          <p:cNvSpPr/>
          <p:nvPr/>
        </p:nvSpPr>
        <p:spPr>
          <a:xfrm>
            <a:off x="4434840" y="3227832"/>
            <a:ext cx="182880" cy="0"/>
          </a:xfrm>
          <a:prstGeom prst="line">
            <a:avLst/>
          </a:prstGeom>
          <a:noFill/>
          <a:ln w="20320">
            <a:solidFill>
              <a:srgbClr val="199BD7"/>
            </a:solidFill>
            <a:prstDash val="solid"/>
            <a:headEnd type="none"/>
            <a:tailEnd type="triangle"/>
          </a:ln>
        </p:spPr>
      </p:sp>
      <p:sp>
        <p:nvSpPr>
          <p:cNvPr id="27" name="Shape 24"/>
          <p:cNvSpPr/>
          <p:nvPr/>
        </p:nvSpPr>
        <p:spPr>
          <a:xfrm>
            <a:off x="4709160" y="1673352"/>
            <a:ext cx="1600200" cy="3063240"/>
          </a:xfrm>
          <a:prstGeom prst="roundRect">
            <a:avLst>
              <a:gd name="adj" fmla="val 4571"/>
            </a:avLst>
          </a:prstGeom>
          <a:solidFill>
            <a:srgbClr val="FFFFFF"/>
          </a:solidFill>
          <a:ln w="8890">
            <a:solidFill>
              <a:srgbClr val="D7E2EB"/>
            </a:solidFill>
            <a:prstDash val="solid"/>
          </a:ln>
        </p:spPr>
      </p:sp>
      <p:sp>
        <p:nvSpPr>
          <p:cNvPr id="28" name="Text 25"/>
          <p:cNvSpPr/>
          <p:nvPr/>
        </p:nvSpPr>
        <p:spPr>
          <a:xfrm>
            <a:off x="4818888" y="1856232"/>
            <a:ext cx="1380744" cy="201168"/>
          </a:xfrm>
          <a:prstGeom prst="rect">
            <a:avLst/>
          </a:prstGeom>
          <a:noFill/>
          <a:ln/>
        </p:spPr>
        <p:txBody>
          <a:bodyPr wrap="square" lIns="0" tIns="0" rIns="0" bIns="0" rtlCol="0" anchor="t">
            <a:normAutofit/>
          </a:bodyPr>
          <a:lstStyle/>
          <a:p>
            <a:pPr algn="ctr" indent="0" marL="0">
              <a:buNone/>
            </a:pPr>
            <a:r>
              <a:rPr lang="en-US" sz="750" b="1" dirty="0">
                <a:solidFill>
                  <a:srgbClr val="687486"/>
                </a:solidFill>
                <a:latin typeface="Aptos" pitchFamily="34" charset="0"/>
                <a:ea typeface="Aptos" pitchFamily="34" charset="-122"/>
                <a:cs typeface="Aptos" pitchFamily="34" charset="-120"/>
              </a:rPr>
              <a:t>FOUNDRY / IDM</a:t>
            </a:r>
            <a:endParaRPr lang="en-US" sz="750" dirty="0"/>
          </a:p>
        </p:txBody>
      </p:sp>
      <p:sp>
        <p:nvSpPr>
          <p:cNvPr id="29" name="Text 26"/>
          <p:cNvSpPr/>
          <p:nvPr/>
        </p:nvSpPr>
        <p:spPr>
          <a:xfrm>
            <a:off x="4873752" y="2368296"/>
            <a:ext cx="1271016" cy="914400"/>
          </a:xfrm>
          <a:prstGeom prst="rect">
            <a:avLst/>
          </a:prstGeom>
          <a:noFill/>
          <a:ln/>
        </p:spPr>
        <p:txBody>
          <a:bodyPr wrap="square" lIns="0" tIns="0" rIns="0" bIns="0" rtlCol="0" anchor="t">
            <a:normAutofit/>
          </a:bodyPr>
          <a:lstStyle/>
          <a:p>
            <a:pPr algn="ctr" indent="0" marL="0">
              <a:buNone/>
            </a:pPr>
            <a:r>
              <a:rPr lang="en-US" sz="930" dirty="0">
                <a:solidFill>
                  <a:srgbClr val="17212B"/>
                </a:solidFill>
                <a:latin typeface="Aptos" pitchFamily="34" charset="0"/>
                <a:ea typeface="Aptos" pitchFamily="34" charset="-122"/>
                <a:cs typeface="Aptos" pitchFamily="34" charset="-120"/>
              </a:rPr>
              <a:t>Manufacture chips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Own fabs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TSMC / Samsung / Micron</a:t>
            </a:r>
            <a:endParaRPr lang="en-US" sz="930" dirty="0"/>
          </a:p>
        </p:txBody>
      </p:sp>
      <p:sp>
        <p:nvSpPr>
          <p:cNvPr id="30" name="Shape 27"/>
          <p:cNvSpPr/>
          <p:nvPr/>
        </p:nvSpPr>
        <p:spPr>
          <a:xfrm>
            <a:off x="4892040" y="3547872"/>
            <a:ext cx="1234440" cy="201168"/>
          </a:xfrm>
          <a:prstGeom prst="roundRect">
            <a:avLst>
              <a:gd name="adj" fmla="val 54545"/>
            </a:avLst>
          </a:prstGeom>
          <a:solidFill>
            <a:srgbClr val="F1F5F9"/>
          </a:solidFill>
          <a:ln w="8890">
            <a:solidFill>
              <a:srgbClr val="F1F5F9">
                <a:alpha val="0"/>
              </a:srgbClr>
            </a:solidFill>
            <a:prstDash val="solid"/>
          </a:ln>
        </p:spPr>
      </p:sp>
      <p:sp>
        <p:nvSpPr>
          <p:cNvPr id="31" name="Text 28"/>
          <p:cNvSpPr/>
          <p:nvPr/>
        </p:nvSpPr>
        <p:spPr>
          <a:xfrm>
            <a:off x="4946904" y="3598164"/>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TSMC</a:t>
            </a:r>
            <a:endParaRPr lang="en-US" sz="560" dirty="0"/>
          </a:p>
        </p:txBody>
      </p:sp>
      <p:sp>
        <p:nvSpPr>
          <p:cNvPr id="32" name="Shape 29"/>
          <p:cNvSpPr/>
          <p:nvPr/>
        </p:nvSpPr>
        <p:spPr>
          <a:xfrm>
            <a:off x="4892040" y="3858768"/>
            <a:ext cx="1234440" cy="201168"/>
          </a:xfrm>
          <a:prstGeom prst="roundRect">
            <a:avLst>
              <a:gd name="adj" fmla="val 54545"/>
            </a:avLst>
          </a:prstGeom>
          <a:solidFill>
            <a:srgbClr val="F1F5F9"/>
          </a:solidFill>
          <a:ln w="8890">
            <a:solidFill>
              <a:srgbClr val="F1F5F9">
                <a:alpha val="0"/>
              </a:srgbClr>
            </a:solidFill>
            <a:prstDash val="solid"/>
          </a:ln>
        </p:spPr>
      </p:sp>
      <p:sp>
        <p:nvSpPr>
          <p:cNvPr id="33" name="Text 30"/>
          <p:cNvSpPr/>
          <p:nvPr/>
        </p:nvSpPr>
        <p:spPr>
          <a:xfrm>
            <a:off x="4946904" y="3909060"/>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Samsung</a:t>
            </a:r>
            <a:endParaRPr lang="en-US" sz="560" dirty="0"/>
          </a:p>
        </p:txBody>
      </p:sp>
      <p:sp>
        <p:nvSpPr>
          <p:cNvPr id="34" name="Shape 31"/>
          <p:cNvSpPr/>
          <p:nvPr/>
        </p:nvSpPr>
        <p:spPr>
          <a:xfrm>
            <a:off x="4892040" y="4169664"/>
            <a:ext cx="1234440" cy="201168"/>
          </a:xfrm>
          <a:prstGeom prst="roundRect">
            <a:avLst>
              <a:gd name="adj" fmla="val 54545"/>
            </a:avLst>
          </a:prstGeom>
          <a:solidFill>
            <a:srgbClr val="F1F5F9"/>
          </a:solidFill>
          <a:ln w="8890">
            <a:solidFill>
              <a:srgbClr val="F1F5F9">
                <a:alpha val="0"/>
              </a:srgbClr>
            </a:solidFill>
            <a:prstDash val="solid"/>
          </a:ln>
        </p:spPr>
      </p:sp>
      <p:sp>
        <p:nvSpPr>
          <p:cNvPr id="35" name="Text 32"/>
          <p:cNvSpPr/>
          <p:nvPr/>
        </p:nvSpPr>
        <p:spPr>
          <a:xfrm>
            <a:off x="4946904" y="4219956"/>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Micron</a:t>
            </a:r>
            <a:endParaRPr lang="en-US" sz="560" dirty="0"/>
          </a:p>
        </p:txBody>
      </p:sp>
      <p:sp>
        <p:nvSpPr>
          <p:cNvPr id="36" name="Shape 33"/>
          <p:cNvSpPr/>
          <p:nvPr/>
        </p:nvSpPr>
        <p:spPr>
          <a:xfrm>
            <a:off x="6446520" y="3227832"/>
            <a:ext cx="182880" cy="0"/>
          </a:xfrm>
          <a:prstGeom prst="line">
            <a:avLst/>
          </a:prstGeom>
          <a:noFill/>
          <a:ln w="20320">
            <a:solidFill>
              <a:srgbClr val="199BD7"/>
            </a:solidFill>
            <a:prstDash val="solid"/>
            <a:headEnd type="none"/>
            <a:tailEnd type="triangle"/>
          </a:ln>
        </p:spPr>
      </p:sp>
      <p:sp>
        <p:nvSpPr>
          <p:cNvPr id="37" name="Shape 34"/>
          <p:cNvSpPr/>
          <p:nvPr/>
        </p:nvSpPr>
        <p:spPr>
          <a:xfrm>
            <a:off x="6720840" y="1673352"/>
            <a:ext cx="1600200" cy="3063240"/>
          </a:xfrm>
          <a:prstGeom prst="roundRect">
            <a:avLst>
              <a:gd name="adj" fmla="val 4571"/>
            </a:avLst>
          </a:prstGeom>
          <a:solidFill>
            <a:srgbClr val="FFFFFF"/>
          </a:solidFill>
          <a:ln w="8890">
            <a:solidFill>
              <a:srgbClr val="D7E2EB"/>
            </a:solidFill>
            <a:prstDash val="solid"/>
          </a:ln>
        </p:spPr>
      </p:sp>
      <p:sp>
        <p:nvSpPr>
          <p:cNvPr id="38" name="Text 35"/>
          <p:cNvSpPr/>
          <p:nvPr/>
        </p:nvSpPr>
        <p:spPr>
          <a:xfrm>
            <a:off x="6830568" y="1856232"/>
            <a:ext cx="1380744" cy="201168"/>
          </a:xfrm>
          <a:prstGeom prst="rect">
            <a:avLst/>
          </a:prstGeom>
          <a:noFill/>
          <a:ln/>
        </p:spPr>
        <p:txBody>
          <a:bodyPr wrap="square" lIns="0" tIns="0" rIns="0" bIns="0" rtlCol="0" anchor="t">
            <a:normAutofit/>
          </a:bodyPr>
          <a:lstStyle/>
          <a:p>
            <a:pPr algn="ctr" indent="0" marL="0">
              <a:buNone/>
            </a:pPr>
            <a:r>
              <a:rPr lang="en-US" sz="750" b="1" dirty="0">
                <a:solidFill>
                  <a:srgbClr val="687486"/>
                </a:solidFill>
                <a:latin typeface="Aptos" pitchFamily="34" charset="0"/>
                <a:ea typeface="Aptos" pitchFamily="34" charset="-122"/>
                <a:cs typeface="Aptos" pitchFamily="34" charset="-120"/>
              </a:rPr>
              <a:t>EQUIPMENT OEMs</a:t>
            </a:r>
            <a:endParaRPr lang="en-US" sz="750" dirty="0"/>
          </a:p>
        </p:txBody>
      </p:sp>
      <p:sp>
        <p:nvSpPr>
          <p:cNvPr id="39" name="Text 36"/>
          <p:cNvSpPr/>
          <p:nvPr/>
        </p:nvSpPr>
        <p:spPr>
          <a:xfrm>
            <a:off x="6885432" y="2368296"/>
            <a:ext cx="1271016" cy="914400"/>
          </a:xfrm>
          <a:prstGeom prst="rect">
            <a:avLst/>
          </a:prstGeom>
          <a:noFill/>
          <a:ln/>
        </p:spPr>
        <p:txBody>
          <a:bodyPr wrap="square" lIns="0" tIns="0" rIns="0" bIns="0" rtlCol="0" anchor="t">
            <a:normAutofit/>
          </a:bodyPr>
          <a:lstStyle/>
          <a:p>
            <a:pPr algn="ctr" indent="0" marL="0">
              <a:buNone/>
            </a:pPr>
            <a:r>
              <a:rPr lang="en-US" sz="930" dirty="0">
                <a:solidFill>
                  <a:srgbClr val="17212B"/>
                </a:solidFill>
                <a:latin typeface="Aptos" pitchFamily="34" charset="0"/>
                <a:ea typeface="Aptos" pitchFamily="34" charset="-122"/>
                <a:cs typeface="Aptos" pitchFamily="34" charset="-120"/>
              </a:rPr>
              <a:t>Build process tools</a:t>
            </a:r>
            <a:endParaRPr lang="en-US" sz="930" dirty="0"/>
          </a:p>
          <a:p>
            <a:pPr algn="ctr" indent="0" marL="0">
              <a:buNone/>
            </a:pPr>
            <a:r>
              <a:rPr lang="en-US" sz="930" dirty="0">
                <a:solidFill>
                  <a:srgbClr val="17212B"/>
                </a:solidFill>
                <a:latin typeface="Aptos" pitchFamily="34" charset="0"/>
                <a:ea typeface="Aptos" pitchFamily="34" charset="-122"/>
                <a:cs typeface="Aptos" pitchFamily="34" charset="-120"/>
              </a:rPr>
              <a:t>ASML / Lam / Applied / TEL</a:t>
            </a:r>
            <a:endParaRPr lang="en-US" sz="930" dirty="0"/>
          </a:p>
        </p:txBody>
      </p:sp>
      <p:sp>
        <p:nvSpPr>
          <p:cNvPr id="40" name="Shape 37"/>
          <p:cNvSpPr/>
          <p:nvPr/>
        </p:nvSpPr>
        <p:spPr>
          <a:xfrm>
            <a:off x="6903720" y="3547872"/>
            <a:ext cx="1234440" cy="201168"/>
          </a:xfrm>
          <a:prstGeom prst="roundRect">
            <a:avLst>
              <a:gd name="adj" fmla="val 54545"/>
            </a:avLst>
          </a:prstGeom>
          <a:solidFill>
            <a:srgbClr val="F1F5F9"/>
          </a:solidFill>
          <a:ln w="8890">
            <a:solidFill>
              <a:srgbClr val="F1F5F9">
                <a:alpha val="0"/>
              </a:srgbClr>
            </a:solidFill>
            <a:prstDash val="solid"/>
          </a:ln>
        </p:spPr>
      </p:sp>
      <p:sp>
        <p:nvSpPr>
          <p:cNvPr id="41" name="Text 38"/>
          <p:cNvSpPr/>
          <p:nvPr/>
        </p:nvSpPr>
        <p:spPr>
          <a:xfrm>
            <a:off x="6958584" y="3598164"/>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ASML</a:t>
            </a:r>
            <a:endParaRPr lang="en-US" sz="560" dirty="0"/>
          </a:p>
        </p:txBody>
      </p:sp>
      <p:sp>
        <p:nvSpPr>
          <p:cNvPr id="42" name="Shape 39"/>
          <p:cNvSpPr/>
          <p:nvPr/>
        </p:nvSpPr>
        <p:spPr>
          <a:xfrm>
            <a:off x="6903720" y="3858768"/>
            <a:ext cx="1234440" cy="201168"/>
          </a:xfrm>
          <a:prstGeom prst="roundRect">
            <a:avLst>
              <a:gd name="adj" fmla="val 54545"/>
            </a:avLst>
          </a:prstGeom>
          <a:solidFill>
            <a:srgbClr val="F1F5F9"/>
          </a:solidFill>
          <a:ln w="8890">
            <a:solidFill>
              <a:srgbClr val="F1F5F9">
                <a:alpha val="0"/>
              </a:srgbClr>
            </a:solidFill>
            <a:prstDash val="solid"/>
          </a:ln>
        </p:spPr>
      </p:sp>
      <p:sp>
        <p:nvSpPr>
          <p:cNvPr id="43" name="Text 40"/>
          <p:cNvSpPr/>
          <p:nvPr/>
        </p:nvSpPr>
        <p:spPr>
          <a:xfrm>
            <a:off x="6958584" y="3909060"/>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Lam</a:t>
            </a:r>
            <a:endParaRPr lang="en-US" sz="560" dirty="0"/>
          </a:p>
        </p:txBody>
      </p:sp>
      <p:sp>
        <p:nvSpPr>
          <p:cNvPr id="44" name="Shape 41"/>
          <p:cNvSpPr/>
          <p:nvPr/>
        </p:nvSpPr>
        <p:spPr>
          <a:xfrm>
            <a:off x="6903720" y="4169664"/>
            <a:ext cx="1234440" cy="201168"/>
          </a:xfrm>
          <a:prstGeom prst="roundRect">
            <a:avLst>
              <a:gd name="adj" fmla="val 54545"/>
            </a:avLst>
          </a:prstGeom>
          <a:solidFill>
            <a:srgbClr val="F1F5F9"/>
          </a:solidFill>
          <a:ln w="8890">
            <a:solidFill>
              <a:srgbClr val="F1F5F9">
                <a:alpha val="0"/>
              </a:srgbClr>
            </a:solidFill>
            <a:prstDash val="solid"/>
          </a:ln>
        </p:spPr>
      </p:sp>
      <p:sp>
        <p:nvSpPr>
          <p:cNvPr id="45" name="Text 42"/>
          <p:cNvSpPr/>
          <p:nvPr/>
        </p:nvSpPr>
        <p:spPr>
          <a:xfrm>
            <a:off x="6958584" y="4219956"/>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Applied</a:t>
            </a:r>
            <a:endParaRPr lang="en-US" sz="560" dirty="0"/>
          </a:p>
        </p:txBody>
      </p:sp>
      <p:sp>
        <p:nvSpPr>
          <p:cNvPr id="46" name="Shape 43"/>
          <p:cNvSpPr/>
          <p:nvPr/>
        </p:nvSpPr>
        <p:spPr>
          <a:xfrm>
            <a:off x="8458200" y="3227832"/>
            <a:ext cx="182880" cy="0"/>
          </a:xfrm>
          <a:prstGeom prst="line">
            <a:avLst/>
          </a:prstGeom>
          <a:noFill/>
          <a:ln w="20320">
            <a:solidFill>
              <a:srgbClr val="199BD7"/>
            </a:solidFill>
            <a:prstDash val="solid"/>
            <a:headEnd type="none"/>
            <a:tailEnd type="triangle"/>
          </a:ln>
        </p:spPr>
      </p:sp>
      <p:sp>
        <p:nvSpPr>
          <p:cNvPr id="47" name="Shape 44"/>
          <p:cNvSpPr/>
          <p:nvPr/>
        </p:nvSpPr>
        <p:spPr>
          <a:xfrm>
            <a:off x="8732520" y="1673352"/>
            <a:ext cx="1600200" cy="3063240"/>
          </a:xfrm>
          <a:prstGeom prst="roundRect">
            <a:avLst>
              <a:gd name="adj" fmla="val 4571"/>
            </a:avLst>
          </a:prstGeom>
          <a:solidFill>
            <a:srgbClr val="EAF7FD"/>
          </a:solidFill>
          <a:ln w="15240">
            <a:solidFill>
              <a:srgbClr val="199BD7"/>
            </a:solidFill>
            <a:prstDash val="solid"/>
          </a:ln>
        </p:spPr>
      </p:sp>
      <p:sp>
        <p:nvSpPr>
          <p:cNvPr id="48" name="Text 45"/>
          <p:cNvSpPr/>
          <p:nvPr/>
        </p:nvSpPr>
        <p:spPr>
          <a:xfrm>
            <a:off x="8842248" y="1856232"/>
            <a:ext cx="1380744" cy="201168"/>
          </a:xfrm>
          <a:prstGeom prst="rect">
            <a:avLst/>
          </a:prstGeom>
          <a:noFill/>
          <a:ln/>
        </p:spPr>
        <p:txBody>
          <a:bodyPr wrap="square" lIns="0" tIns="0" rIns="0" bIns="0" rtlCol="0" anchor="t">
            <a:normAutofit/>
          </a:bodyPr>
          <a:lstStyle/>
          <a:p>
            <a:pPr algn="ctr" indent="0" marL="0">
              <a:buNone/>
            </a:pPr>
            <a:r>
              <a:rPr lang="en-US" sz="750" b="1" dirty="0">
                <a:solidFill>
                  <a:srgbClr val="199BD7"/>
                </a:solidFill>
                <a:latin typeface="Aptos" pitchFamily="34" charset="0"/>
                <a:ea typeface="Aptos" pitchFamily="34" charset="-122"/>
                <a:cs typeface="Aptos" pitchFamily="34" charset="-120"/>
              </a:rPr>
              <a:t>VAT GROUP</a:t>
            </a:r>
            <a:endParaRPr lang="en-US" sz="750" dirty="0"/>
          </a:p>
        </p:txBody>
      </p:sp>
      <p:sp>
        <p:nvSpPr>
          <p:cNvPr id="49" name="Text 46"/>
          <p:cNvSpPr/>
          <p:nvPr/>
        </p:nvSpPr>
        <p:spPr>
          <a:xfrm>
            <a:off x="8897112" y="2368296"/>
            <a:ext cx="1271016" cy="914400"/>
          </a:xfrm>
          <a:prstGeom prst="rect">
            <a:avLst/>
          </a:prstGeom>
          <a:noFill/>
          <a:ln/>
        </p:spPr>
        <p:txBody>
          <a:bodyPr wrap="square" lIns="0" tIns="0" rIns="0" bIns="0" rtlCol="0" anchor="t">
            <a:normAutofit/>
          </a:bodyPr>
          <a:lstStyle/>
          <a:p>
            <a:pPr algn="ctr" indent="0" marL="0">
              <a:buNone/>
            </a:pPr>
            <a:r>
              <a:rPr lang="en-US" sz="930" b="1" dirty="0">
                <a:solidFill>
                  <a:srgbClr val="17212B"/>
                </a:solidFill>
                <a:latin typeface="Aptos" pitchFamily="34" charset="0"/>
                <a:ea typeface="Aptos" pitchFamily="34" charset="-122"/>
                <a:cs typeface="Aptos" pitchFamily="34" charset="-120"/>
              </a:rPr>
              <a:t>Vacuum valves</a:t>
            </a:r>
            <a:endParaRPr lang="en-US" sz="930" dirty="0"/>
          </a:p>
          <a:p>
            <a:pPr algn="ctr" indent="0" marL="0">
              <a:buNone/>
            </a:pPr>
            <a:r>
              <a:rPr lang="en-US" sz="930" b="1" dirty="0">
                <a:solidFill>
                  <a:srgbClr val="17212B"/>
                </a:solidFill>
                <a:latin typeface="Aptos" pitchFamily="34" charset="0"/>
                <a:ea typeface="Aptos" pitchFamily="34" charset="-122"/>
                <a:cs typeface="Aptos" pitchFamily="34" charset="-120"/>
              </a:rPr>
              <a:t>Control modules</a:t>
            </a:r>
            <a:endParaRPr lang="en-US" sz="930" dirty="0"/>
          </a:p>
          <a:p>
            <a:pPr algn="ctr" indent="0" marL="0">
              <a:buNone/>
            </a:pPr>
            <a:r>
              <a:rPr lang="en-US" sz="930" b="1" dirty="0">
                <a:solidFill>
                  <a:srgbClr val="17212B"/>
                </a:solidFill>
                <a:latin typeface="Aptos" pitchFamily="34" charset="0"/>
                <a:ea typeface="Aptos" pitchFamily="34" charset="-122"/>
                <a:cs typeface="Aptos" pitchFamily="34" charset="-120"/>
              </a:rPr>
              <a:t>Service</a:t>
            </a:r>
            <a:endParaRPr lang="en-US" sz="930" dirty="0"/>
          </a:p>
        </p:txBody>
      </p:sp>
      <p:sp>
        <p:nvSpPr>
          <p:cNvPr id="50" name="Shape 47"/>
          <p:cNvSpPr/>
          <p:nvPr/>
        </p:nvSpPr>
        <p:spPr>
          <a:xfrm>
            <a:off x="8915400" y="3547872"/>
            <a:ext cx="1234440" cy="201168"/>
          </a:xfrm>
          <a:prstGeom prst="roundRect">
            <a:avLst>
              <a:gd name="adj" fmla="val 54545"/>
            </a:avLst>
          </a:prstGeom>
          <a:solidFill>
            <a:srgbClr val="199BD7"/>
          </a:solidFill>
          <a:ln w="8890">
            <a:solidFill>
              <a:srgbClr val="199BD7">
                <a:alpha val="0"/>
              </a:srgbClr>
            </a:solidFill>
            <a:prstDash val="solid"/>
          </a:ln>
        </p:spPr>
      </p:sp>
      <p:sp>
        <p:nvSpPr>
          <p:cNvPr id="51" name="Text 48"/>
          <p:cNvSpPr/>
          <p:nvPr/>
        </p:nvSpPr>
        <p:spPr>
          <a:xfrm>
            <a:off x="8970264" y="3598164"/>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FFFFFF"/>
                </a:solidFill>
                <a:latin typeface="Aptos" pitchFamily="34" charset="0"/>
                <a:ea typeface="Aptos" pitchFamily="34" charset="-122"/>
                <a:cs typeface="Aptos" pitchFamily="34" charset="-120"/>
              </a:rPr>
              <a:t>VAT</a:t>
            </a:r>
            <a:endParaRPr lang="en-US" sz="560" dirty="0"/>
          </a:p>
        </p:txBody>
      </p:sp>
      <p:sp>
        <p:nvSpPr>
          <p:cNvPr id="52" name="Shape 49"/>
          <p:cNvSpPr/>
          <p:nvPr/>
        </p:nvSpPr>
        <p:spPr>
          <a:xfrm>
            <a:off x="8915400" y="3858768"/>
            <a:ext cx="1234440" cy="201168"/>
          </a:xfrm>
          <a:prstGeom prst="roundRect">
            <a:avLst>
              <a:gd name="adj" fmla="val 54545"/>
            </a:avLst>
          </a:prstGeom>
          <a:solidFill>
            <a:srgbClr val="F1F5F9"/>
          </a:solidFill>
          <a:ln w="8890">
            <a:solidFill>
              <a:srgbClr val="F1F5F9">
                <a:alpha val="0"/>
              </a:srgbClr>
            </a:solidFill>
            <a:prstDash val="solid"/>
          </a:ln>
        </p:spPr>
      </p:sp>
      <p:sp>
        <p:nvSpPr>
          <p:cNvPr id="53" name="Text 50"/>
          <p:cNvSpPr/>
          <p:nvPr/>
        </p:nvSpPr>
        <p:spPr>
          <a:xfrm>
            <a:off x="8970264" y="3909060"/>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MKS</a:t>
            </a:r>
            <a:endParaRPr lang="en-US" sz="560" dirty="0"/>
          </a:p>
        </p:txBody>
      </p:sp>
      <p:sp>
        <p:nvSpPr>
          <p:cNvPr id="54" name="Shape 51"/>
          <p:cNvSpPr/>
          <p:nvPr/>
        </p:nvSpPr>
        <p:spPr>
          <a:xfrm>
            <a:off x="8915400" y="4169664"/>
            <a:ext cx="1234440" cy="201168"/>
          </a:xfrm>
          <a:prstGeom prst="roundRect">
            <a:avLst>
              <a:gd name="adj" fmla="val 54545"/>
            </a:avLst>
          </a:prstGeom>
          <a:solidFill>
            <a:srgbClr val="F1F5F9"/>
          </a:solidFill>
          <a:ln w="8890">
            <a:solidFill>
              <a:srgbClr val="F1F5F9">
                <a:alpha val="0"/>
              </a:srgbClr>
            </a:solidFill>
            <a:prstDash val="solid"/>
          </a:ln>
        </p:spPr>
      </p:sp>
      <p:sp>
        <p:nvSpPr>
          <p:cNvPr id="55" name="Text 52"/>
          <p:cNvSpPr/>
          <p:nvPr/>
        </p:nvSpPr>
        <p:spPr>
          <a:xfrm>
            <a:off x="8970264" y="4219956"/>
            <a:ext cx="1124712" cy="128016"/>
          </a:xfrm>
          <a:prstGeom prst="rect">
            <a:avLst/>
          </a:prstGeom>
          <a:noFill/>
          <a:ln/>
        </p:spPr>
        <p:txBody>
          <a:bodyPr wrap="square" lIns="0" tIns="0" rIns="0" bIns="0" rtlCol="0" anchor="ctr">
            <a:normAutofit/>
          </a:bodyPr>
          <a:lstStyle/>
          <a:p>
            <a:pPr algn="ctr" indent="0" marL="0">
              <a:buNone/>
            </a:pPr>
            <a:r>
              <a:rPr lang="en-US" sz="560" b="1" dirty="0">
                <a:solidFill>
                  <a:srgbClr val="17212B"/>
                </a:solidFill>
                <a:latin typeface="Aptos" pitchFamily="34" charset="0"/>
                <a:ea typeface="Aptos" pitchFamily="34" charset="-122"/>
                <a:cs typeface="Aptos" pitchFamily="34" charset="-120"/>
              </a:rPr>
              <a:t>Edwards</a:t>
            </a:r>
            <a:endParaRPr lang="en-US" sz="560" dirty="0"/>
          </a:p>
        </p:txBody>
      </p:sp>
      <p:sp>
        <p:nvSpPr>
          <p:cNvPr id="56" name="Shape 53"/>
          <p:cNvSpPr/>
          <p:nvPr/>
        </p:nvSpPr>
        <p:spPr>
          <a:xfrm>
            <a:off x="685800" y="5184648"/>
            <a:ext cx="10287000" cy="585216"/>
          </a:xfrm>
          <a:prstGeom prst="roundRect">
            <a:avLst>
              <a:gd name="adj" fmla="val 12500"/>
            </a:avLst>
          </a:prstGeom>
          <a:solidFill>
            <a:srgbClr val="FFFFFF"/>
          </a:solidFill>
          <a:ln w="8890">
            <a:solidFill>
              <a:srgbClr val="D7E2EB"/>
            </a:solidFill>
            <a:prstDash val="solid"/>
          </a:ln>
        </p:spPr>
      </p:sp>
      <p:sp>
        <p:nvSpPr>
          <p:cNvPr id="57" name="Text 54"/>
          <p:cNvSpPr/>
          <p:nvPr/>
        </p:nvSpPr>
        <p:spPr>
          <a:xfrm>
            <a:off x="868680" y="5358384"/>
            <a:ext cx="9921240" cy="219456"/>
          </a:xfrm>
          <a:prstGeom prst="rect">
            <a:avLst/>
          </a:prstGeom>
          <a:noFill/>
          <a:ln/>
        </p:spPr>
        <p:txBody>
          <a:bodyPr wrap="square" lIns="0" tIns="0" rIns="0" bIns="0" rtlCol="0" anchor="t">
            <a:normAutofit/>
          </a:bodyPr>
          <a:lstStyle/>
          <a:p>
            <a:pPr algn="l" indent="0" marL="0">
              <a:buNone/>
            </a:pPr>
            <a:r>
              <a:rPr lang="en-US" sz="900" b="1" dirty="0">
                <a:solidFill>
                  <a:srgbClr val="17212B"/>
                </a:solidFill>
                <a:latin typeface="Aptos" pitchFamily="34" charset="0"/>
                <a:ea typeface="Aptos" pitchFamily="34" charset="-122"/>
                <a:cs typeface="Aptos" pitchFamily="34" charset="-120"/>
              </a:rPr>
              <a:t>Key clarification: Nvidia may drive incremental chip demand, but VAT generally sells into equipment OEM platforms whose tools are purchased by foundries and IDMs.</a:t>
            </a:r>
            <a:endParaRPr lang="en-US" sz="900" dirty="0"/>
          </a:p>
        </p:txBody>
      </p:sp>
      <p:sp>
        <p:nvSpPr>
          <p:cNvPr id="58" name="Shape 55"/>
          <p:cNvSpPr/>
          <p:nvPr/>
        </p:nvSpPr>
        <p:spPr>
          <a:xfrm>
            <a:off x="420624" y="6419088"/>
            <a:ext cx="11338560" cy="0"/>
          </a:xfrm>
          <a:prstGeom prst="line">
            <a:avLst/>
          </a:prstGeom>
          <a:noFill/>
          <a:ln w="7620">
            <a:solidFill>
              <a:srgbClr val="D7E2EB"/>
            </a:solidFill>
            <a:prstDash val="solid"/>
            <a:headEnd type="none"/>
            <a:tailEnd type="none"/>
          </a:ln>
        </p:spPr>
      </p:sp>
      <p:sp>
        <p:nvSpPr>
          <p:cNvPr id="59" name="Text 56"/>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VAT IR materials; company filings; analyst estimates. Logos shown as clean wordmarks for consistency.</a:t>
            </a:r>
            <a:endParaRPr lang="en-US" sz="540" dirty="0"/>
          </a:p>
        </p:txBody>
      </p:sp>
      <p:sp>
        <p:nvSpPr>
          <p:cNvPr id="60" name="Text 57"/>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2</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SEMICONDUCTOR 101</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A chip is billions of microscopic switches - AI raises the complexity of both logic and memory manufacturing</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pic>
        <p:nvPicPr>
          <p:cNvPr id="6" name="Image 1" descr="/mnt/data/a_high_tech_photoreal_cgi_composite_illustration_batch_3.png">    </p:cNvPr>
          <p:cNvPicPr>
            <a:picLocks noChangeAspect="1"/>
          </p:cNvPicPr>
          <p:nvPr/>
        </p:nvPicPr>
        <p:blipFill>
          <a:blip r:embed="rId2"/>
          <a:srcRect l="2000" r="24752" t="4000" b="16000"/>
          <a:stretch/>
        </p:blipFill>
        <p:spPr>
          <a:xfrm>
            <a:off x="502920" y="1298448"/>
            <a:ext cx="4983480" cy="3063240"/>
          </a:xfrm>
          <a:prstGeom prst="rect">
            <a:avLst/>
          </a:prstGeom>
        </p:spPr>
      </p:pic>
      <p:sp>
        <p:nvSpPr>
          <p:cNvPr id="7" name="Shape 3"/>
          <p:cNvSpPr/>
          <p:nvPr/>
        </p:nvSpPr>
        <p:spPr>
          <a:xfrm>
            <a:off x="502920" y="1298448"/>
            <a:ext cx="4983480" cy="3063240"/>
          </a:xfrm>
          <a:prstGeom prst="rect">
            <a:avLst>
              <a:gd name="adj" fmla="val 2388"/>
            </a:avLst>
          </a:prstGeom>
          <a:solidFill>
            <a:srgbClr val="071A2E">
              <a:alpha val="18000"/>
            </a:srgbClr>
          </a:solidFill>
          <a:ln w="8890">
            <a:solidFill>
              <a:srgbClr val="071A2E">
                <a:alpha val="0"/>
              </a:srgbClr>
            </a:solidFill>
            <a:prstDash val="solid"/>
          </a:ln>
        </p:spPr>
      </p:sp>
      <p:sp>
        <p:nvSpPr>
          <p:cNvPr id="8" name="Text 4"/>
          <p:cNvSpPr/>
          <p:nvPr/>
        </p:nvSpPr>
        <p:spPr>
          <a:xfrm>
            <a:off x="804672" y="3968496"/>
            <a:ext cx="2697480" cy="219456"/>
          </a:xfrm>
          <a:prstGeom prst="rect">
            <a:avLst/>
          </a:prstGeom>
          <a:noFill/>
          <a:ln/>
        </p:spPr>
        <p:txBody>
          <a:bodyPr wrap="square" lIns="0" tIns="0" rIns="0" bIns="0" rtlCol="0" anchor="t">
            <a:normAutofit/>
          </a:bodyPr>
          <a:lstStyle/>
          <a:p>
            <a:pPr algn="l" indent="0" marL="0">
              <a:buNone/>
            </a:pPr>
            <a:r>
              <a:rPr lang="en-US" sz="1040" b="1" dirty="0">
                <a:solidFill>
                  <a:srgbClr val="FFFFFF"/>
                </a:solidFill>
                <a:latin typeface="Aptos" pitchFamily="34" charset="0"/>
                <a:ea typeface="Aptos" pitchFamily="34" charset="-122"/>
                <a:cs typeface="Aptos" pitchFamily="34" charset="-120"/>
              </a:rPr>
              <a:t>Silicon wafer -&gt; die -&gt; transistor</a:t>
            </a:r>
            <a:endParaRPr lang="en-US" sz="1040" dirty="0"/>
          </a:p>
        </p:txBody>
      </p:sp>
      <p:sp>
        <p:nvSpPr>
          <p:cNvPr id="9" name="Text 5"/>
          <p:cNvSpPr/>
          <p:nvPr/>
        </p:nvSpPr>
        <p:spPr>
          <a:xfrm>
            <a:off x="804672" y="4297680"/>
            <a:ext cx="4251960" cy="384048"/>
          </a:xfrm>
          <a:prstGeom prst="rect">
            <a:avLst/>
          </a:prstGeom>
          <a:noFill/>
          <a:ln/>
        </p:spPr>
        <p:txBody>
          <a:bodyPr wrap="square" lIns="0" tIns="0" rIns="0" bIns="0" rtlCol="0" anchor="t">
            <a:normAutofit/>
          </a:bodyPr>
          <a:lstStyle/>
          <a:p>
            <a:pPr algn="l" indent="0" marL="0">
              <a:buNone/>
            </a:pPr>
            <a:r>
              <a:rPr lang="en-US" sz="840" dirty="0">
                <a:solidFill>
                  <a:srgbClr val="E0EAF2"/>
                </a:solidFill>
                <a:latin typeface="Aptos" pitchFamily="34" charset="0"/>
                <a:ea typeface="Aptos" pitchFamily="34" charset="-122"/>
                <a:cs typeface="Aptos" pitchFamily="34" charset="-120"/>
              </a:rPr>
              <a:t>A chip is a silicon device containing microscopic electrical switches. Billions of switches together process, store and control information.</a:t>
            </a:r>
            <a:endParaRPr lang="en-US" sz="840" dirty="0"/>
          </a:p>
        </p:txBody>
      </p:sp>
      <p:sp>
        <p:nvSpPr>
          <p:cNvPr id="10" name="Shape 6"/>
          <p:cNvSpPr/>
          <p:nvPr/>
        </p:nvSpPr>
        <p:spPr>
          <a:xfrm>
            <a:off x="5806440" y="1444752"/>
            <a:ext cx="1627632" cy="1920240"/>
          </a:xfrm>
          <a:prstGeom prst="roundRect">
            <a:avLst>
              <a:gd name="adj" fmla="val 4494"/>
            </a:avLst>
          </a:prstGeom>
          <a:solidFill>
            <a:srgbClr val="FFFFFF"/>
          </a:solidFill>
          <a:ln w="8890">
            <a:solidFill>
              <a:srgbClr val="D7E2EB"/>
            </a:solidFill>
            <a:prstDash val="solid"/>
          </a:ln>
        </p:spPr>
      </p:sp>
      <p:sp>
        <p:nvSpPr>
          <p:cNvPr id="11" name="Text 7"/>
          <p:cNvSpPr/>
          <p:nvPr/>
        </p:nvSpPr>
        <p:spPr>
          <a:xfrm>
            <a:off x="5934456" y="1627632"/>
            <a:ext cx="1371600" cy="182880"/>
          </a:xfrm>
          <a:prstGeom prst="rect">
            <a:avLst/>
          </a:prstGeom>
          <a:noFill/>
          <a:ln/>
        </p:spPr>
        <p:txBody>
          <a:bodyPr wrap="square" lIns="0" tIns="0" rIns="0" bIns="0" rtlCol="0" anchor="t">
            <a:normAutofit/>
          </a:bodyPr>
          <a:lstStyle/>
          <a:p>
            <a:pPr algn="ctr" indent="0" marL="0">
              <a:buNone/>
            </a:pPr>
            <a:r>
              <a:rPr lang="en-US" sz="740" b="1" dirty="0">
                <a:solidFill>
                  <a:srgbClr val="199BD7"/>
                </a:solidFill>
                <a:latin typeface="Aptos" pitchFamily="34" charset="0"/>
                <a:ea typeface="Aptos" pitchFamily="34" charset="-122"/>
                <a:cs typeface="Aptos" pitchFamily="34" charset="-120"/>
              </a:rPr>
              <a:t>LOGIC</a:t>
            </a:r>
            <a:endParaRPr lang="en-US" sz="740" dirty="0"/>
          </a:p>
        </p:txBody>
      </p:sp>
      <p:sp>
        <p:nvSpPr>
          <p:cNvPr id="12" name="Text 8"/>
          <p:cNvSpPr/>
          <p:nvPr/>
        </p:nvSpPr>
        <p:spPr>
          <a:xfrm>
            <a:off x="5952744" y="1993392"/>
            <a:ext cx="1335024" cy="274320"/>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CPU / GPU / AI accelerator</a:t>
            </a:r>
            <a:endParaRPr lang="en-US" sz="850" dirty="0"/>
          </a:p>
        </p:txBody>
      </p:sp>
      <p:sp>
        <p:nvSpPr>
          <p:cNvPr id="13" name="Text 9"/>
          <p:cNvSpPr/>
          <p:nvPr/>
        </p:nvSpPr>
        <p:spPr>
          <a:xfrm>
            <a:off x="5952744" y="2450592"/>
            <a:ext cx="1335024" cy="566928"/>
          </a:xfrm>
          <a:prstGeom prst="rect">
            <a:avLst/>
          </a:prstGeom>
          <a:noFill/>
          <a:ln/>
        </p:spPr>
        <p:txBody>
          <a:bodyPr wrap="square" lIns="0" tIns="0" rIns="0" bIns="0" rtlCol="0" anchor="t">
            <a:normAutofit/>
          </a:bodyPr>
          <a:lstStyle/>
          <a:p>
            <a:pPr algn="ctr" indent="0" marL="0">
              <a:buNone/>
            </a:pPr>
            <a:r>
              <a:rPr lang="en-US" sz="670" dirty="0">
                <a:solidFill>
                  <a:srgbClr val="344153"/>
                </a:solidFill>
                <a:latin typeface="Aptos" pitchFamily="34" charset="0"/>
                <a:ea typeface="Aptos" pitchFamily="34" charset="-122"/>
                <a:cs typeface="Aptos" pitchFamily="34" charset="-120"/>
              </a:rPr>
              <a:t>Advanced process nodes, GAA and power efficiency drive equipment intensity.</a:t>
            </a:r>
            <a:endParaRPr lang="en-US" sz="670" dirty="0"/>
          </a:p>
        </p:txBody>
      </p:sp>
      <p:sp>
        <p:nvSpPr>
          <p:cNvPr id="14" name="Shape 10"/>
          <p:cNvSpPr/>
          <p:nvPr/>
        </p:nvSpPr>
        <p:spPr>
          <a:xfrm>
            <a:off x="7744968" y="1444752"/>
            <a:ext cx="1627632" cy="1920240"/>
          </a:xfrm>
          <a:prstGeom prst="roundRect">
            <a:avLst>
              <a:gd name="adj" fmla="val 4494"/>
            </a:avLst>
          </a:prstGeom>
          <a:solidFill>
            <a:srgbClr val="EAF7FD"/>
          </a:solidFill>
          <a:ln w="13970">
            <a:solidFill>
              <a:srgbClr val="199BD7"/>
            </a:solidFill>
            <a:prstDash val="solid"/>
          </a:ln>
        </p:spPr>
      </p:sp>
      <p:sp>
        <p:nvSpPr>
          <p:cNvPr id="15" name="Text 11"/>
          <p:cNvSpPr/>
          <p:nvPr/>
        </p:nvSpPr>
        <p:spPr>
          <a:xfrm>
            <a:off x="7872984" y="1627632"/>
            <a:ext cx="1371600" cy="182880"/>
          </a:xfrm>
          <a:prstGeom prst="rect">
            <a:avLst/>
          </a:prstGeom>
          <a:noFill/>
          <a:ln/>
        </p:spPr>
        <p:txBody>
          <a:bodyPr wrap="square" lIns="0" tIns="0" rIns="0" bIns="0" rtlCol="0" anchor="t">
            <a:normAutofit/>
          </a:bodyPr>
          <a:lstStyle/>
          <a:p>
            <a:pPr algn="ctr" indent="0" marL="0">
              <a:buNone/>
            </a:pPr>
            <a:r>
              <a:rPr lang="en-US" sz="740" b="1" dirty="0">
                <a:solidFill>
                  <a:srgbClr val="199BD7"/>
                </a:solidFill>
                <a:latin typeface="Aptos" pitchFamily="34" charset="0"/>
                <a:ea typeface="Aptos" pitchFamily="34" charset="-122"/>
                <a:cs typeface="Aptos" pitchFamily="34" charset="-120"/>
              </a:rPr>
              <a:t>MEMORY</a:t>
            </a:r>
            <a:endParaRPr lang="en-US" sz="740" dirty="0"/>
          </a:p>
        </p:txBody>
      </p:sp>
      <p:sp>
        <p:nvSpPr>
          <p:cNvPr id="16" name="Text 12"/>
          <p:cNvSpPr/>
          <p:nvPr/>
        </p:nvSpPr>
        <p:spPr>
          <a:xfrm>
            <a:off x="7891272" y="1993392"/>
            <a:ext cx="1335024" cy="274320"/>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DRAM / HBM / NAND</a:t>
            </a:r>
            <a:endParaRPr lang="en-US" sz="850" dirty="0"/>
          </a:p>
        </p:txBody>
      </p:sp>
      <p:sp>
        <p:nvSpPr>
          <p:cNvPr id="17" name="Text 13"/>
          <p:cNvSpPr/>
          <p:nvPr/>
        </p:nvSpPr>
        <p:spPr>
          <a:xfrm>
            <a:off x="7891272" y="2450592"/>
            <a:ext cx="1335024" cy="566928"/>
          </a:xfrm>
          <a:prstGeom prst="rect">
            <a:avLst/>
          </a:prstGeom>
          <a:noFill/>
          <a:ln/>
        </p:spPr>
        <p:txBody>
          <a:bodyPr wrap="square" lIns="0" tIns="0" rIns="0" bIns="0" rtlCol="0" anchor="t">
            <a:normAutofit/>
          </a:bodyPr>
          <a:lstStyle/>
          <a:p>
            <a:pPr algn="ctr" indent="0" marL="0">
              <a:buNone/>
            </a:pPr>
            <a:r>
              <a:rPr lang="en-US" sz="670" dirty="0">
                <a:solidFill>
                  <a:srgbClr val="344153"/>
                </a:solidFill>
                <a:latin typeface="Aptos" pitchFamily="34" charset="0"/>
                <a:ea typeface="Aptos" pitchFamily="34" charset="-122"/>
                <a:cs typeface="Aptos" pitchFamily="34" charset="-120"/>
              </a:rPr>
              <a:t>HBM and advanced DRAM are central to AI; 3D NAND adds vertical complexity.</a:t>
            </a:r>
            <a:endParaRPr lang="en-US" sz="670" dirty="0"/>
          </a:p>
        </p:txBody>
      </p:sp>
      <p:sp>
        <p:nvSpPr>
          <p:cNvPr id="18" name="Shape 14"/>
          <p:cNvSpPr/>
          <p:nvPr/>
        </p:nvSpPr>
        <p:spPr>
          <a:xfrm>
            <a:off x="9683496" y="1444752"/>
            <a:ext cx="1627632" cy="1920240"/>
          </a:xfrm>
          <a:prstGeom prst="roundRect">
            <a:avLst>
              <a:gd name="adj" fmla="val 4494"/>
            </a:avLst>
          </a:prstGeom>
          <a:solidFill>
            <a:srgbClr val="FFFFFF"/>
          </a:solidFill>
          <a:ln w="8890">
            <a:solidFill>
              <a:srgbClr val="D7E2EB"/>
            </a:solidFill>
            <a:prstDash val="solid"/>
          </a:ln>
        </p:spPr>
      </p:sp>
      <p:sp>
        <p:nvSpPr>
          <p:cNvPr id="19" name="Text 15"/>
          <p:cNvSpPr/>
          <p:nvPr/>
        </p:nvSpPr>
        <p:spPr>
          <a:xfrm>
            <a:off x="9811512" y="1627632"/>
            <a:ext cx="1371600" cy="182880"/>
          </a:xfrm>
          <a:prstGeom prst="rect">
            <a:avLst/>
          </a:prstGeom>
          <a:noFill/>
          <a:ln/>
        </p:spPr>
        <p:txBody>
          <a:bodyPr wrap="square" lIns="0" tIns="0" rIns="0" bIns="0" rtlCol="0" anchor="t">
            <a:normAutofit/>
          </a:bodyPr>
          <a:lstStyle/>
          <a:p>
            <a:pPr algn="ctr" indent="0" marL="0">
              <a:buNone/>
            </a:pPr>
            <a:r>
              <a:rPr lang="en-US" sz="740" b="1" dirty="0">
                <a:solidFill>
                  <a:srgbClr val="199BD7"/>
                </a:solidFill>
                <a:latin typeface="Aptos" pitchFamily="34" charset="0"/>
                <a:ea typeface="Aptos" pitchFamily="34" charset="-122"/>
                <a:cs typeface="Aptos" pitchFamily="34" charset="-120"/>
              </a:rPr>
              <a:t>ANALOG / POWER</a:t>
            </a:r>
            <a:endParaRPr lang="en-US" sz="740" dirty="0"/>
          </a:p>
        </p:txBody>
      </p:sp>
      <p:sp>
        <p:nvSpPr>
          <p:cNvPr id="20" name="Text 16"/>
          <p:cNvSpPr/>
          <p:nvPr/>
        </p:nvSpPr>
        <p:spPr>
          <a:xfrm>
            <a:off x="9829800" y="1993392"/>
            <a:ext cx="1335024" cy="274320"/>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Auto / industrial / sensors</a:t>
            </a:r>
            <a:endParaRPr lang="en-US" sz="850" dirty="0"/>
          </a:p>
        </p:txBody>
      </p:sp>
      <p:sp>
        <p:nvSpPr>
          <p:cNvPr id="21" name="Text 17"/>
          <p:cNvSpPr/>
          <p:nvPr/>
        </p:nvSpPr>
        <p:spPr>
          <a:xfrm>
            <a:off x="9829800" y="2450592"/>
            <a:ext cx="1335024" cy="566928"/>
          </a:xfrm>
          <a:prstGeom prst="rect">
            <a:avLst/>
          </a:prstGeom>
          <a:noFill/>
          <a:ln/>
        </p:spPr>
        <p:txBody>
          <a:bodyPr wrap="square" lIns="0" tIns="0" rIns="0" bIns="0" rtlCol="0" anchor="t">
            <a:normAutofit/>
          </a:bodyPr>
          <a:lstStyle/>
          <a:p>
            <a:pPr algn="ctr" indent="0" marL="0">
              <a:buNone/>
            </a:pPr>
            <a:r>
              <a:rPr lang="en-US" sz="670" dirty="0">
                <a:solidFill>
                  <a:srgbClr val="344153"/>
                </a:solidFill>
                <a:latin typeface="Aptos" pitchFamily="34" charset="0"/>
                <a:ea typeface="Aptos" pitchFamily="34" charset="-122"/>
                <a:cs typeface="Aptos" pitchFamily="34" charset="-120"/>
              </a:rPr>
              <a:t>Broader exposure, typically less leading-edge intensity but still vacuum relevant.</a:t>
            </a:r>
            <a:endParaRPr lang="en-US" sz="670" dirty="0"/>
          </a:p>
        </p:txBody>
      </p:sp>
      <p:sp>
        <p:nvSpPr>
          <p:cNvPr id="22" name="Shape 18"/>
          <p:cNvSpPr/>
          <p:nvPr/>
        </p:nvSpPr>
        <p:spPr>
          <a:xfrm>
            <a:off x="5806440" y="3886200"/>
            <a:ext cx="5715000" cy="1417320"/>
          </a:xfrm>
          <a:prstGeom prst="roundRect">
            <a:avLst>
              <a:gd name="adj" fmla="val 5161"/>
            </a:avLst>
          </a:prstGeom>
          <a:solidFill>
            <a:srgbClr val="F7FAFC"/>
          </a:solidFill>
          <a:ln w="8890">
            <a:solidFill>
              <a:srgbClr val="D7E2EB"/>
            </a:solidFill>
            <a:prstDash val="solid"/>
          </a:ln>
        </p:spPr>
      </p:sp>
      <p:sp>
        <p:nvSpPr>
          <p:cNvPr id="23" name="Text 19"/>
          <p:cNvSpPr/>
          <p:nvPr/>
        </p:nvSpPr>
        <p:spPr>
          <a:xfrm>
            <a:off x="6035040" y="4087368"/>
            <a:ext cx="2011680" cy="201168"/>
          </a:xfrm>
          <a:prstGeom prst="rect">
            <a:avLst/>
          </a:prstGeom>
          <a:noFill/>
          <a:ln/>
        </p:spPr>
        <p:txBody>
          <a:bodyPr wrap="square" lIns="0" tIns="0" rIns="0" bIns="0" rtlCol="0" anchor="t">
            <a:normAutofit/>
          </a:bodyPr>
          <a:lstStyle/>
          <a:p>
            <a:pPr algn="l" indent="0" marL="0">
              <a:buNone/>
            </a:pPr>
            <a:r>
              <a:rPr lang="en-US" sz="920" b="1" dirty="0">
                <a:solidFill>
                  <a:srgbClr val="17212B"/>
                </a:solidFill>
                <a:latin typeface="Aptos" pitchFamily="34" charset="0"/>
                <a:ea typeface="Aptos" pitchFamily="34" charset="-122"/>
                <a:cs typeface="Aptos" pitchFamily="34" charset="-120"/>
              </a:rPr>
              <a:t>Who actually buys the machines?</a:t>
            </a:r>
            <a:endParaRPr lang="en-US" sz="920" dirty="0"/>
          </a:p>
        </p:txBody>
      </p:sp>
      <p:sp>
        <p:nvSpPr>
          <p:cNvPr id="24" name="Text 20"/>
          <p:cNvSpPr/>
          <p:nvPr/>
        </p:nvSpPr>
        <p:spPr>
          <a:xfrm>
            <a:off x="6035040" y="4443984"/>
            <a:ext cx="5166360" cy="475488"/>
          </a:xfrm>
          <a:prstGeom prst="rect">
            <a:avLst/>
          </a:prstGeom>
          <a:noFill/>
          <a:ln/>
        </p:spPr>
        <p:txBody>
          <a:bodyPr wrap="square" lIns="0" tIns="0" rIns="0" bIns="0" rtlCol="0" anchor="t">
            <a:normAutofit/>
          </a:bodyPr>
          <a:lstStyle/>
          <a:p>
            <a:pPr algn="l" indent="0" marL="0">
              <a:buNone/>
            </a:pPr>
            <a:r>
              <a:rPr lang="en-US" sz="810" dirty="0">
                <a:solidFill>
                  <a:srgbClr val="344153"/>
                </a:solidFill>
                <a:latin typeface="Aptos" pitchFamily="34" charset="0"/>
                <a:ea typeface="Aptos" pitchFamily="34" charset="-122"/>
                <a:cs typeface="Aptos" pitchFamily="34" charset="-120"/>
              </a:rPr>
              <a:t>Fabless: designs chips, does not fabricate them (Nvidia).  Foundry: manufactures for others (TSMC).  IDM: designs and manufactures (Intel / Samsung / Micron). VAT demand follows foundry and IDM capex budgets, typically via equipment OEM procurement.</a:t>
            </a:r>
            <a:endParaRPr lang="en-US" sz="810" dirty="0"/>
          </a:p>
        </p:txBody>
      </p:sp>
      <p:sp>
        <p:nvSpPr>
          <p:cNvPr id="25" name="Shape 21"/>
          <p:cNvSpPr/>
          <p:nvPr/>
        </p:nvSpPr>
        <p:spPr>
          <a:xfrm>
            <a:off x="420624" y="6419088"/>
            <a:ext cx="11338560" cy="0"/>
          </a:xfrm>
          <a:prstGeom prst="line">
            <a:avLst/>
          </a:prstGeom>
          <a:noFill/>
          <a:ln w="7620">
            <a:solidFill>
              <a:srgbClr val="D7E2EB"/>
            </a:solidFill>
            <a:prstDash val="solid"/>
            <a:headEnd type="none"/>
            <a:tailEnd type="none"/>
          </a:ln>
        </p:spPr>
      </p:sp>
      <p:sp>
        <p:nvSpPr>
          <p:cNvPr id="26" name="Text 22"/>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company materials; analyst estimates.</a:t>
            </a:r>
            <a:endParaRPr lang="en-US" sz="540" dirty="0"/>
          </a:p>
        </p:txBody>
      </p:sp>
      <p:sp>
        <p:nvSpPr>
          <p:cNvPr id="27" name="Text 23"/>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PROCESS EXPOSURE</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Advanced chips are built through repeated deposition, lithography and etch steps - VAT matters most where vacuum intensity is highest</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530352" y="1316736"/>
            <a:ext cx="1170432" cy="786384"/>
          </a:xfrm>
          <a:prstGeom prst="roundRect">
            <a:avLst>
              <a:gd name="adj" fmla="val 9302"/>
            </a:avLst>
          </a:prstGeom>
          <a:solidFill>
            <a:srgbClr val="FFFFFF"/>
          </a:solidFill>
          <a:ln w="8890">
            <a:solidFill>
              <a:srgbClr val="D7E2EB"/>
            </a:solidFill>
            <a:prstDash val="solid"/>
          </a:ln>
        </p:spPr>
      </p:sp>
      <p:sp>
        <p:nvSpPr>
          <p:cNvPr id="7" name="Text 4"/>
          <p:cNvSpPr/>
          <p:nvPr/>
        </p:nvSpPr>
        <p:spPr>
          <a:xfrm>
            <a:off x="566928"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Wafer</a:t>
            </a:r>
            <a:endParaRPr lang="en-US" sz="630" dirty="0"/>
          </a:p>
        </p:txBody>
      </p:sp>
      <p:sp>
        <p:nvSpPr>
          <p:cNvPr id="8" name="Text 5"/>
          <p:cNvSpPr/>
          <p:nvPr/>
        </p:nvSpPr>
        <p:spPr>
          <a:xfrm>
            <a:off x="566928"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687486"/>
                </a:solidFill>
                <a:latin typeface="Aptos" pitchFamily="34" charset="0"/>
                <a:ea typeface="Aptos" pitchFamily="34" charset="-122"/>
                <a:cs typeface="Aptos" pitchFamily="34" charset="-120"/>
              </a:rPr>
              <a:t>Low</a:t>
            </a:r>
            <a:endParaRPr lang="en-US" sz="580" dirty="0"/>
          </a:p>
        </p:txBody>
      </p:sp>
      <p:sp>
        <p:nvSpPr>
          <p:cNvPr id="9" name="Shape 6"/>
          <p:cNvSpPr/>
          <p:nvPr/>
        </p:nvSpPr>
        <p:spPr>
          <a:xfrm>
            <a:off x="1719072" y="1709928"/>
            <a:ext cx="54864" cy="0"/>
          </a:xfrm>
          <a:prstGeom prst="line">
            <a:avLst/>
          </a:prstGeom>
          <a:noFill/>
          <a:ln w="11430">
            <a:solidFill>
              <a:srgbClr val="8DB0C5"/>
            </a:solidFill>
            <a:prstDash val="solid"/>
            <a:headEnd type="none"/>
            <a:tailEnd type="triangle"/>
          </a:ln>
        </p:spPr>
      </p:sp>
      <p:sp>
        <p:nvSpPr>
          <p:cNvPr id="10" name="Shape 7"/>
          <p:cNvSpPr/>
          <p:nvPr/>
        </p:nvSpPr>
        <p:spPr>
          <a:xfrm>
            <a:off x="1792224" y="1316736"/>
            <a:ext cx="1170432" cy="786384"/>
          </a:xfrm>
          <a:prstGeom prst="roundRect">
            <a:avLst>
              <a:gd name="adj" fmla="val 9302"/>
            </a:avLst>
          </a:prstGeom>
          <a:solidFill>
            <a:srgbClr val="EAF7FD"/>
          </a:solidFill>
          <a:ln w="13970">
            <a:solidFill>
              <a:srgbClr val="199BD7"/>
            </a:solidFill>
            <a:prstDash val="solid"/>
          </a:ln>
        </p:spPr>
      </p:sp>
      <p:sp>
        <p:nvSpPr>
          <p:cNvPr id="11" name="Text 8"/>
          <p:cNvSpPr/>
          <p:nvPr/>
        </p:nvSpPr>
        <p:spPr>
          <a:xfrm>
            <a:off x="1828800"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Deposition</a:t>
            </a:r>
            <a:endParaRPr lang="en-US" sz="630" dirty="0"/>
          </a:p>
        </p:txBody>
      </p:sp>
      <p:sp>
        <p:nvSpPr>
          <p:cNvPr id="12" name="Text 9"/>
          <p:cNvSpPr/>
          <p:nvPr/>
        </p:nvSpPr>
        <p:spPr>
          <a:xfrm>
            <a:off x="1828800"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199BD7"/>
                </a:solidFill>
                <a:latin typeface="Aptos" pitchFamily="34" charset="0"/>
                <a:ea typeface="Aptos" pitchFamily="34" charset="-122"/>
                <a:cs typeface="Aptos" pitchFamily="34" charset="-120"/>
              </a:rPr>
              <a:t>High</a:t>
            </a:r>
            <a:endParaRPr lang="en-US" sz="580" dirty="0"/>
          </a:p>
        </p:txBody>
      </p:sp>
      <p:sp>
        <p:nvSpPr>
          <p:cNvPr id="13" name="Shape 10"/>
          <p:cNvSpPr/>
          <p:nvPr/>
        </p:nvSpPr>
        <p:spPr>
          <a:xfrm>
            <a:off x="2980944" y="1709928"/>
            <a:ext cx="54864" cy="0"/>
          </a:xfrm>
          <a:prstGeom prst="line">
            <a:avLst/>
          </a:prstGeom>
          <a:noFill/>
          <a:ln w="11430">
            <a:solidFill>
              <a:srgbClr val="8DB0C5"/>
            </a:solidFill>
            <a:prstDash val="solid"/>
            <a:headEnd type="none"/>
            <a:tailEnd type="triangle"/>
          </a:ln>
        </p:spPr>
      </p:sp>
      <p:sp>
        <p:nvSpPr>
          <p:cNvPr id="14" name="Shape 11"/>
          <p:cNvSpPr/>
          <p:nvPr/>
        </p:nvSpPr>
        <p:spPr>
          <a:xfrm>
            <a:off x="3054096" y="1316736"/>
            <a:ext cx="1170432" cy="786384"/>
          </a:xfrm>
          <a:prstGeom prst="roundRect">
            <a:avLst>
              <a:gd name="adj" fmla="val 9302"/>
            </a:avLst>
          </a:prstGeom>
          <a:solidFill>
            <a:srgbClr val="FFFFFF"/>
          </a:solidFill>
          <a:ln w="8890">
            <a:solidFill>
              <a:srgbClr val="D7E2EB"/>
            </a:solidFill>
            <a:prstDash val="solid"/>
          </a:ln>
        </p:spPr>
      </p:sp>
      <p:sp>
        <p:nvSpPr>
          <p:cNvPr id="15" name="Text 12"/>
          <p:cNvSpPr/>
          <p:nvPr/>
        </p:nvSpPr>
        <p:spPr>
          <a:xfrm>
            <a:off x="3090672"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Photoresist</a:t>
            </a:r>
            <a:endParaRPr lang="en-US" sz="630" dirty="0"/>
          </a:p>
        </p:txBody>
      </p:sp>
      <p:sp>
        <p:nvSpPr>
          <p:cNvPr id="16" name="Text 13"/>
          <p:cNvSpPr/>
          <p:nvPr/>
        </p:nvSpPr>
        <p:spPr>
          <a:xfrm>
            <a:off x="3090672"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687486"/>
                </a:solidFill>
                <a:latin typeface="Aptos" pitchFamily="34" charset="0"/>
                <a:ea typeface="Aptos" pitchFamily="34" charset="-122"/>
                <a:cs typeface="Aptos" pitchFamily="34" charset="-120"/>
              </a:rPr>
              <a:t>Low</a:t>
            </a:r>
            <a:endParaRPr lang="en-US" sz="580" dirty="0"/>
          </a:p>
        </p:txBody>
      </p:sp>
      <p:sp>
        <p:nvSpPr>
          <p:cNvPr id="17" name="Shape 14"/>
          <p:cNvSpPr/>
          <p:nvPr/>
        </p:nvSpPr>
        <p:spPr>
          <a:xfrm>
            <a:off x="4242816" y="1709928"/>
            <a:ext cx="54864" cy="0"/>
          </a:xfrm>
          <a:prstGeom prst="line">
            <a:avLst/>
          </a:prstGeom>
          <a:noFill/>
          <a:ln w="11430">
            <a:solidFill>
              <a:srgbClr val="8DB0C5"/>
            </a:solidFill>
            <a:prstDash val="solid"/>
            <a:headEnd type="none"/>
            <a:tailEnd type="triangle"/>
          </a:ln>
        </p:spPr>
      </p:sp>
      <p:sp>
        <p:nvSpPr>
          <p:cNvPr id="18" name="Shape 15"/>
          <p:cNvSpPr/>
          <p:nvPr/>
        </p:nvSpPr>
        <p:spPr>
          <a:xfrm>
            <a:off x="4315968" y="1316736"/>
            <a:ext cx="1170432" cy="786384"/>
          </a:xfrm>
          <a:prstGeom prst="roundRect">
            <a:avLst>
              <a:gd name="adj" fmla="val 9302"/>
            </a:avLst>
          </a:prstGeom>
          <a:solidFill>
            <a:srgbClr val="FFF7EA"/>
          </a:solidFill>
          <a:ln w="8890">
            <a:solidFill>
              <a:srgbClr val="E69A21"/>
            </a:solidFill>
            <a:prstDash val="solid"/>
          </a:ln>
        </p:spPr>
      </p:sp>
      <p:sp>
        <p:nvSpPr>
          <p:cNvPr id="19" name="Text 16"/>
          <p:cNvSpPr/>
          <p:nvPr/>
        </p:nvSpPr>
        <p:spPr>
          <a:xfrm>
            <a:off x="4352544"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Lithography</a:t>
            </a:r>
            <a:endParaRPr lang="en-US" sz="630" dirty="0"/>
          </a:p>
        </p:txBody>
      </p:sp>
      <p:sp>
        <p:nvSpPr>
          <p:cNvPr id="20" name="Text 17"/>
          <p:cNvSpPr/>
          <p:nvPr/>
        </p:nvSpPr>
        <p:spPr>
          <a:xfrm>
            <a:off x="4352544"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E69A21"/>
                </a:solidFill>
                <a:latin typeface="Aptos" pitchFamily="34" charset="0"/>
                <a:ea typeface="Aptos" pitchFamily="34" charset="-122"/>
                <a:cs typeface="Aptos" pitchFamily="34" charset="-120"/>
              </a:rPr>
              <a:t>Med</a:t>
            </a:r>
            <a:endParaRPr lang="en-US" sz="580" dirty="0"/>
          </a:p>
        </p:txBody>
      </p:sp>
      <p:sp>
        <p:nvSpPr>
          <p:cNvPr id="21" name="Shape 18"/>
          <p:cNvSpPr/>
          <p:nvPr/>
        </p:nvSpPr>
        <p:spPr>
          <a:xfrm>
            <a:off x="5504688" y="1709928"/>
            <a:ext cx="54864" cy="0"/>
          </a:xfrm>
          <a:prstGeom prst="line">
            <a:avLst/>
          </a:prstGeom>
          <a:noFill/>
          <a:ln w="11430">
            <a:solidFill>
              <a:srgbClr val="8DB0C5"/>
            </a:solidFill>
            <a:prstDash val="solid"/>
            <a:headEnd type="none"/>
            <a:tailEnd type="triangle"/>
          </a:ln>
        </p:spPr>
      </p:sp>
      <p:sp>
        <p:nvSpPr>
          <p:cNvPr id="22" name="Shape 19"/>
          <p:cNvSpPr/>
          <p:nvPr/>
        </p:nvSpPr>
        <p:spPr>
          <a:xfrm>
            <a:off x="5577840" y="1316736"/>
            <a:ext cx="1170432" cy="786384"/>
          </a:xfrm>
          <a:prstGeom prst="roundRect">
            <a:avLst>
              <a:gd name="adj" fmla="val 9302"/>
            </a:avLst>
          </a:prstGeom>
          <a:solidFill>
            <a:srgbClr val="EAF7FD"/>
          </a:solidFill>
          <a:ln w="13970">
            <a:solidFill>
              <a:srgbClr val="199BD7"/>
            </a:solidFill>
            <a:prstDash val="solid"/>
          </a:ln>
        </p:spPr>
      </p:sp>
      <p:sp>
        <p:nvSpPr>
          <p:cNvPr id="23" name="Text 20"/>
          <p:cNvSpPr/>
          <p:nvPr/>
        </p:nvSpPr>
        <p:spPr>
          <a:xfrm>
            <a:off x="5614416"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Etch</a:t>
            </a:r>
            <a:endParaRPr lang="en-US" sz="630" dirty="0"/>
          </a:p>
        </p:txBody>
      </p:sp>
      <p:sp>
        <p:nvSpPr>
          <p:cNvPr id="24" name="Text 21"/>
          <p:cNvSpPr/>
          <p:nvPr/>
        </p:nvSpPr>
        <p:spPr>
          <a:xfrm>
            <a:off x="5614416"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199BD7"/>
                </a:solidFill>
                <a:latin typeface="Aptos" pitchFamily="34" charset="0"/>
                <a:ea typeface="Aptos" pitchFamily="34" charset="-122"/>
                <a:cs typeface="Aptos" pitchFamily="34" charset="-120"/>
              </a:rPr>
              <a:t>High</a:t>
            </a:r>
            <a:endParaRPr lang="en-US" sz="580" dirty="0"/>
          </a:p>
        </p:txBody>
      </p:sp>
      <p:sp>
        <p:nvSpPr>
          <p:cNvPr id="25" name="Shape 22"/>
          <p:cNvSpPr/>
          <p:nvPr/>
        </p:nvSpPr>
        <p:spPr>
          <a:xfrm>
            <a:off x="6766560" y="1709928"/>
            <a:ext cx="54864" cy="0"/>
          </a:xfrm>
          <a:prstGeom prst="line">
            <a:avLst/>
          </a:prstGeom>
          <a:noFill/>
          <a:ln w="11430">
            <a:solidFill>
              <a:srgbClr val="8DB0C5"/>
            </a:solidFill>
            <a:prstDash val="solid"/>
            <a:headEnd type="none"/>
            <a:tailEnd type="triangle"/>
          </a:ln>
        </p:spPr>
      </p:sp>
      <p:sp>
        <p:nvSpPr>
          <p:cNvPr id="26" name="Shape 23"/>
          <p:cNvSpPr/>
          <p:nvPr/>
        </p:nvSpPr>
        <p:spPr>
          <a:xfrm>
            <a:off x="6839712" y="1316736"/>
            <a:ext cx="1170432" cy="786384"/>
          </a:xfrm>
          <a:prstGeom prst="roundRect">
            <a:avLst>
              <a:gd name="adj" fmla="val 9302"/>
            </a:avLst>
          </a:prstGeom>
          <a:solidFill>
            <a:srgbClr val="FFF7EA"/>
          </a:solidFill>
          <a:ln w="8890">
            <a:solidFill>
              <a:srgbClr val="E69A21"/>
            </a:solidFill>
            <a:prstDash val="solid"/>
          </a:ln>
        </p:spPr>
      </p:sp>
      <p:sp>
        <p:nvSpPr>
          <p:cNvPr id="27" name="Text 24"/>
          <p:cNvSpPr/>
          <p:nvPr/>
        </p:nvSpPr>
        <p:spPr>
          <a:xfrm>
            <a:off x="6876288"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Implant</a:t>
            </a:r>
            <a:endParaRPr lang="en-US" sz="630" dirty="0"/>
          </a:p>
        </p:txBody>
      </p:sp>
      <p:sp>
        <p:nvSpPr>
          <p:cNvPr id="28" name="Text 25"/>
          <p:cNvSpPr/>
          <p:nvPr/>
        </p:nvSpPr>
        <p:spPr>
          <a:xfrm>
            <a:off x="6876288"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E69A21"/>
                </a:solidFill>
                <a:latin typeface="Aptos" pitchFamily="34" charset="0"/>
                <a:ea typeface="Aptos" pitchFamily="34" charset="-122"/>
                <a:cs typeface="Aptos" pitchFamily="34" charset="-120"/>
              </a:rPr>
              <a:t>Med</a:t>
            </a:r>
            <a:endParaRPr lang="en-US" sz="580" dirty="0"/>
          </a:p>
        </p:txBody>
      </p:sp>
      <p:sp>
        <p:nvSpPr>
          <p:cNvPr id="29" name="Shape 26"/>
          <p:cNvSpPr/>
          <p:nvPr/>
        </p:nvSpPr>
        <p:spPr>
          <a:xfrm>
            <a:off x="8028432" y="1709928"/>
            <a:ext cx="54864" cy="0"/>
          </a:xfrm>
          <a:prstGeom prst="line">
            <a:avLst/>
          </a:prstGeom>
          <a:noFill/>
          <a:ln w="11430">
            <a:solidFill>
              <a:srgbClr val="8DB0C5"/>
            </a:solidFill>
            <a:prstDash val="solid"/>
            <a:headEnd type="none"/>
            <a:tailEnd type="triangle"/>
          </a:ln>
        </p:spPr>
      </p:sp>
      <p:sp>
        <p:nvSpPr>
          <p:cNvPr id="30" name="Shape 27"/>
          <p:cNvSpPr/>
          <p:nvPr/>
        </p:nvSpPr>
        <p:spPr>
          <a:xfrm>
            <a:off x="8101584" y="1316736"/>
            <a:ext cx="1170432" cy="786384"/>
          </a:xfrm>
          <a:prstGeom prst="roundRect">
            <a:avLst>
              <a:gd name="adj" fmla="val 9302"/>
            </a:avLst>
          </a:prstGeom>
          <a:solidFill>
            <a:srgbClr val="FFFFFF"/>
          </a:solidFill>
          <a:ln w="8890">
            <a:solidFill>
              <a:srgbClr val="D7E2EB"/>
            </a:solidFill>
            <a:prstDash val="solid"/>
          </a:ln>
        </p:spPr>
      </p:sp>
      <p:sp>
        <p:nvSpPr>
          <p:cNvPr id="31" name="Text 28"/>
          <p:cNvSpPr/>
          <p:nvPr/>
        </p:nvSpPr>
        <p:spPr>
          <a:xfrm>
            <a:off x="8138160"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Clean / CMP</a:t>
            </a:r>
            <a:endParaRPr lang="en-US" sz="630" dirty="0"/>
          </a:p>
        </p:txBody>
      </p:sp>
      <p:sp>
        <p:nvSpPr>
          <p:cNvPr id="32" name="Text 29"/>
          <p:cNvSpPr/>
          <p:nvPr/>
        </p:nvSpPr>
        <p:spPr>
          <a:xfrm>
            <a:off x="8138160"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687486"/>
                </a:solidFill>
                <a:latin typeface="Aptos" pitchFamily="34" charset="0"/>
                <a:ea typeface="Aptos" pitchFamily="34" charset="-122"/>
                <a:cs typeface="Aptos" pitchFamily="34" charset="-120"/>
              </a:rPr>
              <a:t>Low</a:t>
            </a:r>
            <a:endParaRPr lang="en-US" sz="580" dirty="0"/>
          </a:p>
        </p:txBody>
      </p:sp>
      <p:sp>
        <p:nvSpPr>
          <p:cNvPr id="33" name="Shape 30"/>
          <p:cNvSpPr/>
          <p:nvPr/>
        </p:nvSpPr>
        <p:spPr>
          <a:xfrm>
            <a:off x="9290304" y="1709928"/>
            <a:ext cx="54864" cy="0"/>
          </a:xfrm>
          <a:prstGeom prst="line">
            <a:avLst/>
          </a:prstGeom>
          <a:noFill/>
          <a:ln w="11430">
            <a:solidFill>
              <a:srgbClr val="8DB0C5"/>
            </a:solidFill>
            <a:prstDash val="solid"/>
            <a:headEnd type="none"/>
            <a:tailEnd type="triangle"/>
          </a:ln>
        </p:spPr>
      </p:sp>
      <p:sp>
        <p:nvSpPr>
          <p:cNvPr id="34" name="Shape 31"/>
          <p:cNvSpPr/>
          <p:nvPr/>
        </p:nvSpPr>
        <p:spPr>
          <a:xfrm>
            <a:off x="9363456" y="1316736"/>
            <a:ext cx="1170432" cy="786384"/>
          </a:xfrm>
          <a:prstGeom prst="roundRect">
            <a:avLst>
              <a:gd name="adj" fmla="val 9302"/>
            </a:avLst>
          </a:prstGeom>
          <a:solidFill>
            <a:srgbClr val="FFF7EA"/>
          </a:solidFill>
          <a:ln w="8890">
            <a:solidFill>
              <a:srgbClr val="E69A21"/>
            </a:solidFill>
            <a:prstDash val="solid"/>
          </a:ln>
        </p:spPr>
      </p:sp>
      <p:sp>
        <p:nvSpPr>
          <p:cNvPr id="35" name="Text 32"/>
          <p:cNvSpPr/>
          <p:nvPr/>
        </p:nvSpPr>
        <p:spPr>
          <a:xfrm>
            <a:off x="9400032"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Metrology</a:t>
            </a:r>
            <a:endParaRPr lang="en-US" sz="630" dirty="0"/>
          </a:p>
        </p:txBody>
      </p:sp>
      <p:sp>
        <p:nvSpPr>
          <p:cNvPr id="36" name="Text 33"/>
          <p:cNvSpPr/>
          <p:nvPr/>
        </p:nvSpPr>
        <p:spPr>
          <a:xfrm>
            <a:off x="9400032"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E69A21"/>
                </a:solidFill>
                <a:latin typeface="Aptos" pitchFamily="34" charset="0"/>
                <a:ea typeface="Aptos" pitchFamily="34" charset="-122"/>
                <a:cs typeface="Aptos" pitchFamily="34" charset="-120"/>
              </a:rPr>
              <a:t>Med</a:t>
            </a:r>
            <a:endParaRPr lang="en-US" sz="580" dirty="0"/>
          </a:p>
        </p:txBody>
      </p:sp>
      <p:sp>
        <p:nvSpPr>
          <p:cNvPr id="37" name="Shape 34"/>
          <p:cNvSpPr/>
          <p:nvPr/>
        </p:nvSpPr>
        <p:spPr>
          <a:xfrm>
            <a:off x="10552176" y="1709928"/>
            <a:ext cx="54864" cy="0"/>
          </a:xfrm>
          <a:prstGeom prst="line">
            <a:avLst/>
          </a:prstGeom>
          <a:noFill/>
          <a:ln w="11430">
            <a:solidFill>
              <a:srgbClr val="8DB0C5"/>
            </a:solidFill>
            <a:prstDash val="solid"/>
            <a:headEnd type="none"/>
            <a:tailEnd type="triangle"/>
          </a:ln>
        </p:spPr>
      </p:sp>
      <p:sp>
        <p:nvSpPr>
          <p:cNvPr id="38" name="Shape 35"/>
          <p:cNvSpPr/>
          <p:nvPr/>
        </p:nvSpPr>
        <p:spPr>
          <a:xfrm>
            <a:off x="10625328" y="1316736"/>
            <a:ext cx="1170432" cy="786384"/>
          </a:xfrm>
          <a:prstGeom prst="roundRect">
            <a:avLst>
              <a:gd name="adj" fmla="val 9302"/>
            </a:avLst>
          </a:prstGeom>
          <a:solidFill>
            <a:srgbClr val="EAF7FD"/>
          </a:solidFill>
          <a:ln w="13970">
            <a:solidFill>
              <a:srgbClr val="199BD7"/>
            </a:solidFill>
            <a:prstDash val="solid"/>
          </a:ln>
        </p:spPr>
      </p:sp>
      <p:sp>
        <p:nvSpPr>
          <p:cNvPr id="39" name="Text 36"/>
          <p:cNvSpPr/>
          <p:nvPr/>
        </p:nvSpPr>
        <p:spPr>
          <a:xfrm>
            <a:off x="10661904" y="1472184"/>
            <a:ext cx="1097280" cy="173736"/>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Repeat</a:t>
            </a:r>
            <a:endParaRPr lang="en-US" sz="630" dirty="0"/>
          </a:p>
        </p:txBody>
      </p:sp>
      <p:sp>
        <p:nvSpPr>
          <p:cNvPr id="40" name="Text 37"/>
          <p:cNvSpPr/>
          <p:nvPr/>
        </p:nvSpPr>
        <p:spPr>
          <a:xfrm>
            <a:off x="10661904" y="1783080"/>
            <a:ext cx="1097280" cy="146304"/>
          </a:xfrm>
          <a:prstGeom prst="rect">
            <a:avLst/>
          </a:prstGeom>
          <a:noFill/>
          <a:ln/>
        </p:spPr>
        <p:txBody>
          <a:bodyPr wrap="square" lIns="0" tIns="0" rIns="0" bIns="0" rtlCol="0" anchor="t">
            <a:normAutofit/>
          </a:bodyPr>
          <a:lstStyle/>
          <a:p>
            <a:pPr algn="ctr" indent="0" marL="0">
              <a:buNone/>
            </a:pPr>
            <a:r>
              <a:rPr lang="en-US" sz="580" b="1" dirty="0">
                <a:solidFill>
                  <a:srgbClr val="199BD7"/>
                </a:solidFill>
                <a:latin typeface="Aptos" pitchFamily="34" charset="0"/>
                <a:ea typeface="Aptos" pitchFamily="34" charset="-122"/>
                <a:cs typeface="Aptos" pitchFamily="34" charset="-120"/>
              </a:rPr>
              <a:t>High</a:t>
            </a:r>
            <a:endParaRPr lang="en-US" sz="580" dirty="0"/>
          </a:p>
        </p:txBody>
      </p:sp>
      <p:sp>
        <p:nvSpPr>
          <p:cNvPr id="41" name="Shape 38"/>
          <p:cNvSpPr/>
          <p:nvPr/>
        </p:nvSpPr>
        <p:spPr>
          <a:xfrm>
            <a:off x="640080" y="2514600"/>
            <a:ext cx="3246120" cy="2633472"/>
          </a:xfrm>
          <a:prstGeom prst="roundRect">
            <a:avLst>
              <a:gd name="adj" fmla="val 2778"/>
            </a:avLst>
          </a:prstGeom>
          <a:solidFill>
            <a:srgbClr val="FFFFFF"/>
          </a:solidFill>
          <a:ln w="8890">
            <a:solidFill>
              <a:srgbClr val="D7E2EB"/>
            </a:solidFill>
            <a:prstDash val="solid"/>
          </a:ln>
        </p:spPr>
      </p:sp>
      <p:sp>
        <p:nvSpPr>
          <p:cNvPr id="42" name="Text 39"/>
          <p:cNvSpPr/>
          <p:nvPr/>
        </p:nvSpPr>
        <p:spPr>
          <a:xfrm>
            <a:off x="877824" y="2761488"/>
            <a:ext cx="2331720" cy="228600"/>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Where VAT relevance is highest</a:t>
            </a:r>
            <a:endParaRPr lang="en-US" sz="1000" dirty="0"/>
          </a:p>
        </p:txBody>
      </p:sp>
      <p:sp>
        <p:nvSpPr>
          <p:cNvPr id="43" name="Shape 40"/>
          <p:cNvSpPr/>
          <p:nvPr/>
        </p:nvSpPr>
        <p:spPr>
          <a:xfrm>
            <a:off x="886968" y="3200400"/>
            <a:ext cx="877824" cy="256032"/>
          </a:xfrm>
          <a:prstGeom prst="roundRect">
            <a:avLst>
              <a:gd name="adj" fmla="val 42857"/>
            </a:avLst>
          </a:prstGeom>
          <a:solidFill>
            <a:srgbClr val="EAF7FD"/>
          </a:solidFill>
          <a:ln w="8890">
            <a:solidFill>
              <a:srgbClr val="EAF7FD">
                <a:alpha val="0"/>
              </a:srgbClr>
            </a:solidFill>
            <a:prstDash val="solid"/>
          </a:ln>
        </p:spPr>
      </p:sp>
      <p:sp>
        <p:nvSpPr>
          <p:cNvPr id="44" name="Text 41"/>
          <p:cNvSpPr/>
          <p:nvPr/>
        </p:nvSpPr>
        <p:spPr>
          <a:xfrm>
            <a:off x="941832" y="3250692"/>
            <a:ext cx="768096" cy="182880"/>
          </a:xfrm>
          <a:prstGeom prst="rect">
            <a:avLst/>
          </a:prstGeom>
          <a:noFill/>
          <a:ln/>
        </p:spPr>
        <p:txBody>
          <a:bodyPr wrap="square" lIns="0" tIns="0" rIns="0" bIns="0" rtlCol="0" anchor="ctr">
            <a:normAutofit/>
          </a:bodyPr>
          <a:lstStyle/>
          <a:p>
            <a:pPr algn="ctr" indent="0" marL="0">
              <a:buNone/>
            </a:pPr>
            <a:r>
              <a:rPr lang="en-US" sz="640" b="1" dirty="0">
                <a:solidFill>
                  <a:srgbClr val="199BD7"/>
                </a:solidFill>
                <a:latin typeface="Aptos" pitchFamily="34" charset="0"/>
                <a:ea typeface="Aptos" pitchFamily="34" charset="-122"/>
                <a:cs typeface="Aptos" pitchFamily="34" charset="-120"/>
              </a:rPr>
              <a:t>Deposition</a:t>
            </a:r>
            <a:endParaRPr lang="en-US" sz="640" dirty="0"/>
          </a:p>
        </p:txBody>
      </p:sp>
      <p:sp>
        <p:nvSpPr>
          <p:cNvPr id="45" name="Text 42"/>
          <p:cNvSpPr/>
          <p:nvPr/>
        </p:nvSpPr>
        <p:spPr>
          <a:xfrm>
            <a:off x="1901952" y="3255264"/>
            <a:ext cx="1600200" cy="164592"/>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Applied / Lam / TEL</a:t>
            </a:r>
            <a:endParaRPr lang="en-US" sz="700" dirty="0"/>
          </a:p>
        </p:txBody>
      </p:sp>
      <p:sp>
        <p:nvSpPr>
          <p:cNvPr id="46" name="Shape 43"/>
          <p:cNvSpPr/>
          <p:nvPr/>
        </p:nvSpPr>
        <p:spPr>
          <a:xfrm>
            <a:off x="886968" y="3694176"/>
            <a:ext cx="877824" cy="256032"/>
          </a:xfrm>
          <a:prstGeom prst="roundRect">
            <a:avLst>
              <a:gd name="adj" fmla="val 42857"/>
            </a:avLst>
          </a:prstGeom>
          <a:solidFill>
            <a:srgbClr val="EAF7FD"/>
          </a:solidFill>
          <a:ln w="8890">
            <a:solidFill>
              <a:srgbClr val="EAF7FD">
                <a:alpha val="0"/>
              </a:srgbClr>
            </a:solidFill>
            <a:prstDash val="solid"/>
          </a:ln>
        </p:spPr>
      </p:sp>
      <p:sp>
        <p:nvSpPr>
          <p:cNvPr id="47" name="Text 44"/>
          <p:cNvSpPr/>
          <p:nvPr/>
        </p:nvSpPr>
        <p:spPr>
          <a:xfrm>
            <a:off x="941832" y="3744468"/>
            <a:ext cx="768096" cy="182880"/>
          </a:xfrm>
          <a:prstGeom prst="rect">
            <a:avLst/>
          </a:prstGeom>
          <a:noFill/>
          <a:ln/>
        </p:spPr>
        <p:txBody>
          <a:bodyPr wrap="square" lIns="0" tIns="0" rIns="0" bIns="0" rtlCol="0" anchor="ctr">
            <a:normAutofit/>
          </a:bodyPr>
          <a:lstStyle/>
          <a:p>
            <a:pPr algn="ctr" indent="0" marL="0">
              <a:buNone/>
            </a:pPr>
            <a:r>
              <a:rPr lang="en-US" sz="640" b="1" dirty="0">
                <a:solidFill>
                  <a:srgbClr val="199BD7"/>
                </a:solidFill>
                <a:latin typeface="Aptos" pitchFamily="34" charset="0"/>
                <a:ea typeface="Aptos" pitchFamily="34" charset="-122"/>
                <a:cs typeface="Aptos" pitchFamily="34" charset="-120"/>
              </a:rPr>
              <a:t>Dry etch</a:t>
            </a:r>
            <a:endParaRPr lang="en-US" sz="640" dirty="0"/>
          </a:p>
        </p:txBody>
      </p:sp>
      <p:sp>
        <p:nvSpPr>
          <p:cNvPr id="48" name="Text 45"/>
          <p:cNvSpPr/>
          <p:nvPr/>
        </p:nvSpPr>
        <p:spPr>
          <a:xfrm>
            <a:off x="1901952" y="3749040"/>
            <a:ext cx="1600200" cy="164592"/>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Lam / Applied / TEL</a:t>
            </a:r>
            <a:endParaRPr lang="en-US" sz="700" dirty="0"/>
          </a:p>
        </p:txBody>
      </p:sp>
      <p:sp>
        <p:nvSpPr>
          <p:cNvPr id="49" name="Shape 46"/>
          <p:cNvSpPr/>
          <p:nvPr/>
        </p:nvSpPr>
        <p:spPr>
          <a:xfrm>
            <a:off x="886968" y="4187952"/>
            <a:ext cx="877824" cy="256032"/>
          </a:xfrm>
          <a:prstGeom prst="roundRect">
            <a:avLst>
              <a:gd name="adj" fmla="val 42857"/>
            </a:avLst>
          </a:prstGeom>
          <a:solidFill>
            <a:srgbClr val="F1F5F9"/>
          </a:solidFill>
          <a:ln w="8890">
            <a:solidFill>
              <a:srgbClr val="F1F5F9">
                <a:alpha val="0"/>
              </a:srgbClr>
            </a:solidFill>
            <a:prstDash val="solid"/>
          </a:ln>
        </p:spPr>
      </p:sp>
      <p:sp>
        <p:nvSpPr>
          <p:cNvPr id="50" name="Text 47"/>
          <p:cNvSpPr/>
          <p:nvPr/>
        </p:nvSpPr>
        <p:spPr>
          <a:xfrm>
            <a:off x="941832" y="4238244"/>
            <a:ext cx="768096" cy="182880"/>
          </a:xfrm>
          <a:prstGeom prst="rect">
            <a:avLst/>
          </a:prstGeom>
          <a:noFill/>
          <a:ln/>
        </p:spPr>
        <p:txBody>
          <a:bodyPr wrap="square" lIns="0" tIns="0" rIns="0" bIns="0" rtlCol="0" anchor="ctr">
            <a:normAutofit/>
          </a:bodyPr>
          <a:lstStyle/>
          <a:p>
            <a:pPr algn="ctr" indent="0" marL="0">
              <a:buNone/>
            </a:pPr>
            <a:r>
              <a:rPr lang="en-US" sz="640" b="1" dirty="0">
                <a:solidFill>
                  <a:srgbClr val="17212B"/>
                </a:solidFill>
                <a:latin typeface="Aptos" pitchFamily="34" charset="0"/>
                <a:ea typeface="Aptos" pitchFamily="34" charset="-122"/>
                <a:cs typeface="Aptos" pitchFamily="34" charset="-120"/>
              </a:rPr>
              <a:t>Vacuum chambers</a:t>
            </a:r>
            <a:endParaRPr lang="en-US" sz="640" dirty="0"/>
          </a:p>
        </p:txBody>
      </p:sp>
      <p:sp>
        <p:nvSpPr>
          <p:cNvPr id="51" name="Text 48"/>
          <p:cNvSpPr/>
          <p:nvPr/>
        </p:nvSpPr>
        <p:spPr>
          <a:xfrm>
            <a:off x="1901952" y="4242816"/>
            <a:ext cx="1600200" cy="164592"/>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Transfer / isolation / pressure control</a:t>
            </a:r>
            <a:endParaRPr lang="en-US" sz="700" dirty="0"/>
          </a:p>
        </p:txBody>
      </p:sp>
      <p:sp>
        <p:nvSpPr>
          <p:cNvPr id="52" name="Text 49"/>
          <p:cNvSpPr/>
          <p:nvPr/>
        </p:nvSpPr>
        <p:spPr>
          <a:xfrm>
            <a:off x="877824" y="4617720"/>
            <a:ext cx="2651760" cy="320040"/>
          </a:xfrm>
          <a:prstGeom prst="rect">
            <a:avLst/>
          </a:prstGeom>
          <a:noFill/>
          <a:ln/>
        </p:spPr>
        <p:txBody>
          <a:bodyPr wrap="square" lIns="0" tIns="0" rIns="0" bIns="0" rtlCol="0" anchor="t">
            <a:normAutofit/>
          </a:bodyPr>
          <a:lstStyle/>
          <a:p>
            <a:pPr algn="l" indent="0" marL="0">
              <a:buNone/>
            </a:pPr>
            <a:r>
              <a:rPr lang="en-US" sz="740" b="1" dirty="0">
                <a:solidFill>
                  <a:srgbClr val="199BD7"/>
                </a:solidFill>
                <a:latin typeface="Aptos" pitchFamily="34" charset="0"/>
                <a:ea typeface="Aptos" pitchFamily="34" charset="-122"/>
                <a:cs typeface="Aptos" pitchFamily="34" charset="-120"/>
              </a:rPr>
              <a:t>Do not claim VAT is equally important in every process. The thesis is concentrated in high-vacuum process chambers where pressure, plasma stability, cleanliness and reliability drive yield.</a:t>
            </a:r>
            <a:endParaRPr lang="en-US" sz="740" dirty="0"/>
          </a:p>
        </p:txBody>
      </p:sp>
      <p:sp>
        <p:nvSpPr>
          <p:cNvPr id="53" name="Shape 50"/>
          <p:cNvSpPr/>
          <p:nvPr/>
        </p:nvSpPr>
        <p:spPr>
          <a:xfrm>
            <a:off x="4251960" y="2514600"/>
            <a:ext cx="3246120" cy="2633472"/>
          </a:xfrm>
          <a:prstGeom prst="roundRect">
            <a:avLst>
              <a:gd name="adj" fmla="val 2778"/>
            </a:avLst>
          </a:prstGeom>
          <a:solidFill>
            <a:srgbClr val="F7FAFC"/>
          </a:solidFill>
          <a:ln w="8890">
            <a:solidFill>
              <a:srgbClr val="D7E2EB"/>
            </a:solidFill>
            <a:prstDash val="solid"/>
          </a:ln>
        </p:spPr>
      </p:sp>
      <p:sp>
        <p:nvSpPr>
          <p:cNvPr id="54" name="Text 51"/>
          <p:cNvSpPr/>
          <p:nvPr/>
        </p:nvSpPr>
        <p:spPr>
          <a:xfrm>
            <a:off x="4480560" y="2761488"/>
            <a:ext cx="2423160" cy="228600"/>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Why advanced nodes raise process difficulty</a:t>
            </a:r>
            <a:endParaRPr lang="en-US" sz="1000" dirty="0"/>
          </a:p>
        </p:txBody>
      </p:sp>
      <p:sp>
        <p:nvSpPr>
          <p:cNvPr id="55" name="Text 52"/>
          <p:cNvSpPr/>
          <p:nvPr/>
        </p:nvSpPr>
        <p:spPr>
          <a:xfrm>
            <a:off x="4480560" y="3227832"/>
            <a:ext cx="2651760" cy="713232"/>
          </a:xfrm>
          <a:prstGeom prst="rect">
            <a:avLst/>
          </a:prstGeom>
          <a:noFill/>
          <a:ln/>
        </p:spPr>
        <p:txBody>
          <a:bodyPr wrap="square" lIns="0" tIns="0" rIns="0" bIns="0" rtlCol="0" anchor="t">
            <a:normAutofit/>
          </a:bodyPr>
          <a:lstStyle/>
          <a:p>
            <a:pPr algn="l" indent="0" marL="0">
              <a:buNone/>
            </a:pPr>
            <a:r>
              <a:rPr lang="en-US" sz="850" dirty="0">
                <a:solidFill>
                  <a:srgbClr val="344153"/>
                </a:solidFill>
                <a:latin typeface="Aptos" pitchFamily="34" charset="0"/>
                <a:ea typeface="Aptos" pitchFamily="34" charset="-122"/>
                <a:cs typeface="Aptos" pitchFamily="34" charset="-120"/>
              </a:rPr>
              <a:t>More layers and three-dimensional transistor structures create more deposition and etch complexity, tighter pressure windows, narrower contamination tolerance and more process-control demand.</a:t>
            </a:r>
            <a:endParaRPr lang="en-US" sz="850" dirty="0"/>
          </a:p>
        </p:txBody>
      </p:sp>
      <p:sp>
        <p:nvSpPr>
          <p:cNvPr id="56" name="Shape 53"/>
          <p:cNvSpPr/>
          <p:nvPr/>
        </p:nvSpPr>
        <p:spPr>
          <a:xfrm>
            <a:off x="4517136" y="4206240"/>
            <a:ext cx="2478024" cy="0"/>
          </a:xfrm>
          <a:prstGeom prst="line">
            <a:avLst/>
          </a:prstGeom>
          <a:noFill/>
          <a:ln w="63500">
            <a:solidFill>
              <a:srgbClr val="199BD7">
                <a:alpha val="75000"/>
              </a:srgbClr>
            </a:solidFill>
            <a:prstDash val="solid"/>
            <a:headEnd type="none"/>
            <a:tailEnd type="none"/>
          </a:ln>
        </p:spPr>
      </p:sp>
      <p:sp>
        <p:nvSpPr>
          <p:cNvPr id="57" name="Text 54"/>
          <p:cNvSpPr/>
          <p:nvPr/>
        </p:nvSpPr>
        <p:spPr>
          <a:xfrm>
            <a:off x="4480560" y="4462272"/>
            <a:ext cx="2606040" cy="256032"/>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Complexity, not volume alone, is the structural driver.</a:t>
            </a:r>
            <a:endParaRPr lang="en-US" sz="900" dirty="0"/>
          </a:p>
        </p:txBody>
      </p:sp>
      <p:sp>
        <p:nvSpPr>
          <p:cNvPr id="58" name="Shape 55"/>
          <p:cNvSpPr/>
          <p:nvPr/>
        </p:nvSpPr>
        <p:spPr>
          <a:xfrm>
            <a:off x="7845552" y="2514600"/>
            <a:ext cx="3429000" cy="2633472"/>
          </a:xfrm>
          <a:prstGeom prst="roundRect">
            <a:avLst>
              <a:gd name="adj" fmla="val 2778"/>
            </a:avLst>
          </a:prstGeom>
          <a:solidFill>
            <a:srgbClr val="FFFFFF"/>
          </a:solidFill>
          <a:ln w="8890">
            <a:solidFill>
              <a:srgbClr val="D7E2EB"/>
            </a:solidFill>
            <a:prstDash val="solid"/>
          </a:ln>
        </p:spPr>
      </p:sp>
      <p:sp>
        <p:nvSpPr>
          <p:cNvPr id="59" name="Text 56"/>
          <p:cNvSpPr/>
          <p:nvPr/>
        </p:nvSpPr>
        <p:spPr>
          <a:xfrm>
            <a:off x="8083296" y="2761488"/>
            <a:ext cx="1920240" cy="228600"/>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Vacuum relevance index</a:t>
            </a:r>
            <a:endParaRPr lang="en-US" sz="1000" dirty="0"/>
          </a:p>
        </p:txBody>
      </p:sp>
      <p:graphicFrame>
        <p:nvGraphicFramePr>
          <p:cNvPr id="60" name="Chart 0" descr=""/>
          <p:cNvGraphicFramePr/>
          <p:nvPr/>
        </p:nvGraphicFramePr>
        <p:xfrm>
          <a:off x="8119872" y="3127248"/>
          <a:ext cx="2743200" cy="1417320"/>
        </p:xfrm>
        <a:graphic xmlns:a="http://schemas.openxmlformats.org/drawingml/2006/main">
          <a:graphicData uri="http://schemas.openxmlformats.org/drawingml/2006/chart">
            <c:chart xmlns:c="http://schemas.openxmlformats.org/drawingml/2006/chart" r:id="rId2"/>
          </a:graphicData>
        </a:graphic>
      </p:graphicFrame>
      <p:sp>
        <p:nvSpPr>
          <p:cNvPr id="61" name="Text 57"/>
          <p:cNvSpPr/>
          <p:nvPr/>
        </p:nvSpPr>
        <p:spPr>
          <a:xfrm>
            <a:off x="8101584" y="4700016"/>
            <a:ext cx="2697480" cy="201168"/>
          </a:xfrm>
          <a:prstGeom prst="rect">
            <a:avLst/>
          </a:prstGeom>
          <a:noFill/>
          <a:ln/>
        </p:spPr>
        <p:txBody>
          <a:bodyPr wrap="square" lIns="0" tIns="0" rIns="0" bIns="0" rtlCol="0" anchor="t">
            <a:normAutofit/>
          </a:bodyPr>
          <a:lstStyle/>
          <a:p>
            <a:pPr algn="l" indent="0" marL="0">
              <a:buNone/>
            </a:pPr>
            <a:r>
              <a:rPr lang="en-US" sz="610" dirty="0">
                <a:solidFill>
                  <a:srgbClr val="687486"/>
                </a:solidFill>
                <a:latin typeface="Aptos" pitchFamily="34" charset="0"/>
                <a:ea typeface="Aptos" pitchFamily="34" charset="-122"/>
                <a:cs typeface="Aptos" pitchFamily="34" charset="-120"/>
              </a:rPr>
              <a:t>Analytical mapping based on process physics and VAT product relevance.</a:t>
            </a:r>
            <a:endParaRPr lang="en-US" sz="610" dirty="0"/>
          </a:p>
        </p:txBody>
      </p:sp>
      <p:sp>
        <p:nvSpPr>
          <p:cNvPr id="62" name="Shape 58"/>
          <p:cNvSpPr/>
          <p:nvPr/>
        </p:nvSpPr>
        <p:spPr>
          <a:xfrm>
            <a:off x="420624" y="6419088"/>
            <a:ext cx="11338560" cy="0"/>
          </a:xfrm>
          <a:prstGeom prst="line">
            <a:avLst/>
          </a:prstGeom>
          <a:noFill/>
          <a:ln w="7620">
            <a:solidFill>
              <a:srgbClr val="D7E2EB"/>
            </a:solidFill>
            <a:prstDash val="solid"/>
            <a:headEnd type="none"/>
            <a:tailEnd type="none"/>
          </a:ln>
        </p:spPr>
      </p:sp>
      <p:sp>
        <p:nvSpPr>
          <p:cNvPr id="63" name="Text 5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ASML, Applied Materials, Lam Research, TEL and KLA company materials; analyst estimates.</a:t>
            </a:r>
            <a:endParaRPr lang="en-US" sz="540" dirty="0"/>
          </a:p>
        </p:txBody>
      </p:sp>
      <p:sp>
        <p:nvSpPr>
          <p:cNvPr id="64" name="Text 6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4</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VACUUM ECONOMICS</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The valve is inexpensive relative to the tool - but a particle, leak or pressure error can destroy wafer yield</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pic>
        <p:nvPicPr>
          <p:cNvPr id="6" name="Image 1" descr="/mnt/data/a_clean_studio_product_photo_render_like_scene_batch_2.png">    </p:cNvPr>
          <p:cNvPicPr>
            <a:picLocks noChangeAspect="1"/>
          </p:cNvPicPr>
          <p:nvPr/>
        </p:nvPicPr>
        <p:blipFill>
          <a:blip r:embed="rId2"/>
          <a:srcRect l="11000" r="11915" t="8000" b="6000"/>
          <a:stretch/>
        </p:blipFill>
        <p:spPr>
          <a:xfrm>
            <a:off x="502920" y="1261872"/>
            <a:ext cx="4480560" cy="3749040"/>
          </a:xfrm>
          <a:prstGeom prst="rect">
            <a:avLst/>
          </a:prstGeom>
        </p:spPr>
      </p:pic>
      <p:sp>
        <p:nvSpPr>
          <p:cNvPr id="7" name="Shape 3"/>
          <p:cNvSpPr/>
          <p:nvPr/>
        </p:nvSpPr>
        <p:spPr>
          <a:xfrm>
            <a:off x="502920" y="1261872"/>
            <a:ext cx="4480560" cy="3749040"/>
          </a:xfrm>
          <a:prstGeom prst="rect">
            <a:avLst>
              <a:gd name="adj" fmla="val 1951"/>
            </a:avLst>
          </a:prstGeom>
          <a:solidFill>
            <a:srgbClr val="071A2E">
              <a:alpha val="12000"/>
            </a:srgbClr>
          </a:solidFill>
          <a:ln w="8890">
            <a:solidFill>
              <a:srgbClr val="071A2E">
                <a:alpha val="0"/>
              </a:srgbClr>
            </a:solidFill>
            <a:prstDash val="solid"/>
          </a:ln>
        </p:spPr>
      </p:sp>
      <p:sp>
        <p:nvSpPr>
          <p:cNvPr id="8" name="Text 4"/>
          <p:cNvSpPr/>
          <p:nvPr/>
        </p:nvSpPr>
        <p:spPr>
          <a:xfrm>
            <a:off x="731520" y="4800600"/>
            <a:ext cx="4069080" cy="329184"/>
          </a:xfrm>
          <a:prstGeom prst="rect">
            <a:avLst/>
          </a:prstGeom>
          <a:noFill/>
          <a:ln/>
        </p:spPr>
        <p:txBody>
          <a:bodyPr wrap="square" lIns="0" tIns="0" rIns="0" bIns="0" rtlCol="0" anchor="t">
            <a:normAutofit/>
          </a:bodyPr>
          <a:lstStyle/>
          <a:p>
            <a:pPr algn="l" indent="0" marL="0">
              <a:buNone/>
            </a:pPr>
            <a:r>
              <a:rPr lang="en-US" sz="1360" b="1" dirty="0">
                <a:solidFill>
                  <a:srgbClr val="17212B"/>
                </a:solidFill>
                <a:latin typeface="Aptos" pitchFamily="34" charset="0"/>
                <a:ea typeface="Aptos" pitchFamily="34" charset="-122"/>
                <a:cs typeface="Aptos" pitchFamily="34" charset="-120"/>
              </a:rPr>
              <a:t>Low component cost, extremely high cost of failure</a:t>
            </a:r>
            <a:endParaRPr lang="en-US" sz="1360" dirty="0"/>
          </a:p>
        </p:txBody>
      </p:sp>
      <p:sp>
        <p:nvSpPr>
          <p:cNvPr id="9" name="Text 5"/>
          <p:cNvSpPr/>
          <p:nvPr/>
        </p:nvSpPr>
        <p:spPr>
          <a:xfrm>
            <a:off x="731520" y="5230368"/>
            <a:ext cx="4023360" cy="365760"/>
          </a:xfrm>
          <a:prstGeom prst="rect">
            <a:avLst/>
          </a:prstGeom>
          <a:noFill/>
          <a:ln/>
        </p:spPr>
        <p:txBody>
          <a:bodyPr wrap="square" lIns="0" tIns="0" rIns="0" bIns="0" rtlCol="0" anchor="t">
            <a:normAutofit/>
          </a:bodyPr>
          <a:lstStyle/>
          <a:p>
            <a:pPr algn="l" indent="0" marL="0">
              <a:buNone/>
            </a:pPr>
            <a:r>
              <a:rPr lang="en-US" sz="820" dirty="0">
                <a:solidFill>
                  <a:srgbClr val="344153"/>
                </a:solidFill>
                <a:latin typeface="Aptos" pitchFamily="34" charset="0"/>
                <a:ea typeface="Aptos" pitchFamily="34" charset="-122"/>
                <a:cs typeface="Aptos" pitchFamily="34" charset="-120"/>
              </a:rPr>
              <a:t>The valve controls the environment in which precise deposition, etch and transfer occur. Failure can create downtime, contamination or yield loss.</a:t>
            </a:r>
            <a:endParaRPr lang="en-US" sz="820" dirty="0"/>
          </a:p>
        </p:txBody>
      </p:sp>
      <p:sp>
        <p:nvSpPr>
          <p:cNvPr id="10" name="Shape 6"/>
          <p:cNvSpPr/>
          <p:nvPr/>
        </p:nvSpPr>
        <p:spPr>
          <a:xfrm>
            <a:off x="5577840" y="1353312"/>
            <a:ext cx="5349240" cy="2468880"/>
          </a:xfrm>
          <a:prstGeom prst="roundRect">
            <a:avLst>
              <a:gd name="adj" fmla="val 2963"/>
            </a:avLst>
          </a:prstGeom>
          <a:solidFill>
            <a:srgbClr val="F7FAFC"/>
          </a:solidFill>
          <a:ln w="8890">
            <a:solidFill>
              <a:srgbClr val="D7E2EB"/>
            </a:solidFill>
            <a:prstDash val="solid"/>
          </a:ln>
        </p:spPr>
      </p:sp>
      <p:sp>
        <p:nvSpPr>
          <p:cNvPr id="11" name="Text 7"/>
          <p:cNvSpPr/>
          <p:nvPr/>
        </p:nvSpPr>
        <p:spPr>
          <a:xfrm>
            <a:off x="5815584" y="1600200"/>
            <a:ext cx="2286000" cy="201168"/>
          </a:xfrm>
          <a:prstGeom prst="rect">
            <a:avLst/>
          </a:prstGeom>
          <a:noFill/>
          <a:ln/>
        </p:spPr>
        <p:txBody>
          <a:bodyPr wrap="square" lIns="0" tIns="0" rIns="0" bIns="0" rtlCol="0" anchor="t">
            <a:normAutofit/>
          </a:bodyPr>
          <a:lstStyle/>
          <a:p>
            <a:pPr algn="l" indent="0" marL="0">
              <a:buNone/>
            </a:pPr>
            <a:r>
              <a:rPr lang="en-US" sz="930" b="1" dirty="0">
                <a:solidFill>
                  <a:srgbClr val="17212B"/>
                </a:solidFill>
                <a:latin typeface="Aptos" pitchFamily="34" charset="0"/>
                <a:ea typeface="Aptos" pitchFamily="34" charset="-122"/>
                <a:cs typeface="Aptos" pitchFamily="34" charset="-120"/>
              </a:rPr>
              <a:t>Simplified process chamber</a:t>
            </a:r>
            <a:endParaRPr lang="en-US" sz="930" dirty="0"/>
          </a:p>
        </p:txBody>
      </p:sp>
      <p:sp>
        <p:nvSpPr>
          <p:cNvPr id="12" name="Shape 8"/>
          <p:cNvSpPr/>
          <p:nvPr/>
        </p:nvSpPr>
        <p:spPr>
          <a:xfrm>
            <a:off x="6126480" y="2121408"/>
            <a:ext cx="1600200" cy="1005840"/>
          </a:xfrm>
          <a:prstGeom prst="roundRect">
            <a:avLst>
              <a:gd name="adj" fmla="val 7273"/>
            </a:avLst>
          </a:prstGeom>
          <a:solidFill>
            <a:srgbClr val="FFFFFF"/>
          </a:solidFill>
          <a:ln w="8890">
            <a:solidFill>
              <a:srgbClr val="8095A8"/>
            </a:solidFill>
            <a:prstDash val="solid"/>
          </a:ln>
        </p:spPr>
      </p:sp>
      <p:sp>
        <p:nvSpPr>
          <p:cNvPr id="13" name="Text 9"/>
          <p:cNvSpPr/>
          <p:nvPr/>
        </p:nvSpPr>
        <p:spPr>
          <a:xfrm>
            <a:off x="6428232" y="2423160"/>
            <a:ext cx="1005840" cy="329184"/>
          </a:xfrm>
          <a:prstGeom prst="rect">
            <a:avLst/>
          </a:prstGeom>
          <a:noFill/>
          <a:ln/>
        </p:spPr>
        <p:txBody>
          <a:bodyPr wrap="square" lIns="0" tIns="0" rIns="0" bIns="0" rtlCol="0" anchor="t">
            <a:normAutofit/>
          </a:bodyPr>
          <a:lstStyle/>
          <a:p>
            <a:pPr algn="ctr" indent="0" marL="0">
              <a:buNone/>
            </a:pPr>
            <a:r>
              <a:rPr lang="en-US" sz="1100" b="1" dirty="0">
                <a:solidFill>
                  <a:srgbClr val="17212B"/>
                </a:solidFill>
                <a:latin typeface="Aptos" pitchFamily="34" charset="0"/>
                <a:ea typeface="Aptos" pitchFamily="34" charset="-122"/>
                <a:cs typeface="Aptos" pitchFamily="34" charset="-120"/>
              </a:rPr>
              <a:t>Process</a:t>
            </a:r>
            <a:endParaRPr lang="en-US" sz="1100" dirty="0"/>
          </a:p>
          <a:p>
            <a:pPr algn="ctr" indent="0" marL="0">
              <a:buNone/>
            </a:pPr>
            <a:r>
              <a:rPr lang="en-US" sz="1100" b="1" dirty="0">
                <a:solidFill>
                  <a:srgbClr val="17212B"/>
                </a:solidFill>
                <a:latin typeface="Aptos" pitchFamily="34" charset="0"/>
                <a:ea typeface="Aptos" pitchFamily="34" charset="-122"/>
                <a:cs typeface="Aptos" pitchFamily="34" charset="-120"/>
              </a:rPr>
              <a:t>chamber</a:t>
            </a:r>
            <a:endParaRPr lang="en-US" sz="1100" dirty="0"/>
          </a:p>
        </p:txBody>
      </p:sp>
      <p:sp>
        <p:nvSpPr>
          <p:cNvPr id="14" name="Shape 10"/>
          <p:cNvSpPr/>
          <p:nvPr/>
        </p:nvSpPr>
        <p:spPr>
          <a:xfrm>
            <a:off x="8119872" y="2404872"/>
            <a:ext cx="1115568" cy="438912"/>
          </a:xfrm>
          <a:prstGeom prst="roundRect">
            <a:avLst>
              <a:gd name="adj" fmla="val 16667"/>
            </a:avLst>
          </a:prstGeom>
          <a:solidFill>
            <a:srgbClr val="199BD7"/>
          </a:solidFill>
          <a:ln w="8890">
            <a:solidFill>
              <a:srgbClr val="199BD7"/>
            </a:solidFill>
            <a:prstDash val="solid"/>
          </a:ln>
        </p:spPr>
      </p:sp>
      <p:sp>
        <p:nvSpPr>
          <p:cNvPr id="15" name="Text 11"/>
          <p:cNvSpPr/>
          <p:nvPr/>
        </p:nvSpPr>
        <p:spPr>
          <a:xfrm>
            <a:off x="8293608" y="2542032"/>
            <a:ext cx="777240" cy="128016"/>
          </a:xfrm>
          <a:prstGeom prst="rect">
            <a:avLst/>
          </a:prstGeom>
          <a:noFill/>
          <a:ln/>
        </p:spPr>
        <p:txBody>
          <a:bodyPr wrap="square" lIns="0" tIns="0" rIns="0" bIns="0" rtlCol="0" anchor="t">
            <a:normAutofit/>
          </a:bodyPr>
          <a:lstStyle/>
          <a:p>
            <a:pPr algn="ctr" indent="0" marL="0">
              <a:buNone/>
            </a:pPr>
            <a:r>
              <a:rPr lang="en-US" sz="670" b="1" dirty="0">
                <a:solidFill>
                  <a:srgbClr val="FFFFFF"/>
                </a:solidFill>
                <a:latin typeface="Aptos" pitchFamily="34" charset="0"/>
                <a:ea typeface="Aptos" pitchFamily="34" charset="-122"/>
                <a:cs typeface="Aptos" pitchFamily="34" charset="-120"/>
              </a:rPr>
              <a:t>VAT valve</a:t>
            </a:r>
            <a:endParaRPr lang="en-US" sz="670" dirty="0"/>
          </a:p>
        </p:txBody>
      </p:sp>
      <p:sp>
        <p:nvSpPr>
          <p:cNvPr id="16" name="Shape 12"/>
          <p:cNvSpPr/>
          <p:nvPr/>
        </p:nvSpPr>
        <p:spPr>
          <a:xfrm>
            <a:off x="9646920" y="2468880"/>
            <a:ext cx="548640" cy="310896"/>
          </a:xfrm>
          <a:prstGeom prst="roundRect">
            <a:avLst>
              <a:gd name="adj" fmla="val 23529"/>
            </a:avLst>
          </a:prstGeom>
          <a:solidFill>
            <a:srgbClr val="9AAABD"/>
          </a:solidFill>
          <a:ln w="8890">
            <a:solidFill>
              <a:srgbClr val="9AAABD"/>
            </a:solidFill>
            <a:prstDash val="solid"/>
          </a:ln>
        </p:spPr>
      </p:sp>
      <p:sp>
        <p:nvSpPr>
          <p:cNvPr id="17" name="Text 13"/>
          <p:cNvSpPr/>
          <p:nvPr/>
        </p:nvSpPr>
        <p:spPr>
          <a:xfrm>
            <a:off x="9573768" y="2852928"/>
            <a:ext cx="713232" cy="146304"/>
          </a:xfrm>
          <a:prstGeom prst="rect">
            <a:avLst/>
          </a:prstGeom>
          <a:noFill/>
          <a:ln/>
        </p:spPr>
        <p:txBody>
          <a:bodyPr wrap="square" lIns="0" tIns="0" rIns="0" bIns="0" rtlCol="0" anchor="t">
            <a:normAutofit/>
          </a:bodyPr>
          <a:lstStyle/>
          <a:p>
            <a:pPr algn="ctr" indent="0" marL="0">
              <a:buNone/>
            </a:pPr>
            <a:r>
              <a:rPr lang="en-US" sz="630" dirty="0">
                <a:solidFill>
                  <a:srgbClr val="687486"/>
                </a:solidFill>
                <a:latin typeface="Aptos" pitchFamily="34" charset="0"/>
                <a:ea typeface="Aptos" pitchFamily="34" charset="-122"/>
                <a:cs typeface="Aptos" pitchFamily="34" charset="-120"/>
              </a:rPr>
              <a:t>Pump</a:t>
            </a:r>
            <a:endParaRPr lang="en-US" sz="630" dirty="0"/>
          </a:p>
        </p:txBody>
      </p:sp>
      <p:sp>
        <p:nvSpPr>
          <p:cNvPr id="18" name="Shape 14"/>
          <p:cNvSpPr/>
          <p:nvPr/>
        </p:nvSpPr>
        <p:spPr>
          <a:xfrm>
            <a:off x="7726680" y="2624328"/>
            <a:ext cx="393192" cy="0"/>
          </a:xfrm>
          <a:prstGeom prst="line">
            <a:avLst/>
          </a:prstGeom>
          <a:noFill/>
          <a:ln w="15240">
            <a:solidFill>
              <a:srgbClr val="199BD7"/>
            </a:solidFill>
            <a:prstDash val="solid"/>
            <a:headEnd type="none"/>
            <a:tailEnd type="triangle"/>
          </a:ln>
        </p:spPr>
      </p:sp>
      <p:sp>
        <p:nvSpPr>
          <p:cNvPr id="19" name="Shape 15"/>
          <p:cNvSpPr/>
          <p:nvPr/>
        </p:nvSpPr>
        <p:spPr>
          <a:xfrm>
            <a:off x="9235440" y="2624328"/>
            <a:ext cx="411480" cy="0"/>
          </a:xfrm>
          <a:prstGeom prst="line">
            <a:avLst/>
          </a:prstGeom>
          <a:noFill/>
          <a:ln w="15240">
            <a:solidFill>
              <a:srgbClr val="199BD7"/>
            </a:solidFill>
            <a:prstDash val="solid"/>
            <a:headEnd type="none"/>
            <a:tailEnd type="triangle"/>
          </a:ln>
        </p:spPr>
      </p:sp>
      <p:sp>
        <p:nvSpPr>
          <p:cNvPr id="20" name="Shape 16"/>
          <p:cNvSpPr/>
          <p:nvPr/>
        </p:nvSpPr>
        <p:spPr>
          <a:xfrm>
            <a:off x="5715000" y="4251960"/>
            <a:ext cx="237744" cy="237744"/>
          </a:xfrm>
          <a:prstGeom prst="roundRect">
            <a:avLst>
              <a:gd name="adj" fmla="val 46154"/>
            </a:avLst>
          </a:prstGeom>
          <a:solidFill>
            <a:srgbClr val="199BD7"/>
          </a:solidFill>
          <a:ln w="8890">
            <a:solidFill>
              <a:srgbClr val="199BD7">
                <a:alpha val="0"/>
              </a:srgbClr>
            </a:solidFill>
            <a:prstDash val="solid"/>
          </a:ln>
        </p:spPr>
      </p:sp>
      <p:sp>
        <p:nvSpPr>
          <p:cNvPr id="21" name="Text 17"/>
          <p:cNvSpPr/>
          <p:nvPr/>
        </p:nvSpPr>
        <p:spPr>
          <a:xfrm>
            <a:off x="5769864" y="4302252"/>
            <a:ext cx="128016" cy="164592"/>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1</a:t>
            </a:r>
            <a:endParaRPr lang="en-US" sz="680" dirty="0"/>
          </a:p>
        </p:txBody>
      </p:sp>
      <p:sp>
        <p:nvSpPr>
          <p:cNvPr id="22" name="Text 18"/>
          <p:cNvSpPr/>
          <p:nvPr/>
        </p:nvSpPr>
        <p:spPr>
          <a:xfrm>
            <a:off x="6035040" y="4288536"/>
            <a:ext cx="4343400" cy="164592"/>
          </a:xfrm>
          <a:prstGeom prst="rect">
            <a:avLst/>
          </a:prstGeom>
          <a:noFill/>
          <a:ln/>
        </p:spPr>
        <p:txBody>
          <a:bodyPr wrap="square" lIns="0" tIns="0" rIns="0" bIns="0" rtlCol="0" anchor="t">
            <a:normAutofit/>
          </a:bodyPr>
          <a:lstStyle/>
          <a:p>
            <a:pPr algn="l" indent="0" marL="0">
              <a:buNone/>
            </a:pPr>
            <a:r>
              <a:rPr lang="en-US" sz="780" dirty="0">
                <a:solidFill>
                  <a:srgbClr val="344153"/>
                </a:solidFill>
                <a:latin typeface="Aptos" pitchFamily="34" charset="0"/>
                <a:ea typeface="Aptos" pitchFamily="34" charset="-122"/>
                <a:cs typeface="Aptos" pitchFamily="34" charset="-120"/>
              </a:rPr>
              <a:t>Remove atmospheric gases and contamination</a:t>
            </a:r>
            <a:endParaRPr lang="en-US" sz="780" dirty="0"/>
          </a:p>
        </p:txBody>
      </p:sp>
      <p:sp>
        <p:nvSpPr>
          <p:cNvPr id="23" name="Shape 19"/>
          <p:cNvSpPr/>
          <p:nvPr/>
        </p:nvSpPr>
        <p:spPr>
          <a:xfrm>
            <a:off x="5715000" y="4663440"/>
            <a:ext cx="237744" cy="237744"/>
          </a:xfrm>
          <a:prstGeom prst="roundRect">
            <a:avLst>
              <a:gd name="adj" fmla="val 46154"/>
            </a:avLst>
          </a:prstGeom>
          <a:solidFill>
            <a:srgbClr val="199BD7"/>
          </a:solidFill>
          <a:ln w="8890">
            <a:solidFill>
              <a:srgbClr val="199BD7">
                <a:alpha val="0"/>
              </a:srgbClr>
            </a:solidFill>
            <a:prstDash val="solid"/>
          </a:ln>
        </p:spPr>
      </p:sp>
      <p:sp>
        <p:nvSpPr>
          <p:cNvPr id="24" name="Text 20"/>
          <p:cNvSpPr/>
          <p:nvPr/>
        </p:nvSpPr>
        <p:spPr>
          <a:xfrm>
            <a:off x="5769864" y="4713732"/>
            <a:ext cx="128016" cy="164592"/>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2</a:t>
            </a:r>
            <a:endParaRPr lang="en-US" sz="680" dirty="0"/>
          </a:p>
        </p:txBody>
      </p:sp>
      <p:sp>
        <p:nvSpPr>
          <p:cNvPr id="25" name="Text 21"/>
          <p:cNvSpPr/>
          <p:nvPr/>
        </p:nvSpPr>
        <p:spPr>
          <a:xfrm>
            <a:off x="6035040" y="4700016"/>
            <a:ext cx="4343400" cy="164592"/>
          </a:xfrm>
          <a:prstGeom prst="rect">
            <a:avLst/>
          </a:prstGeom>
          <a:noFill/>
          <a:ln/>
        </p:spPr>
        <p:txBody>
          <a:bodyPr wrap="square" lIns="0" tIns="0" rIns="0" bIns="0" rtlCol="0" anchor="t">
            <a:normAutofit/>
          </a:bodyPr>
          <a:lstStyle/>
          <a:p>
            <a:pPr algn="l" indent="0" marL="0">
              <a:buNone/>
            </a:pPr>
            <a:r>
              <a:rPr lang="en-US" sz="780" dirty="0">
                <a:solidFill>
                  <a:srgbClr val="344153"/>
                </a:solidFill>
                <a:latin typeface="Aptos" pitchFamily="34" charset="0"/>
                <a:ea typeface="Aptos" pitchFamily="34" charset="-122"/>
                <a:cs typeface="Aptos" pitchFamily="34" charset="-120"/>
              </a:rPr>
              <a:t>Introduce only required process chemistry</a:t>
            </a:r>
            <a:endParaRPr lang="en-US" sz="780" dirty="0"/>
          </a:p>
        </p:txBody>
      </p:sp>
      <p:sp>
        <p:nvSpPr>
          <p:cNvPr id="26" name="Shape 22"/>
          <p:cNvSpPr/>
          <p:nvPr/>
        </p:nvSpPr>
        <p:spPr>
          <a:xfrm>
            <a:off x="5715000" y="5074920"/>
            <a:ext cx="237744" cy="237744"/>
          </a:xfrm>
          <a:prstGeom prst="roundRect">
            <a:avLst>
              <a:gd name="adj" fmla="val 46154"/>
            </a:avLst>
          </a:prstGeom>
          <a:solidFill>
            <a:srgbClr val="199BD7"/>
          </a:solidFill>
          <a:ln w="8890">
            <a:solidFill>
              <a:srgbClr val="199BD7">
                <a:alpha val="0"/>
              </a:srgbClr>
            </a:solidFill>
            <a:prstDash val="solid"/>
          </a:ln>
        </p:spPr>
      </p:sp>
      <p:sp>
        <p:nvSpPr>
          <p:cNvPr id="27" name="Text 23"/>
          <p:cNvSpPr/>
          <p:nvPr/>
        </p:nvSpPr>
        <p:spPr>
          <a:xfrm>
            <a:off x="5769864" y="5125212"/>
            <a:ext cx="128016" cy="164592"/>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3</a:t>
            </a:r>
            <a:endParaRPr lang="en-US" sz="680" dirty="0"/>
          </a:p>
        </p:txBody>
      </p:sp>
      <p:sp>
        <p:nvSpPr>
          <p:cNvPr id="28" name="Text 24"/>
          <p:cNvSpPr/>
          <p:nvPr/>
        </p:nvSpPr>
        <p:spPr>
          <a:xfrm>
            <a:off x="6035040" y="5111496"/>
            <a:ext cx="4343400" cy="164592"/>
          </a:xfrm>
          <a:prstGeom prst="rect">
            <a:avLst/>
          </a:prstGeom>
          <a:noFill/>
          <a:ln/>
        </p:spPr>
        <p:txBody>
          <a:bodyPr wrap="square" lIns="0" tIns="0" rIns="0" bIns="0" rtlCol="0" anchor="t">
            <a:normAutofit/>
          </a:bodyPr>
          <a:lstStyle/>
          <a:p>
            <a:pPr algn="l" indent="0" marL="0">
              <a:buNone/>
            </a:pPr>
            <a:r>
              <a:rPr lang="en-US" sz="780" dirty="0">
                <a:solidFill>
                  <a:srgbClr val="344153"/>
                </a:solidFill>
                <a:latin typeface="Aptos" pitchFamily="34" charset="0"/>
                <a:ea typeface="Aptos" pitchFamily="34" charset="-122"/>
                <a:cs typeface="Aptos" pitchFamily="34" charset="-120"/>
              </a:rPr>
              <a:t>Precisely control chamber pressure</a:t>
            </a:r>
            <a:endParaRPr lang="en-US" sz="780" dirty="0"/>
          </a:p>
        </p:txBody>
      </p:sp>
      <p:sp>
        <p:nvSpPr>
          <p:cNvPr id="29" name="Shape 25"/>
          <p:cNvSpPr/>
          <p:nvPr/>
        </p:nvSpPr>
        <p:spPr>
          <a:xfrm>
            <a:off x="5715000" y="5486400"/>
            <a:ext cx="237744" cy="237744"/>
          </a:xfrm>
          <a:prstGeom prst="roundRect">
            <a:avLst>
              <a:gd name="adj" fmla="val 46154"/>
            </a:avLst>
          </a:prstGeom>
          <a:solidFill>
            <a:srgbClr val="199BD7"/>
          </a:solidFill>
          <a:ln w="8890">
            <a:solidFill>
              <a:srgbClr val="199BD7">
                <a:alpha val="0"/>
              </a:srgbClr>
            </a:solidFill>
            <a:prstDash val="solid"/>
          </a:ln>
        </p:spPr>
      </p:sp>
      <p:sp>
        <p:nvSpPr>
          <p:cNvPr id="30" name="Text 26"/>
          <p:cNvSpPr/>
          <p:nvPr/>
        </p:nvSpPr>
        <p:spPr>
          <a:xfrm>
            <a:off x="5769864" y="5536692"/>
            <a:ext cx="128016" cy="164592"/>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4</a:t>
            </a:r>
            <a:endParaRPr lang="en-US" sz="680" dirty="0"/>
          </a:p>
        </p:txBody>
      </p:sp>
      <p:sp>
        <p:nvSpPr>
          <p:cNvPr id="31" name="Text 27"/>
          <p:cNvSpPr/>
          <p:nvPr/>
        </p:nvSpPr>
        <p:spPr>
          <a:xfrm>
            <a:off x="6035040" y="5522976"/>
            <a:ext cx="4343400" cy="164592"/>
          </a:xfrm>
          <a:prstGeom prst="rect">
            <a:avLst/>
          </a:prstGeom>
          <a:noFill/>
          <a:ln/>
        </p:spPr>
        <p:txBody>
          <a:bodyPr wrap="square" lIns="0" tIns="0" rIns="0" bIns="0" rtlCol="0" anchor="t">
            <a:normAutofit/>
          </a:bodyPr>
          <a:lstStyle/>
          <a:p>
            <a:pPr algn="l" indent="0" marL="0">
              <a:buNone/>
            </a:pPr>
            <a:r>
              <a:rPr lang="en-US" sz="780" dirty="0">
                <a:solidFill>
                  <a:srgbClr val="344153"/>
                </a:solidFill>
                <a:latin typeface="Aptos" pitchFamily="34" charset="0"/>
                <a:ea typeface="Aptos" pitchFamily="34" charset="-122"/>
                <a:cs typeface="Aptos" pitchFamily="34" charset="-120"/>
              </a:rPr>
              <a:t>Prevent cross-contamination between chambers</a:t>
            </a:r>
            <a:endParaRPr lang="en-US" sz="780" dirty="0"/>
          </a:p>
        </p:txBody>
      </p:sp>
      <p:sp>
        <p:nvSpPr>
          <p:cNvPr id="32" name="Shape 28"/>
          <p:cNvSpPr/>
          <p:nvPr/>
        </p:nvSpPr>
        <p:spPr>
          <a:xfrm>
            <a:off x="5577840" y="4590288"/>
            <a:ext cx="5349240" cy="896112"/>
          </a:xfrm>
          <a:prstGeom prst="roundRect">
            <a:avLst>
              <a:gd name="adj" fmla="val 8163"/>
            </a:avLst>
          </a:prstGeom>
          <a:solidFill>
            <a:srgbClr val="FFFFFF"/>
          </a:solidFill>
          <a:ln w="8890">
            <a:solidFill>
              <a:srgbClr val="D7E2EB"/>
            </a:solidFill>
            <a:prstDash val="solid"/>
          </a:ln>
        </p:spPr>
      </p:sp>
      <p:sp>
        <p:nvSpPr>
          <p:cNvPr id="33" name="Text 29"/>
          <p:cNvSpPr/>
          <p:nvPr/>
        </p:nvSpPr>
        <p:spPr>
          <a:xfrm>
            <a:off x="5797296" y="4736592"/>
            <a:ext cx="1143000" cy="146304"/>
          </a:xfrm>
          <a:prstGeom prst="rect">
            <a:avLst/>
          </a:prstGeom>
          <a:noFill/>
          <a:ln/>
        </p:spPr>
        <p:txBody>
          <a:bodyPr wrap="square" lIns="0" tIns="0" rIns="0" bIns="0" rtlCol="0" anchor="t">
            <a:normAutofit/>
          </a:bodyPr>
          <a:lstStyle/>
          <a:p>
            <a:pPr algn="l" indent="0" marL="0">
              <a:buNone/>
            </a:pPr>
            <a:r>
              <a:rPr lang="en-US" sz="680" b="1" dirty="0">
                <a:solidFill>
                  <a:srgbClr val="687486"/>
                </a:solidFill>
                <a:latin typeface="Aptos" pitchFamily="34" charset="0"/>
                <a:ea typeface="Aptos" pitchFamily="34" charset="-122"/>
                <a:cs typeface="Aptos" pitchFamily="34" charset="-120"/>
              </a:rPr>
              <a:t>Qualification path</a:t>
            </a:r>
            <a:endParaRPr lang="en-US" sz="680" dirty="0"/>
          </a:p>
        </p:txBody>
      </p:sp>
      <p:sp>
        <p:nvSpPr>
          <p:cNvPr id="34" name="Shape 30"/>
          <p:cNvSpPr/>
          <p:nvPr/>
        </p:nvSpPr>
        <p:spPr>
          <a:xfrm>
            <a:off x="6492240" y="4663440"/>
            <a:ext cx="804672" cy="256032"/>
          </a:xfrm>
          <a:prstGeom prst="roundRect">
            <a:avLst>
              <a:gd name="adj" fmla="val 28571"/>
            </a:avLst>
          </a:prstGeom>
          <a:solidFill>
            <a:srgbClr val="F7FAFC"/>
          </a:solidFill>
          <a:ln w="8890">
            <a:solidFill>
              <a:srgbClr val="D7E2EB"/>
            </a:solidFill>
            <a:prstDash val="solid"/>
          </a:ln>
        </p:spPr>
      </p:sp>
      <p:sp>
        <p:nvSpPr>
          <p:cNvPr id="35" name="Text 31"/>
          <p:cNvSpPr/>
          <p:nvPr/>
        </p:nvSpPr>
        <p:spPr>
          <a:xfrm>
            <a:off x="6528816" y="4745736"/>
            <a:ext cx="731520" cy="91440"/>
          </a:xfrm>
          <a:prstGeom prst="rect">
            <a:avLst/>
          </a:prstGeom>
          <a:noFill/>
          <a:ln/>
        </p:spPr>
        <p:txBody>
          <a:bodyPr wrap="square" lIns="0" tIns="0" rIns="0" bIns="0" rtlCol="0" anchor="t">
            <a:normAutofit/>
          </a:bodyPr>
          <a:lstStyle/>
          <a:p>
            <a:pPr algn="ctr" indent="0" marL="0">
              <a:buNone/>
            </a:pPr>
            <a:r>
              <a:rPr lang="en-US" sz="470" b="1" dirty="0">
                <a:solidFill>
                  <a:srgbClr val="17212B"/>
                </a:solidFill>
                <a:latin typeface="Aptos" pitchFamily="34" charset="0"/>
                <a:ea typeface="Aptos" pitchFamily="34" charset="-122"/>
                <a:cs typeface="Aptos" pitchFamily="34" charset="-120"/>
              </a:rPr>
              <a:t>OEM architecture</a:t>
            </a:r>
            <a:endParaRPr lang="en-US" sz="470" dirty="0"/>
          </a:p>
        </p:txBody>
      </p:sp>
      <p:sp>
        <p:nvSpPr>
          <p:cNvPr id="36" name="Shape 32"/>
          <p:cNvSpPr/>
          <p:nvPr/>
        </p:nvSpPr>
        <p:spPr>
          <a:xfrm>
            <a:off x="7315200" y="4791456"/>
            <a:ext cx="128016" cy="0"/>
          </a:xfrm>
          <a:prstGeom prst="line">
            <a:avLst/>
          </a:prstGeom>
          <a:noFill/>
          <a:ln w="8890">
            <a:solidFill>
              <a:srgbClr val="199BD7"/>
            </a:solidFill>
            <a:prstDash val="solid"/>
            <a:headEnd type="none"/>
            <a:tailEnd type="triangle"/>
          </a:ln>
        </p:spPr>
      </p:sp>
      <p:sp>
        <p:nvSpPr>
          <p:cNvPr id="37" name="Shape 33"/>
          <p:cNvSpPr/>
          <p:nvPr/>
        </p:nvSpPr>
        <p:spPr>
          <a:xfrm>
            <a:off x="7479792" y="4663440"/>
            <a:ext cx="804672" cy="256032"/>
          </a:xfrm>
          <a:prstGeom prst="roundRect">
            <a:avLst>
              <a:gd name="adj" fmla="val 28571"/>
            </a:avLst>
          </a:prstGeom>
          <a:solidFill>
            <a:srgbClr val="F7FAFC"/>
          </a:solidFill>
          <a:ln w="8890">
            <a:solidFill>
              <a:srgbClr val="D7E2EB"/>
            </a:solidFill>
            <a:prstDash val="solid"/>
          </a:ln>
        </p:spPr>
      </p:sp>
      <p:sp>
        <p:nvSpPr>
          <p:cNvPr id="38" name="Text 34"/>
          <p:cNvSpPr/>
          <p:nvPr/>
        </p:nvSpPr>
        <p:spPr>
          <a:xfrm>
            <a:off x="7516368" y="4745736"/>
            <a:ext cx="731520" cy="91440"/>
          </a:xfrm>
          <a:prstGeom prst="rect">
            <a:avLst/>
          </a:prstGeom>
          <a:noFill/>
          <a:ln/>
        </p:spPr>
        <p:txBody>
          <a:bodyPr wrap="square" lIns="0" tIns="0" rIns="0" bIns="0" rtlCol="0" anchor="t">
            <a:normAutofit/>
          </a:bodyPr>
          <a:lstStyle/>
          <a:p>
            <a:pPr algn="ctr" indent="0" marL="0">
              <a:buNone/>
            </a:pPr>
            <a:r>
              <a:rPr lang="en-US" sz="470" b="1" dirty="0">
                <a:solidFill>
                  <a:srgbClr val="17212B"/>
                </a:solidFill>
                <a:latin typeface="Aptos" pitchFamily="34" charset="0"/>
                <a:ea typeface="Aptos" pitchFamily="34" charset="-122"/>
                <a:cs typeface="Aptos" pitchFamily="34" charset="-120"/>
              </a:rPr>
              <a:t>VAT co-dev</a:t>
            </a:r>
            <a:endParaRPr lang="en-US" sz="470" dirty="0"/>
          </a:p>
        </p:txBody>
      </p:sp>
      <p:sp>
        <p:nvSpPr>
          <p:cNvPr id="39" name="Shape 35"/>
          <p:cNvSpPr/>
          <p:nvPr/>
        </p:nvSpPr>
        <p:spPr>
          <a:xfrm>
            <a:off x="8302752" y="4791456"/>
            <a:ext cx="128016" cy="0"/>
          </a:xfrm>
          <a:prstGeom prst="line">
            <a:avLst/>
          </a:prstGeom>
          <a:noFill/>
          <a:ln w="8890">
            <a:solidFill>
              <a:srgbClr val="199BD7"/>
            </a:solidFill>
            <a:prstDash val="solid"/>
            <a:headEnd type="none"/>
            <a:tailEnd type="triangle"/>
          </a:ln>
        </p:spPr>
      </p:sp>
      <p:sp>
        <p:nvSpPr>
          <p:cNvPr id="40" name="Shape 36"/>
          <p:cNvSpPr/>
          <p:nvPr/>
        </p:nvSpPr>
        <p:spPr>
          <a:xfrm>
            <a:off x="8467344" y="4663440"/>
            <a:ext cx="804672" cy="256032"/>
          </a:xfrm>
          <a:prstGeom prst="roundRect">
            <a:avLst>
              <a:gd name="adj" fmla="val 28571"/>
            </a:avLst>
          </a:prstGeom>
          <a:solidFill>
            <a:srgbClr val="F7FAFC"/>
          </a:solidFill>
          <a:ln w="8890">
            <a:solidFill>
              <a:srgbClr val="D7E2EB"/>
            </a:solidFill>
            <a:prstDash val="solid"/>
          </a:ln>
        </p:spPr>
      </p:sp>
      <p:sp>
        <p:nvSpPr>
          <p:cNvPr id="41" name="Text 37"/>
          <p:cNvSpPr/>
          <p:nvPr/>
        </p:nvSpPr>
        <p:spPr>
          <a:xfrm>
            <a:off x="8503920" y="4745736"/>
            <a:ext cx="731520" cy="91440"/>
          </a:xfrm>
          <a:prstGeom prst="rect">
            <a:avLst/>
          </a:prstGeom>
          <a:noFill/>
          <a:ln/>
        </p:spPr>
        <p:txBody>
          <a:bodyPr wrap="square" lIns="0" tIns="0" rIns="0" bIns="0" rtlCol="0" anchor="t">
            <a:normAutofit/>
          </a:bodyPr>
          <a:lstStyle/>
          <a:p>
            <a:pPr algn="ctr" indent="0" marL="0">
              <a:buNone/>
            </a:pPr>
            <a:r>
              <a:rPr lang="en-US" sz="470" b="1" dirty="0">
                <a:solidFill>
                  <a:srgbClr val="17212B"/>
                </a:solidFill>
                <a:latin typeface="Aptos" pitchFamily="34" charset="0"/>
                <a:ea typeface="Aptos" pitchFamily="34" charset="-122"/>
                <a:cs typeface="Aptos" pitchFamily="34" charset="-120"/>
              </a:rPr>
              <a:t>Chamber qual.</a:t>
            </a:r>
            <a:endParaRPr lang="en-US" sz="470" dirty="0"/>
          </a:p>
        </p:txBody>
      </p:sp>
      <p:sp>
        <p:nvSpPr>
          <p:cNvPr id="42" name="Shape 38"/>
          <p:cNvSpPr/>
          <p:nvPr/>
        </p:nvSpPr>
        <p:spPr>
          <a:xfrm>
            <a:off x="9290304" y="4791456"/>
            <a:ext cx="128016" cy="0"/>
          </a:xfrm>
          <a:prstGeom prst="line">
            <a:avLst/>
          </a:prstGeom>
          <a:noFill/>
          <a:ln w="8890">
            <a:solidFill>
              <a:srgbClr val="199BD7"/>
            </a:solidFill>
            <a:prstDash val="solid"/>
            <a:headEnd type="none"/>
            <a:tailEnd type="triangle"/>
          </a:ln>
        </p:spPr>
      </p:sp>
      <p:sp>
        <p:nvSpPr>
          <p:cNvPr id="43" name="Shape 39"/>
          <p:cNvSpPr/>
          <p:nvPr/>
        </p:nvSpPr>
        <p:spPr>
          <a:xfrm>
            <a:off x="9454896" y="4663440"/>
            <a:ext cx="804672" cy="256032"/>
          </a:xfrm>
          <a:prstGeom prst="roundRect">
            <a:avLst>
              <a:gd name="adj" fmla="val 28571"/>
            </a:avLst>
          </a:prstGeom>
          <a:solidFill>
            <a:srgbClr val="EAF7FD"/>
          </a:solidFill>
          <a:ln w="8890">
            <a:solidFill>
              <a:srgbClr val="199BD7"/>
            </a:solidFill>
            <a:prstDash val="solid"/>
          </a:ln>
        </p:spPr>
      </p:sp>
      <p:sp>
        <p:nvSpPr>
          <p:cNvPr id="44" name="Text 40"/>
          <p:cNvSpPr/>
          <p:nvPr/>
        </p:nvSpPr>
        <p:spPr>
          <a:xfrm>
            <a:off x="9491472" y="4745736"/>
            <a:ext cx="731520" cy="91440"/>
          </a:xfrm>
          <a:prstGeom prst="rect">
            <a:avLst/>
          </a:prstGeom>
          <a:noFill/>
          <a:ln/>
        </p:spPr>
        <p:txBody>
          <a:bodyPr wrap="square" lIns="0" tIns="0" rIns="0" bIns="0" rtlCol="0" anchor="t">
            <a:normAutofit/>
          </a:bodyPr>
          <a:lstStyle/>
          <a:p>
            <a:pPr algn="ctr" indent="0" marL="0">
              <a:buNone/>
            </a:pPr>
            <a:r>
              <a:rPr lang="en-US" sz="470" b="1" dirty="0">
                <a:solidFill>
                  <a:srgbClr val="199BD7"/>
                </a:solidFill>
                <a:latin typeface="Aptos" pitchFamily="34" charset="0"/>
                <a:ea typeface="Aptos" pitchFamily="34" charset="-122"/>
                <a:cs typeface="Aptos" pitchFamily="34" charset="-120"/>
              </a:rPr>
              <a:t>Spec-in / volume</a:t>
            </a:r>
            <a:endParaRPr lang="en-US" sz="470" dirty="0"/>
          </a:p>
        </p:txBody>
      </p:sp>
      <p:sp>
        <p:nvSpPr>
          <p:cNvPr id="45" name="Text 41"/>
          <p:cNvSpPr/>
          <p:nvPr/>
        </p:nvSpPr>
        <p:spPr>
          <a:xfrm>
            <a:off x="5797296" y="5166360"/>
            <a:ext cx="4754880" cy="164592"/>
          </a:xfrm>
          <a:prstGeom prst="rect">
            <a:avLst/>
          </a:prstGeom>
          <a:noFill/>
          <a:ln/>
        </p:spPr>
        <p:txBody>
          <a:bodyPr wrap="square" lIns="0" tIns="0" rIns="0" bIns="0" rtlCol="0" anchor="t">
            <a:normAutofit/>
          </a:bodyPr>
          <a:lstStyle/>
          <a:p>
            <a:pPr algn="l" indent="0" marL="0">
              <a:buNone/>
            </a:pPr>
            <a:r>
              <a:rPr lang="en-US" sz="700" b="1" dirty="0">
                <a:solidFill>
                  <a:srgbClr val="199BD7"/>
                </a:solidFill>
                <a:latin typeface="Aptos" pitchFamily="34" charset="0"/>
                <a:ea typeface="Aptos" pitchFamily="34" charset="-122"/>
                <a:cs typeface="Aptos" pitchFamily="34" charset="-120"/>
              </a:rPr>
              <a:t>Once qualified, replacement requires redesign, retesting and customer approval for limited component-cost savings.</a:t>
            </a:r>
            <a:endParaRPr lang="en-US" sz="700" dirty="0"/>
          </a:p>
        </p:txBody>
      </p:sp>
      <p:sp>
        <p:nvSpPr>
          <p:cNvPr id="46" name="Shape 42"/>
          <p:cNvSpPr/>
          <p:nvPr/>
        </p:nvSpPr>
        <p:spPr>
          <a:xfrm>
            <a:off x="420624" y="6419088"/>
            <a:ext cx="11338560" cy="0"/>
          </a:xfrm>
          <a:prstGeom prst="line">
            <a:avLst/>
          </a:prstGeom>
          <a:noFill/>
          <a:ln w="7620">
            <a:solidFill>
              <a:srgbClr val="D7E2EB"/>
            </a:solidFill>
            <a:prstDash val="solid"/>
            <a:headEnd type="none"/>
            <a:tailEnd type="none"/>
          </a:ln>
        </p:spPr>
      </p:sp>
      <p:sp>
        <p:nvSpPr>
          <p:cNvPr id="47" name="Text 43"/>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VAT product materials; analyst estimates. Valve image is AI-generated technical rendering used for illustration.</a:t>
            </a:r>
            <a:endParaRPr lang="en-US" sz="540" dirty="0"/>
          </a:p>
        </p:txBody>
      </p:sp>
      <p:sp>
        <p:nvSpPr>
          <p:cNvPr id="48" name="Text 44"/>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5</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MARKET STRUCTURE</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WFE remains cyclical, but AI, HBM and leading-edge logic increase the vacuum intensity of equipment spend</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566928" y="1280160"/>
            <a:ext cx="3822192" cy="2331720"/>
          </a:xfrm>
          <a:prstGeom prst="roundRect">
            <a:avLst>
              <a:gd name="adj" fmla="val 3137"/>
            </a:avLst>
          </a:prstGeom>
          <a:solidFill>
            <a:srgbClr val="FFFFFF"/>
          </a:solidFill>
          <a:ln w="8890">
            <a:solidFill>
              <a:srgbClr val="D7E2EB"/>
            </a:solidFill>
            <a:prstDash val="solid"/>
          </a:ln>
        </p:spPr>
      </p:sp>
      <p:sp>
        <p:nvSpPr>
          <p:cNvPr id="7" name="Text 4"/>
          <p:cNvSpPr/>
          <p:nvPr/>
        </p:nvSpPr>
        <p:spPr>
          <a:xfrm>
            <a:off x="804672" y="1517904"/>
            <a:ext cx="2148840" cy="201168"/>
          </a:xfrm>
          <a:prstGeom prst="rect">
            <a:avLst/>
          </a:prstGeom>
          <a:noFill/>
          <a:ln/>
        </p:spPr>
        <p:txBody>
          <a:bodyPr wrap="square" lIns="0" tIns="0" rIns="0" bIns="0" rtlCol="0" anchor="t">
            <a:normAutofit/>
          </a:bodyPr>
          <a:lstStyle/>
          <a:p>
            <a:pPr algn="l" indent="0" marL="0">
              <a:buNone/>
            </a:pPr>
            <a:r>
              <a:rPr lang="en-US" sz="950" b="1" dirty="0">
                <a:solidFill>
                  <a:srgbClr val="17212B"/>
                </a:solidFill>
                <a:latin typeface="Aptos" pitchFamily="34" charset="0"/>
                <a:ea typeface="Aptos" pitchFamily="34" charset="-122"/>
                <a:cs typeface="Aptos" pitchFamily="34" charset="-120"/>
              </a:rPr>
              <a:t>Wafer-fab equipment spending</a:t>
            </a:r>
            <a:endParaRPr lang="en-US" sz="950" dirty="0"/>
          </a:p>
        </p:txBody>
      </p:sp>
      <p:graphicFrame>
        <p:nvGraphicFramePr>
          <p:cNvPr id="8" name="Chart 0" descr=""/>
          <p:cNvGraphicFramePr/>
          <p:nvPr/>
        </p:nvGraphicFramePr>
        <p:xfrm>
          <a:off x="841248" y="1901952"/>
          <a:ext cx="2971800" cy="1298448"/>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960120" y="3264408"/>
            <a:ext cx="2606040" cy="146304"/>
          </a:xfrm>
          <a:prstGeom prst="rect">
            <a:avLst/>
          </a:prstGeom>
          <a:noFill/>
          <a:ln/>
        </p:spPr>
        <p:txBody>
          <a:bodyPr wrap="square" lIns="0" tIns="0" rIns="0" bIns="0" rtlCol="0" anchor="t">
            <a:normAutofit/>
          </a:bodyPr>
          <a:lstStyle/>
          <a:p>
            <a:pPr algn="ctr" indent="0" marL="0">
              <a:buNone/>
            </a:pPr>
            <a:r>
              <a:rPr lang="en-US" sz="620" dirty="0">
                <a:solidFill>
                  <a:srgbClr val="687486"/>
                </a:solidFill>
                <a:latin typeface="Aptos" pitchFamily="34" charset="0"/>
                <a:ea typeface="Aptos" pitchFamily="34" charset="-122"/>
                <a:cs typeface="Aptos" pitchFamily="34" charset="-120"/>
              </a:rPr>
              <a:t>US$bn; 2026E approx. 20%+ growth</a:t>
            </a:r>
            <a:endParaRPr lang="en-US" sz="620" dirty="0"/>
          </a:p>
        </p:txBody>
      </p:sp>
      <p:sp>
        <p:nvSpPr>
          <p:cNvPr id="10" name="Shape 6"/>
          <p:cNvSpPr/>
          <p:nvPr/>
        </p:nvSpPr>
        <p:spPr>
          <a:xfrm>
            <a:off x="4617720" y="1280160"/>
            <a:ext cx="6812280" cy="2331720"/>
          </a:xfrm>
          <a:prstGeom prst="roundRect">
            <a:avLst>
              <a:gd name="adj" fmla="val 3137"/>
            </a:avLst>
          </a:prstGeom>
          <a:solidFill>
            <a:srgbClr val="F7FAFC"/>
          </a:solidFill>
          <a:ln w="8890">
            <a:solidFill>
              <a:srgbClr val="D7E2EB"/>
            </a:solidFill>
            <a:prstDash val="solid"/>
          </a:ln>
        </p:spPr>
      </p:sp>
      <p:sp>
        <p:nvSpPr>
          <p:cNvPr id="11" name="Text 7"/>
          <p:cNvSpPr/>
          <p:nvPr/>
        </p:nvSpPr>
        <p:spPr>
          <a:xfrm>
            <a:off x="4892040" y="1554480"/>
            <a:ext cx="6172200" cy="274320"/>
          </a:xfrm>
          <a:prstGeom prst="rect">
            <a:avLst/>
          </a:prstGeom>
          <a:noFill/>
          <a:ln/>
        </p:spPr>
        <p:txBody>
          <a:bodyPr wrap="square" lIns="0" tIns="0" rIns="0" bIns="0" rtlCol="0" anchor="t">
            <a:normAutofit/>
          </a:bodyPr>
          <a:lstStyle/>
          <a:p>
            <a:pPr algn="l" indent="0" marL="0">
              <a:buNone/>
            </a:pPr>
            <a:r>
              <a:rPr lang="en-US" sz="1250" b="1" dirty="0">
                <a:solidFill>
                  <a:srgbClr val="17212B"/>
                </a:solidFill>
                <a:latin typeface="Aptos" pitchFamily="34" charset="0"/>
                <a:ea typeface="Aptos" pitchFamily="34" charset="-122"/>
                <a:cs typeface="Aptos" pitchFamily="34" charset="-120"/>
              </a:rPr>
              <a:t>VAT semiconductor revenue = WFE x vacuum intensity x VAT share x VAT content per tool</a:t>
            </a:r>
            <a:endParaRPr lang="en-US" sz="1250" dirty="0"/>
          </a:p>
        </p:txBody>
      </p:sp>
      <p:sp>
        <p:nvSpPr>
          <p:cNvPr id="12" name="Shape 8"/>
          <p:cNvSpPr/>
          <p:nvPr/>
        </p:nvSpPr>
        <p:spPr>
          <a:xfrm>
            <a:off x="5010912" y="2148840"/>
            <a:ext cx="969264" cy="640080"/>
          </a:xfrm>
          <a:prstGeom prst="roundRect">
            <a:avLst>
              <a:gd name="adj" fmla="val 11429"/>
            </a:avLst>
          </a:prstGeom>
          <a:solidFill>
            <a:srgbClr val="FFFFFF"/>
          </a:solidFill>
          <a:ln w="8890">
            <a:solidFill>
              <a:srgbClr val="D7E2EB"/>
            </a:solidFill>
            <a:prstDash val="solid"/>
          </a:ln>
        </p:spPr>
      </p:sp>
      <p:sp>
        <p:nvSpPr>
          <p:cNvPr id="13" name="Text 9"/>
          <p:cNvSpPr/>
          <p:nvPr/>
        </p:nvSpPr>
        <p:spPr>
          <a:xfrm>
            <a:off x="5065776" y="2267712"/>
            <a:ext cx="859536" cy="182880"/>
          </a:xfrm>
          <a:prstGeom prst="rect">
            <a:avLst/>
          </a:prstGeom>
          <a:noFill/>
          <a:ln/>
        </p:spPr>
        <p:txBody>
          <a:bodyPr wrap="square" lIns="0" tIns="0" rIns="0" bIns="0" rtlCol="0" anchor="t">
            <a:normAutofit/>
          </a:bodyPr>
          <a:lstStyle/>
          <a:p>
            <a:pPr algn="ctr" indent="0" marL="0">
              <a:buNone/>
            </a:pPr>
            <a:r>
              <a:rPr lang="en-US" sz="680" b="1" dirty="0">
                <a:solidFill>
                  <a:srgbClr val="17212B"/>
                </a:solidFill>
                <a:latin typeface="Aptos" pitchFamily="34" charset="0"/>
                <a:ea typeface="Aptos" pitchFamily="34" charset="-122"/>
                <a:cs typeface="Aptos" pitchFamily="34" charset="-120"/>
              </a:rPr>
              <a:t>WFE</a:t>
            </a:r>
            <a:endParaRPr lang="en-US" sz="680" dirty="0"/>
          </a:p>
        </p:txBody>
      </p:sp>
      <p:sp>
        <p:nvSpPr>
          <p:cNvPr id="14" name="Text 10"/>
          <p:cNvSpPr/>
          <p:nvPr/>
        </p:nvSpPr>
        <p:spPr>
          <a:xfrm>
            <a:off x="5065776" y="2496312"/>
            <a:ext cx="859536" cy="146304"/>
          </a:xfrm>
          <a:prstGeom prst="rect">
            <a:avLst/>
          </a:prstGeom>
          <a:noFill/>
          <a:ln/>
        </p:spPr>
        <p:txBody>
          <a:bodyPr wrap="square" lIns="0" tIns="0" rIns="0" bIns="0" rtlCol="0" anchor="t">
            <a:normAutofit/>
          </a:bodyPr>
          <a:lstStyle/>
          <a:p>
            <a:pPr algn="ctr" indent="0" marL="0">
              <a:buNone/>
            </a:pPr>
            <a:r>
              <a:rPr lang="en-US" sz="510" dirty="0">
                <a:solidFill>
                  <a:srgbClr val="687486"/>
                </a:solidFill>
                <a:latin typeface="Aptos" pitchFamily="34" charset="0"/>
                <a:ea typeface="Aptos" pitchFamily="34" charset="-122"/>
                <a:cs typeface="Aptos" pitchFamily="34" charset="-120"/>
              </a:rPr>
              <a:t>market capex</a:t>
            </a:r>
            <a:endParaRPr lang="en-US" sz="510" dirty="0"/>
          </a:p>
        </p:txBody>
      </p:sp>
      <p:sp>
        <p:nvSpPr>
          <p:cNvPr id="15" name="Text 11"/>
          <p:cNvSpPr/>
          <p:nvPr/>
        </p:nvSpPr>
        <p:spPr>
          <a:xfrm>
            <a:off x="6035040" y="2331720"/>
            <a:ext cx="109728" cy="137160"/>
          </a:xfrm>
          <a:prstGeom prst="rect">
            <a:avLst/>
          </a:prstGeom>
          <a:noFill/>
          <a:ln/>
        </p:spPr>
        <p:txBody>
          <a:bodyPr wrap="square" lIns="0" tIns="0" rIns="0" bIns="0" rtlCol="0" anchor="t">
            <a:normAutofit/>
          </a:bodyPr>
          <a:lstStyle/>
          <a:p>
            <a:pPr algn="l" indent="0" marL="0">
              <a:buNone/>
            </a:pPr>
            <a:r>
              <a:rPr lang="en-US" sz="800" b="1" dirty="0">
                <a:solidFill>
                  <a:srgbClr val="687486"/>
                </a:solidFill>
                <a:latin typeface="Aptos" pitchFamily="34" charset="0"/>
                <a:ea typeface="Aptos" pitchFamily="34" charset="-122"/>
                <a:cs typeface="Aptos" pitchFamily="34" charset="-120"/>
              </a:rPr>
              <a:t>+</a:t>
            </a:r>
            <a:endParaRPr lang="en-US" sz="800" dirty="0"/>
          </a:p>
        </p:txBody>
      </p:sp>
      <p:sp>
        <p:nvSpPr>
          <p:cNvPr id="16" name="Shape 12"/>
          <p:cNvSpPr/>
          <p:nvPr/>
        </p:nvSpPr>
        <p:spPr>
          <a:xfrm>
            <a:off x="6181344" y="2148840"/>
            <a:ext cx="969264" cy="640080"/>
          </a:xfrm>
          <a:prstGeom prst="roundRect">
            <a:avLst>
              <a:gd name="adj" fmla="val 11429"/>
            </a:avLst>
          </a:prstGeom>
          <a:solidFill>
            <a:srgbClr val="EAF7FD"/>
          </a:solidFill>
          <a:ln w="8890">
            <a:solidFill>
              <a:srgbClr val="199BD7"/>
            </a:solidFill>
            <a:prstDash val="solid"/>
          </a:ln>
        </p:spPr>
      </p:sp>
      <p:sp>
        <p:nvSpPr>
          <p:cNvPr id="17" name="Text 13"/>
          <p:cNvSpPr/>
          <p:nvPr/>
        </p:nvSpPr>
        <p:spPr>
          <a:xfrm>
            <a:off x="6236208" y="2267712"/>
            <a:ext cx="859536" cy="182880"/>
          </a:xfrm>
          <a:prstGeom prst="rect">
            <a:avLst/>
          </a:prstGeom>
          <a:noFill/>
          <a:ln/>
        </p:spPr>
        <p:txBody>
          <a:bodyPr wrap="square" lIns="0" tIns="0" rIns="0" bIns="0" rtlCol="0" anchor="t">
            <a:normAutofit/>
          </a:bodyPr>
          <a:lstStyle/>
          <a:p>
            <a:pPr algn="ctr" indent="0" marL="0">
              <a:buNone/>
            </a:pPr>
            <a:r>
              <a:rPr lang="en-US" sz="680" b="1" dirty="0">
                <a:solidFill>
                  <a:srgbClr val="199BD7"/>
                </a:solidFill>
                <a:latin typeface="Aptos" pitchFamily="34" charset="0"/>
                <a:ea typeface="Aptos" pitchFamily="34" charset="-122"/>
                <a:cs typeface="Aptos" pitchFamily="34" charset="-120"/>
              </a:rPr>
              <a:t>Vacuum</a:t>
            </a:r>
            <a:endParaRPr lang="en-US" sz="680" dirty="0"/>
          </a:p>
          <a:p>
            <a:pPr algn="ctr" indent="0" marL="0">
              <a:buNone/>
            </a:pPr>
            <a:r>
              <a:rPr lang="en-US" sz="680" b="1" dirty="0">
                <a:solidFill>
                  <a:srgbClr val="199BD7"/>
                </a:solidFill>
                <a:latin typeface="Aptos" pitchFamily="34" charset="0"/>
                <a:ea typeface="Aptos" pitchFamily="34" charset="-122"/>
                <a:cs typeface="Aptos" pitchFamily="34" charset="-120"/>
              </a:rPr>
              <a:t>intensity</a:t>
            </a:r>
            <a:endParaRPr lang="en-US" sz="680" dirty="0"/>
          </a:p>
        </p:txBody>
      </p:sp>
      <p:sp>
        <p:nvSpPr>
          <p:cNvPr id="18" name="Text 14"/>
          <p:cNvSpPr/>
          <p:nvPr/>
        </p:nvSpPr>
        <p:spPr>
          <a:xfrm>
            <a:off x="6236208" y="2496312"/>
            <a:ext cx="859536" cy="146304"/>
          </a:xfrm>
          <a:prstGeom prst="rect">
            <a:avLst/>
          </a:prstGeom>
          <a:noFill/>
          <a:ln/>
        </p:spPr>
        <p:txBody>
          <a:bodyPr wrap="square" lIns="0" tIns="0" rIns="0" bIns="0" rtlCol="0" anchor="t">
            <a:normAutofit/>
          </a:bodyPr>
          <a:lstStyle/>
          <a:p>
            <a:pPr algn="ctr" indent="0" marL="0">
              <a:buNone/>
            </a:pPr>
            <a:r>
              <a:rPr lang="en-US" sz="510" dirty="0">
                <a:solidFill>
                  <a:srgbClr val="687486"/>
                </a:solidFill>
                <a:latin typeface="Aptos" pitchFamily="34" charset="0"/>
                <a:ea typeface="Aptos" pitchFamily="34" charset="-122"/>
                <a:cs typeface="Aptos" pitchFamily="34" charset="-120"/>
              </a:rPr>
              <a:t>process complexity</a:t>
            </a:r>
            <a:endParaRPr lang="en-US" sz="510" dirty="0"/>
          </a:p>
        </p:txBody>
      </p:sp>
      <p:sp>
        <p:nvSpPr>
          <p:cNvPr id="19" name="Text 15"/>
          <p:cNvSpPr/>
          <p:nvPr/>
        </p:nvSpPr>
        <p:spPr>
          <a:xfrm>
            <a:off x="7205472" y="2331720"/>
            <a:ext cx="109728" cy="137160"/>
          </a:xfrm>
          <a:prstGeom prst="rect">
            <a:avLst/>
          </a:prstGeom>
          <a:noFill/>
          <a:ln/>
        </p:spPr>
        <p:txBody>
          <a:bodyPr wrap="square" lIns="0" tIns="0" rIns="0" bIns="0" rtlCol="0" anchor="t">
            <a:normAutofit/>
          </a:bodyPr>
          <a:lstStyle/>
          <a:p>
            <a:pPr algn="l" indent="0" marL="0">
              <a:buNone/>
            </a:pPr>
            <a:r>
              <a:rPr lang="en-US" sz="800" b="1" dirty="0">
                <a:solidFill>
                  <a:srgbClr val="687486"/>
                </a:solidFill>
                <a:latin typeface="Aptos" pitchFamily="34" charset="0"/>
                <a:ea typeface="Aptos" pitchFamily="34" charset="-122"/>
                <a:cs typeface="Aptos" pitchFamily="34" charset="-120"/>
              </a:rPr>
              <a:t>+</a:t>
            </a:r>
            <a:endParaRPr lang="en-US" sz="800" dirty="0"/>
          </a:p>
        </p:txBody>
      </p:sp>
      <p:sp>
        <p:nvSpPr>
          <p:cNvPr id="20" name="Shape 16"/>
          <p:cNvSpPr/>
          <p:nvPr/>
        </p:nvSpPr>
        <p:spPr>
          <a:xfrm>
            <a:off x="7351776" y="2148840"/>
            <a:ext cx="969264" cy="640080"/>
          </a:xfrm>
          <a:prstGeom prst="roundRect">
            <a:avLst>
              <a:gd name="adj" fmla="val 11429"/>
            </a:avLst>
          </a:prstGeom>
          <a:solidFill>
            <a:srgbClr val="FFFFFF"/>
          </a:solidFill>
          <a:ln w="8890">
            <a:solidFill>
              <a:srgbClr val="D7E2EB"/>
            </a:solidFill>
            <a:prstDash val="solid"/>
          </a:ln>
        </p:spPr>
      </p:sp>
      <p:sp>
        <p:nvSpPr>
          <p:cNvPr id="21" name="Text 17"/>
          <p:cNvSpPr/>
          <p:nvPr/>
        </p:nvSpPr>
        <p:spPr>
          <a:xfrm>
            <a:off x="7406640" y="2267712"/>
            <a:ext cx="859536" cy="182880"/>
          </a:xfrm>
          <a:prstGeom prst="rect">
            <a:avLst/>
          </a:prstGeom>
          <a:noFill/>
          <a:ln/>
        </p:spPr>
        <p:txBody>
          <a:bodyPr wrap="square" lIns="0" tIns="0" rIns="0" bIns="0" rtlCol="0" anchor="t">
            <a:normAutofit/>
          </a:bodyPr>
          <a:lstStyle/>
          <a:p>
            <a:pPr algn="ctr" indent="0" marL="0">
              <a:buNone/>
            </a:pPr>
            <a:r>
              <a:rPr lang="en-US" sz="680" b="1" dirty="0">
                <a:solidFill>
                  <a:srgbClr val="17212B"/>
                </a:solidFill>
                <a:latin typeface="Aptos" pitchFamily="34" charset="0"/>
                <a:ea typeface="Aptos" pitchFamily="34" charset="-122"/>
                <a:cs typeface="Aptos" pitchFamily="34" charset="-120"/>
              </a:rPr>
              <a:t>VAT share</a:t>
            </a:r>
            <a:endParaRPr lang="en-US" sz="680" dirty="0"/>
          </a:p>
        </p:txBody>
      </p:sp>
      <p:sp>
        <p:nvSpPr>
          <p:cNvPr id="22" name="Text 18"/>
          <p:cNvSpPr/>
          <p:nvPr/>
        </p:nvSpPr>
        <p:spPr>
          <a:xfrm>
            <a:off x="7406640" y="2496312"/>
            <a:ext cx="859536" cy="146304"/>
          </a:xfrm>
          <a:prstGeom prst="rect">
            <a:avLst/>
          </a:prstGeom>
          <a:noFill/>
          <a:ln/>
        </p:spPr>
        <p:txBody>
          <a:bodyPr wrap="square" lIns="0" tIns="0" rIns="0" bIns="0" rtlCol="0" anchor="t">
            <a:normAutofit/>
          </a:bodyPr>
          <a:lstStyle/>
          <a:p>
            <a:pPr algn="ctr" indent="0" marL="0">
              <a:buNone/>
            </a:pPr>
            <a:r>
              <a:rPr lang="en-US" sz="510" dirty="0">
                <a:solidFill>
                  <a:srgbClr val="687486"/>
                </a:solidFill>
                <a:latin typeface="Aptos" pitchFamily="34" charset="0"/>
                <a:ea typeface="Aptos" pitchFamily="34" charset="-122"/>
                <a:cs typeface="Aptos" pitchFamily="34" charset="-120"/>
              </a:rPr>
              <a:t>spec wins</a:t>
            </a:r>
            <a:endParaRPr lang="en-US" sz="510" dirty="0"/>
          </a:p>
        </p:txBody>
      </p:sp>
      <p:sp>
        <p:nvSpPr>
          <p:cNvPr id="23" name="Text 19"/>
          <p:cNvSpPr/>
          <p:nvPr/>
        </p:nvSpPr>
        <p:spPr>
          <a:xfrm>
            <a:off x="8375904" y="2331720"/>
            <a:ext cx="109728" cy="137160"/>
          </a:xfrm>
          <a:prstGeom prst="rect">
            <a:avLst/>
          </a:prstGeom>
          <a:noFill/>
          <a:ln/>
        </p:spPr>
        <p:txBody>
          <a:bodyPr wrap="square" lIns="0" tIns="0" rIns="0" bIns="0" rtlCol="0" anchor="t">
            <a:normAutofit/>
          </a:bodyPr>
          <a:lstStyle/>
          <a:p>
            <a:pPr algn="l" indent="0" marL="0">
              <a:buNone/>
            </a:pPr>
            <a:r>
              <a:rPr lang="en-US" sz="800" b="1" dirty="0">
                <a:solidFill>
                  <a:srgbClr val="687486"/>
                </a:solidFill>
                <a:latin typeface="Aptos" pitchFamily="34" charset="0"/>
                <a:ea typeface="Aptos" pitchFamily="34" charset="-122"/>
                <a:cs typeface="Aptos" pitchFamily="34" charset="-120"/>
              </a:rPr>
              <a:t>+</a:t>
            </a:r>
            <a:endParaRPr lang="en-US" sz="800" dirty="0"/>
          </a:p>
        </p:txBody>
      </p:sp>
      <p:sp>
        <p:nvSpPr>
          <p:cNvPr id="24" name="Shape 20"/>
          <p:cNvSpPr/>
          <p:nvPr/>
        </p:nvSpPr>
        <p:spPr>
          <a:xfrm>
            <a:off x="8522208" y="2148840"/>
            <a:ext cx="969264" cy="640080"/>
          </a:xfrm>
          <a:prstGeom prst="roundRect">
            <a:avLst>
              <a:gd name="adj" fmla="val 11429"/>
            </a:avLst>
          </a:prstGeom>
          <a:solidFill>
            <a:srgbClr val="FFFFFF"/>
          </a:solidFill>
          <a:ln w="8890">
            <a:solidFill>
              <a:srgbClr val="D7E2EB"/>
            </a:solidFill>
            <a:prstDash val="solid"/>
          </a:ln>
        </p:spPr>
      </p:sp>
      <p:sp>
        <p:nvSpPr>
          <p:cNvPr id="25" name="Text 21"/>
          <p:cNvSpPr/>
          <p:nvPr/>
        </p:nvSpPr>
        <p:spPr>
          <a:xfrm>
            <a:off x="8577072" y="2267712"/>
            <a:ext cx="859536" cy="182880"/>
          </a:xfrm>
          <a:prstGeom prst="rect">
            <a:avLst/>
          </a:prstGeom>
          <a:noFill/>
          <a:ln/>
        </p:spPr>
        <p:txBody>
          <a:bodyPr wrap="square" lIns="0" tIns="0" rIns="0" bIns="0" rtlCol="0" anchor="t">
            <a:normAutofit/>
          </a:bodyPr>
          <a:lstStyle/>
          <a:p>
            <a:pPr algn="ctr" indent="0" marL="0">
              <a:buNone/>
            </a:pPr>
            <a:r>
              <a:rPr lang="en-US" sz="680" b="1" dirty="0">
                <a:solidFill>
                  <a:srgbClr val="17212B"/>
                </a:solidFill>
                <a:latin typeface="Aptos" pitchFamily="34" charset="0"/>
                <a:ea typeface="Aptos" pitchFamily="34" charset="-122"/>
                <a:cs typeface="Aptos" pitchFamily="34" charset="-120"/>
              </a:rPr>
              <a:t>Content</a:t>
            </a:r>
            <a:endParaRPr lang="en-US" sz="680" dirty="0"/>
          </a:p>
          <a:p>
            <a:pPr algn="ctr" indent="0" marL="0">
              <a:buNone/>
            </a:pPr>
            <a:r>
              <a:rPr lang="en-US" sz="680" b="1" dirty="0">
                <a:solidFill>
                  <a:srgbClr val="17212B"/>
                </a:solidFill>
                <a:latin typeface="Aptos" pitchFamily="34" charset="0"/>
                <a:ea typeface="Aptos" pitchFamily="34" charset="-122"/>
                <a:cs typeface="Aptos" pitchFamily="34" charset="-120"/>
              </a:rPr>
              <a:t>per tool</a:t>
            </a:r>
            <a:endParaRPr lang="en-US" sz="680" dirty="0"/>
          </a:p>
        </p:txBody>
      </p:sp>
      <p:sp>
        <p:nvSpPr>
          <p:cNvPr id="26" name="Text 22"/>
          <p:cNvSpPr/>
          <p:nvPr/>
        </p:nvSpPr>
        <p:spPr>
          <a:xfrm>
            <a:off x="8577072" y="2496312"/>
            <a:ext cx="859536" cy="146304"/>
          </a:xfrm>
          <a:prstGeom prst="rect">
            <a:avLst/>
          </a:prstGeom>
          <a:noFill/>
          <a:ln/>
        </p:spPr>
        <p:txBody>
          <a:bodyPr wrap="square" lIns="0" tIns="0" rIns="0" bIns="0" rtlCol="0" anchor="t">
            <a:normAutofit/>
          </a:bodyPr>
          <a:lstStyle/>
          <a:p>
            <a:pPr algn="ctr" indent="0" marL="0">
              <a:buNone/>
            </a:pPr>
            <a:r>
              <a:rPr lang="en-US" sz="510" dirty="0">
                <a:solidFill>
                  <a:srgbClr val="687486"/>
                </a:solidFill>
                <a:latin typeface="Aptos" pitchFamily="34" charset="0"/>
                <a:ea typeface="Aptos" pitchFamily="34" charset="-122"/>
                <a:cs typeface="Aptos" pitchFamily="34" charset="-120"/>
              </a:rPr>
              <a:t>modules / motion</a:t>
            </a:r>
            <a:endParaRPr lang="en-US" sz="510" dirty="0"/>
          </a:p>
        </p:txBody>
      </p:sp>
      <p:sp>
        <p:nvSpPr>
          <p:cNvPr id="27" name="Text 23"/>
          <p:cNvSpPr/>
          <p:nvPr/>
        </p:nvSpPr>
        <p:spPr>
          <a:xfrm>
            <a:off x="9546336" y="2331720"/>
            <a:ext cx="109728" cy="137160"/>
          </a:xfrm>
          <a:prstGeom prst="rect">
            <a:avLst/>
          </a:prstGeom>
          <a:noFill/>
          <a:ln/>
        </p:spPr>
        <p:txBody>
          <a:bodyPr wrap="square" lIns="0" tIns="0" rIns="0" bIns="0" rtlCol="0" anchor="t">
            <a:normAutofit/>
          </a:bodyPr>
          <a:lstStyle/>
          <a:p>
            <a:pPr algn="l" indent="0" marL="0">
              <a:buNone/>
            </a:pPr>
            <a:r>
              <a:rPr lang="en-US" sz="800" b="1" dirty="0">
                <a:solidFill>
                  <a:srgbClr val="687486"/>
                </a:solidFill>
                <a:latin typeface="Aptos" pitchFamily="34" charset="0"/>
                <a:ea typeface="Aptos" pitchFamily="34" charset="-122"/>
                <a:cs typeface="Aptos" pitchFamily="34" charset="-120"/>
              </a:rPr>
              <a:t>+</a:t>
            </a:r>
            <a:endParaRPr lang="en-US" sz="800" dirty="0"/>
          </a:p>
        </p:txBody>
      </p:sp>
      <p:sp>
        <p:nvSpPr>
          <p:cNvPr id="28" name="Shape 24"/>
          <p:cNvSpPr/>
          <p:nvPr/>
        </p:nvSpPr>
        <p:spPr>
          <a:xfrm>
            <a:off x="9692640" y="2148840"/>
            <a:ext cx="969264" cy="640080"/>
          </a:xfrm>
          <a:prstGeom prst="roundRect">
            <a:avLst>
              <a:gd name="adj" fmla="val 11429"/>
            </a:avLst>
          </a:prstGeom>
          <a:solidFill>
            <a:srgbClr val="FFFFFF"/>
          </a:solidFill>
          <a:ln w="8890">
            <a:solidFill>
              <a:srgbClr val="D7E2EB"/>
            </a:solidFill>
            <a:prstDash val="solid"/>
          </a:ln>
        </p:spPr>
      </p:sp>
      <p:sp>
        <p:nvSpPr>
          <p:cNvPr id="29" name="Text 25"/>
          <p:cNvSpPr/>
          <p:nvPr/>
        </p:nvSpPr>
        <p:spPr>
          <a:xfrm>
            <a:off x="9747504" y="2267712"/>
            <a:ext cx="859536" cy="182880"/>
          </a:xfrm>
          <a:prstGeom prst="rect">
            <a:avLst/>
          </a:prstGeom>
          <a:noFill/>
          <a:ln/>
        </p:spPr>
        <p:txBody>
          <a:bodyPr wrap="square" lIns="0" tIns="0" rIns="0" bIns="0" rtlCol="0" anchor="t">
            <a:normAutofit/>
          </a:bodyPr>
          <a:lstStyle/>
          <a:p>
            <a:pPr algn="ctr" indent="0" marL="0">
              <a:buNone/>
            </a:pPr>
            <a:r>
              <a:rPr lang="en-US" sz="680" b="1" dirty="0">
                <a:solidFill>
                  <a:srgbClr val="17212B"/>
                </a:solidFill>
                <a:latin typeface="Aptos" pitchFamily="34" charset="0"/>
                <a:ea typeface="Aptos" pitchFamily="34" charset="-122"/>
                <a:cs typeface="Aptos" pitchFamily="34" charset="-120"/>
              </a:rPr>
              <a:t>Service</a:t>
            </a:r>
            <a:endParaRPr lang="en-US" sz="680" dirty="0"/>
          </a:p>
        </p:txBody>
      </p:sp>
      <p:sp>
        <p:nvSpPr>
          <p:cNvPr id="30" name="Text 26"/>
          <p:cNvSpPr/>
          <p:nvPr/>
        </p:nvSpPr>
        <p:spPr>
          <a:xfrm>
            <a:off x="9747504" y="2496312"/>
            <a:ext cx="859536" cy="146304"/>
          </a:xfrm>
          <a:prstGeom prst="rect">
            <a:avLst/>
          </a:prstGeom>
          <a:noFill/>
          <a:ln/>
        </p:spPr>
        <p:txBody>
          <a:bodyPr wrap="square" lIns="0" tIns="0" rIns="0" bIns="0" rtlCol="0" anchor="t">
            <a:normAutofit/>
          </a:bodyPr>
          <a:lstStyle/>
          <a:p>
            <a:pPr algn="ctr" indent="0" marL="0">
              <a:buNone/>
            </a:pPr>
            <a:r>
              <a:rPr lang="en-US" sz="510" dirty="0">
                <a:solidFill>
                  <a:srgbClr val="687486"/>
                </a:solidFill>
                <a:latin typeface="Aptos" pitchFamily="34" charset="0"/>
                <a:ea typeface="Aptos" pitchFamily="34" charset="-122"/>
                <a:cs typeface="Aptos" pitchFamily="34" charset="-120"/>
              </a:rPr>
              <a:t>installed base</a:t>
            </a:r>
            <a:endParaRPr lang="en-US" sz="510" dirty="0"/>
          </a:p>
        </p:txBody>
      </p:sp>
      <p:sp>
        <p:nvSpPr>
          <p:cNvPr id="31" name="Text 27"/>
          <p:cNvSpPr/>
          <p:nvPr/>
        </p:nvSpPr>
        <p:spPr>
          <a:xfrm>
            <a:off x="4937760" y="3017520"/>
            <a:ext cx="5943600" cy="256032"/>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Installed base x fab utilisation x service revenue per installed valve adds a more resilient, but still utilisation-sensitive, revenue stream.</a:t>
            </a:r>
            <a:endParaRPr lang="en-US" sz="750" dirty="0"/>
          </a:p>
        </p:txBody>
      </p:sp>
      <p:sp>
        <p:nvSpPr>
          <p:cNvPr id="32" name="Shape 28"/>
          <p:cNvSpPr/>
          <p:nvPr/>
        </p:nvSpPr>
        <p:spPr>
          <a:xfrm>
            <a:off x="777240" y="4206240"/>
            <a:ext cx="2148840" cy="1024128"/>
          </a:xfrm>
          <a:prstGeom prst="roundRect">
            <a:avLst>
              <a:gd name="adj" fmla="val 7143"/>
            </a:avLst>
          </a:prstGeom>
          <a:solidFill>
            <a:srgbClr val="FFFFFF"/>
          </a:solidFill>
          <a:ln w="8890">
            <a:solidFill>
              <a:srgbClr val="D7E2EB"/>
            </a:solidFill>
            <a:prstDash val="solid"/>
          </a:ln>
        </p:spPr>
      </p:sp>
      <p:sp>
        <p:nvSpPr>
          <p:cNvPr id="33" name="Text 29"/>
          <p:cNvSpPr/>
          <p:nvPr/>
        </p:nvSpPr>
        <p:spPr>
          <a:xfrm>
            <a:off x="923544" y="4407408"/>
            <a:ext cx="1856232" cy="201168"/>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5nm -&gt; 3nm -&gt; 2nm</a:t>
            </a:r>
            <a:endParaRPr lang="en-US" sz="850" dirty="0"/>
          </a:p>
        </p:txBody>
      </p:sp>
      <p:sp>
        <p:nvSpPr>
          <p:cNvPr id="34" name="Text 30"/>
          <p:cNvSpPr/>
          <p:nvPr/>
        </p:nvSpPr>
        <p:spPr>
          <a:xfrm>
            <a:off x="923544" y="4754880"/>
            <a:ext cx="1856232" cy="164592"/>
          </a:xfrm>
          <a:prstGeom prst="rect">
            <a:avLst/>
          </a:prstGeom>
          <a:noFill/>
          <a:ln/>
        </p:spPr>
        <p:txBody>
          <a:bodyPr wrap="square" lIns="0" tIns="0" rIns="0" bIns="0" rtlCol="0" anchor="t">
            <a:normAutofit/>
          </a:bodyPr>
          <a:lstStyle/>
          <a:p>
            <a:pPr algn="ctr" indent="0" marL="0">
              <a:buNone/>
            </a:pPr>
            <a:r>
              <a:rPr lang="en-US" sz="680" dirty="0">
                <a:solidFill>
                  <a:srgbClr val="344153"/>
                </a:solidFill>
                <a:latin typeface="Aptos" pitchFamily="34" charset="0"/>
                <a:ea typeface="Aptos" pitchFamily="34" charset="-122"/>
                <a:cs typeface="Aptos" pitchFamily="34" charset="-120"/>
              </a:rPr>
              <a:t>tighter process windows</a:t>
            </a:r>
            <a:endParaRPr lang="en-US" sz="680" dirty="0"/>
          </a:p>
        </p:txBody>
      </p:sp>
      <p:sp>
        <p:nvSpPr>
          <p:cNvPr id="35" name="Shape 31"/>
          <p:cNvSpPr/>
          <p:nvPr/>
        </p:nvSpPr>
        <p:spPr>
          <a:xfrm>
            <a:off x="3520440" y="4206240"/>
            <a:ext cx="2148840" cy="1024128"/>
          </a:xfrm>
          <a:prstGeom prst="roundRect">
            <a:avLst>
              <a:gd name="adj" fmla="val 7143"/>
            </a:avLst>
          </a:prstGeom>
          <a:solidFill>
            <a:srgbClr val="EAF7FD"/>
          </a:solidFill>
          <a:ln w="12700">
            <a:solidFill>
              <a:srgbClr val="199BD7"/>
            </a:solidFill>
            <a:prstDash val="solid"/>
          </a:ln>
        </p:spPr>
      </p:sp>
      <p:sp>
        <p:nvSpPr>
          <p:cNvPr id="36" name="Text 32"/>
          <p:cNvSpPr/>
          <p:nvPr/>
        </p:nvSpPr>
        <p:spPr>
          <a:xfrm>
            <a:off x="3666744" y="4407408"/>
            <a:ext cx="1856232" cy="201168"/>
          </a:xfrm>
          <a:prstGeom prst="rect">
            <a:avLst/>
          </a:prstGeom>
          <a:noFill/>
          <a:ln/>
        </p:spPr>
        <p:txBody>
          <a:bodyPr wrap="square" lIns="0" tIns="0" rIns="0" bIns="0" rtlCol="0" anchor="t">
            <a:normAutofit/>
          </a:bodyPr>
          <a:lstStyle/>
          <a:p>
            <a:pPr algn="ctr" indent="0" marL="0">
              <a:buNone/>
            </a:pPr>
            <a:r>
              <a:rPr lang="en-US" sz="850" b="1" dirty="0">
                <a:solidFill>
                  <a:srgbClr val="199BD7"/>
                </a:solidFill>
                <a:latin typeface="Aptos" pitchFamily="34" charset="0"/>
                <a:ea typeface="Aptos" pitchFamily="34" charset="-122"/>
                <a:cs typeface="Aptos" pitchFamily="34" charset="-120"/>
              </a:rPr>
              <a:t>FinFET -&gt; GAA</a:t>
            </a:r>
            <a:endParaRPr lang="en-US" sz="850" dirty="0"/>
          </a:p>
        </p:txBody>
      </p:sp>
      <p:sp>
        <p:nvSpPr>
          <p:cNvPr id="37" name="Text 33"/>
          <p:cNvSpPr/>
          <p:nvPr/>
        </p:nvSpPr>
        <p:spPr>
          <a:xfrm>
            <a:off x="3666744" y="4754880"/>
            <a:ext cx="1856232" cy="164592"/>
          </a:xfrm>
          <a:prstGeom prst="rect">
            <a:avLst/>
          </a:prstGeom>
          <a:noFill/>
          <a:ln/>
        </p:spPr>
        <p:txBody>
          <a:bodyPr wrap="square" lIns="0" tIns="0" rIns="0" bIns="0" rtlCol="0" anchor="t">
            <a:normAutofit/>
          </a:bodyPr>
          <a:lstStyle/>
          <a:p>
            <a:pPr algn="ctr" indent="0" marL="0">
              <a:buNone/>
            </a:pPr>
            <a:r>
              <a:rPr lang="en-US" sz="680" dirty="0">
                <a:solidFill>
                  <a:srgbClr val="344153"/>
                </a:solidFill>
                <a:latin typeface="Aptos" pitchFamily="34" charset="0"/>
                <a:ea typeface="Aptos" pitchFamily="34" charset="-122"/>
                <a:cs typeface="Aptos" pitchFamily="34" charset="-120"/>
              </a:rPr>
              <a:t>more 3D transistor complexity</a:t>
            </a:r>
            <a:endParaRPr lang="en-US" sz="680" dirty="0"/>
          </a:p>
        </p:txBody>
      </p:sp>
      <p:sp>
        <p:nvSpPr>
          <p:cNvPr id="38" name="Shape 34"/>
          <p:cNvSpPr/>
          <p:nvPr/>
        </p:nvSpPr>
        <p:spPr>
          <a:xfrm>
            <a:off x="6263640" y="4206240"/>
            <a:ext cx="2148840" cy="1024128"/>
          </a:xfrm>
          <a:prstGeom prst="roundRect">
            <a:avLst>
              <a:gd name="adj" fmla="val 7143"/>
            </a:avLst>
          </a:prstGeom>
          <a:solidFill>
            <a:srgbClr val="EAF7FD"/>
          </a:solidFill>
          <a:ln w="12700">
            <a:solidFill>
              <a:srgbClr val="199BD7"/>
            </a:solidFill>
            <a:prstDash val="solid"/>
          </a:ln>
        </p:spPr>
      </p:sp>
      <p:sp>
        <p:nvSpPr>
          <p:cNvPr id="39" name="Text 35"/>
          <p:cNvSpPr/>
          <p:nvPr/>
        </p:nvSpPr>
        <p:spPr>
          <a:xfrm>
            <a:off x="6409944" y="4407408"/>
            <a:ext cx="1856232" cy="201168"/>
          </a:xfrm>
          <a:prstGeom prst="rect">
            <a:avLst/>
          </a:prstGeom>
          <a:noFill/>
          <a:ln/>
        </p:spPr>
        <p:txBody>
          <a:bodyPr wrap="square" lIns="0" tIns="0" rIns="0" bIns="0" rtlCol="0" anchor="t">
            <a:normAutofit/>
          </a:bodyPr>
          <a:lstStyle/>
          <a:p>
            <a:pPr algn="ctr" indent="0" marL="0">
              <a:buNone/>
            </a:pPr>
            <a:r>
              <a:rPr lang="en-US" sz="850" b="1" dirty="0">
                <a:solidFill>
                  <a:srgbClr val="199BD7"/>
                </a:solidFill>
                <a:latin typeface="Aptos" pitchFamily="34" charset="0"/>
                <a:ea typeface="Aptos" pitchFamily="34" charset="-122"/>
                <a:cs typeface="Aptos" pitchFamily="34" charset="-120"/>
              </a:rPr>
              <a:t>DRAM -&gt; HBM</a:t>
            </a:r>
            <a:endParaRPr lang="en-US" sz="850" dirty="0"/>
          </a:p>
        </p:txBody>
      </p:sp>
      <p:sp>
        <p:nvSpPr>
          <p:cNvPr id="40" name="Text 36"/>
          <p:cNvSpPr/>
          <p:nvPr/>
        </p:nvSpPr>
        <p:spPr>
          <a:xfrm>
            <a:off x="6409944" y="4754880"/>
            <a:ext cx="1856232" cy="164592"/>
          </a:xfrm>
          <a:prstGeom prst="rect">
            <a:avLst/>
          </a:prstGeom>
          <a:noFill/>
          <a:ln/>
        </p:spPr>
        <p:txBody>
          <a:bodyPr wrap="square" lIns="0" tIns="0" rIns="0" bIns="0" rtlCol="0" anchor="t">
            <a:normAutofit/>
          </a:bodyPr>
          <a:lstStyle/>
          <a:p>
            <a:pPr algn="ctr" indent="0" marL="0">
              <a:buNone/>
            </a:pPr>
            <a:r>
              <a:rPr lang="en-US" sz="680" dirty="0">
                <a:solidFill>
                  <a:srgbClr val="344153"/>
                </a:solidFill>
                <a:latin typeface="Aptos" pitchFamily="34" charset="0"/>
                <a:ea typeface="Aptos" pitchFamily="34" charset="-122"/>
                <a:cs typeface="Aptos" pitchFamily="34" charset="-120"/>
              </a:rPr>
              <a:t>AI memory bottleneck</a:t>
            </a:r>
            <a:endParaRPr lang="en-US" sz="680" dirty="0"/>
          </a:p>
        </p:txBody>
      </p:sp>
      <p:sp>
        <p:nvSpPr>
          <p:cNvPr id="41" name="Shape 37"/>
          <p:cNvSpPr/>
          <p:nvPr/>
        </p:nvSpPr>
        <p:spPr>
          <a:xfrm>
            <a:off x="9006840" y="4206240"/>
            <a:ext cx="2148840" cy="1024128"/>
          </a:xfrm>
          <a:prstGeom prst="roundRect">
            <a:avLst>
              <a:gd name="adj" fmla="val 7143"/>
            </a:avLst>
          </a:prstGeom>
          <a:solidFill>
            <a:srgbClr val="FFFFFF"/>
          </a:solidFill>
          <a:ln w="8890">
            <a:solidFill>
              <a:srgbClr val="D7E2EB"/>
            </a:solidFill>
            <a:prstDash val="solid"/>
          </a:ln>
        </p:spPr>
      </p:sp>
      <p:sp>
        <p:nvSpPr>
          <p:cNvPr id="42" name="Text 38"/>
          <p:cNvSpPr/>
          <p:nvPr/>
        </p:nvSpPr>
        <p:spPr>
          <a:xfrm>
            <a:off x="9153144" y="4407408"/>
            <a:ext cx="1856232" cy="201168"/>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3D NAND layers</a:t>
            </a:r>
            <a:endParaRPr lang="en-US" sz="850" dirty="0"/>
          </a:p>
        </p:txBody>
      </p:sp>
      <p:sp>
        <p:nvSpPr>
          <p:cNvPr id="43" name="Text 39"/>
          <p:cNvSpPr/>
          <p:nvPr/>
        </p:nvSpPr>
        <p:spPr>
          <a:xfrm>
            <a:off x="9153144" y="4754880"/>
            <a:ext cx="1856232" cy="164592"/>
          </a:xfrm>
          <a:prstGeom prst="rect">
            <a:avLst/>
          </a:prstGeom>
          <a:noFill/>
          <a:ln/>
        </p:spPr>
        <p:txBody>
          <a:bodyPr wrap="square" lIns="0" tIns="0" rIns="0" bIns="0" rtlCol="0" anchor="t">
            <a:normAutofit/>
          </a:bodyPr>
          <a:lstStyle/>
          <a:p>
            <a:pPr algn="ctr" indent="0" marL="0">
              <a:buNone/>
            </a:pPr>
            <a:r>
              <a:rPr lang="en-US" sz="680" dirty="0">
                <a:solidFill>
                  <a:srgbClr val="344153"/>
                </a:solidFill>
                <a:latin typeface="Aptos" pitchFamily="34" charset="0"/>
                <a:ea typeface="Aptos" pitchFamily="34" charset="-122"/>
                <a:cs typeface="Aptos" pitchFamily="34" charset="-120"/>
              </a:rPr>
              <a:t>deeper etch structures</a:t>
            </a:r>
            <a:endParaRPr lang="en-US" sz="680" dirty="0"/>
          </a:p>
        </p:txBody>
      </p:sp>
      <p:sp>
        <p:nvSpPr>
          <p:cNvPr id="44" name="Text 40"/>
          <p:cNvSpPr/>
          <p:nvPr/>
        </p:nvSpPr>
        <p:spPr>
          <a:xfrm>
            <a:off x="1097280" y="5596128"/>
            <a:ext cx="9875520" cy="256032"/>
          </a:xfrm>
          <a:prstGeom prst="rect">
            <a:avLst/>
          </a:prstGeom>
          <a:noFill/>
          <a:ln/>
        </p:spPr>
        <p:txBody>
          <a:bodyPr wrap="square" lIns="0" tIns="0" rIns="0" bIns="0" rtlCol="0" anchor="t">
            <a:normAutofit/>
          </a:bodyPr>
          <a:lstStyle/>
          <a:p>
            <a:pPr algn="ctr" indent="0" marL="0">
              <a:buNone/>
            </a:pPr>
            <a:r>
              <a:rPr lang="en-US" sz="830" b="1" dirty="0">
                <a:solidFill>
                  <a:srgbClr val="17212B"/>
                </a:solidFill>
                <a:latin typeface="Aptos" pitchFamily="34" charset="0"/>
                <a:ea typeface="Aptos" pitchFamily="34" charset="-122"/>
                <a:cs typeface="Aptos" pitchFamily="34" charset="-120"/>
              </a:rPr>
              <a:t>The structural claim is not that every smaller node mechanically adds valves; it is that advanced architectures raise process steps, chamber complexity and pressure-control requirements.</a:t>
            </a:r>
            <a:endParaRPr lang="en-US" sz="830" dirty="0"/>
          </a:p>
        </p:txBody>
      </p:sp>
      <p:sp>
        <p:nvSpPr>
          <p:cNvPr id="45" name="Shape 41"/>
          <p:cNvSpPr/>
          <p:nvPr/>
        </p:nvSpPr>
        <p:spPr>
          <a:xfrm>
            <a:off x="420624" y="6419088"/>
            <a:ext cx="11338560" cy="0"/>
          </a:xfrm>
          <a:prstGeom prst="line">
            <a:avLst/>
          </a:prstGeom>
          <a:noFill/>
          <a:ln w="7620">
            <a:solidFill>
              <a:srgbClr val="D7E2EB"/>
            </a:solidFill>
            <a:prstDash val="solid"/>
            <a:headEnd type="none"/>
            <a:tailEnd type="none"/>
          </a:ln>
        </p:spPr>
      </p:sp>
      <p:sp>
        <p:nvSpPr>
          <p:cNvPr id="46" name="Text 42"/>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SEMI forecast cited in VAT 101; VAT CMD materials; analyst estimates.</a:t>
            </a:r>
            <a:endParaRPr lang="en-US" sz="540" dirty="0"/>
          </a:p>
        </p:txBody>
      </p:sp>
      <p:sp>
        <p:nvSpPr>
          <p:cNvPr id="47" name="Text 43"/>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6</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MOAT + EARNINGS FLYWHEEL</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Specification lock-in and scale reinforce 75%+ share - today's backlog can convert that moat into earnings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621792" y="1298448"/>
            <a:ext cx="4919472" cy="4498848"/>
          </a:xfrm>
          <a:prstGeom prst="roundRect">
            <a:avLst>
              <a:gd name="adj" fmla="val 1626"/>
            </a:avLst>
          </a:prstGeom>
          <a:solidFill>
            <a:srgbClr val="FFFFFF"/>
          </a:solidFill>
          <a:ln w="8890">
            <a:solidFill>
              <a:srgbClr val="D7E2EB"/>
            </a:solidFill>
            <a:prstDash val="solid"/>
          </a:ln>
        </p:spPr>
      </p:sp>
      <p:sp>
        <p:nvSpPr>
          <p:cNvPr id="7" name="Text 4"/>
          <p:cNvSpPr/>
          <p:nvPr/>
        </p:nvSpPr>
        <p:spPr>
          <a:xfrm>
            <a:off x="868680" y="1536192"/>
            <a:ext cx="1417320" cy="219456"/>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VAT flywheel</a:t>
            </a:r>
            <a:endParaRPr lang="en-US" sz="1000" dirty="0"/>
          </a:p>
        </p:txBody>
      </p:sp>
      <p:sp>
        <p:nvSpPr>
          <p:cNvPr id="8" name="Shape 5"/>
          <p:cNvSpPr/>
          <p:nvPr/>
        </p:nvSpPr>
        <p:spPr>
          <a:xfrm>
            <a:off x="2267712" y="2761488"/>
            <a:ext cx="1600200" cy="1078992"/>
          </a:xfrm>
          <a:prstGeom prst="ellipse">
            <a:avLst/>
          </a:prstGeom>
          <a:solidFill>
            <a:srgbClr val="199BD7"/>
          </a:solidFill>
          <a:ln w="12700">
            <a:solidFill>
              <a:srgbClr val="199BD7"/>
            </a:solidFill>
            <a:prstDash val="solid"/>
          </a:ln>
        </p:spPr>
      </p:sp>
      <p:sp>
        <p:nvSpPr>
          <p:cNvPr id="9" name="Text 6"/>
          <p:cNvSpPr/>
          <p:nvPr/>
        </p:nvSpPr>
        <p:spPr>
          <a:xfrm>
            <a:off x="2542032" y="3054096"/>
            <a:ext cx="1051560" cy="310896"/>
          </a:xfrm>
          <a:prstGeom prst="rect">
            <a:avLst/>
          </a:prstGeom>
          <a:noFill/>
          <a:ln/>
        </p:spPr>
        <p:txBody>
          <a:bodyPr wrap="square" lIns="0" tIns="0" rIns="0" bIns="0" rtlCol="0" anchor="t">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Spec-in</a:t>
            </a:r>
            <a:endParaRPr lang="en-US" sz="1050" dirty="0"/>
          </a:p>
          <a:p>
            <a:pPr algn="ctr" indent="0" marL="0">
              <a:buNone/>
            </a:pPr>
            <a:r>
              <a:rPr lang="en-US" sz="1050" b="1" dirty="0">
                <a:solidFill>
                  <a:srgbClr val="FFFFFF"/>
                </a:solidFill>
                <a:latin typeface="Aptos" pitchFamily="34" charset="0"/>
                <a:ea typeface="Aptos" pitchFamily="34" charset="-122"/>
                <a:cs typeface="Aptos" pitchFamily="34" charset="-120"/>
              </a:rPr>
              <a:t>leadership</a:t>
            </a:r>
            <a:endParaRPr lang="en-US" sz="1050" dirty="0"/>
          </a:p>
        </p:txBody>
      </p:sp>
      <p:sp>
        <p:nvSpPr>
          <p:cNvPr id="10" name="Shape 7"/>
          <p:cNvSpPr/>
          <p:nvPr/>
        </p:nvSpPr>
        <p:spPr>
          <a:xfrm>
            <a:off x="1005840" y="2011680"/>
            <a:ext cx="1417320" cy="640080"/>
          </a:xfrm>
          <a:prstGeom prst="roundRect">
            <a:avLst>
              <a:gd name="adj" fmla="val 11429"/>
            </a:avLst>
          </a:prstGeom>
          <a:solidFill>
            <a:srgbClr val="EAF7FD"/>
          </a:solidFill>
          <a:ln w="8890">
            <a:solidFill>
              <a:srgbClr val="199BD7"/>
            </a:solidFill>
            <a:prstDash val="solid"/>
          </a:ln>
        </p:spPr>
      </p:sp>
      <p:sp>
        <p:nvSpPr>
          <p:cNvPr id="11" name="Text 8"/>
          <p:cNvSpPr/>
          <p:nvPr/>
        </p:nvSpPr>
        <p:spPr>
          <a:xfrm>
            <a:off x="1078992" y="2121408"/>
            <a:ext cx="1271016" cy="164592"/>
          </a:xfrm>
          <a:prstGeom prst="rect">
            <a:avLst/>
          </a:prstGeom>
          <a:noFill/>
          <a:ln/>
        </p:spPr>
        <p:txBody>
          <a:bodyPr wrap="square" lIns="0" tIns="0" rIns="0" bIns="0" rtlCol="0" anchor="t">
            <a:normAutofit/>
          </a:bodyPr>
          <a:lstStyle/>
          <a:p>
            <a:pPr algn="ctr" indent="0" marL="0">
              <a:buNone/>
            </a:pPr>
            <a:r>
              <a:rPr lang="en-US" sz="720" b="1" dirty="0">
                <a:solidFill>
                  <a:srgbClr val="199BD7"/>
                </a:solidFill>
                <a:latin typeface="Aptos" pitchFamily="34" charset="0"/>
                <a:ea typeface="Aptos" pitchFamily="34" charset="-122"/>
                <a:cs typeface="Aptos" pitchFamily="34" charset="-120"/>
              </a:rPr>
              <a:t>&gt;75% core semi share</a:t>
            </a:r>
            <a:endParaRPr lang="en-US" sz="720" dirty="0"/>
          </a:p>
        </p:txBody>
      </p:sp>
      <p:sp>
        <p:nvSpPr>
          <p:cNvPr id="12" name="Text 9"/>
          <p:cNvSpPr/>
          <p:nvPr/>
        </p:nvSpPr>
        <p:spPr>
          <a:xfrm>
            <a:off x="1078992" y="2359152"/>
            <a:ext cx="1271016" cy="146304"/>
          </a:xfrm>
          <a:prstGeom prst="rect">
            <a:avLst/>
          </a:prstGeom>
          <a:noFill/>
          <a:ln/>
        </p:spPr>
        <p:txBody>
          <a:bodyPr wrap="square" lIns="0" tIns="0" rIns="0" bIns="0" rtlCol="0" anchor="t">
            <a:normAutofit/>
          </a:bodyPr>
          <a:lstStyle/>
          <a:p>
            <a:pPr algn="ctr" indent="0" marL="0">
              <a:buNone/>
            </a:pPr>
            <a:r>
              <a:rPr lang="en-US" sz="560" dirty="0">
                <a:solidFill>
                  <a:srgbClr val="687486"/>
                </a:solidFill>
                <a:latin typeface="Aptos" pitchFamily="34" charset="0"/>
                <a:ea typeface="Aptos" pitchFamily="34" charset="-122"/>
                <a:cs typeface="Aptos" pitchFamily="34" charset="-120"/>
              </a:rPr>
              <a:t>Market leadership</a:t>
            </a:r>
            <a:endParaRPr lang="en-US" sz="560" dirty="0"/>
          </a:p>
        </p:txBody>
      </p:sp>
      <p:sp>
        <p:nvSpPr>
          <p:cNvPr id="13" name="Shape 10"/>
          <p:cNvSpPr/>
          <p:nvPr/>
        </p:nvSpPr>
        <p:spPr>
          <a:xfrm>
            <a:off x="3291840" y="1874520"/>
            <a:ext cx="1417320" cy="640080"/>
          </a:xfrm>
          <a:prstGeom prst="roundRect">
            <a:avLst>
              <a:gd name="adj" fmla="val 11429"/>
            </a:avLst>
          </a:prstGeom>
          <a:solidFill>
            <a:srgbClr val="F7FAFC"/>
          </a:solidFill>
          <a:ln w="8890">
            <a:solidFill>
              <a:srgbClr val="D7E2EB"/>
            </a:solidFill>
            <a:prstDash val="solid"/>
          </a:ln>
        </p:spPr>
      </p:sp>
      <p:sp>
        <p:nvSpPr>
          <p:cNvPr id="14" name="Text 11"/>
          <p:cNvSpPr/>
          <p:nvPr/>
        </p:nvSpPr>
        <p:spPr>
          <a:xfrm>
            <a:off x="3364992" y="1984248"/>
            <a:ext cx="1271016" cy="164592"/>
          </a:xfrm>
          <a:prstGeom prst="rect">
            <a:avLst/>
          </a:prstGeom>
          <a:noFill/>
          <a:ln/>
        </p:spPr>
        <p:txBody>
          <a:bodyPr wrap="square" lIns="0" tIns="0" rIns="0" bIns="0" rtlCol="0" anchor="t">
            <a:normAutofit/>
          </a:bodyPr>
          <a:lstStyle/>
          <a:p>
            <a:pPr algn="ctr" indent="0" marL="0">
              <a:buNone/>
            </a:pPr>
            <a:r>
              <a:rPr lang="en-US" sz="720" b="1" dirty="0">
                <a:solidFill>
                  <a:srgbClr val="17212B"/>
                </a:solidFill>
                <a:latin typeface="Aptos" pitchFamily="34" charset="0"/>
                <a:ea typeface="Aptos" pitchFamily="34" charset="-122"/>
                <a:cs typeface="Aptos" pitchFamily="34" charset="-120"/>
              </a:rPr>
              <a:t>Early OEM co-dev</a:t>
            </a:r>
            <a:endParaRPr lang="en-US" sz="720" dirty="0"/>
          </a:p>
        </p:txBody>
      </p:sp>
      <p:sp>
        <p:nvSpPr>
          <p:cNvPr id="15" name="Text 12"/>
          <p:cNvSpPr/>
          <p:nvPr/>
        </p:nvSpPr>
        <p:spPr>
          <a:xfrm>
            <a:off x="3364992" y="2221992"/>
            <a:ext cx="1271016" cy="146304"/>
          </a:xfrm>
          <a:prstGeom prst="rect">
            <a:avLst/>
          </a:prstGeom>
          <a:noFill/>
          <a:ln/>
        </p:spPr>
        <p:txBody>
          <a:bodyPr wrap="square" lIns="0" tIns="0" rIns="0" bIns="0" rtlCol="0" anchor="t">
            <a:normAutofit/>
          </a:bodyPr>
          <a:lstStyle/>
          <a:p>
            <a:pPr algn="ctr" indent="0" marL="0">
              <a:buNone/>
            </a:pPr>
            <a:r>
              <a:rPr lang="en-US" sz="560" dirty="0">
                <a:solidFill>
                  <a:srgbClr val="687486"/>
                </a:solidFill>
                <a:latin typeface="Aptos" pitchFamily="34" charset="0"/>
                <a:ea typeface="Aptos" pitchFamily="34" charset="-122"/>
                <a:cs typeface="Aptos" pitchFamily="34" charset="-120"/>
              </a:rPr>
              <a:t>2-5 years before revenue</a:t>
            </a:r>
            <a:endParaRPr lang="en-US" sz="560" dirty="0"/>
          </a:p>
        </p:txBody>
      </p:sp>
      <p:sp>
        <p:nvSpPr>
          <p:cNvPr id="16" name="Shape 13"/>
          <p:cNvSpPr/>
          <p:nvPr/>
        </p:nvSpPr>
        <p:spPr>
          <a:xfrm>
            <a:off x="4023360" y="3429000"/>
            <a:ext cx="1417320" cy="640080"/>
          </a:xfrm>
          <a:prstGeom prst="roundRect">
            <a:avLst>
              <a:gd name="adj" fmla="val 11429"/>
            </a:avLst>
          </a:prstGeom>
          <a:solidFill>
            <a:srgbClr val="F7FAFC"/>
          </a:solidFill>
          <a:ln w="8890">
            <a:solidFill>
              <a:srgbClr val="D7E2EB"/>
            </a:solidFill>
            <a:prstDash val="solid"/>
          </a:ln>
        </p:spPr>
      </p:sp>
      <p:sp>
        <p:nvSpPr>
          <p:cNvPr id="17" name="Text 14"/>
          <p:cNvSpPr/>
          <p:nvPr/>
        </p:nvSpPr>
        <p:spPr>
          <a:xfrm>
            <a:off x="4096512" y="3538728"/>
            <a:ext cx="1271016" cy="164592"/>
          </a:xfrm>
          <a:prstGeom prst="rect">
            <a:avLst/>
          </a:prstGeom>
          <a:noFill/>
          <a:ln/>
        </p:spPr>
        <p:txBody>
          <a:bodyPr wrap="square" lIns="0" tIns="0" rIns="0" bIns="0" rtlCol="0" anchor="t">
            <a:normAutofit/>
          </a:bodyPr>
          <a:lstStyle/>
          <a:p>
            <a:pPr algn="ctr" indent="0" marL="0">
              <a:buNone/>
            </a:pPr>
            <a:r>
              <a:rPr lang="en-US" sz="720" b="1" dirty="0">
                <a:solidFill>
                  <a:srgbClr val="17212B"/>
                </a:solidFill>
                <a:latin typeface="Aptos" pitchFamily="34" charset="0"/>
                <a:ea typeface="Aptos" pitchFamily="34" charset="-122"/>
                <a:cs typeface="Aptos" pitchFamily="34" charset="-120"/>
              </a:rPr>
              <a:t>High switching cost</a:t>
            </a:r>
            <a:endParaRPr lang="en-US" sz="720" dirty="0"/>
          </a:p>
        </p:txBody>
      </p:sp>
      <p:sp>
        <p:nvSpPr>
          <p:cNvPr id="18" name="Text 15"/>
          <p:cNvSpPr/>
          <p:nvPr/>
        </p:nvSpPr>
        <p:spPr>
          <a:xfrm>
            <a:off x="4096512" y="3776472"/>
            <a:ext cx="1271016" cy="146304"/>
          </a:xfrm>
          <a:prstGeom prst="rect">
            <a:avLst/>
          </a:prstGeom>
          <a:noFill/>
          <a:ln/>
        </p:spPr>
        <p:txBody>
          <a:bodyPr wrap="square" lIns="0" tIns="0" rIns="0" bIns="0" rtlCol="0" anchor="t">
            <a:normAutofit/>
          </a:bodyPr>
          <a:lstStyle/>
          <a:p>
            <a:pPr algn="ctr" indent="0" marL="0">
              <a:buNone/>
            </a:pPr>
            <a:r>
              <a:rPr lang="en-US" sz="560" dirty="0">
                <a:solidFill>
                  <a:srgbClr val="687486"/>
                </a:solidFill>
                <a:latin typeface="Aptos" pitchFamily="34" charset="0"/>
                <a:ea typeface="Aptos" pitchFamily="34" charset="-122"/>
                <a:cs typeface="Aptos" pitchFamily="34" charset="-120"/>
              </a:rPr>
              <a:t>Redesign + requalification</a:t>
            </a:r>
            <a:endParaRPr lang="en-US" sz="560" dirty="0"/>
          </a:p>
        </p:txBody>
      </p:sp>
      <p:sp>
        <p:nvSpPr>
          <p:cNvPr id="19" name="Shape 16"/>
          <p:cNvSpPr/>
          <p:nvPr/>
        </p:nvSpPr>
        <p:spPr>
          <a:xfrm>
            <a:off x="2606040" y="4617720"/>
            <a:ext cx="1417320" cy="640080"/>
          </a:xfrm>
          <a:prstGeom prst="roundRect">
            <a:avLst>
              <a:gd name="adj" fmla="val 11429"/>
            </a:avLst>
          </a:prstGeom>
          <a:solidFill>
            <a:srgbClr val="F7FAFC"/>
          </a:solidFill>
          <a:ln w="8890">
            <a:solidFill>
              <a:srgbClr val="D7E2EB"/>
            </a:solidFill>
            <a:prstDash val="solid"/>
          </a:ln>
        </p:spPr>
      </p:sp>
      <p:sp>
        <p:nvSpPr>
          <p:cNvPr id="20" name="Text 17"/>
          <p:cNvSpPr/>
          <p:nvPr/>
        </p:nvSpPr>
        <p:spPr>
          <a:xfrm>
            <a:off x="2679192" y="4727448"/>
            <a:ext cx="1271016" cy="164592"/>
          </a:xfrm>
          <a:prstGeom prst="rect">
            <a:avLst/>
          </a:prstGeom>
          <a:noFill/>
          <a:ln/>
        </p:spPr>
        <p:txBody>
          <a:bodyPr wrap="square" lIns="0" tIns="0" rIns="0" bIns="0" rtlCol="0" anchor="t">
            <a:normAutofit/>
          </a:bodyPr>
          <a:lstStyle/>
          <a:p>
            <a:pPr algn="ctr" indent="0" marL="0">
              <a:buNone/>
            </a:pPr>
            <a:r>
              <a:rPr lang="en-US" sz="720" b="1" dirty="0">
                <a:solidFill>
                  <a:srgbClr val="17212B"/>
                </a:solidFill>
                <a:latin typeface="Aptos" pitchFamily="34" charset="0"/>
                <a:ea typeface="Aptos" pitchFamily="34" charset="-122"/>
                <a:cs typeface="Aptos" pitchFamily="34" charset="-120"/>
              </a:rPr>
              <a:t>Scale + service</a:t>
            </a:r>
            <a:endParaRPr lang="en-US" sz="720" dirty="0"/>
          </a:p>
        </p:txBody>
      </p:sp>
      <p:sp>
        <p:nvSpPr>
          <p:cNvPr id="21" name="Text 18"/>
          <p:cNvSpPr/>
          <p:nvPr/>
        </p:nvSpPr>
        <p:spPr>
          <a:xfrm>
            <a:off x="2679192" y="4965192"/>
            <a:ext cx="1271016" cy="146304"/>
          </a:xfrm>
          <a:prstGeom prst="rect">
            <a:avLst/>
          </a:prstGeom>
          <a:noFill/>
          <a:ln/>
        </p:spPr>
        <p:txBody>
          <a:bodyPr wrap="square" lIns="0" tIns="0" rIns="0" bIns="0" rtlCol="0" anchor="t">
            <a:normAutofit/>
          </a:bodyPr>
          <a:lstStyle/>
          <a:p>
            <a:pPr algn="ctr" indent="0" marL="0">
              <a:buNone/>
            </a:pPr>
            <a:r>
              <a:rPr lang="en-US" sz="560" dirty="0">
                <a:solidFill>
                  <a:srgbClr val="687486"/>
                </a:solidFill>
                <a:latin typeface="Aptos" pitchFamily="34" charset="0"/>
                <a:ea typeface="Aptos" pitchFamily="34" charset="-122"/>
                <a:cs typeface="Aptos" pitchFamily="34" charset="-120"/>
              </a:rPr>
              <a:t>R&amp;D, quality, field support</a:t>
            </a:r>
            <a:endParaRPr lang="en-US" sz="560" dirty="0"/>
          </a:p>
        </p:txBody>
      </p:sp>
      <p:sp>
        <p:nvSpPr>
          <p:cNvPr id="22" name="Shape 19"/>
          <p:cNvSpPr/>
          <p:nvPr/>
        </p:nvSpPr>
        <p:spPr>
          <a:xfrm>
            <a:off x="868680" y="3840480"/>
            <a:ext cx="1417320" cy="640080"/>
          </a:xfrm>
          <a:prstGeom prst="roundRect">
            <a:avLst>
              <a:gd name="adj" fmla="val 11429"/>
            </a:avLst>
          </a:prstGeom>
          <a:solidFill>
            <a:srgbClr val="F7FAFC"/>
          </a:solidFill>
          <a:ln w="8890">
            <a:solidFill>
              <a:srgbClr val="D7E2EB"/>
            </a:solidFill>
            <a:prstDash val="solid"/>
          </a:ln>
        </p:spPr>
      </p:sp>
      <p:sp>
        <p:nvSpPr>
          <p:cNvPr id="23" name="Text 20"/>
          <p:cNvSpPr/>
          <p:nvPr/>
        </p:nvSpPr>
        <p:spPr>
          <a:xfrm>
            <a:off x="941832" y="3950208"/>
            <a:ext cx="1271016" cy="164592"/>
          </a:xfrm>
          <a:prstGeom prst="rect">
            <a:avLst/>
          </a:prstGeom>
          <a:noFill/>
          <a:ln/>
        </p:spPr>
        <p:txBody>
          <a:bodyPr wrap="square" lIns="0" tIns="0" rIns="0" bIns="0" rtlCol="0" anchor="t">
            <a:normAutofit/>
          </a:bodyPr>
          <a:lstStyle/>
          <a:p>
            <a:pPr algn="ctr" indent="0" marL="0">
              <a:buNone/>
            </a:pPr>
            <a:r>
              <a:rPr lang="en-US" sz="720" b="1" dirty="0">
                <a:solidFill>
                  <a:srgbClr val="17212B"/>
                </a:solidFill>
                <a:latin typeface="Aptos" pitchFamily="34" charset="0"/>
                <a:ea typeface="Aptos" pitchFamily="34" charset="-122"/>
                <a:cs typeface="Aptos" pitchFamily="34" charset="-120"/>
              </a:rPr>
              <a:t>More spec wins</a:t>
            </a:r>
            <a:endParaRPr lang="en-US" sz="720" dirty="0"/>
          </a:p>
        </p:txBody>
      </p:sp>
      <p:sp>
        <p:nvSpPr>
          <p:cNvPr id="24" name="Text 21"/>
          <p:cNvSpPr/>
          <p:nvPr/>
        </p:nvSpPr>
        <p:spPr>
          <a:xfrm>
            <a:off x="941832" y="4187952"/>
            <a:ext cx="1271016" cy="146304"/>
          </a:xfrm>
          <a:prstGeom prst="rect">
            <a:avLst/>
          </a:prstGeom>
          <a:noFill/>
          <a:ln/>
        </p:spPr>
        <p:txBody>
          <a:bodyPr wrap="square" lIns="0" tIns="0" rIns="0" bIns="0" rtlCol="0" anchor="t">
            <a:normAutofit/>
          </a:bodyPr>
          <a:lstStyle/>
          <a:p>
            <a:pPr algn="ctr" indent="0" marL="0">
              <a:buNone/>
            </a:pPr>
            <a:r>
              <a:rPr lang="en-US" sz="560" dirty="0">
                <a:solidFill>
                  <a:srgbClr val="687486"/>
                </a:solidFill>
                <a:latin typeface="Aptos" pitchFamily="34" charset="0"/>
                <a:ea typeface="Aptos" pitchFamily="34" charset="-122"/>
                <a:cs typeface="Aptos" pitchFamily="34" charset="-120"/>
              </a:rPr>
              <a:t>Reinforces share</a:t>
            </a:r>
            <a:endParaRPr lang="en-US" sz="560" dirty="0"/>
          </a:p>
        </p:txBody>
      </p:sp>
      <p:sp>
        <p:nvSpPr>
          <p:cNvPr id="25" name="Shape 22"/>
          <p:cNvSpPr/>
          <p:nvPr/>
        </p:nvSpPr>
        <p:spPr>
          <a:xfrm>
            <a:off x="2212848" y="2606040"/>
            <a:ext cx="576072" cy="274320"/>
          </a:xfrm>
          <a:prstGeom prst="line">
            <a:avLst/>
          </a:prstGeom>
          <a:noFill/>
          <a:ln w="12700">
            <a:solidFill>
              <a:srgbClr val="199BD7"/>
            </a:solidFill>
            <a:prstDash val="solid"/>
            <a:headEnd type="none"/>
            <a:tailEnd type="triangle"/>
          </a:ln>
        </p:spPr>
      </p:sp>
      <p:sp>
        <p:nvSpPr>
          <p:cNvPr id="26" name="Shape 23"/>
          <p:cNvSpPr/>
          <p:nvPr/>
        </p:nvSpPr>
        <p:spPr>
          <a:xfrm>
            <a:off x="3840480" y="2468880"/>
            <a:ext cx="-411480" cy="347472"/>
          </a:xfrm>
          <a:prstGeom prst="line">
            <a:avLst/>
          </a:prstGeom>
          <a:noFill/>
          <a:ln w="12700">
            <a:solidFill>
              <a:srgbClr val="199BD7"/>
            </a:solidFill>
            <a:prstDash val="solid"/>
            <a:headEnd type="none"/>
            <a:tailEnd type="triangle"/>
          </a:ln>
        </p:spPr>
      </p:sp>
      <p:sp>
        <p:nvSpPr>
          <p:cNvPr id="27" name="Shape 24"/>
          <p:cNvSpPr/>
          <p:nvPr/>
        </p:nvSpPr>
        <p:spPr>
          <a:xfrm>
            <a:off x="3886200" y="3749040"/>
            <a:ext cx="-274320" cy="-73152"/>
          </a:xfrm>
          <a:prstGeom prst="line">
            <a:avLst/>
          </a:prstGeom>
          <a:noFill/>
          <a:ln w="12700">
            <a:solidFill>
              <a:srgbClr val="199BD7"/>
            </a:solidFill>
            <a:prstDash val="solid"/>
            <a:headEnd type="none"/>
            <a:tailEnd type="triangle"/>
          </a:ln>
        </p:spPr>
      </p:sp>
      <p:sp>
        <p:nvSpPr>
          <p:cNvPr id="28" name="Shape 25"/>
          <p:cNvSpPr/>
          <p:nvPr/>
        </p:nvSpPr>
        <p:spPr>
          <a:xfrm>
            <a:off x="2926080" y="4526280"/>
            <a:ext cx="-91440" cy="-722376"/>
          </a:xfrm>
          <a:prstGeom prst="line">
            <a:avLst/>
          </a:prstGeom>
          <a:noFill/>
          <a:ln w="12700">
            <a:solidFill>
              <a:srgbClr val="199BD7"/>
            </a:solidFill>
            <a:prstDash val="solid"/>
            <a:headEnd type="none"/>
            <a:tailEnd type="triangle"/>
          </a:ln>
        </p:spPr>
      </p:sp>
      <p:sp>
        <p:nvSpPr>
          <p:cNvPr id="29" name="Shape 26"/>
          <p:cNvSpPr/>
          <p:nvPr/>
        </p:nvSpPr>
        <p:spPr>
          <a:xfrm>
            <a:off x="1783080" y="3986784"/>
            <a:ext cx="484632" cy="-557784"/>
          </a:xfrm>
          <a:prstGeom prst="line">
            <a:avLst/>
          </a:prstGeom>
          <a:noFill/>
          <a:ln w="12700">
            <a:solidFill>
              <a:srgbClr val="199BD7"/>
            </a:solidFill>
            <a:prstDash val="solid"/>
            <a:headEnd type="none"/>
            <a:tailEnd type="triangle"/>
          </a:ln>
        </p:spPr>
      </p:sp>
      <p:sp>
        <p:nvSpPr>
          <p:cNvPr id="30" name="Shape 27"/>
          <p:cNvSpPr/>
          <p:nvPr/>
        </p:nvSpPr>
        <p:spPr>
          <a:xfrm>
            <a:off x="5989320" y="1298448"/>
            <a:ext cx="5349240" cy="4498848"/>
          </a:xfrm>
          <a:prstGeom prst="roundRect">
            <a:avLst>
              <a:gd name="adj" fmla="val 1626"/>
            </a:avLst>
          </a:prstGeom>
          <a:solidFill>
            <a:srgbClr val="F7FAFC"/>
          </a:solidFill>
          <a:ln w="8890">
            <a:solidFill>
              <a:srgbClr val="D7E2EB"/>
            </a:solidFill>
            <a:prstDash val="solid"/>
          </a:ln>
        </p:spPr>
      </p:sp>
      <p:sp>
        <p:nvSpPr>
          <p:cNvPr id="31" name="Text 28"/>
          <p:cNvSpPr/>
          <p:nvPr/>
        </p:nvSpPr>
        <p:spPr>
          <a:xfrm>
            <a:off x="6263640" y="1536192"/>
            <a:ext cx="2103120" cy="219456"/>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Backlog-to-earnings bridge</a:t>
            </a:r>
            <a:endParaRPr lang="en-US" sz="1000" dirty="0"/>
          </a:p>
        </p:txBody>
      </p:sp>
      <p:sp>
        <p:nvSpPr>
          <p:cNvPr id="32" name="Shape 29"/>
          <p:cNvSpPr/>
          <p:nvPr/>
        </p:nvSpPr>
        <p:spPr>
          <a:xfrm>
            <a:off x="6263640" y="2039112"/>
            <a:ext cx="228600" cy="228600"/>
          </a:xfrm>
          <a:prstGeom prst="roundRect">
            <a:avLst>
              <a:gd name="adj" fmla="val 48000"/>
            </a:avLst>
          </a:prstGeom>
          <a:solidFill>
            <a:srgbClr val="199BD7"/>
          </a:solidFill>
          <a:ln w="8890">
            <a:solidFill>
              <a:srgbClr val="199BD7">
                <a:alpha val="0"/>
              </a:srgbClr>
            </a:solidFill>
            <a:prstDash val="solid"/>
          </a:ln>
        </p:spPr>
      </p:sp>
      <p:sp>
        <p:nvSpPr>
          <p:cNvPr id="33" name="Text 30"/>
          <p:cNvSpPr/>
          <p:nvPr/>
        </p:nvSpPr>
        <p:spPr>
          <a:xfrm>
            <a:off x="6318504" y="2089404"/>
            <a:ext cx="118872" cy="15544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Aptos" pitchFamily="34" charset="0"/>
                <a:ea typeface="Aptos" pitchFamily="34" charset="-122"/>
                <a:cs typeface="Aptos" pitchFamily="34" charset="-120"/>
              </a:rPr>
              <a:t>1</a:t>
            </a:r>
            <a:endParaRPr lang="en-US" sz="650" dirty="0"/>
          </a:p>
        </p:txBody>
      </p:sp>
      <p:sp>
        <p:nvSpPr>
          <p:cNvPr id="34" name="Text 31"/>
          <p:cNvSpPr/>
          <p:nvPr/>
        </p:nvSpPr>
        <p:spPr>
          <a:xfrm>
            <a:off x="6620256" y="2066544"/>
            <a:ext cx="1261872" cy="164592"/>
          </a:xfrm>
          <a:prstGeom prst="rect">
            <a:avLst/>
          </a:prstGeom>
          <a:noFill/>
          <a:ln/>
        </p:spPr>
        <p:txBody>
          <a:bodyPr wrap="square" lIns="0" tIns="0" rIns="0" bIns="0" rtlCol="0" anchor="t">
            <a:normAutofit/>
          </a:bodyPr>
          <a:lstStyle/>
          <a:p>
            <a:pPr algn="l" indent="0" marL="0">
              <a:buNone/>
            </a:pPr>
            <a:r>
              <a:rPr lang="en-US" sz="760" b="1" dirty="0">
                <a:solidFill>
                  <a:srgbClr val="17212B"/>
                </a:solidFill>
                <a:latin typeface="Aptos" pitchFamily="34" charset="0"/>
                <a:ea typeface="Aptos" pitchFamily="34" charset="-122"/>
                <a:cs typeface="Aptos" pitchFamily="34" charset="-120"/>
              </a:rPr>
              <a:t>Order intake</a:t>
            </a:r>
            <a:endParaRPr lang="en-US" sz="760" dirty="0"/>
          </a:p>
        </p:txBody>
      </p:sp>
      <p:sp>
        <p:nvSpPr>
          <p:cNvPr id="35" name="Text 32"/>
          <p:cNvSpPr/>
          <p:nvPr/>
        </p:nvSpPr>
        <p:spPr>
          <a:xfrm>
            <a:off x="8046720" y="2057400"/>
            <a:ext cx="960120" cy="164592"/>
          </a:xfrm>
          <a:prstGeom prst="rect">
            <a:avLst/>
          </a:prstGeom>
          <a:noFill/>
          <a:ln/>
        </p:spPr>
        <p:txBody>
          <a:bodyPr wrap="square" lIns="0" tIns="0" rIns="0" bIns="0" rtlCol="0" anchor="t">
            <a:normAutofit/>
          </a:bodyPr>
          <a:lstStyle/>
          <a:p>
            <a:pPr algn="r" indent="0" marL="0">
              <a:buNone/>
            </a:pPr>
            <a:r>
              <a:rPr lang="en-US" sz="760" b="1" dirty="0">
                <a:solidFill>
                  <a:srgbClr val="199BD7"/>
                </a:solidFill>
                <a:latin typeface="Aptos" pitchFamily="34" charset="0"/>
                <a:ea typeface="Aptos" pitchFamily="34" charset="-122"/>
                <a:cs typeface="Aptos" pitchFamily="34" charset="-120"/>
              </a:rPr>
              <a:t>CHF856m</a:t>
            </a:r>
            <a:endParaRPr lang="en-US" sz="760" dirty="0"/>
          </a:p>
        </p:txBody>
      </p:sp>
      <p:sp>
        <p:nvSpPr>
          <p:cNvPr id="36" name="Text 33"/>
          <p:cNvSpPr/>
          <p:nvPr/>
        </p:nvSpPr>
        <p:spPr>
          <a:xfrm>
            <a:off x="9189720" y="2066544"/>
            <a:ext cx="1325880" cy="164592"/>
          </a:xfrm>
          <a:prstGeom prst="rect">
            <a:avLst/>
          </a:prstGeom>
          <a:noFill/>
          <a:ln/>
        </p:spPr>
        <p:txBody>
          <a:bodyPr wrap="square" lIns="0" tIns="0" rIns="0" bIns="0" rtlCol="0" anchor="t">
            <a:normAutofit/>
          </a:bodyPr>
          <a:lstStyle/>
          <a:p>
            <a:pPr algn="l" indent="0" marL="0">
              <a:buNone/>
            </a:pPr>
            <a:r>
              <a:rPr lang="en-US" sz="640" dirty="0">
                <a:solidFill>
                  <a:srgbClr val="687486"/>
                </a:solidFill>
                <a:latin typeface="Aptos" pitchFamily="34" charset="0"/>
                <a:ea typeface="Aptos" pitchFamily="34" charset="-122"/>
                <a:cs typeface="Aptos" pitchFamily="34" charset="-120"/>
              </a:rPr>
              <a:t>+75% YoY</a:t>
            </a:r>
            <a:endParaRPr lang="en-US" sz="640" dirty="0"/>
          </a:p>
        </p:txBody>
      </p:sp>
      <p:sp>
        <p:nvSpPr>
          <p:cNvPr id="37" name="Shape 34"/>
          <p:cNvSpPr/>
          <p:nvPr/>
        </p:nvSpPr>
        <p:spPr>
          <a:xfrm>
            <a:off x="6382512" y="2286000"/>
            <a:ext cx="0" cy="210312"/>
          </a:xfrm>
          <a:prstGeom prst="line">
            <a:avLst/>
          </a:prstGeom>
          <a:noFill/>
          <a:ln w="10160">
            <a:solidFill>
              <a:srgbClr val="199BD7"/>
            </a:solidFill>
            <a:prstDash val="solid"/>
            <a:headEnd type="none"/>
            <a:tailEnd type="none"/>
          </a:ln>
        </p:spPr>
      </p:sp>
      <p:sp>
        <p:nvSpPr>
          <p:cNvPr id="38" name="Shape 35"/>
          <p:cNvSpPr/>
          <p:nvPr/>
        </p:nvSpPr>
        <p:spPr>
          <a:xfrm>
            <a:off x="6263640" y="2587752"/>
            <a:ext cx="228600" cy="228600"/>
          </a:xfrm>
          <a:prstGeom prst="roundRect">
            <a:avLst>
              <a:gd name="adj" fmla="val 48000"/>
            </a:avLst>
          </a:prstGeom>
          <a:solidFill>
            <a:srgbClr val="199BD7"/>
          </a:solidFill>
          <a:ln w="8890">
            <a:solidFill>
              <a:srgbClr val="199BD7">
                <a:alpha val="0"/>
              </a:srgbClr>
            </a:solidFill>
            <a:prstDash val="solid"/>
          </a:ln>
        </p:spPr>
      </p:sp>
      <p:sp>
        <p:nvSpPr>
          <p:cNvPr id="39" name="Text 36"/>
          <p:cNvSpPr/>
          <p:nvPr/>
        </p:nvSpPr>
        <p:spPr>
          <a:xfrm>
            <a:off x="6318504" y="2638044"/>
            <a:ext cx="118872" cy="15544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Aptos" pitchFamily="34" charset="0"/>
                <a:ea typeface="Aptos" pitchFamily="34" charset="-122"/>
                <a:cs typeface="Aptos" pitchFamily="34" charset="-120"/>
              </a:rPr>
              <a:t>2</a:t>
            </a:r>
            <a:endParaRPr lang="en-US" sz="650" dirty="0"/>
          </a:p>
        </p:txBody>
      </p:sp>
      <p:sp>
        <p:nvSpPr>
          <p:cNvPr id="40" name="Text 37"/>
          <p:cNvSpPr/>
          <p:nvPr/>
        </p:nvSpPr>
        <p:spPr>
          <a:xfrm>
            <a:off x="6620256" y="2615184"/>
            <a:ext cx="1261872" cy="164592"/>
          </a:xfrm>
          <a:prstGeom prst="rect">
            <a:avLst/>
          </a:prstGeom>
          <a:noFill/>
          <a:ln/>
        </p:spPr>
        <p:txBody>
          <a:bodyPr wrap="square" lIns="0" tIns="0" rIns="0" bIns="0" rtlCol="0" anchor="t">
            <a:normAutofit/>
          </a:bodyPr>
          <a:lstStyle/>
          <a:p>
            <a:pPr algn="l" indent="0" marL="0">
              <a:buNone/>
            </a:pPr>
            <a:r>
              <a:rPr lang="en-US" sz="760" b="1" dirty="0">
                <a:solidFill>
                  <a:srgbClr val="17212B"/>
                </a:solidFill>
                <a:latin typeface="Aptos" pitchFamily="34" charset="0"/>
                <a:ea typeface="Aptos" pitchFamily="34" charset="-122"/>
                <a:cs typeface="Aptos" pitchFamily="34" charset="-120"/>
              </a:rPr>
              <a:t>Backlog</a:t>
            </a:r>
            <a:endParaRPr lang="en-US" sz="760" dirty="0"/>
          </a:p>
        </p:txBody>
      </p:sp>
      <p:sp>
        <p:nvSpPr>
          <p:cNvPr id="41" name="Text 38"/>
          <p:cNvSpPr/>
          <p:nvPr/>
        </p:nvSpPr>
        <p:spPr>
          <a:xfrm>
            <a:off x="8046720" y="2606040"/>
            <a:ext cx="960120" cy="164592"/>
          </a:xfrm>
          <a:prstGeom prst="rect">
            <a:avLst/>
          </a:prstGeom>
          <a:noFill/>
          <a:ln/>
        </p:spPr>
        <p:txBody>
          <a:bodyPr wrap="square" lIns="0" tIns="0" rIns="0" bIns="0" rtlCol="0" anchor="t">
            <a:normAutofit/>
          </a:bodyPr>
          <a:lstStyle/>
          <a:p>
            <a:pPr algn="r" indent="0" marL="0">
              <a:buNone/>
            </a:pPr>
            <a:r>
              <a:rPr lang="en-US" sz="760" b="1" dirty="0">
                <a:solidFill>
                  <a:srgbClr val="199BD7"/>
                </a:solidFill>
                <a:latin typeface="Aptos" pitchFamily="34" charset="0"/>
                <a:ea typeface="Aptos" pitchFamily="34" charset="-122"/>
                <a:cs typeface="Aptos" pitchFamily="34" charset="-120"/>
              </a:rPr>
              <a:t>CHF648m</a:t>
            </a:r>
            <a:endParaRPr lang="en-US" sz="760" dirty="0"/>
          </a:p>
        </p:txBody>
      </p:sp>
      <p:sp>
        <p:nvSpPr>
          <p:cNvPr id="42" name="Text 39"/>
          <p:cNvSpPr/>
          <p:nvPr/>
        </p:nvSpPr>
        <p:spPr>
          <a:xfrm>
            <a:off x="9189720" y="2615184"/>
            <a:ext cx="1325880" cy="164592"/>
          </a:xfrm>
          <a:prstGeom prst="rect">
            <a:avLst/>
          </a:prstGeom>
          <a:noFill/>
          <a:ln/>
        </p:spPr>
        <p:txBody>
          <a:bodyPr wrap="square" lIns="0" tIns="0" rIns="0" bIns="0" rtlCol="0" anchor="t">
            <a:normAutofit/>
          </a:bodyPr>
          <a:lstStyle/>
          <a:p>
            <a:pPr algn="l" indent="0" marL="0">
              <a:buNone/>
            </a:pPr>
            <a:r>
              <a:rPr lang="en-US" sz="640" dirty="0">
                <a:solidFill>
                  <a:srgbClr val="687486"/>
                </a:solidFill>
                <a:latin typeface="Aptos" pitchFamily="34" charset="0"/>
                <a:ea typeface="Aptos" pitchFamily="34" charset="-122"/>
                <a:cs typeface="Aptos" pitchFamily="34" charset="-120"/>
              </a:rPr>
              <a:t>+121% YoY</a:t>
            </a:r>
            <a:endParaRPr lang="en-US" sz="640" dirty="0"/>
          </a:p>
        </p:txBody>
      </p:sp>
      <p:sp>
        <p:nvSpPr>
          <p:cNvPr id="43" name="Shape 40"/>
          <p:cNvSpPr/>
          <p:nvPr/>
        </p:nvSpPr>
        <p:spPr>
          <a:xfrm>
            <a:off x="6382512" y="2834640"/>
            <a:ext cx="0" cy="210312"/>
          </a:xfrm>
          <a:prstGeom prst="line">
            <a:avLst/>
          </a:prstGeom>
          <a:noFill/>
          <a:ln w="10160">
            <a:solidFill>
              <a:srgbClr val="199BD7"/>
            </a:solidFill>
            <a:prstDash val="solid"/>
            <a:headEnd type="none"/>
            <a:tailEnd type="none"/>
          </a:ln>
        </p:spPr>
      </p:sp>
      <p:sp>
        <p:nvSpPr>
          <p:cNvPr id="44" name="Shape 41"/>
          <p:cNvSpPr/>
          <p:nvPr/>
        </p:nvSpPr>
        <p:spPr>
          <a:xfrm>
            <a:off x="6263640" y="3136392"/>
            <a:ext cx="228600" cy="228600"/>
          </a:xfrm>
          <a:prstGeom prst="roundRect">
            <a:avLst>
              <a:gd name="adj" fmla="val 48000"/>
            </a:avLst>
          </a:prstGeom>
          <a:solidFill>
            <a:srgbClr val="199BD7"/>
          </a:solidFill>
          <a:ln w="8890">
            <a:solidFill>
              <a:srgbClr val="199BD7">
                <a:alpha val="0"/>
              </a:srgbClr>
            </a:solidFill>
            <a:prstDash val="solid"/>
          </a:ln>
        </p:spPr>
      </p:sp>
      <p:sp>
        <p:nvSpPr>
          <p:cNvPr id="45" name="Text 42"/>
          <p:cNvSpPr/>
          <p:nvPr/>
        </p:nvSpPr>
        <p:spPr>
          <a:xfrm>
            <a:off x="6318504" y="3186684"/>
            <a:ext cx="118872" cy="15544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Aptos" pitchFamily="34" charset="0"/>
                <a:ea typeface="Aptos" pitchFamily="34" charset="-122"/>
                <a:cs typeface="Aptos" pitchFamily="34" charset="-120"/>
              </a:rPr>
              <a:t>3</a:t>
            </a:r>
            <a:endParaRPr lang="en-US" sz="650" dirty="0"/>
          </a:p>
        </p:txBody>
      </p:sp>
      <p:sp>
        <p:nvSpPr>
          <p:cNvPr id="46" name="Text 43"/>
          <p:cNvSpPr/>
          <p:nvPr/>
        </p:nvSpPr>
        <p:spPr>
          <a:xfrm>
            <a:off x="6620256" y="3163824"/>
            <a:ext cx="1261872" cy="164592"/>
          </a:xfrm>
          <a:prstGeom prst="rect">
            <a:avLst/>
          </a:prstGeom>
          <a:noFill/>
          <a:ln/>
        </p:spPr>
        <p:txBody>
          <a:bodyPr wrap="square" lIns="0" tIns="0" rIns="0" bIns="0" rtlCol="0" anchor="t">
            <a:normAutofit/>
          </a:bodyPr>
          <a:lstStyle/>
          <a:p>
            <a:pPr algn="l" indent="0" marL="0">
              <a:buNone/>
            </a:pPr>
            <a:r>
              <a:rPr lang="en-US" sz="760" b="1" dirty="0">
                <a:solidFill>
                  <a:srgbClr val="17212B"/>
                </a:solidFill>
                <a:latin typeface="Aptos" pitchFamily="34" charset="0"/>
                <a:ea typeface="Aptos" pitchFamily="34" charset="-122"/>
                <a:cs typeface="Aptos" pitchFamily="34" charset="-120"/>
              </a:rPr>
              <a:t>Factory run-rate</a:t>
            </a:r>
            <a:endParaRPr lang="en-US" sz="760" dirty="0"/>
          </a:p>
        </p:txBody>
      </p:sp>
      <p:sp>
        <p:nvSpPr>
          <p:cNvPr id="47" name="Text 44"/>
          <p:cNvSpPr/>
          <p:nvPr/>
        </p:nvSpPr>
        <p:spPr>
          <a:xfrm>
            <a:off x="8046720" y="3154680"/>
            <a:ext cx="960120" cy="164592"/>
          </a:xfrm>
          <a:prstGeom prst="rect">
            <a:avLst/>
          </a:prstGeom>
          <a:noFill/>
          <a:ln/>
        </p:spPr>
        <p:txBody>
          <a:bodyPr wrap="square" lIns="0" tIns="0" rIns="0" bIns="0" rtlCol="0" anchor="t">
            <a:normAutofit/>
          </a:bodyPr>
          <a:lstStyle/>
          <a:p>
            <a:pPr algn="r" indent="0" marL="0">
              <a:buNone/>
            </a:pPr>
            <a:r>
              <a:rPr lang="en-US" sz="760" b="1" dirty="0">
                <a:solidFill>
                  <a:srgbClr val="199BD7"/>
                </a:solidFill>
                <a:latin typeface="Aptos" pitchFamily="34" charset="0"/>
                <a:ea typeface="Aptos" pitchFamily="34" charset="-122"/>
                <a:cs typeface="Aptos" pitchFamily="34" charset="-120"/>
              </a:rPr>
              <a:t>&gt;CHF450m</a:t>
            </a:r>
            <a:endParaRPr lang="en-US" sz="760" dirty="0"/>
          </a:p>
        </p:txBody>
      </p:sp>
      <p:sp>
        <p:nvSpPr>
          <p:cNvPr id="48" name="Text 45"/>
          <p:cNvSpPr/>
          <p:nvPr/>
        </p:nvSpPr>
        <p:spPr>
          <a:xfrm>
            <a:off x="9189720" y="3163824"/>
            <a:ext cx="1325880" cy="164592"/>
          </a:xfrm>
          <a:prstGeom prst="rect">
            <a:avLst/>
          </a:prstGeom>
          <a:noFill/>
          <a:ln/>
        </p:spPr>
        <p:txBody>
          <a:bodyPr wrap="square" lIns="0" tIns="0" rIns="0" bIns="0" rtlCol="0" anchor="t">
            <a:normAutofit/>
          </a:bodyPr>
          <a:lstStyle/>
          <a:p>
            <a:pPr algn="l" indent="0" marL="0">
              <a:buNone/>
            </a:pPr>
            <a:r>
              <a:rPr lang="en-US" sz="640" dirty="0">
                <a:solidFill>
                  <a:srgbClr val="687486"/>
                </a:solidFill>
                <a:latin typeface="Aptos" pitchFamily="34" charset="0"/>
                <a:ea typeface="Aptos" pitchFamily="34" charset="-122"/>
                <a:cs typeface="Aptos" pitchFamily="34" charset="-120"/>
              </a:rPr>
              <a:t>target by YE26</a:t>
            </a:r>
            <a:endParaRPr lang="en-US" sz="640" dirty="0"/>
          </a:p>
        </p:txBody>
      </p:sp>
      <p:sp>
        <p:nvSpPr>
          <p:cNvPr id="49" name="Shape 46"/>
          <p:cNvSpPr/>
          <p:nvPr/>
        </p:nvSpPr>
        <p:spPr>
          <a:xfrm>
            <a:off x="6382512" y="3383280"/>
            <a:ext cx="0" cy="210312"/>
          </a:xfrm>
          <a:prstGeom prst="line">
            <a:avLst/>
          </a:prstGeom>
          <a:noFill/>
          <a:ln w="10160">
            <a:solidFill>
              <a:srgbClr val="199BD7"/>
            </a:solidFill>
            <a:prstDash val="solid"/>
            <a:headEnd type="none"/>
            <a:tailEnd type="none"/>
          </a:ln>
        </p:spPr>
      </p:sp>
      <p:sp>
        <p:nvSpPr>
          <p:cNvPr id="50" name="Shape 47"/>
          <p:cNvSpPr/>
          <p:nvPr/>
        </p:nvSpPr>
        <p:spPr>
          <a:xfrm>
            <a:off x="6263640" y="3685032"/>
            <a:ext cx="228600" cy="228600"/>
          </a:xfrm>
          <a:prstGeom prst="roundRect">
            <a:avLst>
              <a:gd name="adj" fmla="val 48000"/>
            </a:avLst>
          </a:prstGeom>
          <a:solidFill>
            <a:srgbClr val="199BD7"/>
          </a:solidFill>
          <a:ln w="8890">
            <a:solidFill>
              <a:srgbClr val="199BD7">
                <a:alpha val="0"/>
              </a:srgbClr>
            </a:solidFill>
            <a:prstDash val="solid"/>
          </a:ln>
        </p:spPr>
      </p:sp>
      <p:sp>
        <p:nvSpPr>
          <p:cNvPr id="51" name="Text 48"/>
          <p:cNvSpPr/>
          <p:nvPr/>
        </p:nvSpPr>
        <p:spPr>
          <a:xfrm>
            <a:off x="6318504" y="3735324"/>
            <a:ext cx="118872" cy="15544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Aptos" pitchFamily="34" charset="0"/>
                <a:ea typeface="Aptos" pitchFamily="34" charset="-122"/>
                <a:cs typeface="Aptos" pitchFamily="34" charset="-120"/>
              </a:rPr>
              <a:t>4</a:t>
            </a:r>
            <a:endParaRPr lang="en-US" sz="650" dirty="0"/>
          </a:p>
        </p:txBody>
      </p:sp>
      <p:sp>
        <p:nvSpPr>
          <p:cNvPr id="52" name="Text 49"/>
          <p:cNvSpPr/>
          <p:nvPr/>
        </p:nvSpPr>
        <p:spPr>
          <a:xfrm>
            <a:off x="6620256" y="3712464"/>
            <a:ext cx="1261872" cy="164592"/>
          </a:xfrm>
          <a:prstGeom prst="rect">
            <a:avLst/>
          </a:prstGeom>
          <a:noFill/>
          <a:ln/>
        </p:spPr>
        <p:txBody>
          <a:bodyPr wrap="square" lIns="0" tIns="0" rIns="0" bIns="0" rtlCol="0" anchor="t">
            <a:normAutofit/>
          </a:bodyPr>
          <a:lstStyle/>
          <a:p>
            <a:pPr algn="l" indent="0" marL="0">
              <a:buNone/>
            </a:pPr>
            <a:r>
              <a:rPr lang="en-US" sz="760" b="1" dirty="0">
                <a:solidFill>
                  <a:srgbClr val="17212B"/>
                </a:solidFill>
                <a:latin typeface="Aptos" pitchFamily="34" charset="0"/>
                <a:ea typeface="Aptos" pitchFamily="34" charset="-122"/>
                <a:cs typeface="Aptos" pitchFamily="34" charset="-120"/>
              </a:rPr>
              <a:t>Revenue conversion</a:t>
            </a:r>
            <a:endParaRPr lang="en-US" sz="760" dirty="0"/>
          </a:p>
        </p:txBody>
      </p:sp>
      <p:sp>
        <p:nvSpPr>
          <p:cNvPr id="53" name="Text 50"/>
          <p:cNvSpPr/>
          <p:nvPr/>
        </p:nvSpPr>
        <p:spPr>
          <a:xfrm>
            <a:off x="8046720" y="3703320"/>
            <a:ext cx="960120" cy="164592"/>
          </a:xfrm>
          <a:prstGeom prst="rect">
            <a:avLst/>
          </a:prstGeom>
          <a:noFill/>
          <a:ln/>
        </p:spPr>
        <p:txBody>
          <a:bodyPr wrap="square" lIns="0" tIns="0" rIns="0" bIns="0" rtlCol="0" anchor="t">
            <a:normAutofit/>
          </a:bodyPr>
          <a:lstStyle/>
          <a:p>
            <a:pPr algn="r" indent="0" marL="0">
              <a:buNone/>
            </a:pPr>
            <a:r>
              <a:rPr lang="en-US" sz="760" b="1" dirty="0">
                <a:solidFill>
                  <a:srgbClr val="199BD7"/>
                </a:solidFill>
                <a:latin typeface="Aptos" pitchFamily="34" charset="0"/>
                <a:ea typeface="Aptos" pitchFamily="34" charset="-122"/>
                <a:cs typeface="Aptos" pitchFamily="34" charset="-120"/>
              </a:rPr>
              <a:t>FY27-28</a:t>
            </a:r>
            <a:endParaRPr lang="en-US" sz="760" dirty="0"/>
          </a:p>
        </p:txBody>
      </p:sp>
      <p:sp>
        <p:nvSpPr>
          <p:cNvPr id="54" name="Text 51"/>
          <p:cNvSpPr/>
          <p:nvPr/>
        </p:nvSpPr>
        <p:spPr>
          <a:xfrm>
            <a:off x="9189720" y="3712464"/>
            <a:ext cx="1325880" cy="164592"/>
          </a:xfrm>
          <a:prstGeom prst="rect">
            <a:avLst/>
          </a:prstGeom>
          <a:noFill/>
          <a:ln/>
        </p:spPr>
        <p:txBody>
          <a:bodyPr wrap="square" lIns="0" tIns="0" rIns="0" bIns="0" rtlCol="0" anchor="t">
            <a:normAutofit/>
          </a:bodyPr>
          <a:lstStyle/>
          <a:p>
            <a:pPr algn="l" indent="0" marL="0">
              <a:buNone/>
            </a:pPr>
            <a:r>
              <a:rPr lang="en-US" sz="640" dirty="0">
                <a:solidFill>
                  <a:srgbClr val="687486"/>
                </a:solidFill>
                <a:latin typeface="Aptos" pitchFamily="34" charset="0"/>
                <a:ea typeface="Aptos" pitchFamily="34" charset="-122"/>
                <a:cs typeface="Aptos" pitchFamily="34" charset="-120"/>
              </a:rPr>
              <a:t>capacity dependent</a:t>
            </a:r>
            <a:endParaRPr lang="en-US" sz="640" dirty="0"/>
          </a:p>
        </p:txBody>
      </p:sp>
      <p:sp>
        <p:nvSpPr>
          <p:cNvPr id="55" name="Shape 52"/>
          <p:cNvSpPr/>
          <p:nvPr/>
        </p:nvSpPr>
        <p:spPr>
          <a:xfrm>
            <a:off x="6382512" y="3931920"/>
            <a:ext cx="0" cy="210312"/>
          </a:xfrm>
          <a:prstGeom prst="line">
            <a:avLst/>
          </a:prstGeom>
          <a:noFill/>
          <a:ln w="10160">
            <a:solidFill>
              <a:srgbClr val="199BD7"/>
            </a:solidFill>
            <a:prstDash val="solid"/>
            <a:headEnd type="none"/>
            <a:tailEnd type="none"/>
          </a:ln>
        </p:spPr>
      </p:sp>
      <p:sp>
        <p:nvSpPr>
          <p:cNvPr id="56" name="Shape 53"/>
          <p:cNvSpPr/>
          <p:nvPr/>
        </p:nvSpPr>
        <p:spPr>
          <a:xfrm>
            <a:off x="6263640" y="4233672"/>
            <a:ext cx="228600" cy="228600"/>
          </a:xfrm>
          <a:prstGeom prst="roundRect">
            <a:avLst>
              <a:gd name="adj" fmla="val 48000"/>
            </a:avLst>
          </a:prstGeom>
          <a:solidFill>
            <a:srgbClr val="199BD7"/>
          </a:solidFill>
          <a:ln w="8890">
            <a:solidFill>
              <a:srgbClr val="199BD7">
                <a:alpha val="0"/>
              </a:srgbClr>
            </a:solidFill>
            <a:prstDash val="solid"/>
          </a:ln>
        </p:spPr>
      </p:sp>
      <p:sp>
        <p:nvSpPr>
          <p:cNvPr id="57" name="Text 54"/>
          <p:cNvSpPr/>
          <p:nvPr/>
        </p:nvSpPr>
        <p:spPr>
          <a:xfrm>
            <a:off x="6318504" y="4283964"/>
            <a:ext cx="118872" cy="15544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Aptos" pitchFamily="34" charset="0"/>
                <a:ea typeface="Aptos" pitchFamily="34" charset="-122"/>
                <a:cs typeface="Aptos" pitchFamily="34" charset="-120"/>
              </a:rPr>
              <a:t>5</a:t>
            </a:r>
            <a:endParaRPr lang="en-US" sz="650" dirty="0"/>
          </a:p>
        </p:txBody>
      </p:sp>
      <p:sp>
        <p:nvSpPr>
          <p:cNvPr id="58" name="Text 55"/>
          <p:cNvSpPr/>
          <p:nvPr/>
        </p:nvSpPr>
        <p:spPr>
          <a:xfrm>
            <a:off x="6620256" y="4261104"/>
            <a:ext cx="1261872" cy="164592"/>
          </a:xfrm>
          <a:prstGeom prst="rect">
            <a:avLst/>
          </a:prstGeom>
          <a:noFill/>
          <a:ln/>
        </p:spPr>
        <p:txBody>
          <a:bodyPr wrap="square" lIns="0" tIns="0" rIns="0" bIns="0" rtlCol="0" anchor="t">
            <a:normAutofit/>
          </a:bodyPr>
          <a:lstStyle/>
          <a:p>
            <a:pPr algn="l" indent="0" marL="0">
              <a:buNone/>
            </a:pPr>
            <a:r>
              <a:rPr lang="en-US" sz="760" b="1" dirty="0">
                <a:solidFill>
                  <a:srgbClr val="17212B"/>
                </a:solidFill>
                <a:latin typeface="Aptos" pitchFamily="34" charset="0"/>
                <a:ea typeface="Aptos" pitchFamily="34" charset="-122"/>
                <a:cs typeface="Aptos" pitchFamily="34" charset="-120"/>
              </a:rPr>
              <a:t>EBITDA leverage</a:t>
            </a:r>
            <a:endParaRPr lang="en-US" sz="760" dirty="0"/>
          </a:p>
        </p:txBody>
      </p:sp>
      <p:sp>
        <p:nvSpPr>
          <p:cNvPr id="59" name="Text 56"/>
          <p:cNvSpPr/>
          <p:nvPr/>
        </p:nvSpPr>
        <p:spPr>
          <a:xfrm>
            <a:off x="8046720" y="4251960"/>
            <a:ext cx="960120" cy="164592"/>
          </a:xfrm>
          <a:prstGeom prst="rect">
            <a:avLst/>
          </a:prstGeom>
          <a:noFill/>
          <a:ln/>
        </p:spPr>
        <p:txBody>
          <a:bodyPr wrap="square" lIns="0" tIns="0" rIns="0" bIns="0" rtlCol="0" anchor="t">
            <a:normAutofit/>
          </a:bodyPr>
          <a:lstStyle/>
          <a:p>
            <a:pPr algn="r" indent="0" marL="0">
              <a:buNone/>
            </a:pPr>
            <a:r>
              <a:rPr lang="en-US" sz="760" b="1" dirty="0">
                <a:solidFill>
                  <a:srgbClr val="199BD7"/>
                </a:solidFill>
                <a:latin typeface="Aptos" pitchFamily="34" charset="0"/>
                <a:ea typeface="Aptos" pitchFamily="34" charset="-122"/>
                <a:cs typeface="Aptos" pitchFamily="34" charset="-120"/>
              </a:rPr>
              <a:t>mix/utilisation</a:t>
            </a:r>
            <a:endParaRPr lang="en-US" sz="760" dirty="0"/>
          </a:p>
        </p:txBody>
      </p:sp>
      <p:sp>
        <p:nvSpPr>
          <p:cNvPr id="60" name="Text 57"/>
          <p:cNvSpPr/>
          <p:nvPr/>
        </p:nvSpPr>
        <p:spPr>
          <a:xfrm>
            <a:off x="9189720" y="4261104"/>
            <a:ext cx="1325880" cy="164592"/>
          </a:xfrm>
          <a:prstGeom prst="rect">
            <a:avLst/>
          </a:prstGeom>
          <a:noFill/>
          <a:ln/>
        </p:spPr>
        <p:txBody>
          <a:bodyPr wrap="square" lIns="0" tIns="0" rIns="0" bIns="0" rtlCol="0" anchor="t">
            <a:normAutofit/>
          </a:bodyPr>
          <a:lstStyle/>
          <a:p>
            <a:pPr algn="l" indent="0" marL="0">
              <a:buNone/>
            </a:pPr>
            <a:r>
              <a:rPr lang="en-US" sz="640" dirty="0">
                <a:solidFill>
                  <a:srgbClr val="687486"/>
                </a:solidFill>
                <a:latin typeface="Aptos" pitchFamily="34" charset="0"/>
                <a:ea typeface="Aptos" pitchFamily="34" charset="-122"/>
                <a:cs typeface="Aptos" pitchFamily="34" charset="-120"/>
              </a:rPr>
              <a:t>not automatic</a:t>
            </a:r>
            <a:endParaRPr lang="en-US" sz="640" dirty="0"/>
          </a:p>
        </p:txBody>
      </p:sp>
      <p:sp>
        <p:nvSpPr>
          <p:cNvPr id="61" name="Text 58"/>
          <p:cNvSpPr/>
          <p:nvPr/>
        </p:nvSpPr>
        <p:spPr>
          <a:xfrm>
            <a:off x="6263640" y="5120640"/>
            <a:ext cx="4709160" cy="310896"/>
          </a:xfrm>
          <a:prstGeom prst="rect">
            <a:avLst/>
          </a:prstGeom>
          <a:noFill/>
          <a:ln/>
        </p:spPr>
        <p:txBody>
          <a:bodyPr wrap="square" lIns="0" tIns="0" rIns="0" bIns="0" rtlCol="0" anchor="t">
            <a:normAutofit/>
          </a:bodyPr>
          <a:lstStyle/>
          <a:p>
            <a:pPr algn="l" indent="0" marL="0">
              <a:buNone/>
            </a:pPr>
            <a:r>
              <a:rPr lang="en-US" sz="840" b="1" dirty="0">
                <a:solidFill>
                  <a:srgbClr val="17212B"/>
                </a:solidFill>
                <a:latin typeface="Aptos" pitchFamily="34" charset="0"/>
                <a:ea typeface="Aptos" pitchFamily="34" charset="-122"/>
                <a:cs typeface="Aptos" pitchFamily="34" charset="-120"/>
              </a:rPr>
              <a:t>Management has reported the demand; the investment debate is whether VAT can lift output without quality slippage or margin dilution.</a:t>
            </a:r>
            <a:endParaRPr lang="en-US" sz="840" dirty="0"/>
          </a:p>
        </p:txBody>
      </p:sp>
      <p:sp>
        <p:nvSpPr>
          <p:cNvPr id="62" name="Shape 59"/>
          <p:cNvSpPr/>
          <p:nvPr/>
        </p:nvSpPr>
        <p:spPr>
          <a:xfrm>
            <a:off x="420624" y="6419088"/>
            <a:ext cx="11338560" cy="0"/>
          </a:xfrm>
          <a:prstGeom prst="line">
            <a:avLst/>
          </a:prstGeom>
          <a:noFill/>
          <a:ln w="7620">
            <a:solidFill>
              <a:srgbClr val="D7E2EB"/>
            </a:solidFill>
            <a:prstDash val="solid"/>
            <a:headEnd type="none"/>
            <a:tailEnd type="none"/>
          </a:ln>
        </p:spPr>
      </p:sp>
      <p:sp>
        <p:nvSpPr>
          <p:cNvPr id="63" name="Text 60"/>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H1 2026 release; VAT CMD materials; uploaded VAT 101 document; analyst estimates.</a:t>
            </a:r>
            <a:endParaRPr lang="en-US" sz="540" dirty="0"/>
          </a:p>
        </p:txBody>
      </p:sp>
      <p:sp>
        <p:nvSpPr>
          <p:cNvPr id="64" name="Text 61"/>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7</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VARIANT PERCEPTION</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The market recognises VAT's quality; the variant view is vacuum intensity plus backlog conversion can beat expectations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585216" y="1307592"/>
            <a:ext cx="3383280" cy="4370832"/>
          </a:xfrm>
          <a:prstGeom prst="roundRect">
            <a:avLst>
              <a:gd name="adj" fmla="val 2162"/>
            </a:avLst>
          </a:prstGeom>
          <a:solidFill>
            <a:srgbClr val="FFFFFF"/>
          </a:solidFill>
          <a:ln w="8890">
            <a:solidFill>
              <a:srgbClr val="D7E2EB"/>
            </a:solidFill>
            <a:prstDash val="solid"/>
          </a:ln>
        </p:spPr>
      </p:sp>
      <p:sp>
        <p:nvSpPr>
          <p:cNvPr id="7" name="Text 4"/>
          <p:cNvSpPr/>
          <p:nvPr/>
        </p:nvSpPr>
        <p:spPr>
          <a:xfrm>
            <a:off x="786384" y="1554480"/>
            <a:ext cx="2286000" cy="219456"/>
          </a:xfrm>
          <a:prstGeom prst="rect">
            <a:avLst/>
          </a:prstGeom>
          <a:noFill/>
          <a:ln/>
        </p:spPr>
        <p:txBody>
          <a:bodyPr wrap="square" lIns="0" tIns="0" rIns="0" bIns="0" rtlCol="0" anchor="t">
            <a:normAutofit/>
          </a:bodyPr>
          <a:lstStyle/>
          <a:p>
            <a:pPr algn="l" indent="0" marL="0">
              <a:buNone/>
            </a:pPr>
            <a:r>
              <a:rPr lang="en-US" sz="1040" b="1" dirty="0">
                <a:solidFill>
                  <a:srgbClr val="17212B"/>
                </a:solidFill>
                <a:latin typeface="Aptos" pitchFamily="34" charset="0"/>
                <a:ea typeface="Aptos" pitchFamily="34" charset="-122"/>
                <a:cs typeface="Aptos" pitchFamily="34" charset="-120"/>
              </a:rPr>
              <a:t>1. Vacuum intensity</a:t>
            </a:r>
            <a:endParaRPr lang="en-US" sz="1040" dirty="0"/>
          </a:p>
        </p:txBody>
      </p:sp>
      <p:sp>
        <p:nvSpPr>
          <p:cNvPr id="8" name="Text 5"/>
          <p:cNvSpPr/>
          <p:nvPr/>
        </p:nvSpPr>
        <p:spPr>
          <a:xfrm>
            <a:off x="804672" y="2057400"/>
            <a:ext cx="932688" cy="164592"/>
          </a:xfrm>
          <a:prstGeom prst="rect">
            <a:avLst/>
          </a:prstGeom>
          <a:noFill/>
          <a:ln/>
        </p:spPr>
        <p:txBody>
          <a:bodyPr wrap="square" lIns="0" tIns="0" rIns="0" bIns="0" rtlCol="0" anchor="t">
            <a:normAutofit/>
          </a:bodyPr>
          <a:lstStyle/>
          <a:p>
            <a:pPr algn="l" indent="0" marL="0">
              <a:buNone/>
            </a:pPr>
            <a:r>
              <a:rPr lang="en-US" sz="620" b="1" dirty="0">
                <a:solidFill>
                  <a:srgbClr val="687486"/>
                </a:solidFill>
                <a:latin typeface="Aptos" pitchFamily="34" charset="0"/>
                <a:ea typeface="Aptos" pitchFamily="34" charset="-122"/>
                <a:cs typeface="Aptos" pitchFamily="34" charset="-120"/>
              </a:rPr>
              <a:t>Street assumes</a:t>
            </a:r>
            <a:endParaRPr lang="en-US" sz="620" dirty="0"/>
          </a:p>
        </p:txBody>
      </p:sp>
      <p:sp>
        <p:nvSpPr>
          <p:cNvPr id="9" name="Text 6"/>
          <p:cNvSpPr/>
          <p:nvPr/>
        </p:nvSpPr>
        <p:spPr>
          <a:xfrm>
            <a:off x="804672" y="2304288"/>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WFE recovery drives VAT broadly in line with equipment spend.</a:t>
            </a:r>
            <a:endParaRPr lang="en-US" sz="750" dirty="0"/>
          </a:p>
        </p:txBody>
      </p:sp>
      <p:sp>
        <p:nvSpPr>
          <p:cNvPr id="10" name="Shape 7"/>
          <p:cNvSpPr/>
          <p:nvPr/>
        </p:nvSpPr>
        <p:spPr>
          <a:xfrm>
            <a:off x="804672" y="2898648"/>
            <a:ext cx="2944368" cy="0"/>
          </a:xfrm>
          <a:prstGeom prst="line">
            <a:avLst/>
          </a:prstGeom>
          <a:noFill/>
          <a:ln w="6350">
            <a:solidFill>
              <a:srgbClr val="D7E2EB"/>
            </a:solidFill>
            <a:prstDash val="solid"/>
            <a:headEnd type="none"/>
            <a:tailEnd type="none"/>
          </a:ln>
        </p:spPr>
      </p:sp>
      <p:sp>
        <p:nvSpPr>
          <p:cNvPr id="11" name="Text 8"/>
          <p:cNvSpPr/>
          <p:nvPr/>
        </p:nvSpPr>
        <p:spPr>
          <a:xfrm>
            <a:off x="804672" y="3127248"/>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99BD7"/>
                </a:solidFill>
                <a:latin typeface="Aptos" pitchFamily="34" charset="0"/>
                <a:ea typeface="Aptos" pitchFamily="34" charset="-122"/>
                <a:cs typeface="Aptos" pitchFamily="34" charset="-120"/>
              </a:rPr>
              <a:t>Our view</a:t>
            </a:r>
            <a:endParaRPr lang="en-US" sz="620" dirty="0"/>
          </a:p>
        </p:txBody>
      </p:sp>
      <p:sp>
        <p:nvSpPr>
          <p:cNvPr id="12" name="Text 9"/>
          <p:cNvSpPr/>
          <p:nvPr/>
        </p:nvSpPr>
        <p:spPr>
          <a:xfrm>
            <a:off x="804672" y="3374136"/>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Advanced logic, HBM and complex memory drive disproportionate deposition / etch / chamber intensity.</a:t>
            </a:r>
            <a:endParaRPr lang="en-US" sz="750" dirty="0"/>
          </a:p>
        </p:txBody>
      </p:sp>
      <p:sp>
        <p:nvSpPr>
          <p:cNvPr id="13" name="Shape 10"/>
          <p:cNvSpPr/>
          <p:nvPr/>
        </p:nvSpPr>
        <p:spPr>
          <a:xfrm>
            <a:off x="804672" y="3968496"/>
            <a:ext cx="2944368" cy="0"/>
          </a:xfrm>
          <a:prstGeom prst="line">
            <a:avLst/>
          </a:prstGeom>
          <a:noFill/>
          <a:ln w="6350">
            <a:solidFill>
              <a:srgbClr val="D7E2EB"/>
            </a:solidFill>
            <a:prstDash val="solid"/>
            <a:headEnd type="none"/>
            <a:tailEnd type="none"/>
          </a:ln>
        </p:spPr>
      </p:sp>
      <p:sp>
        <p:nvSpPr>
          <p:cNvPr id="14" name="Text 11"/>
          <p:cNvSpPr/>
          <p:nvPr/>
        </p:nvSpPr>
        <p:spPr>
          <a:xfrm>
            <a:off x="804672" y="4197096"/>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6A36A"/>
                </a:solidFill>
                <a:latin typeface="Aptos" pitchFamily="34" charset="0"/>
                <a:ea typeface="Aptos" pitchFamily="34" charset="-122"/>
                <a:cs typeface="Aptos" pitchFamily="34" charset="-120"/>
              </a:rPr>
              <a:t>Signpost</a:t>
            </a:r>
            <a:endParaRPr lang="en-US" sz="620" dirty="0"/>
          </a:p>
        </p:txBody>
      </p:sp>
      <p:sp>
        <p:nvSpPr>
          <p:cNvPr id="15" name="Text 12"/>
          <p:cNvSpPr/>
          <p:nvPr/>
        </p:nvSpPr>
        <p:spPr>
          <a:xfrm>
            <a:off x="804672" y="4443984"/>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OEM commentary on advanced nodes, HBM tools and VAT spec wins.</a:t>
            </a:r>
            <a:endParaRPr lang="en-US" sz="750" dirty="0"/>
          </a:p>
        </p:txBody>
      </p:sp>
      <p:sp>
        <p:nvSpPr>
          <p:cNvPr id="16" name="Shape 13"/>
          <p:cNvSpPr/>
          <p:nvPr/>
        </p:nvSpPr>
        <p:spPr>
          <a:xfrm>
            <a:off x="4315968" y="1307592"/>
            <a:ext cx="3383280" cy="4370832"/>
          </a:xfrm>
          <a:prstGeom prst="roundRect">
            <a:avLst>
              <a:gd name="adj" fmla="val 2162"/>
            </a:avLst>
          </a:prstGeom>
          <a:solidFill>
            <a:srgbClr val="F7FAFC"/>
          </a:solidFill>
          <a:ln w="12700">
            <a:solidFill>
              <a:srgbClr val="199BD7"/>
            </a:solidFill>
            <a:prstDash val="solid"/>
          </a:ln>
        </p:spPr>
      </p:sp>
      <p:sp>
        <p:nvSpPr>
          <p:cNvPr id="17" name="Text 14"/>
          <p:cNvSpPr/>
          <p:nvPr/>
        </p:nvSpPr>
        <p:spPr>
          <a:xfrm>
            <a:off x="4517136" y="1554480"/>
            <a:ext cx="2286000" cy="219456"/>
          </a:xfrm>
          <a:prstGeom prst="rect">
            <a:avLst/>
          </a:prstGeom>
          <a:noFill/>
          <a:ln/>
        </p:spPr>
        <p:txBody>
          <a:bodyPr wrap="square" lIns="0" tIns="0" rIns="0" bIns="0" rtlCol="0" anchor="t">
            <a:normAutofit/>
          </a:bodyPr>
          <a:lstStyle/>
          <a:p>
            <a:pPr algn="l" indent="0" marL="0">
              <a:buNone/>
            </a:pPr>
            <a:r>
              <a:rPr lang="en-US" sz="1040" b="1" dirty="0">
                <a:solidFill>
                  <a:srgbClr val="199BD7"/>
                </a:solidFill>
                <a:latin typeface="Aptos" pitchFamily="34" charset="0"/>
                <a:ea typeface="Aptos" pitchFamily="34" charset="-122"/>
                <a:cs typeface="Aptos" pitchFamily="34" charset="-120"/>
              </a:rPr>
              <a:t>2. Backlog conversion</a:t>
            </a:r>
            <a:endParaRPr lang="en-US" sz="1040" dirty="0"/>
          </a:p>
        </p:txBody>
      </p:sp>
      <p:sp>
        <p:nvSpPr>
          <p:cNvPr id="18" name="Text 15"/>
          <p:cNvSpPr/>
          <p:nvPr/>
        </p:nvSpPr>
        <p:spPr>
          <a:xfrm>
            <a:off x="4535424" y="2057400"/>
            <a:ext cx="932688" cy="164592"/>
          </a:xfrm>
          <a:prstGeom prst="rect">
            <a:avLst/>
          </a:prstGeom>
          <a:noFill/>
          <a:ln/>
        </p:spPr>
        <p:txBody>
          <a:bodyPr wrap="square" lIns="0" tIns="0" rIns="0" bIns="0" rtlCol="0" anchor="t">
            <a:normAutofit/>
          </a:bodyPr>
          <a:lstStyle/>
          <a:p>
            <a:pPr algn="l" indent="0" marL="0">
              <a:buNone/>
            </a:pPr>
            <a:r>
              <a:rPr lang="en-US" sz="620" b="1" dirty="0">
                <a:solidFill>
                  <a:srgbClr val="687486"/>
                </a:solidFill>
                <a:latin typeface="Aptos" pitchFamily="34" charset="0"/>
                <a:ea typeface="Aptos" pitchFamily="34" charset="-122"/>
                <a:cs typeface="Aptos" pitchFamily="34" charset="-120"/>
              </a:rPr>
              <a:t>Street assumes</a:t>
            </a:r>
            <a:endParaRPr lang="en-US" sz="620" dirty="0"/>
          </a:p>
        </p:txBody>
      </p:sp>
      <p:sp>
        <p:nvSpPr>
          <p:cNvPr id="19" name="Text 16"/>
          <p:cNvSpPr/>
          <p:nvPr/>
        </p:nvSpPr>
        <p:spPr>
          <a:xfrm>
            <a:off x="4535424" y="2304288"/>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Orders are visible but near-term output risk limits confidence.</a:t>
            </a:r>
            <a:endParaRPr lang="en-US" sz="750" dirty="0"/>
          </a:p>
        </p:txBody>
      </p:sp>
      <p:sp>
        <p:nvSpPr>
          <p:cNvPr id="20" name="Shape 17"/>
          <p:cNvSpPr/>
          <p:nvPr/>
        </p:nvSpPr>
        <p:spPr>
          <a:xfrm>
            <a:off x="4535424" y="2898648"/>
            <a:ext cx="2944368" cy="0"/>
          </a:xfrm>
          <a:prstGeom prst="line">
            <a:avLst/>
          </a:prstGeom>
          <a:noFill/>
          <a:ln w="6350">
            <a:solidFill>
              <a:srgbClr val="D7E2EB"/>
            </a:solidFill>
            <a:prstDash val="solid"/>
            <a:headEnd type="none"/>
            <a:tailEnd type="none"/>
          </a:ln>
        </p:spPr>
      </p:sp>
      <p:sp>
        <p:nvSpPr>
          <p:cNvPr id="21" name="Text 18"/>
          <p:cNvSpPr/>
          <p:nvPr/>
        </p:nvSpPr>
        <p:spPr>
          <a:xfrm>
            <a:off x="4535424" y="3127248"/>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99BD7"/>
                </a:solidFill>
                <a:latin typeface="Aptos" pitchFamily="34" charset="0"/>
                <a:ea typeface="Aptos" pitchFamily="34" charset="-122"/>
                <a:cs typeface="Aptos" pitchFamily="34" charset="-120"/>
              </a:rPr>
              <a:t>Our view</a:t>
            </a:r>
            <a:endParaRPr lang="en-US" sz="620" dirty="0"/>
          </a:p>
        </p:txBody>
      </p:sp>
      <p:sp>
        <p:nvSpPr>
          <p:cNvPr id="22" name="Text 19"/>
          <p:cNvSpPr/>
          <p:nvPr/>
        </p:nvSpPr>
        <p:spPr>
          <a:xfrm>
            <a:off x="4535424" y="3374136"/>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Backlog plus factory run-rate target creates a credible FY27-28 revenue bridge.</a:t>
            </a:r>
            <a:endParaRPr lang="en-US" sz="750" dirty="0"/>
          </a:p>
        </p:txBody>
      </p:sp>
      <p:sp>
        <p:nvSpPr>
          <p:cNvPr id="23" name="Shape 20"/>
          <p:cNvSpPr/>
          <p:nvPr/>
        </p:nvSpPr>
        <p:spPr>
          <a:xfrm>
            <a:off x="4535424" y="3968496"/>
            <a:ext cx="2944368" cy="0"/>
          </a:xfrm>
          <a:prstGeom prst="line">
            <a:avLst/>
          </a:prstGeom>
          <a:noFill/>
          <a:ln w="6350">
            <a:solidFill>
              <a:srgbClr val="D7E2EB"/>
            </a:solidFill>
            <a:prstDash val="solid"/>
            <a:headEnd type="none"/>
            <a:tailEnd type="none"/>
          </a:ln>
        </p:spPr>
      </p:sp>
      <p:sp>
        <p:nvSpPr>
          <p:cNvPr id="24" name="Text 21"/>
          <p:cNvSpPr/>
          <p:nvPr/>
        </p:nvSpPr>
        <p:spPr>
          <a:xfrm>
            <a:off x="4535424" y="4197096"/>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6A36A"/>
                </a:solidFill>
                <a:latin typeface="Aptos" pitchFamily="34" charset="0"/>
                <a:ea typeface="Aptos" pitchFamily="34" charset="-122"/>
                <a:cs typeface="Aptos" pitchFamily="34" charset="-120"/>
              </a:rPr>
              <a:t>Signpost</a:t>
            </a:r>
            <a:endParaRPr lang="en-US" sz="620" dirty="0"/>
          </a:p>
        </p:txBody>
      </p:sp>
      <p:sp>
        <p:nvSpPr>
          <p:cNvPr id="25" name="Text 22"/>
          <p:cNvSpPr/>
          <p:nvPr/>
        </p:nvSpPr>
        <p:spPr>
          <a:xfrm>
            <a:off x="4535424" y="4443984"/>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Quarterly run-rate, shipments, lead times and book-to-bill.</a:t>
            </a:r>
            <a:endParaRPr lang="en-US" sz="750" dirty="0"/>
          </a:p>
        </p:txBody>
      </p:sp>
      <p:sp>
        <p:nvSpPr>
          <p:cNvPr id="26" name="Shape 23"/>
          <p:cNvSpPr/>
          <p:nvPr/>
        </p:nvSpPr>
        <p:spPr>
          <a:xfrm>
            <a:off x="8046720" y="1307592"/>
            <a:ext cx="3383280" cy="4370832"/>
          </a:xfrm>
          <a:prstGeom prst="roundRect">
            <a:avLst>
              <a:gd name="adj" fmla="val 2162"/>
            </a:avLst>
          </a:prstGeom>
          <a:solidFill>
            <a:srgbClr val="FFFFFF"/>
          </a:solidFill>
          <a:ln w="8890">
            <a:solidFill>
              <a:srgbClr val="D7E2EB"/>
            </a:solidFill>
            <a:prstDash val="solid"/>
          </a:ln>
        </p:spPr>
      </p:sp>
      <p:sp>
        <p:nvSpPr>
          <p:cNvPr id="27" name="Text 24"/>
          <p:cNvSpPr/>
          <p:nvPr/>
        </p:nvSpPr>
        <p:spPr>
          <a:xfrm>
            <a:off x="8247888" y="1554480"/>
            <a:ext cx="2286000" cy="219456"/>
          </a:xfrm>
          <a:prstGeom prst="rect">
            <a:avLst/>
          </a:prstGeom>
          <a:noFill/>
          <a:ln/>
        </p:spPr>
        <p:txBody>
          <a:bodyPr wrap="square" lIns="0" tIns="0" rIns="0" bIns="0" rtlCol="0" anchor="t">
            <a:normAutofit/>
          </a:bodyPr>
          <a:lstStyle/>
          <a:p>
            <a:pPr algn="l" indent="0" marL="0">
              <a:buNone/>
            </a:pPr>
            <a:r>
              <a:rPr lang="en-US" sz="1040" b="1" dirty="0">
                <a:solidFill>
                  <a:srgbClr val="17212B"/>
                </a:solidFill>
                <a:latin typeface="Aptos" pitchFamily="34" charset="0"/>
                <a:ea typeface="Aptos" pitchFamily="34" charset="-122"/>
                <a:cs typeface="Aptos" pitchFamily="34" charset="-120"/>
              </a:rPr>
              <a:t>3. Operating leverage</a:t>
            </a:r>
            <a:endParaRPr lang="en-US" sz="1040" dirty="0"/>
          </a:p>
        </p:txBody>
      </p:sp>
      <p:sp>
        <p:nvSpPr>
          <p:cNvPr id="28" name="Text 25"/>
          <p:cNvSpPr/>
          <p:nvPr/>
        </p:nvSpPr>
        <p:spPr>
          <a:xfrm>
            <a:off x="8266176" y="2057400"/>
            <a:ext cx="932688" cy="164592"/>
          </a:xfrm>
          <a:prstGeom prst="rect">
            <a:avLst/>
          </a:prstGeom>
          <a:noFill/>
          <a:ln/>
        </p:spPr>
        <p:txBody>
          <a:bodyPr wrap="square" lIns="0" tIns="0" rIns="0" bIns="0" rtlCol="0" anchor="t">
            <a:normAutofit/>
          </a:bodyPr>
          <a:lstStyle/>
          <a:p>
            <a:pPr algn="l" indent="0" marL="0">
              <a:buNone/>
            </a:pPr>
            <a:r>
              <a:rPr lang="en-US" sz="620" b="1" dirty="0">
                <a:solidFill>
                  <a:srgbClr val="687486"/>
                </a:solidFill>
                <a:latin typeface="Aptos" pitchFamily="34" charset="0"/>
                <a:ea typeface="Aptos" pitchFamily="34" charset="-122"/>
                <a:cs typeface="Aptos" pitchFamily="34" charset="-120"/>
              </a:rPr>
              <a:t>Street assumes</a:t>
            </a:r>
            <a:endParaRPr lang="en-US" sz="620" dirty="0"/>
          </a:p>
        </p:txBody>
      </p:sp>
      <p:sp>
        <p:nvSpPr>
          <p:cNvPr id="29" name="Text 26"/>
          <p:cNvSpPr/>
          <p:nvPr/>
        </p:nvSpPr>
        <p:spPr>
          <a:xfrm>
            <a:off x="8266176" y="2304288"/>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Ramp costs and hiring dilute margins.</a:t>
            </a:r>
            <a:endParaRPr lang="en-US" sz="750" dirty="0"/>
          </a:p>
        </p:txBody>
      </p:sp>
      <p:sp>
        <p:nvSpPr>
          <p:cNvPr id="30" name="Shape 27"/>
          <p:cNvSpPr/>
          <p:nvPr/>
        </p:nvSpPr>
        <p:spPr>
          <a:xfrm>
            <a:off x="8266176" y="2898648"/>
            <a:ext cx="2944368" cy="0"/>
          </a:xfrm>
          <a:prstGeom prst="line">
            <a:avLst/>
          </a:prstGeom>
          <a:noFill/>
          <a:ln w="6350">
            <a:solidFill>
              <a:srgbClr val="D7E2EB"/>
            </a:solidFill>
            <a:prstDash val="solid"/>
            <a:headEnd type="none"/>
            <a:tailEnd type="none"/>
          </a:ln>
        </p:spPr>
      </p:sp>
      <p:sp>
        <p:nvSpPr>
          <p:cNvPr id="31" name="Text 28"/>
          <p:cNvSpPr/>
          <p:nvPr/>
        </p:nvSpPr>
        <p:spPr>
          <a:xfrm>
            <a:off x="8266176" y="3127248"/>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99BD7"/>
                </a:solidFill>
                <a:latin typeface="Aptos" pitchFamily="34" charset="0"/>
                <a:ea typeface="Aptos" pitchFamily="34" charset="-122"/>
                <a:cs typeface="Aptos" pitchFamily="34" charset="-120"/>
              </a:rPr>
              <a:t>Our view</a:t>
            </a:r>
            <a:endParaRPr lang="en-US" sz="620" dirty="0"/>
          </a:p>
        </p:txBody>
      </p:sp>
      <p:sp>
        <p:nvSpPr>
          <p:cNvPr id="32" name="Text 29"/>
          <p:cNvSpPr/>
          <p:nvPr/>
        </p:nvSpPr>
        <p:spPr>
          <a:xfrm>
            <a:off x="8266176" y="3374136"/>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Utilisation, mix normalisation and service can re-expand margins once output catches demand.</a:t>
            </a:r>
            <a:endParaRPr lang="en-US" sz="750" dirty="0"/>
          </a:p>
        </p:txBody>
      </p:sp>
      <p:sp>
        <p:nvSpPr>
          <p:cNvPr id="33" name="Shape 30"/>
          <p:cNvSpPr/>
          <p:nvPr/>
        </p:nvSpPr>
        <p:spPr>
          <a:xfrm>
            <a:off x="8266176" y="3968496"/>
            <a:ext cx="2944368" cy="0"/>
          </a:xfrm>
          <a:prstGeom prst="line">
            <a:avLst/>
          </a:prstGeom>
          <a:noFill/>
          <a:ln w="6350">
            <a:solidFill>
              <a:srgbClr val="D7E2EB"/>
            </a:solidFill>
            <a:prstDash val="solid"/>
            <a:headEnd type="none"/>
            <a:tailEnd type="none"/>
          </a:ln>
        </p:spPr>
      </p:sp>
      <p:sp>
        <p:nvSpPr>
          <p:cNvPr id="34" name="Text 31"/>
          <p:cNvSpPr/>
          <p:nvPr/>
        </p:nvSpPr>
        <p:spPr>
          <a:xfrm>
            <a:off x="8266176" y="4197096"/>
            <a:ext cx="932688" cy="164592"/>
          </a:xfrm>
          <a:prstGeom prst="rect">
            <a:avLst/>
          </a:prstGeom>
          <a:noFill/>
          <a:ln/>
        </p:spPr>
        <p:txBody>
          <a:bodyPr wrap="square" lIns="0" tIns="0" rIns="0" bIns="0" rtlCol="0" anchor="t">
            <a:normAutofit/>
          </a:bodyPr>
          <a:lstStyle/>
          <a:p>
            <a:pPr algn="l" indent="0" marL="0">
              <a:buNone/>
            </a:pPr>
            <a:r>
              <a:rPr lang="en-US" sz="620" b="1" dirty="0">
                <a:solidFill>
                  <a:srgbClr val="16A36A"/>
                </a:solidFill>
                <a:latin typeface="Aptos" pitchFamily="34" charset="0"/>
                <a:ea typeface="Aptos" pitchFamily="34" charset="-122"/>
                <a:cs typeface="Aptos" pitchFamily="34" charset="-120"/>
              </a:rPr>
              <a:t>Signpost</a:t>
            </a:r>
            <a:endParaRPr lang="en-US" sz="620" dirty="0"/>
          </a:p>
        </p:txBody>
      </p:sp>
      <p:sp>
        <p:nvSpPr>
          <p:cNvPr id="35" name="Text 32"/>
          <p:cNvSpPr/>
          <p:nvPr/>
        </p:nvSpPr>
        <p:spPr>
          <a:xfrm>
            <a:off x="8266176" y="4443984"/>
            <a:ext cx="2926080" cy="411480"/>
          </a:xfrm>
          <a:prstGeom prst="rect">
            <a:avLst/>
          </a:prstGeom>
          <a:noFill/>
          <a:ln/>
        </p:spPr>
        <p:txBody>
          <a:bodyPr wrap="square" lIns="0" tIns="0" rIns="0" bIns="0" rtlCol="0" anchor="t">
            <a:normAutofit/>
          </a:bodyPr>
          <a:lstStyle/>
          <a:p>
            <a:pPr algn="l" indent="0" marL="0">
              <a:buNone/>
            </a:pPr>
            <a:r>
              <a:rPr lang="en-US" sz="750" dirty="0">
                <a:solidFill>
                  <a:srgbClr val="344153"/>
                </a:solidFill>
                <a:latin typeface="Aptos" pitchFamily="34" charset="0"/>
                <a:ea typeface="Aptos" pitchFamily="34" charset="-122"/>
                <a:cs typeface="Aptos" pitchFamily="34" charset="-120"/>
              </a:rPr>
              <a:t>Gross margin, EBITDA margin, service growth and yield stability.</a:t>
            </a:r>
            <a:endParaRPr lang="en-US" sz="750" dirty="0"/>
          </a:p>
        </p:txBody>
      </p:sp>
      <p:sp>
        <p:nvSpPr>
          <p:cNvPr id="36" name="Shape 33"/>
          <p:cNvSpPr/>
          <p:nvPr/>
        </p:nvSpPr>
        <p:spPr>
          <a:xfrm>
            <a:off x="822960" y="5788152"/>
            <a:ext cx="10561320" cy="365760"/>
          </a:xfrm>
          <a:prstGeom prst="roundRect">
            <a:avLst>
              <a:gd name="adj" fmla="val 20000"/>
            </a:avLst>
          </a:prstGeom>
          <a:solidFill>
            <a:srgbClr val="FFF8EB"/>
          </a:solidFill>
          <a:ln w="8890">
            <a:solidFill>
              <a:srgbClr val="F3D3A3"/>
            </a:solidFill>
            <a:prstDash val="solid"/>
          </a:ln>
        </p:spPr>
      </p:sp>
      <p:sp>
        <p:nvSpPr>
          <p:cNvPr id="37" name="Text 34"/>
          <p:cNvSpPr/>
          <p:nvPr/>
        </p:nvSpPr>
        <p:spPr>
          <a:xfrm>
            <a:off x="1051560" y="5897880"/>
            <a:ext cx="10104120" cy="128016"/>
          </a:xfrm>
          <a:prstGeom prst="rect">
            <a:avLst/>
          </a:prstGeom>
          <a:noFill/>
          <a:ln/>
        </p:spPr>
        <p:txBody>
          <a:bodyPr wrap="square" lIns="0" tIns="0" rIns="0" bIns="0" rtlCol="0" anchor="t">
            <a:normAutofit/>
          </a:bodyPr>
          <a:lstStyle/>
          <a:p>
            <a:pPr algn="ctr" indent="0" marL="0">
              <a:buNone/>
            </a:pPr>
            <a:r>
              <a:rPr lang="en-US" sz="740" b="1" dirty="0">
                <a:solidFill>
                  <a:srgbClr val="17212B"/>
                </a:solidFill>
                <a:latin typeface="Aptos" pitchFamily="34" charset="0"/>
                <a:ea typeface="Aptos" pitchFamily="34" charset="-122"/>
                <a:cs typeface="Aptos" pitchFamily="34" charset="-120"/>
              </a:rPr>
              <a:t>What would make us wrong: orders roll over before conversion; factory ramp misses; leading-edge specification/share deteriorates.</a:t>
            </a:r>
            <a:endParaRPr lang="en-US" sz="740" dirty="0"/>
          </a:p>
        </p:txBody>
      </p:sp>
      <p:sp>
        <p:nvSpPr>
          <p:cNvPr id="38" name="Shape 35"/>
          <p:cNvSpPr/>
          <p:nvPr/>
        </p:nvSpPr>
        <p:spPr>
          <a:xfrm>
            <a:off x="420624" y="6419088"/>
            <a:ext cx="11338560" cy="0"/>
          </a:xfrm>
          <a:prstGeom prst="line">
            <a:avLst/>
          </a:prstGeom>
          <a:noFill/>
          <a:ln w="7620">
            <a:solidFill>
              <a:srgbClr val="D7E2EB"/>
            </a:solidFill>
            <a:prstDash val="solid"/>
            <a:headEnd type="none"/>
            <a:tailEnd type="none"/>
          </a:ln>
        </p:spPr>
      </p:sp>
      <p:sp>
        <p:nvSpPr>
          <p:cNvPr id="39" name="Text 36"/>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H1 2026 release; VAT CMD materials; SEMI; analyst estimates.</a:t>
            </a:r>
            <a:endParaRPr lang="en-US" sz="540" dirty="0"/>
          </a:p>
        </p:txBody>
      </p:sp>
      <p:sp>
        <p:nvSpPr>
          <p:cNvPr id="40" name="Text 37"/>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8</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VALUATION + CONCLUSION</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VAT deserves a premium for a scarce semiconductor-component franchise - FY28 earnings support CHF800 if backlog converts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548640" y="1280160"/>
            <a:ext cx="5074920" cy="4334256"/>
          </a:xfrm>
          <a:prstGeom prst="roundRect">
            <a:avLst>
              <a:gd name="adj" fmla="val 1688"/>
            </a:avLst>
          </a:prstGeom>
          <a:solidFill>
            <a:srgbClr val="FFFFFF"/>
          </a:solidFill>
          <a:ln w="8890">
            <a:solidFill>
              <a:srgbClr val="D7E2EB"/>
            </a:solidFill>
            <a:prstDash val="solid"/>
          </a:ln>
        </p:spPr>
      </p:sp>
      <p:sp>
        <p:nvSpPr>
          <p:cNvPr id="7" name="Text 4"/>
          <p:cNvSpPr/>
          <p:nvPr/>
        </p:nvSpPr>
        <p:spPr>
          <a:xfrm>
            <a:off x="786384" y="1536192"/>
            <a:ext cx="2011680" cy="210312"/>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Competitive positioning</a:t>
            </a:r>
            <a:endParaRPr lang="en-US" sz="1000" dirty="0"/>
          </a:p>
        </p:txBody>
      </p:sp>
      <p:sp>
        <p:nvSpPr>
          <p:cNvPr id="8" name="Shape 5"/>
          <p:cNvSpPr/>
          <p:nvPr/>
        </p:nvSpPr>
        <p:spPr>
          <a:xfrm>
            <a:off x="749808" y="1874520"/>
            <a:ext cx="4617720" cy="310896"/>
          </a:xfrm>
          <a:prstGeom prst="rect">
            <a:avLst>
              <a:gd name="adj" fmla="val 23529"/>
            </a:avLst>
          </a:prstGeom>
          <a:solidFill>
            <a:srgbClr val="F1F5F9"/>
          </a:solidFill>
          <a:ln w="8890">
            <a:solidFill>
              <a:srgbClr val="F1F5F9">
                <a:alpha val="0"/>
              </a:srgbClr>
            </a:solidFill>
            <a:prstDash val="solid"/>
          </a:ln>
        </p:spPr>
      </p:sp>
      <p:sp>
        <p:nvSpPr>
          <p:cNvPr id="9" name="Text 6"/>
          <p:cNvSpPr/>
          <p:nvPr/>
        </p:nvSpPr>
        <p:spPr>
          <a:xfrm>
            <a:off x="804672" y="1947672"/>
            <a:ext cx="1234440" cy="146304"/>
          </a:xfrm>
          <a:prstGeom prst="rect">
            <a:avLst/>
          </a:prstGeom>
          <a:noFill/>
          <a:ln/>
        </p:spPr>
        <p:txBody>
          <a:bodyPr wrap="square" lIns="0" tIns="0" rIns="0" bIns="0" rtlCol="0" anchor="t">
            <a:normAutofit/>
          </a:bodyPr>
          <a:lstStyle/>
          <a:p>
            <a:pPr algn="l" indent="0" marL="0">
              <a:buNone/>
            </a:pPr>
            <a:r>
              <a:rPr lang="en-US" sz="610" b="1" dirty="0">
                <a:solidFill>
                  <a:srgbClr val="687486"/>
                </a:solidFill>
                <a:latin typeface="Aptos" pitchFamily="34" charset="0"/>
                <a:ea typeface="Aptos" pitchFamily="34" charset="-122"/>
                <a:cs typeface="Aptos" pitchFamily="34" charset="-120"/>
              </a:rPr>
              <a:t>Company</a:t>
            </a:r>
            <a:endParaRPr lang="en-US" sz="610" dirty="0"/>
          </a:p>
        </p:txBody>
      </p:sp>
      <p:sp>
        <p:nvSpPr>
          <p:cNvPr id="10" name="Text 7"/>
          <p:cNvSpPr/>
          <p:nvPr/>
        </p:nvSpPr>
        <p:spPr>
          <a:xfrm>
            <a:off x="2331720" y="1947672"/>
            <a:ext cx="1298448" cy="146304"/>
          </a:xfrm>
          <a:prstGeom prst="rect">
            <a:avLst/>
          </a:prstGeom>
          <a:noFill/>
          <a:ln/>
        </p:spPr>
        <p:txBody>
          <a:bodyPr wrap="square" lIns="0" tIns="0" rIns="0" bIns="0" rtlCol="0" anchor="t">
            <a:normAutofit/>
          </a:bodyPr>
          <a:lstStyle/>
          <a:p>
            <a:pPr algn="l" indent="0" marL="0">
              <a:buNone/>
            </a:pPr>
            <a:r>
              <a:rPr lang="en-US" sz="610" b="1" dirty="0">
                <a:solidFill>
                  <a:srgbClr val="687486"/>
                </a:solidFill>
                <a:latin typeface="Aptos" pitchFamily="34" charset="0"/>
                <a:ea typeface="Aptos" pitchFamily="34" charset="-122"/>
                <a:cs typeface="Aptos" pitchFamily="34" charset="-120"/>
              </a:rPr>
              <a:t>Overlap</a:t>
            </a:r>
            <a:endParaRPr lang="en-US" sz="610" dirty="0"/>
          </a:p>
        </p:txBody>
      </p:sp>
      <p:sp>
        <p:nvSpPr>
          <p:cNvPr id="11" name="Text 8"/>
          <p:cNvSpPr/>
          <p:nvPr/>
        </p:nvSpPr>
        <p:spPr>
          <a:xfrm>
            <a:off x="3840480" y="1947672"/>
            <a:ext cx="1115568" cy="146304"/>
          </a:xfrm>
          <a:prstGeom prst="rect">
            <a:avLst/>
          </a:prstGeom>
          <a:noFill/>
          <a:ln/>
        </p:spPr>
        <p:txBody>
          <a:bodyPr wrap="square" lIns="0" tIns="0" rIns="0" bIns="0" rtlCol="0" anchor="t">
            <a:normAutofit/>
          </a:bodyPr>
          <a:lstStyle/>
          <a:p>
            <a:pPr algn="l" indent="0" marL="0">
              <a:buNone/>
            </a:pPr>
            <a:r>
              <a:rPr lang="en-US" sz="610" b="1" dirty="0">
                <a:solidFill>
                  <a:srgbClr val="687486"/>
                </a:solidFill>
                <a:latin typeface="Aptos" pitchFamily="34" charset="0"/>
                <a:ea typeface="Aptos" pitchFamily="34" charset="-122"/>
                <a:cs typeface="Aptos" pitchFamily="34" charset="-120"/>
              </a:rPr>
              <a:t>Position</a:t>
            </a:r>
            <a:endParaRPr lang="en-US" sz="610" dirty="0"/>
          </a:p>
        </p:txBody>
      </p:sp>
      <p:sp>
        <p:nvSpPr>
          <p:cNvPr id="12" name="Text 9"/>
          <p:cNvSpPr/>
          <p:nvPr/>
        </p:nvSpPr>
        <p:spPr>
          <a:xfrm>
            <a:off x="804672" y="2377440"/>
            <a:ext cx="1234440" cy="146304"/>
          </a:xfrm>
          <a:prstGeom prst="rect">
            <a:avLst/>
          </a:prstGeom>
          <a:noFill/>
          <a:ln/>
        </p:spPr>
        <p:txBody>
          <a:bodyPr wrap="square" lIns="0" tIns="0" rIns="0" bIns="0" rtlCol="0" anchor="t">
            <a:normAutofit/>
          </a:bodyPr>
          <a:lstStyle/>
          <a:p>
            <a:pPr algn="l" indent="0" marL="0">
              <a:buNone/>
            </a:pPr>
            <a:r>
              <a:rPr lang="en-US" sz="660" b="1" dirty="0">
                <a:solidFill>
                  <a:srgbClr val="17212B"/>
                </a:solidFill>
                <a:latin typeface="Aptos" pitchFamily="34" charset="0"/>
                <a:ea typeface="Aptos" pitchFamily="34" charset="-122"/>
                <a:cs typeface="Aptos" pitchFamily="34" charset="-120"/>
              </a:rPr>
              <a:t>VAT</a:t>
            </a:r>
            <a:endParaRPr lang="en-US" sz="660" dirty="0"/>
          </a:p>
        </p:txBody>
      </p:sp>
      <p:sp>
        <p:nvSpPr>
          <p:cNvPr id="13" name="Text 10"/>
          <p:cNvSpPr/>
          <p:nvPr/>
        </p:nvSpPr>
        <p:spPr>
          <a:xfrm>
            <a:off x="2331720" y="2377440"/>
            <a:ext cx="129844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Vacuum valves / modules</a:t>
            </a:r>
            <a:endParaRPr lang="en-US" sz="660" dirty="0"/>
          </a:p>
        </p:txBody>
      </p:sp>
      <p:sp>
        <p:nvSpPr>
          <p:cNvPr id="14" name="Text 11"/>
          <p:cNvSpPr/>
          <p:nvPr/>
        </p:nvSpPr>
        <p:spPr>
          <a:xfrm>
            <a:off x="3840480" y="2377440"/>
            <a:ext cx="111556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Leader</a:t>
            </a:r>
            <a:endParaRPr lang="en-US" sz="660" dirty="0"/>
          </a:p>
        </p:txBody>
      </p:sp>
      <p:sp>
        <p:nvSpPr>
          <p:cNvPr id="15" name="Text 12"/>
          <p:cNvSpPr/>
          <p:nvPr/>
        </p:nvSpPr>
        <p:spPr>
          <a:xfrm>
            <a:off x="804672" y="2807208"/>
            <a:ext cx="1234440" cy="146304"/>
          </a:xfrm>
          <a:prstGeom prst="rect">
            <a:avLst/>
          </a:prstGeom>
          <a:noFill/>
          <a:ln/>
        </p:spPr>
        <p:txBody>
          <a:bodyPr wrap="square" lIns="0" tIns="0" rIns="0" bIns="0" rtlCol="0" anchor="t">
            <a:normAutofit/>
          </a:bodyPr>
          <a:lstStyle/>
          <a:p>
            <a:pPr algn="l" indent="0" marL="0">
              <a:buNone/>
            </a:pPr>
            <a:r>
              <a:rPr lang="en-US" sz="660" b="1" dirty="0">
                <a:solidFill>
                  <a:srgbClr val="17212B"/>
                </a:solidFill>
                <a:latin typeface="Aptos" pitchFamily="34" charset="0"/>
                <a:ea typeface="Aptos" pitchFamily="34" charset="-122"/>
                <a:cs typeface="Aptos" pitchFamily="34" charset="-120"/>
              </a:rPr>
              <a:t>MKS</a:t>
            </a:r>
            <a:endParaRPr lang="en-US" sz="660" dirty="0"/>
          </a:p>
        </p:txBody>
      </p:sp>
      <p:sp>
        <p:nvSpPr>
          <p:cNvPr id="16" name="Text 13"/>
          <p:cNvSpPr/>
          <p:nvPr/>
        </p:nvSpPr>
        <p:spPr>
          <a:xfrm>
            <a:off x="2331720" y="2807208"/>
            <a:ext cx="129844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Vacuum / flow / RF</a:t>
            </a:r>
            <a:endParaRPr lang="en-US" sz="660" dirty="0"/>
          </a:p>
        </p:txBody>
      </p:sp>
      <p:sp>
        <p:nvSpPr>
          <p:cNvPr id="17" name="Text 14"/>
          <p:cNvSpPr/>
          <p:nvPr/>
        </p:nvSpPr>
        <p:spPr>
          <a:xfrm>
            <a:off x="3840480" y="2807208"/>
            <a:ext cx="111556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Adjacent</a:t>
            </a:r>
            <a:endParaRPr lang="en-US" sz="660" dirty="0"/>
          </a:p>
        </p:txBody>
      </p:sp>
      <p:sp>
        <p:nvSpPr>
          <p:cNvPr id="18" name="Text 15"/>
          <p:cNvSpPr/>
          <p:nvPr/>
        </p:nvSpPr>
        <p:spPr>
          <a:xfrm>
            <a:off x="804672" y="3236976"/>
            <a:ext cx="1234440" cy="146304"/>
          </a:xfrm>
          <a:prstGeom prst="rect">
            <a:avLst/>
          </a:prstGeom>
          <a:noFill/>
          <a:ln/>
        </p:spPr>
        <p:txBody>
          <a:bodyPr wrap="square" lIns="0" tIns="0" rIns="0" bIns="0" rtlCol="0" anchor="t">
            <a:normAutofit/>
          </a:bodyPr>
          <a:lstStyle/>
          <a:p>
            <a:pPr algn="l" indent="0" marL="0">
              <a:buNone/>
            </a:pPr>
            <a:r>
              <a:rPr lang="en-US" sz="660" b="1" dirty="0">
                <a:solidFill>
                  <a:srgbClr val="17212B"/>
                </a:solidFill>
                <a:latin typeface="Aptos" pitchFamily="34" charset="0"/>
                <a:ea typeface="Aptos" pitchFamily="34" charset="-122"/>
                <a:cs typeface="Aptos" pitchFamily="34" charset="-120"/>
              </a:rPr>
              <a:t>Edwards</a:t>
            </a:r>
            <a:endParaRPr lang="en-US" sz="660" dirty="0"/>
          </a:p>
        </p:txBody>
      </p:sp>
      <p:sp>
        <p:nvSpPr>
          <p:cNvPr id="19" name="Text 16"/>
          <p:cNvSpPr/>
          <p:nvPr/>
        </p:nvSpPr>
        <p:spPr>
          <a:xfrm>
            <a:off x="2331720" y="3236976"/>
            <a:ext cx="129844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Pumps / abatement</a:t>
            </a:r>
            <a:endParaRPr lang="en-US" sz="660" dirty="0"/>
          </a:p>
        </p:txBody>
      </p:sp>
      <p:sp>
        <p:nvSpPr>
          <p:cNvPr id="20" name="Text 17"/>
          <p:cNvSpPr/>
          <p:nvPr/>
        </p:nvSpPr>
        <p:spPr>
          <a:xfrm>
            <a:off x="3840480" y="3236976"/>
            <a:ext cx="111556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Adjacent</a:t>
            </a:r>
            <a:endParaRPr lang="en-US" sz="660" dirty="0"/>
          </a:p>
        </p:txBody>
      </p:sp>
      <p:sp>
        <p:nvSpPr>
          <p:cNvPr id="21" name="Text 18"/>
          <p:cNvSpPr/>
          <p:nvPr/>
        </p:nvSpPr>
        <p:spPr>
          <a:xfrm>
            <a:off x="804672" y="3666744"/>
            <a:ext cx="1234440" cy="146304"/>
          </a:xfrm>
          <a:prstGeom prst="rect">
            <a:avLst/>
          </a:prstGeom>
          <a:noFill/>
          <a:ln/>
        </p:spPr>
        <p:txBody>
          <a:bodyPr wrap="square" lIns="0" tIns="0" rIns="0" bIns="0" rtlCol="0" anchor="t">
            <a:normAutofit/>
          </a:bodyPr>
          <a:lstStyle/>
          <a:p>
            <a:pPr algn="l" indent="0" marL="0">
              <a:buNone/>
            </a:pPr>
            <a:r>
              <a:rPr lang="en-US" sz="660" b="1" dirty="0">
                <a:solidFill>
                  <a:srgbClr val="17212B"/>
                </a:solidFill>
                <a:latin typeface="Aptos" pitchFamily="34" charset="0"/>
                <a:ea typeface="Aptos" pitchFamily="34" charset="-122"/>
                <a:cs typeface="Aptos" pitchFamily="34" charset="-120"/>
              </a:rPr>
              <a:t>Horiba</a:t>
            </a:r>
            <a:endParaRPr lang="en-US" sz="660" dirty="0"/>
          </a:p>
        </p:txBody>
      </p:sp>
      <p:sp>
        <p:nvSpPr>
          <p:cNvPr id="22" name="Text 19"/>
          <p:cNvSpPr/>
          <p:nvPr/>
        </p:nvSpPr>
        <p:spPr>
          <a:xfrm>
            <a:off x="2331720" y="3666744"/>
            <a:ext cx="129844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Gas / process instruments</a:t>
            </a:r>
            <a:endParaRPr lang="en-US" sz="660" dirty="0"/>
          </a:p>
        </p:txBody>
      </p:sp>
      <p:sp>
        <p:nvSpPr>
          <p:cNvPr id="23" name="Text 20"/>
          <p:cNvSpPr/>
          <p:nvPr/>
        </p:nvSpPr>
        <p:spPr>
          <a:xfrm>
            <a:off x="3840480" y="3666744"/>
            <a:ext cx="111556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Selective</a:t>
            </a:r>
            <a:endParaRPr lang="en-US" sz="660" dirty="0"/>
          </a:p>
        </p:txBody>
      </p:sp>
      <p:sp>
        <p:nvSpPr>
          <p:cNvPr id="24" name="Text 21"/>
          <p:cNvSpPr/>
          <p:nvPr/>
        </p:nvSpPr>
        <p:spPr>
          <a:xfrm>
            <a:off x="804672" y="4096512"/>
            <a:ext cx="1234440" cy="146304"/>
          </a:xfrm>
          <a:prstGeom prst="rect">
            <a:avLst/>
          </a:prstGeom>
          <a:noFill/>
          <a:ln/>
        </p:spPr>
        <p:txBody>
          <a:bodyPr wrap="square" lIns="0" tIns="0" rIns="0" bIns="0" rtlCol="0" anchor="t">
            <a:normAutofit/>
          </a:bodyPr>
          <a:lstStyle/>
          <a:p>
            <a:pPr algn="l" indent="0" marL="0">
              <a:buNone/>
            </a:pPr>
            <a:r>
              <a:rPr lang="en-US" sz="660" b="1" dirty="0">
                <a:solidFill>
                  <a:srgbClr val="17212B"/>
                </a:solidFill>
                <a:latin typeface="Aptos" pitchFamily="34" charset="0"/>
                <a:ea typeface="Aptos" pitchFamily="34" charset="-122"/>
                <a:cs typeface="Aptos" pitchFamily="34" charset="-120"/>
              </a:rPr>
              <a:t>CKD / SMC</a:t>
            </a:r>
            <a:endParaRPr lang="en-US" sz="660" dirty="0"/>
          </a:p>
        </p:txBody>
      </p:sp>
      <p:sp>
        <p:nvSpPr>
          <p:cNvPr id="25" name="Text 22"/>
          <p:cNvSpPr/>
          <p:nvPr/>
        </p:nvSpPr>
        <p:spPr>
          <a:xfrm>
            <a:off x="2331720" y="4096512"/>
            <a:ext cx="129844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Industrial / pneumatic valves</a:t>
            </a:r>
            <a:endParaRPr lang="en-US" sz="660" dirty="0"/>
          </a:p>
        </p:txBody>
      </p:sp>
      <p:sp>
        <p:nvSpPr>
          <p:cNvPr id="26" name="Text 23"/>
          <p:cNvSpPr/>
          <p:nvPr/>
        </p:nvSpPr>
        <p:spPr>
          <a:xfrm>
            <a:off x="3840480" y="4096512"/>
            <a:ext cx="1115568" cy="146304"/>
          </a:xfrm>
          <a:prstGeom prst="rect">
            <a:avLst/>
          </a:prstGeom>
          <a:noFill/>
          <a:ln/>
        </p:spPr>
        <p:txBody>
          <a:bodyPr wrap="square" lIns="0" tIns="0" rIns="0" bIns="0" rtlCol="0" anchor="t">
            <a:normAutofit/>
          </a:bodyPr>
          <a:lstStyle/>
          <a:p>
            <a:pPr algn="l" indent="0" marL="0">
              <a:buNone/>
            </a:pPr>
            <a:r>
              <a:rPr lang="en-US" sz="660" dirty="0">
                <a:solidFill>
                  <a:srgbClr val="17212B"/>
                </a:solidFill>
                <a:latin typeface="Aptos" pitchFamily="34" charset="0"/>
                <a:ea typeface="Aptos" pitchFamily="34" charset="-122"/>
                <a:cs typeface="Aptos" pitchFamily="34" charset="-120"/>
              </a:rPr>
              <a:t>Limited</a:t>
            </a:r>
            <a:endParaRPr lang="en-US" sz="660" dirty="0"/>
          </a:p>
        </p:txBody>
      </p:sp>
      <p:sp>
        <p:nvSpPr>
          <p:cNvPr id="27" name="Text 24"/>
          <p:cNvSpPr/>
          <p:nvPr/>
        </p:nvSpPr>
        <p:spPr>
          <a:xfrm>
            <a:off x="786384" y="5074920"/>
            <a:ext cx="4315968" cy="274320"/>
          </a:xfrm>
          <a:prstGeom prst="rect">
            <a:avLst/>
          </a:prstGeom>
          <a:noFill/>
          <a:ln/>
        </p:spPr>
        <p:txBody>
          <a:bodyPr wrap="square" lIns="0" tIns="0" rIns="0" bIns="0" rtlCol="0" anchor="t">
            <a:normAutofit/>
          </a:bodyPr>
          <a:lstStyle/>
          <a:p>
            <a:pPr algn="l" indent="0" marL="0">
              <a:buNone/>
            </a:pPr>
            <a:r>
              <a:rPr lang="en-US" sz="720" b="1" dirty="0">
                <a:solidFill>
                  <a:srgbClr val="199BD7"/>
                </a:solidFill>
                <a:latin typeface="Aptos" pitchFamily="34" charset="0"/>
                <a:ea typeface="Aptos" pitchFamily="34" charset="-122"/>
                <a:cs typeface="Aptos" pitchFamily="34" charset="-120"/>
              </a:rPr>
              <a:t>Premium logic: market share, leading-edge spec-in position, qualification moat, margin profile and installed-base service economics.</a:t>
            </a:r>
            <a:endParaRPr lang="en-US" sz="720" dirty="0"/>
          </a:p>
        </p:txBody>
      </p:sp>
      <p:sp>
        <p:nvSpPr>
          <p:cNvPr id="28" name="Shape 25"/>
          <p:cNvSpPr/>
          <p:nvPr/>
        </p:nvSpPr>
        <p:spPr>
          <a:xfrm>
            <a:off x="5989320" y="1280160"/>
            <a:ext cx="5349240" cy="4334256"/>
          </a:xfrm>
          <a:prstGeom prst="roundRect">
            <a:avLst>
              <a:gd name="adj" fmla="val 1688"/>
            </a:avLst>
          </a:prstGeom>
          <a:solidFill>
            <a:srgbClr val="F7FAFC"/>
          </a:solidFill>
          <a:ln w="8890">
            <a:solidFill>
              <a:srgbClr val="D7E2EB"/>
            </a:solidFill>
            <a:prstDash val="solid"/>
          </a:ln>
        </p:spPr>
      </p:sp>
      <p:sp>
        <p:nvSpPr>
          <p:cNvPr id="29" name="Text 26"/>
          <p:cNvSpPr/>
          <p:nvPr/>
        </p:nvSpPr>
        <p:spPr>
          <a:xfrm>
            <a:off x="6245352" y="1536192"/>
            <a:ext cx="2560320" cy="210312"/>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FY28 EV/EBITDA target framework</a:t>
            </a:r>
            <a:endParaRPr lang="en-US" sz="1000" dirty="0"/>
          </a:p>
        </p:txBody>
      </p:sp>
      <p:sp>
        <p:nvSpPr>
          <p:cNvPr id="30" name="Text 27"/>
          <p:cNvSpPr/>
          <p:nvPr/>
        </p:nvSpPr>
        <p:spPr>
          <a:xfrm>
            <a:off x="6419088" y="1938528"/>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FY28E revenue</a:t>
            </a:r>
            <a:endParaRPr lang="en-US" sz="650" dirty="0"/>
          </a:p>
        </p:txBody>
      </p:sp>
      <p:sp>
        <p:nvSpPr>
          <p:cNvPr id="31" name="Text 28"/>
          <p:cNvSpPr/>
          <p:nvPr/>
        </p:nvSpPr>
        <p:spPr>
          <a:xfrm>
            <a:off x="9464040" y="1938528"/>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CHF 1.75bn</a:t>
            </a:r>
            <a:endParaRPr lang="en-US" sz="650" dirty="0"/>
          </a:p>
        </p:txBody>
      </p:sp>
      <p:sp>
        <p:nvSpPr>
          <p:cNvPr id="32" name="Text 29"/>
          <p:cNvSpPr/>
          <p:nvPr/>
        </p:nvSpPr>
        <p:spPr>
          <a:xfrm>
            <a:off x="6419088" y="2276856"/>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EBITDA margin</a:t>
            </a:r>
            <a:endParaRPr lang="en-US" sz="650" dirty="0"/>
          </a:p>
        </p:txBody>
      </p:sp>
      <p:sp>
        <p:nvSpPr>
          <p:cNvPr id="33" name="Text 30"/>
          <p:cNvSpPr/>
          <p:nvPr/>
        </p:nvSpPr>
        <p:spPr>
          <a:xfrm>
            <a:off x="9464040" y="2276856"/>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~34%</a:t>
            </a:r>
            <a:endParaRPr lang="en-US" sz="650" dirty="0"/>
          </a:p>
        </p:txBody>
      </p:sp>
      <p:sp>
        <p:nvSpPr>
          <p:cNvPr id="34" name="Shape 31"/>
          <p:cNvSpPr/>
          <p:nvPr/>
        </p:nvSpPr>
        <p:spPr>
          <a:xfrm>
            <a:off x="6263640" y="2542032"/>
            <a:ext cx="4526280" cy="274320"/>
          </a:xfrm>
          <a:prstGeom prst="rect">
            <a:avLst>
              <a:gd name="adj" fmla="val 26667"/>
            </a:avLst>
          </a:prstGeom>
          <a:solidFill>
            <a:srgbClr val="EAF7FD"/>
          </a:solidFill>
          <a:ln w="8890">
            <a:solidFill>
              <a:srgbClr val="EAF7FD">
                <a:alpha val="0"/>
              </a:srgbClr>
            </a:solidFill>
            <a:prstDash val="solid"/>
          </a:ln>
        </p:spPr>
      </p:sp>
      <p:sp>
        <p:nvSpPr>
          <p:cNvPr id="35" name="Text 32"/>
          <p:cNvSpPr/>
          <p:nvPr/>
        </p:nvSpPr>
        <p:spPr>
          <a:xfrm>
            <a:off x="6419088" y="2615184"/>
            <a:ext cx="2011680" cy="128016"/>
          </a:xfrm>
          <a:prstGeom prst="rect">
            <a:avLst/>
          </a:prstGeom>
          <a:noFill/>
          <a:ln/>
        </p:spPr>
        <p:txBody>
          <a:bodyPr wrap="square" lIns="0" tIns="0" rIns="0" bIns="0" rtlCol="0" anchor="t">
            <a:normAutofit/>
          </a:bodyPr>
          <a:lstStyle/>
          <a:p>
            <a:pPr algn="l" indent="0" marL="0">
              <a:buNone/>
            </a:pPr>
            <a:r>
              <a:rPr lang="en-US" sz="650" b="1" dirty="0">
                <a:solidFill>
                  <a:srgbClr val="344153"/>
                </a:solidFill>
                <a:latin typeface="Aptos" pitchFamily="34" charset="0"/>
                <a:ea typeface="Aptos" pitchFamily="34" charset="-122"/>
                <a:cs typeface="Aptos" pitchFamily="34" charset="-120"/>
              </a:rPr>
              <a:t>FY28E EBITDA</a:t>
            </a:r>
            <a:endParaRPr lang="en-US" sz="650" dirty="0"/>
          </a:p>
        </p:txBody>
      </p:sp>
      <p:sp>
        <p:nvSpPr>
          <p:cNvPr id="36" name="Text 33"/>
          <p:cNvSpPr/>
          <p:nvPr/>
        </p:nvSpPr>
        <p:spPr>
          <a:xfrm>
            <a:off x="9464040" y="2615184"/>
            <a:ext cx="1143000" cy="128016"/>
          </a:xfrm>
          <a:prstGeom prst="rect">
            <a:avLst/>
          </a:prstGeom>
          <a:noFill/>
          <a:ln/>
        </p:spPr>
        <p:txBody>
          <a:bodyPr wrap="square" lIns="0" tIns="0" rIns="0" bIns="0" rtlCol="0" anchor="t">
            <a:normAutofit/>
          </a:bodyPr>
          <a:lstStyle/>
          <a:p>
            <a:pPr algn="r" indent="0" marL="0">
              <a:buNone/>
            </a:pPr>
            <a:r>
              <a:rPr lang="en-US" sz="650" b="1" dirty="0">
                <a:solidFill>
                  <a:srgbClr val="199BD7"/>
                </a:solidFill>
                <a:latin typeface="Aptos" pitchFamily="34" charset="0"/>
                <a:ea typeface="Aptos" pitchFamily="34" charset="-122"/>
                <a:cs typeface="Aptos" pitchFamily="34" charset="-120"/>
              </a:rPr>
              <a:t>~CHF 595m</a:t>
            </a:r>
            <a:endParaRPr lang="en-US" sz="650" dirty="0"/>
          </a:p>
        </p:txBody>
      </p:sp>
      <p:sp>
        <p:nvSpPr>
          <p:cNvPr id="37" name="Text 34"/>
          <p:cNvSpPr/>
          <p:nvPr/>
        </p:nvSpPr>
        <p:spPr>
          <a:xfrm>
            <a:off x="6419088" y="2953512"/>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Target EV/EBITDA</a:t>
            </a:r>
            <a:endParaRPr lang="en-US" sz="650" dirty="0"/>
          </a:p>
        </p:txBody>
      </p:sp>
      <p:sp>
        <p:nvSpPr>
          <p:cNvPr id="38" name="Text 35"/>
          <p:cNvSpPr/>
          <p:nvPr/>
        </p:nvSpPr>
        <p:spPr>
          <a:xfrm>
            <a:off x="9464040" y="2953512"/>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~40x</a:t>
            </a:r>
            <a:endParaRPr lang="en-US" sz="650" dirty="0"/>
          </a:p>
        </p:txBody>
      </p:sp>
      <p:sp>
        <p:nvSpPr>
          <p:cNvPr id="39" name="Text 36"/>
          <p:cNvSpPr/>
          <p:nvPr/>
        </p:nvSpPr>
        <p:spPr>
          <a:xfrm>
            <a:off x="6419088" y="3291840"/>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Target EV</a:t>
            </a:r>
            <a:endParaRPr lang="en-US" sz="650" dirty="0"/>
          </a:p>
        </p:txBody>
      </p:sp>
      <p:sp>
        <p:nvSpPr>
          <p:cNvPr id="40" name="Text 37"/>
          <p:cNvSpPr/>
          <p:nvPr/>
        </p:nvSpPr>
        <p:spPr>
          <a:xfrm>
            <a:off x="9464040" y="3291840"/>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~CHF 23.8bn</a:t>
            </a:r>
            <a:endParaRPr lang="en-US" sz="650" dirty="0"/>
          </a:p>
        </p:txBody>
      </p:sp>
      <p:sp>
        <p:nvSpPr>
          <p:cNvPr id="41" name="Text 38"/>
          <p:cNvSpPr/>
          <p:nvPr/>
        </p:nvSpPr>
        <p:spPr>
          <a:xfrm>
            <a:off x="6419088" y="3630168"/>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Net cash / other</a:t>
            </a:r>
            <a:endParaRPr lang="en-US" sz="650" dirty="0"/>
          </a:p>
        </p:txBody>
      </p:sp>
      <p:sp>
        <p:nvSpPr>
          <p:cNvPr id="42" name="Text 39"/>
          <p:cNvSpPr/>
          <p:nvPr/>
        </p:nvSpPr>
        <p:spPr>
          <a:xfrm>
            <a:off x="9464040" y="3630168"/>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~CHF 0.2bn</a:t>
            </a:r>
            <a:endParaRPr lang="en-US" sz="650" dirty="0"/>
          </a:p>
        </p:txBody>
      </p:sp>
      <p:sp>
        <p:nvSpPr>
          <p:cNvPr id="43" name="Text 40"/>
          <p:cNvSpPr/>
          <p:nvPr/>
        </p:nvSpPr>
        <p:spPr>
          <a:xfrm>
            <a:off x="6419088" y="3968496"/>
            <a:ext cx="2011680" cy="128016"/>
          </a:xfrm>
          <a:prstGeom prst="rect">
            <a:avLst/>
          </a:prstGeom>
          <a:noFill/>
          <a:ln/>
        </p:spPr>
        <p:txBody>
          <a:bodyPr wrap="square" lIns="0" tIns="0" rIns="0" bIns="0" rtlCol="0" anchor="t">
            <a:normAutofit/>
          </a:bodyPr>
          <a:lstStyle/>
          <a:p>
            <a:pPr algn="l" indent="0" marL="0">
              <a:buNone/>
            </a:pPr>
            <a:r>
              <a:rPr lang="en-US" sz="650" dirty="0">
                <a:solidFill>
                  <a:srgbClr val="344153"/>
                </a:solidFill>
                <a:latin typeface="Aptos" pitchFamily="34" charset="0"/>
                <a:ea typeface="Aptos" pitchFamily="34" charset="-122"/>
                <a:cs typeface="Aptos" pitchFamily="34" charset="-120"/>
              </a:rPr>
              <a:t>Shares</a:t>
            </a:r>
            <a:endParaRPr lang="en-US" sz="650" dirty="0"/>
          </a:p>
        </p:txBody>
      </p:sp>
      <p:sp>
        <p:nvSpPr>
          <p:cNvPr id="44" name="Text 41"/>
          <p:cNvSpPr/>
          <p:nvPr/>
        </p:nvSpPr>
        <p:spPr>
          <a:xfrm>
            <a:off x="9464040" y="3968496"/>
            <a:ext cx="1143000" cy="128016"/>
          </a:xfrm>
          <a:prstGeom prst="rect">
            <a:avLst/>
          </a:prstGeom>
          <a:noFill/>
          <a:ln/>
        </p:spPr>
        <p:txBody>
          <a:bodyPr wrap="square" lIns="0" tIns="0" rIns="0" bIns="0" rtlCol="0" anchor="t">
            <a:normAutofit/>
          </a:bodyPr>
          <a:lstStyle/>
          <a:p>
            <a:pPr algn="r" indent="0" marL="0">
              <a:buNone/>
            </a:pPr>
            <a:r>
              <a:rPr lang="en-US" sz="650" dirty="0">
                <a:solidFill>
                  <a:srgbClr val="17212B"/>
                </a:solidFill>
                <a:latin typeface="Aptos" pitchFamily="34" charset="0"/>
                <a:ea typeface="Aptos" pitchFamily="34" charset="-122"/>
                <a:cs typeface="Aptos" pitchFamily="34" charset="-120"/>
              </a:rPr>
              <a:t>~30m</a:t>
            </a:r>
            <a:endParaRPr lang="en-US" sz="650" dirty="0"/>
          </a:p>
        </p:txBody>
      </p:sp>
      <p:sp>
        <p:nvSpPr>
          <p:cNvPr id="45" name="Shape 42"/>
          <p:cNvSpPr/>
          <p:nvPr/>
        </p:nvSpPr>
        <p:spPr>
          <a:xfrm>
            <a:off x="6263640" y="4233672"/>
            <a:ext cx="4526280" cy="274320"/>
          </a:xfrm>
          <a:prstGeom prst="rect">
            <a:avLst>
              <a:gd name="adj" fmla="val 26667"/>
            </a:avLst>
          </a:prstGeom>
          <a:solidFill>
            <a:srgbClr val="199BD7"/>
          </a:solidFill>
          <a:ln w="8890">
            <a:solidFill>
              <a:srgbClr val="199BD7">
                <a:alpha val="0"/>
              </a:srgbClr>
            </a:solidFill>
            <a:prstDash val="solid"/>
          </a:ln>
        </p:spPr>
      </p:sp>
      <p:sp>
        <p:nvSpPr>
          <p:cNvPr id="46" name="Text 43"/>
          <p:cNvSpPr/>
          <p:nvPr/>
        </p:nvSpPr>
        <p:spPr>
          <a:xfrm>
            <a:off x="6419088" y="4306824"/>
            <a:ext cx="2011680" cy="128016"/>
          </a:xfrm>
          <a:prstGeom prst="rect">
            <a:avLst/>
          </a:prstGeom>
          <a:noFill/>
          <a:ln/>
        </p:spPr>
        <p:txBody>
          <a:bodyPr wrap="square" lIns="0" tIns="0" rIns="0" bIns="0" rtlCol="0" anchor="t">
            <a:normAutofit/>
          </a:bodyPr>
          <a:lstStyle/>
          <a:p>
            <a:pPr algn="l" indent="0" marL="0">
              <a:buNone/>
            </a:pPr>
            <a:r>
              <a:rPr lang="en-US" sz="650" b="1" dirty="0">
                <a:solidFill>
                  <a:srgbClr val="FFFFFF"/>
                </a:solidFill>
                <a:latin typeface="Aptos" pitchFamily="34" charset="0"/>
                <a:ea typeface="Aptos" pitchFamily="34" charset="-122"/>
                <a:cs typeface="Aptos" pitchFamily="34" charset="-120"/>
              </a:rPr>
              <a:t>Target price</a:t>
            </a:r>
            <a:endParaRPr lang="en-US" sz="650" dirty="0"/>
          </a:p>
        </p:txBody>
      </p:sp>
      <p:sp>
        <p:nvSpPr>
          <p:cNvPr id="47" name="Text 44"/>
          <p:cNvSpPr/>
          <p:nvPr/>
        </p:nvSpPr>
        <p:spPr>
          <a:xfrm>
            <a:off x="9464040" y="4306824"/>
            <a:ext cx="1143000" cy="128016"/>
          </a:xfrm>
          <a:prstGeom prst="rect">
            <a:avLst/>
          </a:prstGeom>
          <a:noFill/>
          <a:ln/>
        </p:spPr>
        <p:txBody>
          <a:bodyPr wrap="square" lIns="0" tIns="0" rIns="0" bIns="0" rtlCol="0" anchor="t">
            <a:normAutofit/>
          </a:bodyPr>
          <a:lstStyle/>
          <a:p>
            <a:pPr algn="r" indent="0" marL="0">
              <a:buNone/>
            </a:pPr>
            <a:r>
              <a:rPr lang="en-US" sz="650" b="1" dirty="0">
                <a:solidFill>
                  <a:srgbClr val="FFFFFF"/>
                </a:solidFill>
                <a:latin typeface="Aptos" pitchFamily="34" charset="0"/>
                <a:ea typeface="Aptos" pitchFamily="34" charset="-122"/>
                <a:cs typeface="Aptos" pitchFamily="34" charset="-120"/>
              </a:rPr>
              <a:t>~CHF 800</a:t>
            </a:r>
            <a:endParaRPr lang="en-US" sz="650" dirty="0"/>
          </a:p>
        </p:txBody>
      </p:sp>
      <p:sp>
        <p:nvSpPr>
          <p:cNvPr id="48" name="Shape 45"/>
          <p:cNvSpPr/>
          <p:nvPr/>
        </p:nvSpPr>
        <p:spPr>
          <a:xfrm>
            <a:off x="6400800" y="4882896"/>
            <a:ext cx="4224528" cy="393192"/>
          </a:xfrm>
          <a:prstGeom prst="roundRect">
            <a:avLst>
              <a:gd name="adj" fmla="val 18605"/>
            </a:avLst>
          </a:prstGeom>
          <a:solidFill>
            <a:srgbClr val="FFFFFF"/>
          </a:solidFill>
          <a:ln w="8890">
            <a:solidFill>
              <a:srgbClr val="D7E2EB"/>
            </a:solidFill>
            <a:prstDash val="solid"/>
          </a:ln>
        </p:spPr>
      </p:sp>
      <p:sp>
        <p:nvSpPr>
          <p:cNvPr id="49" name="Text 46"/>
          <p:cNvSpPr/>
          <p:nvPr/>
        </p:nvSpPr>
        <p:spPr>
          <a:xfrm>
            <a:off x="6583680" y="5010912"/>
            <a:ext cx="3840480" cy="146304"/>
          </a:xfrm>
          <a:prstGeom prst="rect">
            <a:avLst/>
          </a:prstGeom>
          <a:noFill/>
          <a:ln/>
        </p:spPr>
        <p:txBody>
          <a:bodyPr wrap="square" lIns="0" tIns="0" rIns="0" bIns="0" rtlCol="0" anchor="t">
            <a:normAutofit/>
          </a:bodyPr>
          <a:lstStyle/>
          <a:p>
            <a:pPr algn="ctr" indent="0" marL="0">
              <a:buNone/>
            </a:pPr>
            <a:r>
              <a:rPr lang="en-US" sz="800" b="1" dirty="0">
                <a:solidFill>
                  <a:srgbClr val="199BD7"/>
                </a:solidFill>
                <a:latin typeface="Aptos" pitchFamily="34" charset="0"/>
                <a:ea typeface="Aptos" pitchFamily="34" charset="-122"/>
                <a:cs typeface="Aptos" pitchFamily="34" charset="-120"/>
              </a:rPr>
              <a:t>BUY | CHF604 current | CHF800 target | ~33% upside</a:t>
            </a:r>
            <a:endParaRPr lang="en-US" sz="800" dirty="0"/>
          </a:p>
        </p:txBody>
      </p:sp>
      <p:sp>
        <p:nvSpPr>
          <p:cNvPr id="50" name="Text 47"/>
          <p:cNvSpPr/>
          <p:nvPr/>
        </p:nvSpPr>
        <p:spPr>
          <a:xfrm>
            <a:off x="6583680" y="5257800"/>
            <a:ext cx="3840480" cy="146304"/>
          </a:xfrm>
          <a:prstGeom prst="rect">
            <a:avLst/>
          </a:prstGeom>
          <a:noFill/>
          <a:ln/>
        </p:spPr>
        <p:txBody>
          <a:bodyPr wrap="square" lIns="0" tIns="0" rIns="0" bIns="0" rtlCol="0" anchor="t">
            <a:normAutofit/>
          </a:bodyPr>
          <a:lstStyle/>
          <a:p>
            <a:pPr algn="ctr" indent="0" marL="0">
              <a:buNone/>
            </a:pPr>
            <a:r>
              <a:rPr lang="en-US" sz="670" dirty="0">
                <a:solidFill>
                  <a:srgbClr val="344153"/>
                </a:solidFill>
                <a:latin typeface="Aptos" pitchFamily="34" charset="0"/>
                <a:ea typeface="Aptos" pitchFamily="34" charset="-122"/>
                <a:cs typeface="Aptos" pitchFamily="34" charset="-120"/>
              </a:rPr>
              <a:t>Three reasons: rising vacuum intensity; specification-driven 75%+ moat; backlog / capacity conversion.</a:t>
            </a:r>
            <a:endParaRPr lang="en-US" sz="670" dirty="0"/>
          </a:p>
        </p:txBody>
      </p:sp>
      <p:sp>
        <p:nvSpPr>
          <p:cNvPr id="51" name="Shape 48"/>
          <p:cNvSpPr/>
          <p:nvPr/>
        </p:nvSpPr>
        <p:spPr>
          <a:xfrm>
            <a:off x="420624" y="6419088"/>
            <a:ext cx="11338560" cy="0"/>
          </a:xfrm>
          <a:prstGeom prst="line">
            <a:avLst/>
          </a:prstGeom>
          <a:noFill/>
          <a:ln w="7620">
            <a:solidFill>
              <a:srgbClr val="D7E2EB"/>
            </a:solidFill>
            <a:prstDash val="solid"/>
            <a:headEnd type="none"/>
            <a:tailEnd type="none"/>
          </a:ln>
        </p:spPr>
      </p:sp>
      <p:sp>
        <p:nvSpPr>
          <p:cNvPr id="52" name="Text 4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filings; VAT H1 2026; consensus and analyst estimates; peer company filings. Valuation framework is analyst estimate.</a:t>
            </a:r>
            <a:endParaRPr lang="en-US" sz="540" dirty="0"/>
          </a:p>
        </p:txBody>
      </p:sp>
      <p:sp>
        <p:nvSpPr>
          <p:cNvPr id="53" name="Text 5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9</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VAT product portfolio: from individual valves to higher-content modules and sensing</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685800" y="1417320"/>
            <a:ext cx="2240280" cy="1005840"/>
          </a:xfrm>
          <a:prstGeom prst="roundRect">
            <a:avLst>
              <a:gd name="adj" fmla="val 7273"/>
            </a:avLst>
          </a:prstGeom>
          <a:solidFill>
            <a:srgbClr val="FFFFFF"/>
          </a:solidFill>
          <a:ln w="8890">
            <a:solidFill>
              <a:srgbClr val="D7E2EB"/>
            </a:solidFill>
            <a:prstDash val="solid"/>
          </a:ln>
        </p:spPr>
      </p:sp>
      <p:sp>
        <p:nvSpPr>
          <p:cNvPr id="7" name="Text 4"/>
          <p:cNvSpPr/>
          <p:nvPr/>
        </p:nvSpPr>
        <p:spPr>
          <a:xfrm>
            <a:off x="832104" y="161848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Control valve</a:t>
            </a:r>
            <a:endParaRPr lang="en-US" sz="840" dirty="0"/>
          </a:p>
        </p:txBody>
      </p:sp>
      <p:sp>
        <p:nvSpPr>
          <p:cNvPr id="8" name="Text 5"/>
          <p:cNvSpPr/>
          <p:nvPr/>
        </p:nvSpPr>
        <p:spPr>
          <a:xfrm>
            <a:off x="832104" y="198424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Maintains exact chamber pressure</a:t>
            </a:r>
            <a:endParaRPr lang="en-US" sz="660" dirty="0"/>
          </a:p>
        </p:txBody>
      </p:sp>
      <p:sp>
        <p:nvSpPr>
          <p:cNvPr id="9" name="Shape 6"/>
          <p:cNvSpPr/>
          <p:nvPr/>
        </p:nvSpPr>
        <p:spPr>
          <a:xfrm>
            <a:off x="3429000" y="1417320"/>
            <a:ext cx="2240280" cy="1005840"/>
          </a:xfrm>
          <a:prstGeom prst="roundRect">
            <a:avLst>
              <a:gd name="adj" fmla="val 7273"/>
            </a:avLst>
          </a:prstGeom>
          <a:solidFill>
            <a:srgbClr val="FFFFFF"/>
          </a:solidFill>
          <a:ln w="8890">
            <a:solidFill>
              <a:srgbClr val="D7E2EB"/>
            </a:solidFill>
            <a:prstDash val="solid"/>
          </a:ln>
        </p:spPr>
      </p:sp>
      <p:sp>
        <p:nvSpPr>
          <p:cNvPr id="10" name="Text 7"/>
          <p:cNvSpPr/>
          <p:nvPr/>
        </p:nvSpPr>
        <p:spPr>
          <a:xfrm>
            <a:off x="3575304" y="161848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Isolation valve</a:t>
            </a:r>
            <a:endParaRPr lang="en-US" sz="840" dirty="0"/>
          </a:p>
        </p:txBody>
      </p:sp>
      <p:sp>
        <p:nvSpPr>
          <p:cNvPr id="11" name="Text 8"/>
          <p:cNvSpPr/>
          <p:nvPr/>
        </p:nvSpPr>
        <p:spPr>
          <a:xfrm>
            <a:off x="3575304" y="198424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Seals one vacuum section from another</a:t>
            </a:r>
            <a:endParaRPr lang="en-US" sz="660" dirty="0"/>
          </a:p>
        </p:txBody>
      </p:sp>
      <p:sp>
        <p:nvSpPr>
          <p:cNvPr id="12" name="Shape 9"/>
          <p:cNvSpPr/>
          <p:nvPr/>
        </p:nvSpPr>
        <p:spPr>
          <a:xfrm>
            <a:off x="6172200" y="1417320"/>
            <a:ext cx="2240280" cy="1005840"/>
          </a:xfrm>
          <a:prstGeom prst="roundRect">
            <a:avLst>
              <a:gd name="adj" fmla="val 7273"/>
            </a:avLst>
          </a:prstGeom>
          <a:solidFill>
            <a:srgbClr val="FFFFFF"/>
          </a:solidFill>
          <a:ln w="8890">
            <a:solidFill>
              <a:srgbClr val="D7E2EB"/>
            </a:solidFill>
            <a:prstDash val="solid"/>
          </a:ln>
        </p:spPr>
      </p:sp>
      <p:sp>
        <p:nvSpPr>
          <p:cNvPr id="13" name="Text 10"/>
          <p:cNvSpPr/>
          <p:nvPr/>
        </p:nvSpPr>
        <p:spPr>
          <a:xfrm>
            <a:off x="6318504" y="161848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Transfer / gate valve</a:t>
            </a:r>
            <a:endParaRPr lang="en-US" sz="840" dirty="0"/>
          </a:p>
        </p:txBody>
      </p:sp>
      <p:sp>
        <p:nvSpPr>
          <p:cNvPr id="14" name="Text 11"/>
          <p:cNvSpPr/>
          <p:nvPr/>
        </p:nvSpPr>
        <p:spPr>
          <a:xfrm>
            <a:off x="6318504" y="198424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Opens clean passage for wafer movement</a:t>
            </a:r>
            <a:endParaRPr lang="en-US" sz="660" dirty="0"/>
          </a:p>
        </p:txBody>
      </p:sp>
      <p:sp>
        <p:nvSpPr>
          <p:cNvPr id="15" name="Shape 12"/>
          <p:cNvSpPr/>
          <p:nvPr/>
        </p:nvSpPr>
        <p:spPr>
          <a:xfrm>
            <a:off x="8915400" y="1417320"/>
            <a:ext cx="2240280" cy="1005840"/>
          </a:xfrm>
          <a:prstGeom prst="roundRect">
            <a:avLst>
              <a:gd name="adj" fmla="val 7273"/>
            </a:avLst>
          </a:prstGeom>
          <a:solidFill>
            <a:srgbClr val="FFFFFF"/>
          </a:solidFill>
          <a:ln w="8890">
            <a:solidFill>
              <a:srgbClr val="D7E2EB"/>
            </a:solidFill>
            <a:prstDash val="solid"/>
          </a:ln>
        </p:spPr>
      </p:sp>
      <p:sp>
        <p:nvSpPr>
          <p:cNvPr id="16" name="Text 13"/>
          <p:cNvSpPr/>
          <p:nvPr/>
        </p:nvSpPr>
        <p:spPr>
          <a:xfrm>
            <a:off x="9061704" y="161848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Gas-inlet valve</a:t>
            </a:r>
            <a:endParaRPr lang="en-US" sz="840" dirty="0"/>
          </a:p>
        </p:txBody>
      </p:sp>
      <p:sp>
        <p:nvSpPr>
          <p:cNvPr id="17" name="Text 14"/>
          <p:cNvSpPr/>
          <p:nvPr/>
        </p:nvSpPr>
        <p:spPr>
          <a:xfrm>
            <a:off x="9061704" y="198424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Controls process-gas entry</a:t>
            </a:r>
            <a:endParaRPr lang="en-US" sz="660" dirty="0"/>
          </a:p>
        </p:txBody>
      </p:sp>
      <p:sp>
        <p:nvSpPr>
          <p:cNvPr id="18" name="Shape 15"/>
          <p:cNvSpPr/>
          <p:nvPr/>
        </p:nvSpPr>
        <p:spPr>
          <a:xfrm>
            <a:off x="685800" y="2926080"/>
            <a:ext cx="2240280" cy="1005840"/>
          </a:xfrm>
          <a:prstGeom prst="roundRect">
            <a:avLst>
              <a:gd name="adj" fmla="val 7273"/>
            </a:avLst>
          </a:prstGeom>
          <a:solidFill>
            <a:srgbClr val="EAF7FD"/>
          </a:solidFill>
          <a:ln w="8890">
            <a:solidFill>
              <a:srgbClr val="199BD7"/>
            </a:solidFill>
            <a:prstDash val="solid"/>
          </a:ln>
        </p:spPr>
      </p:sp>
      <p:sp>
        <p:nvSpPr>
          <p:cNvPr id="19" name="Text 16"/>
          <p:cNvSpPr/>
          <p:nvPr/>
        </p:nvSpPr>
        <p:spPr>
          <a:xfrm>
            <a:off x="832104" y="312724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99BD7"/>
                </a:solidFill>
                <a:latin typeface="Aptos" pitchFamily="34" charset="0"/>
                <a:ea typeface="Aptos" pitchFamily="34" charset="-122"/>
                <a:cs typeface="Aptos" pitchFamily="34" charset="-120"/>
              </a:rPr>
              <a:t>Vacuum module</a:t>
            </a:r>
            <a:endParaRPr lang="en-US" sz="840" dirty="0"/>
          </a:p>
        </p:txBody>
      </p:sp>
      <p:sp>
        <p:nvSpPr>
          <p:cNvPr id="20" name="Text 17"/>
          <p:cNvSpPr/>
          <p:nvPr/>
        </p:nvSpPr>
        <p:spPr>
          <a:xfrm>
            <a:off x="832104" y="349300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Combines valves/functions into one subsystem</a:t>
            </a:r>
            <a:endParaRPr lang="en-US" sz="660" dirty="0"/>
          </a:p>
        </p:txBody>
      </p:sp>
      <p:sp>
        <p:nvSpPr>
          <p:cNvPr id="21" name="Shape 18"/>
          <p:cNvSpPr/>
          <p:nvPr/>
        </p:nvSpPr>
        <p:spPr>
          <a:xfrm>
            <a:off x="3429000" y="2926080"/>
            <a:ext cx="2240280" cy="1005840"/>
          </a:xfrm>
          <a:prstGeom prst="roundRect">
            <a:avLst>
              <a:gd name="adj" fmla="val 7273"/>
            </a:avLst>
          </a:prstGeom>
          <a:solidFill>
            <a:srgbClr val="FFFFFF"/>
          </a:solidFill>
          <a:ln w="8890">
            <a:solidFill>
              <a:srgbClr val="D7E2EB"/>
            </a:solidFill>
            <a:prstDash val="solid"/>
          </a:ln>
        </p:spPr>
      </p:sp>
      <p:sp>
        <p:nvSpPr>
          <p:cNvPr id="22" name="Text 19"/>
          <p:cNvSpPr/>
          <p:nvPr/>
        </p:nvSpPr>
        <p:spPr>
          <a:xfrm>
            <a:off x="3575304" y="312724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Motion / pin lifter</a:t>
            </a:r>
            <a:endParaRPr lang="en-US" sz="840" dirty="0"/>
          </a:p>
        </p:txBody>
      </p:sp>
      <p:sp>
        <p:nvSpPr>
          <p:cNvPr id="23" name="Text 20"/>
          <p:cNvSpPr/>
          <p:nvPr/>
        </p:nvSpPr>
        <p:spPr>
          <a:xfrm>
            <a:off x="3575304" y="349300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Positions wafer precisely inside chamber</a:t>
            </a:r>
            <a:endParaRPr lang="en-US" sz="660" dirty="0"/>
          </a:p>
        </p:txBody>
      </p:sp>
      <p:sp>
        <p:nvSpPr>
          <p:cNvPr id="24" name="Shape 21"/>
          <p:cNvSpPr/>
          <p:nvPr/>
        </p:nvSpPr>
        <p:spPr>
          <a:xfrm>
            <a:off x="6172200" y="2926080"/>
            <a:ext cx="2240280" cy="1005840"/>
          </a:xfrm>
          <a:prstGeom prst="roundRect">
            <a:avLst>
              <a:gd name="adj" fmla="val 7273"/>
            </a:avLst>
          </a:prstGeom>
          <a:solidFill>
            <a:srgbClr val="FFFFFF"/>
          </a:solidFill>
          <a:ln w="8890">
            <a:solidFill>
              <a:srgbClr val="D7E2EB"/>
            </a:solidFill>
            <a:prstDash val="solid"/>
          </a:ln>
        </p:spPr>
      </p:sp>
      <p:sp>
        <p:nvSpPr>
          <p:cNvPr id="25" name="Text 22"/>
          <p:cNvSpPr/>
          <p:nvPr/>
        </p:nvSpPr>
        <p:spPr>
          <a:xfrm>
            <a:off x="6318504" y="312724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7212B"/>
                </a:solidFill>
                <a:latin typeface="Aptos" pitchFamily="34" charset="0"/>
                <a:ea typeface="Aptos" pitchFamily="34" charset="-122"/>
                <a:cs typeface="Aptos" pitchFamily="34" charset="-120"/>
              </a:rPr>
              <a:t>Global Service</a:t>
            </a:r>
            <a:endParaRPr lang="en-US" sz="840" dirty="0"/>
          </a:p>
        </p:txBody>
      </p:sp>
      <p:sp>
        <p:nvSpPr>
          <p:cNvPr id="26" name="Text 23"/>
          <p:cNvSpPr/>
          <p:nvPr/>
        </p:nvSpPr>
        <p:spPr>
          <a:xfrm>
            <a:off x="6318504" y="349300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Spares, repairs, upgrades, retrofits</a:t>
            </a:r>
            <a:endParaRPr lang="en-US" sz="660" dirty="0"/>
          </a:p>
        </p:txBody>
      </p:sp>
      <p:sp>
        <p:nvSpPr>
          <p:cNvPr id="27" name="Shape 24"/>
          <p:cNvSpPr/>
          <p:nvPr/>
        </p:nvSpPr>
        <p:spPr>
          <a:xfrm>
            <a:off x="8915400" y="2926080"/>
            <a:ext cx="2240280" cy="1005840"/>
          </a:xfrm>
          <a:prstGeom prst="roundRect">
            <a:avLst>
              <a:gd name="adj" fmla="val 7273"/>
            </a:avLst>
          </a:prstGeom>
          <a:solidFill>
            <a:srgbClr val="EAF7FD"/>
          </a:solidFill>
          <a:ln w="8890">
            <a:solidFill>
              <a:srgbClr val="199BD7"/>
            </a:solidFill>
            <a:prstDash val="solid"/>
          </a:ln>
        </p:spPr>
      </p:sp>
      <p:sp>
        <p:nvSpPr>
          <p:cNvPr id="28" name="Text 25"/>
          <p:cNvSpPr/>
          <p:nvPr/>
        </p:nvSpPr>
        <p:spPr>
          <a:xfrm>
            <a:off x="9061704" y="3127248"/>
            <a:ext cx="1920240" cy="182880"/>
          </a:xfrm>
          <a:prstGeom prst="rect">
            <a:avLst/>
          </a:prstGeom>
          <a:noFill/>
          <a:ln/>
        </p:spPr>
        <p:txBody>
          <a:bodyPr wrap="square" lIns="0" tIns="0" rIns="0" bIns="0" rtlCol="0" anchor="t">
            <a:normAutofit/>
          </a:bodyPr>
          <a:lstStyle/>
          <a:p>
            <a:pPr algn="ctr" indent="0" marL="0">
              <a:buNone/>
            </a:pPr>
            <a:r>
              <a:rPr lang="en-US" sz="840" b="1" dirty="0">
                <a:solidFill>
                  <a:srgbClr val="199BD7"/>
                </a:solidFill>
                <a:latin typeface="Aptos" pitchFamily="34" charset="0"/>
                <a:ea typeface="Aptos" pitchFamily="34" charset="-122"/>
                <a:cs typeface="Aptos" pitchFamily="34" charset="-120"/>
              </a:rPr>
              <a:t>Atonarp sensing</a:t>
            </a:r>
            <a:endParaRPr lang="en-US" sz="840" dirty="0"/>
          </a:p>
        </p:txBody>
      </p:sp>
      <p:sp>
        <p:nvSpPr>
          <p:cNvPr id="29" name="Text 26"/>
          <p:cNvSpPr/>
          <p:nvPr/>
        </p:nvSpPr>
        <p:spPr>
          <a:xfrm>
            <a:off x="9061704" y="3493008"/>
            <a:ext cx="1920240" cy="164592"/>
          </a:xfrm>
          <a:prstGeom prst="rect">
            <a:avLst/>
          </a:prstGeom>
          <a:noFill/>
          <a:ln/>
        </p:spPr>
        <p:txBody>
          <a:bodyPr wrap="square" lIns="0" tIns="0" rIns="0" bIns="0" rtlCol="0" anchor="t">
            <a:normAutofit/>
          </a:bodyPr>
          <a:lstStyle/>
          <a:p>
            <a:pPr algn="ctr" indent="0" marL="0">
              <a:buNone/>
            </a:pPr>
            <a:r>
              <a:rPr lang="en-US" sz="660" dirty="0">
                <a:solidFill>
                  <a:srgbClr val="344153"/>
                </a:solidFill>
                <a:latin typeface="Aptos" pitchFamily="34" charset="0"/>
                <a:ea typeface="Aptos" pitchFamily="34" charset="-122"/>
                <a:cs typeface="Aptos" pitchFamily="34" charset="-120"/>
              </a:rPr>
              <a:t>Real-time process analytics</a:t>
            </a:r>
            <a:endParaRPr lang="en-US" sz="660" dirty="0"/>
          </a:p>
        </p:txBody>
      </p:sp>
      <p:sp>
        <p:nvSpPr>
          <p:cNvPr id="30" name="Shape 27"/>
          <p:cNvSpPr/>
          <p:nvPr/>
        </p:nvSpPr>
        <p:spPr>
          <a:xfrm>
            <a:off x="420624" y="6419088"/>
            <a:ext cx="11338560" cy="0"/>
          </a:xfrm>
          <a:prstGeom prst="line">
            <a:avLst/>
          </a:prstGeom>
          <a:noFill/>
          <a:ln w="7620">
            <a:solidFill>
              <a:srgbClr val="D7E2EB"/>
            </a:solidFill>
            <a:prstDash val="solid"/>
            <a:headEnd type="none"/>
            <a:tailEnd type="none"/>
          </a:ln>
        </p:spPr>
      </p:sp>
      <p:sp>
        <p:nvSpPr>
          <p:cNvPr id="31" name="Text 28"/>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product materials; uploaded VAT 101 document.</a:t>
            </a:r>
            <a:endParaRPr lang="en-US" sz="540" dirty="0"/>
          </a:p>
        </p:txBody>
      </p:sp>
      <p:sp>
        <p:nvSpPr>
          <p:cNvPr id="32" name="Text 29"/>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10</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Vacuum valve types: control, isolation and transfer solve different chamber problems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822960" y="1508760"/>
            <a:ext cx="2240280" cy="2971800"/>
          </a:xfrm>
          <a:prstGeom prst="roundRect">
            <a:avLst>
              <a:gd name="adj" fmla="val 3265"/>
            </a:avLst>
          </a:prstGeom>
          <a:solidFill>
            <a:srgbClr val="EAF7FD"/>
          </a:solidFill>
          <a:ln w="13970">
            <a:solidFill>
              <a:srgbClr val="199BD7"/>
            </a:solidFill>
            <a:prstDash val="solid"/>
          </a:ln>
        </p:spPr>
      </p:sp>
      <p:sp>
        <p:nvSpPr>
          <p:cNvPr id="7" name="Text 4"/>
          <p:cNvSpPr/>
          <p:nvPr/>
        </p:nvSpPr>
        <p:spPr>
          <a:xfrm>
            <a:off x="987552" y="1764792"/>
            <a:ext cx="1874520" cy="210312"/>
          </a:xfrm>
          <a:prstGeom prst="rect">
            <a:avLst/>
          </a:prstGeom>
          <a:noFill/>
          <a:ln/>
        </p:spPr>
        <p:txBody>
          <a:bodyPr wrap="square" lIns="0" tIns="0" rIns="0" bIns="0" rtlCol="0" anchor="t">
            <a:normAutofit/>
          </a:bodyPr>
          <a:lstStyle/>
          <a:p>
            <a:pPr algn="ctr" indent="0" marL="0">
              <a:buNone/>
            </a:pPr>
            <a:r>
              <a:rPr lang="en-US" sz="900" b="1" dirty="0">
                <a:solidFill>
                  <a:srgbClr val="199BD7"/>
                </a:solidFill>
                <a:latin typeface="Aptos" pitchFamily="34" charset="0"/>
                <a:ea typeface="Aptos" pitchFamily="34" charset="-122"/>
                <a:cs typeface="Aptos" pitchFamily="34" charset="-120"/>
              </a:rPr>
              <a:t>Control</a:t>
            </a:r>
            <a:endParaRPr lang="en-US" sz="900" dirty="0"/>
          </a:p>
        </p:txBody>
      </p:sp>
      <p:sp>
        <p:nvSpPr>
          <p:cNvPr id="8" name="Text 5"/>
          <p:cNvSpPr/>
          <p:nvPr/>
        </p:nvSpPr>
        <p:spPr>
          <a:xfrm>
            <a:off x="1005840" y="2240280"/>
            <a:ext cx="1874520" cy="457200"/>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Continuously adjusts opening to hold target chamber pressure</a:t>
            </a:r>
            <a:endParaRPr lang="en-US" sz="740" dirty="0"/>
          </a:p>
        </p:txBody>
      </p:sp>
      <p:sp>
        <p:nvSpPr>
          <p:cNvPr id="9" name="Shape 6"/>
          <p:cNvSpPr/>
          <p:nvPr/>
        </p:nvSpPr>
        <p:spPr>
          <a:xfrm>
            <a:off x="1097280" y="2971800"/>
            <a:ext cx="1691640" cy="0"/>
          </a:xfrm>
          <a:prstGeom prst="line">
            <a:avLst/>
          </a:prstGeom>
          <a:noFill/>
          <a:ln w="7620">
            <a:solidFill>
              <a:srgbClr val="D7E2EB"/>
            </a:solidFill>
            <a:prstDash val="solid"/>
            <a:headEnd type="none"/>
            <a:tailEnd type="none"/>
          </a:ln>
        </p:spPr>
      </p:sp>
      <p:sp>
        <p:nvSpPr>
          <p:cNvPr id="10" name="Text 7"/>
          <p:cNvSpPr/>
          <p:nvPr/>
        </p:nvSpPr>
        <p:spPr>
          <a:xfrm>
            <a:off x="1005840" y="3218688"/>
            <a:ext cx="1874520" cy="164592"/>
          </a:xfrm>
          <a:prstGeom prst="rect">
            <a:avLst/>
          </a:prstGeom>
          <a:noFill/>
          <a:ln/>
        </p:spPr>
        <p:txBody>
          <a:bodyPr wrap="square" lIns="0" tIns="0" rIns="0" bIns="0" rtlCol="0" anchor="t">
            <a:normAutofit/>
          </a:bodyPr>
          <a:lstStyle/>
          <a:p>
            <a:pPr algn="ctr" indent="0" marL="0">
              <a:buNone/>
            </a:pPr>
            <a:r>
              <a:rPr lang="en-US" sz="630" b="1" dirty="0">
                <a:solidFill>
                  <a:srgbClr val="687486"/>
                </a:solidFill>
                <a:latin typeface="Aptos" pitchFamily="34" charset="0"/>
                <a:ea typeface="Aptos" pitchFamily="34" charset="-122"/>
                <a:cs typeface="Aptos" pitchFamily="34" charset="-120"/>
              </a:rPr>
              <a:t>Critical spec</a:t>
            </a:r>
            <a:endParaRPr lang="en-US" sz="630" dirty="0"/>
          </a:p>
        </p:txBody>
      </p:sp>
      <p:sp>
        <p:nvSpPr>
          <p:cNvPr id="11" name="Text 8"/>
          <p:cNvSpPr/>
          <p:nvPr/>
        </p:nvSpPr>
        <p:spPr>
          <a:xfrm>
            <a:off x="1005840" y="3493008"/>
            <a:ext cx="1874520" cy="365760"/>
          </a:xfrm>
          <a:prstGeom prst="rect">
            <a:avLst/>
          </a:prstGeom>
          <a:noFill/>
          <a:ln/>
        </p:spPr>
        <p:txBody>
          <a:bodyPr wrap="square" lIns="0" tIns="0" rIns="0" bIns="0" rtlCol="0" anchor="t">
            <a:normAutofit/>
          </a:bodyPr>
          <a:lstStyle/>
          <a:p>
            <a:pPr algn="ctr" indent="0" marL="0">
              <a:buNone/>
            </a:pPr>
            <a:r>
              <a:rPr lang="en-US" sz="700" dirty="0">
                <a:solidFill>
                  <a:srgbClr val="17212B"/>
                </a:solidFill>
                <a:latin typeface="Aptos" pitchFamily="34" charset="0"/>
                <a:ea typeface="Aptos" pitchFamily="34" charset="-122"/>
                <a:cs typeface="Aptos" pitchFamily="34" charset="-120"/>
              </a:rPr>
              <a:t>Pressure accuracy; software integration</a:t>
            </a:r>
            <a:endParaRPr lang="en-US" sz="700" dirty="0"/>
          </a:p>
        </p:txBody>
      </p:sp>
      <p:sp>
        <p:nvSpPr>
          <p:cNvPr id="12" name="Shape 9"/>
          <p:cNvSpPr/>
          <p:nvPr/>
        </p:nvSpPr>
        <p:spPr>
          <a:xfrm>
            <a:off x="3611880" y="1508760"/>
            <a:ext cx="2240280" cy="2971800"/>
          </a:xfrm>
          <a:prstGeom prst="roundRect">
            <a:avLst>
              <a:gd name="adj" fmla="val 3265"/>
            </a:avLst>
          </a:prstGeom>
          <a:solidFill>
            <a:srgbClr val="FFFFFF"/>
          </a:solidFill>
          <a:ln w="8890">
            <a:solidFill>
              <a:srgbClr val="D7E2EB"/>
            </a:solidFill>
            <a:prstDash val="solid"/>
          </a:ln>
        </p:spPr>
      </p:sp>
      <p:sp>
        <p:nvSpPr>
          <p:cNvPr id="13" name="Text 10"/>
          <p:cNvSpPr/>
          <p:nvPr/>
        </p:nvSpPr>
        <p:spPr>
          <a:xfrm>
            <a:off x="3776472" y="1764792"/>
            <a:ext cx="1874520" cy="210312"/>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Isolation</a:t>
            </a:r>
            <a:endParaRPr lang="en-US" sz="900" dirty="0"/>
          </a:p>
        </p:txBody>
      </p:sp>
      <p:sp>
        <p:nvSpPr>
          <p:cNvPr id="14" name="Text 11"/>
          <p:cNvSpPr/>
          <p:nvPr/>
        </p:nvSpPr>
        <p:spPr>
          <a:xfrm>
            <a:off x="3794760" y="2240280"/>
            <a:ext cx="1874520" cy="457200"/>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Completely seals sections of a vacuum system</a:t>
            </a:r>
            <a:endParaRPr lang="en-US" sz="740" dirty="0"/>
          </a:p>
        </p:txBody>
      </p:sp>
      <p:sp>
        <p:nvSpPr>
          <p:cNvPr id="15" name="Shape 12"/>
          <p:cNvSpPr/>
          <p:nvPr/>
        </p:nvSpPr>
        <p:spPr>
          <a:xfrm>
            <a:off x="3886200" y="2971800"/>
            <a:ext cx="1691640" cy="0"/>
          </a:xfrm>
          <a:prstGeom prst="line">
            <a:avLst/>
          </a:prstGeom>
          <a:noFill/>
          <a:ln w="7620">
            <a:solidFill>
              <a:srgbClr val="D7E2EB"/>
            </a:solidFill>
            <a:prstDash val="solid"/>
            <a:headEnd type="none"/>
            <a:tailEnd type="none"/>
          </a:ln>
        </p:spPr>
      </p:sp>
      <p:sp>
        <p:nvSpPr>
          <p:cNvPr id="16" name="Text 13"/>
          <p:cNvSpPr/>
          <p:nvPr/>
        </p:nvSpPr>
        <p:spPr>
          <a:xfrm>
            <a:off x="3794760" y="3218688"/>
            <a:ext cx="1874520" cy="164592"/>
          </a:xfrm>
          <a:prstGeom prst="rect">
            <a:avLst/>
          </a:prstGeom>
          <a:noFill/>
          <a:ln/>
        </p:spPr>
        <p:txBody>
          <a:bodyPr wrap="square" lIns="0" tIns="0" rIns="0" bIns="0" rtlCol="0" anchor="t">
            <a:normAutofit/>
          </a:bodyPr>
          <a:lstStyle/>
          <a:p>
            <a:pPr algn="ctr" indent="0" marL="0">
              <a:buNone/>
            </a:pPr>
            <a:r>
              <a:rPr lang="en-US" sz="630" b="1" dirty="0">
                <a:solidFill>
                  <a:srgbClr val="687486"/>
                </a:solidFill>
                <a:latin typeface="Aptos" pitchFamily="34" charset="0"/>
                <a:ea typeface="Aptos" pitchFamily="34" charset="-122"/>
                <a:cs typeface="Aptos" pitchFamily="34" charset="-120"/>
              </a:rPr>
              <a:t>Critical spec</a:t>
            </a:r>
            <a:endParaRPr lang="en-US" sz="630" dirty="0"/>
          </a:p>
        </p:txBody>
      </p:sp>
      <p:sp>
        <p:nvSpPr>
          <p:cNvPr id="17" name="Text 14"/>
          <p:cNvSpPr/>
          <p:nvPr/>
        </p:nvSpPr>
        <p:spPr>
          <a:xfrm>
            <a:off x="3794760" y="3493008"/>
            <a:ext cx="1874520" cy="365760"/>
          </a:xfrm>
          <a:prstGeom prst="rect">
            <a:avLst/>
          </a:prstGeom>
          <a:noFill/>
          <a:ln/>
        </p:spPr>
        <p:txBody>
          <a:bodyPr wrap="square" lIns="0" tIns="0" rIns="0" bIns="0" rtlCol="0" anchor="t">
            <a:normAutofit/>
          </a:bodyPr>
          <a:lstStyle/>
          <a:p>
            <a:pPr algn="ctr" indent="0" marL="0">
              <a:buNone/>
            </a:pPr>
            <a:r>
              <a:rPr lang="en-US" sz="700" dirty="0">
                <a:solidFill>
                  <a:srgbClr val="17212B"/>
                </a:solidFill>
                <a:latin typeface="Aptos" pitchFamily="34" charset="0"/>
                <a:ea typeface="Aptos" pitchFamily="34" charset="-122"/>
                <a:cs typeface="Aptos" pitchFamily="34" charset="-120"/>
              </a:rPr>
              <a:t>Leak rate; reliability; cleanliness</a:t>
            </a:r>
            <a:endParaRPr lang="en-US" sz="700" dirty="0"/>
          </a:p>
        </p:txBody>
      </p:sp>
      <p:sp>
        <p:nvSpPr>
          <p:cNvPr id="18" name="Shape 15"/>
          <p:cNvSpPr/>
          <p:nvPr/>
        </p:nvSpPr>
        <p:spPr>
          <a:xfrm>
            <a:off x="6400800" y="1508760"/>
            <a:ext cx="2240280" cy="2971800"/>
          </a:xfrm>
          <a:prstGeom prst="roundRect">
            <a:avLst>
              <a:gd name="adj" fmla="val 3265"/>
            </a:avLst>
          </a:prstGeom>
          <a:solidFill>
            <a:srgbClr val="FFFFFF"/>
          </a:solidFill>
          <a:ln w="8890">
            <a:solidFill>
              <a:srgbClr val="D7E2EB"/>
            </a:solidFill>
            <a:prstDash val="solid"/>
          </a:ln>
        </p:spPr>
      </p:sp>
      <p:sp>
        <p:nvSpPr>
          <p:cNvPr id="19" name="Text 16"/>
          <p:cNvSpPr/>
          <p:nvPr/>
        </p:nvSpPr>
        <p:spPr>
          <a:xfrm>
            <a:off x="6565392" y="1764792"/>
            <a:ext cx="1874520" cy="210312"/>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Transfer / gate</a:t>
            </a:r>
            <a:endParaRPr lang="en-US" sz="900" dirty="0"/>
          </a:p>
        </p:txBody>
      </p:sp>
      <p:sp>
        <p:nvSpPr>
          <p:cNvPr id="20" name="Text 17"/>
          <p:cNvSpPr/>
          <p:nvPr/>
        </p:nvSpPr>
        <p:spPr>
          <a:xfrm>
            <a:off x="6583680" y="2240280"/>
            <a:ext cx="1874520" cy="457200"/>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Large opening for wafer robot movement</a:t>
            </a:r>
            <a:endParaRPr lang="en-US" sz="740" dirty="0"/>
          </a:p>
        </p:txBody>
      </p:sp>
      <p:sp>
        <p:nvSpPr>
          <p:cNvPr id="21" name="Shape 18"/>
          <p:cNvSpPr/>
          <p:nvPr/>
        </p:nvSpPr>
        <p:spPr>
          <a:xfrm>
            <a:off x="6675120" y="2971800"/>
            <a:ext cx="1691640" cy="0"/>
          </a:xfrm>
          <a:prstGeom prst="line">
            <a:avLst/>
          </a:prstGeom>
          <a:noFill/>
          <a:ln w="7620">
            <a:solidFill>
              <a:srgbClr val="D7E2EB"/>
            </a:solidFill>
            <a:prstDash val="solid"/>
            <a:headEnd type="none"/>
            <a:tailEnd type="none"/>
          </a:ln>
        </p:spPr>
      </p:sp>
      <p:sp>
        <p:nvSpPr>
          <p:cNvPr id="22" name="Text 19"/>
          <p:cNvSpPr/>
          <p:nvPr/>
        </p:nvSpPr>
        <p:spPr>
          <a:xfrm>
            <a:off x="6583680" y="3218688"/>
            <a:ext cx="1874520" cy="164592"/>
          </a:xfrm>
          <a:prstGeom prst="rect">
            <a:avLst/>
          </a:prstGeom>
          <a:noFill/>
          <a:ln/>
        </p:spPr>
        <p:txBody>
          <a:bodyPr wrap="square" lIns="0" tIns="0" rIns="0" bIns="0" rtlCol="0" anchor="t">
            <a:normAutofit/>
          </a:bodyPr>
          <a:lstStyle/>
          <a:p>
            <a:pPr algn="ctr" indent="0" marL="0">
              <a:buNone/>
            </a:pPr>
            <a:r>
              <a:rPr lang="en-US" sz="630" b="1" dirty="0">
                <a:solidFill>
                  <a:srgbClr val="687486"/>
                </a:solidFill>
                <a:latin typeface="Aptos" pitchFamily="34" charset="0"/>
                <a:ea typeface="Aptos" pitchFamily="34" charset="-122"/>
                <a:cs typeface="Aptos" pitchFamily="34" charset="-120"/>
              </a:rPr>
              <a:t>Critical spec</a:t>
            </a:r>
            <a:endParaRPr lang="en-US" sz="630" dirty="0"/>
          </a:p>
        </p:txBody>
      </p:sp>
      <p:sp>
        <p:nvSpPr>
          <p:cNvPr id="23" name="Text 20"/>
          <p:cNvSpPr/>
          <p:nvPr/>
        </p:nvSpPr>
        <p:spPr>
          <a:xfrm>
            <a:off x="6583680" y="3493008"/>
            <a:ext cx="1874520" cy="365760"/>
          </a:xfrm>
          <a:prstGeom prst="rect">
            <a:avLst/>
          </a:prstGeom>
          <a:noFill/>
          <a:ln/>
        </p:spPr>
        <p:txBody>
          <a:bodyPr wrap="square" lIns="0" tIns="0" rIns="0" bIns="0" rtlCol="0" anchor="t">
            <a:normAutofit/>
          </a:bodyPr>
          <a:lstStyle/>
          <a:p>
            <a:pPr algn="ctr" indent="0" marL="0">
              <a:buNone/>
            </a:pPr>
            <a:r>
              <a:rPr lang="en-US" sz="700" dirty="0">
                <a:solidFill>
                  <a:srgbClr val="17212B"/>
                </a:solidFill>
                <a:latin typeface="Aptos" pitchFamily="34" charset="0"/>
                <a:ea typeface="Aptos" pitchFamily="34" charset="-122"/>
                <a:cs typeface="Aptos" pitchFamily="34" charset="-120"/>
              </a:rPr>
              <a:t>Particles; seal integrity; speed</a:t>
            </a:r>
            <a:endParaRPr lang="en-US" sz="700" dirty="0"/>
          </a:p>
        </p:txBody>
      </p:sp>
      <p:sp>
        <p:nvSpPr>
          <p:cNvPr id="24" name="Shape 21"/>
          <p:cNvSpPr/>
          <p:nvPr/>
        </p:nvSpPr>
        <p:spPr>
          <a:xfrm>
            <a:off x="9189720" y="1508760"/>
            <a:ext cx="2240280" cy="2971800"/>
          </a:xfrm>
          <a:prstGeom prst="roundRect">
            <a:avLst>
              <a:gd name="adj" fmla="val 3265"/>
            </a:avLst>
          </a:prstGeom>
          <a:solidFill>
            <a:srgbClr val="FFFFFF"/>
          </a:solidFill>
          <a:ln w="8890">
            <a:solidFill>
              <a:srgbClr val="D7E2EB"/>
            </a:solidFill>
            <a:prstDash val="solid"/>
          </a:ln>
        </p:spPr>
      </p:sp>
      <p:sp>
        <p:nvSpPr>
          <p:cNvPr id="25" name="Text 22"/>
          <p:cNvSpPr/>
          <p:nvPr/>
        </p:nvSpPr>
        <p:spPr>
          <a:xfrm>
            <a:off x="9354312" y="1764792"/>
            <a:ext cx="1874520" cy="210312"/>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Gas inlet</a:t>
            </a:r>
            <a:endParaRPr lang="en-US" sz="900" dirty="0"/>
          </a:p>
        </p:txBody>
      </p:sp>
      <p:sp>
        <p:nvSpPr>
          <p:cNvPr id="26" name="Text 23"/>
          <p:cNvSpPr/>
          <p:nvPr/>
        </p:nvSpPr>
        <p:spPr>
          <a:xfrm>
            <a:off x="9372600" y="2240280"/>
            <a:ext cx="1874520" cy="457200"/>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Introduces process gases precisely</a:t>
            </a:r>
            <a:endParaRPr lang="en-US" sz="740" dirty="0"/>
          </a:p>
        </p:txBody>
      </p:sp>
      <p:sp>
        <p:nvSpPr>
          <p:cNvPr id="27" name="Shape 24"/>
          <p:cNvSpPr/>
          <p:nvPr/>
        </p:nvSpPr>
        <p:spPr>
          <a:xfrm>
            <a:off x="9464040" y="2971800"/>
            <a:ext cx="1691640" cy="0"/>
          </a:xfrm>
          <a:prstGeom prst="line">
            <a:avLst/>
          </a:prstGeom>
          <a:noFill/>
          <a:ln w="7620">
            <a:solidFill>
              <a:srgbClr val="D7E2EB"/>
            </a:solidFill>
            <a:prstDash val="solid"/>
            <a:headEnd type="none"/>
            <a:tailEnd type="none"/>
          </a:ln>
        </p:spPr>
      </p:sp>
      <p:sp>
        <p:nvSpPr>
          <p:cNvPr id="28" name="Text 25"/>
          <p:cNvSpPr/>
          <p:nvPr/>
        </p:nvSpPr>
        <p:spPr>
          <a:xfrm>
            <a:off x="9372600" y="3218688"/>
            <a:ext cx="1874520" cy="164592"/>
          </a:xfrm>
          <a:prstGeom prst="rect">
            <a:avLst/>
          </a:prstGeom>
          <a:noFill/>
          <a:ln/>
        </p:spPr>
        <p:txBody>
          <a:bodyPr wrap="square" lIns="0" tIns="0" rIns="0" bIns="0" rtlCol="0" anchor="t">
            <a:normAutofit/>
          </a:bodyPr>
          <a:lstStyle/>
          <a:p>
            <a:pPr algn="ctr" indent="0" marL="0">
              <a:buNone/>
            </a:pPr>
            <a:r>
              <a:rPr lang="en-US" sz="630" b="1" dirty="0">
                <a:solidFill>
                  <a:srgbClr val="687486"/>
                </a:solidFill>
                <a:latin typeface="Aptos" pitchFamily="34" charset="0"/>
                <a:ea typeface="Aptos" pitchFamily="34" charset="-122"/>
                <a:cs typeface="Aptos" pitchFamily="34" charset="-120"/>
              </a:rPr>
              <a:t>Critical spec</a:t>
            </a:r>
            <a:endParaRPr lang="en-US" sz="630" dirty="0"/>
          </a:p>
        </p:txBody>
      </p:sp>
      <p:sp>
        <p:nvSpPr>
          <p:cNvPr id="29" name="Text 26"/>
          <p:cNvSpPr/>
          <p:nvPr/>
        </p:nvSpPr>
        <p:spPr>
          <a:xfrm>
            <a:off x="9372600" y="3493008"/>
            <a:ext cx="1874520" cy="365760"/>
          </a:xfrm>
          <a:prstGeom prst="rect">
            <a:avLst/>
          </a:prstGeom>
          <a:noFill/>
          <a:ln/>
        </p:spPr>
        <p:txBody>
          <a:bodyPr wrap="square" lIns="0" tIns="0" rIns="0" bIns="0" rtlCol="0" anchor="t">
            <a:normAutofit/>
          </a:bodyPr>
          <a:lstStyle/>
          <a:p>
            <a:pPr algn="ctr" indent="0" marL="0">
              <a:buNone/>
            </a:pPr>
            <a:r>
              <a:rPr lang="en-US" sz="700" dirty="0">
                <a:solidFill>
                  <a:srgbClr val="17212B"/>
                </a:solidFill>
                <a:latin typeface="Aptos" pitchFamily="34" charset="0"/>
                <a:ea typeface="Aptos" pitchFamily="34" charset="-122"/>
                <a:cs typeface="Aptos" pitchFamily="34" charset="-120"/>
              </a:rPr>
              <a:t>Contamination; chemistry compatibility</a:t>
            </a:r>
            <a:endParaRPr lang="en-US" sz="700" dirty="0"/>
          </a:p>
        </p:txBody>
      </p:sp>
      <p:sp>
        <p:nvSpPr>
          <p:cNvPr id="30" name="Text 27"/>
          <p:cNvSpPr/>
          <p:nvPr/>
        </p:nvSpPr>
        <p:spPr>
          <a:xfrm>
            <a:off x="1143000" y="5120640"/>
            <a:ext cx="9875520" cy="237744"/>
          </a:xfrm>
          <a:prstGeom prst="rect">
            <a:avLst/>
          </a:prstGeom>
          <a:noFill/>
          <a:ln/>
        </p:spPr>
        <p:txBody>
          <a:bodyPr wrap="square" lIns="0" tIns="0" rIns="0" bIns="0" rtlCol="0" anchor="t">
            <a:normAutofit/>
          </a:bodyPr>
          <a:lstStyle/>
          <a:p>
            <a:pPr algn="ctr" indent="0" marL="0">
              <a:buNone/>
            </a:pPr>
            <a:r>
              <a:rPr lang="en-US" sz="930" b="1" dirty="0">
                <a:solidFill>
                  <a:srgbClr val="199BD7"/>
                </a:solidFill>
                <a:latin typeface="Aptos" pitchFamily="34" charset="0"/>
                <a:ea typeface="Aptos" pitchFamily="34" charset="-122"/>
                <a:cs typeface="Aptos" pitchFamily="34" charset="-120"/>
              </a:rPr>
              <a:t>Common attribute: qualification risk. After chamber integration, small procurement savings are rarely worth retesting, yield risk and tool-up time.</a:t>
            </a:r>
            <a:endParaRPr lang="en-US" sz="930" dirty="0"/>
          </a:p>
        </p:txBody>
      </p:sp>
      <p:sp>
        <p:nvSpPr>
          <p:cNvPr id="31" name="Shape 28"/>
          <p:cNvSpPr/>
          <p:nvPr/>
        </p:nvSpPr>
        <p:spPr>
          <a:xfrm>
            <a:off x="420624" y="6419088"/>
            <a:ext cx="11338560" cy="0"/>
          </a:xfrm>
          <a:prstGeom prst="line">
            <a:avLst/>
          </a:prstGeom>
          <a:noFill/>
          <a:ln w="7620">
            <a:solidFill>
              <a:srgbClr val="D7E2EB"/>
            </a:solidFill>
            <a:prstDash val="solid"/>
            <a:headEnd type="none"/>
            <a:tailEnd type="none"/>
          </a:ln>
        </p:spPr>
      </p:sp>
      <p:sp>
        <p:nvSpPr>
          <p:cNvPr id="32" name="Text 2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product materials; uploaded VAT 101 document; analyst estimates.</a:t>
            </a:r>
            <a:endParaRPr lang="en-US" sz="540" dirty="0"/>
          </a:p>
        </p:txBody>
      </p:sp>
      <p:sp>
        <p:nvSpPr>
          <p:cNvPr id="33" name="Text 3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11</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Detailed process heatmap: VAT relevance is concentrated in vacuum-intensive chamber environments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640080" y="1280160"/>
            <a:ext cx="10835640" cy="365760"/>
          </a:xfrm>
          <a:prstGeom prst="rect">
            <a:avLst>
              <a:gd name="adj" fmla="val 20000"/>
            </a:avLst>
          </a:prstGeom>
          <a:solidFill>
            <a:srgbClr val="F1F5F9"/>
          </a:solidFill>
          <a:ln w="8890">
            <a:solidFill>
              <a:srgbClr val="F1F5F9">
                <a:alpha val="0"/>
              </a:srgbClr>
            </a:solidFill>
            <a:prstDash val="solid"/>
          </a:ln>
        </p:spPr>
      </p:sp>
      <p:sp>
        <p:nvSpPr>
          <p:cNvPr id="7" name="Text 4"/>
          <p:cNvSpPr/>
          <p:nvPr/>
        </p:nvSpPr>
        <p:spPr>
          <a:xfrm>
            <a:off x="731520" y="1371600"/>
            <a:ext cx="137160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Process</a:t>
            </a:r>
            <a:endParaRPr lang="en-US" sz="640" dirty="0"/>
          </a:p>
        </p:txBody>
      </p:sp>
      <p:sp>
        <p:nvSpPr>
          <p:cNvPr id="8" name="Text 5"/>
          <p:cNvSpPr/>
          <p:nvPr/>
        </p:nvSpPr>
        <p:spPr>
          <a:xfrm>
            <a:off x="2423160" y="1371600"/>
            <a:ext cx="164592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Key OEMs</a:t>
            </a:r>
            <a:endParaRPr lang="en-US" sz="640" dirty="0"/>
          </a:p>
        </p:txBody>
      </p:sp>
      <p:sp>
        <p:nvSpPr>
          <p:cNvPr id="9" name="Text 6"/>
          <p:cNvSpPr/>
          <p:nvPr/>
        </p:nvSpPr>
        <p:spPr>
          <a:xfrm>
            <a:off x="4663440" y="1371600"/>
            <a:ext cx="109728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VAT relevance</a:t>
            </a:r>
            <a:endParaRPr lang="en-US" sz="640" dirty="0"/>
          </a:p>
        </p:txBody>
      </p:sp>
      <p:sp>
        <p:nvSpPr>
          <p:cNvPr id="10" name="Text 7"/>
          <p:cNvSpPr/>
          <p:nvPr/>
        </p:nvSpPr>
        <p:spPr>
          <a:xfrm>
            <a:off x="6172200" y="1371600"/>
            <a:ext cx="443484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Rationale</a:t>
            </a:r>
            <a:endParaRPr lang="en-US" sz="640" dirty="0"/>
          </a:p>
        </p:txBody>
      </p:sp>
      <p:sp>
        <p:nvSpPr>
          <p:cNvPr id="11" name="Shape 8"/>
          <p:cNvSpPr/>
          <p:nvPr/>
        </p:nvSpPr>
        <p:spPr>
          <a:xfrm>
            <a:off x="640080" y="2176272"/>
            <a:ext cx="10835640" cy="0"/>
          </a:xfrm>
          <a:prstGeom prst="line">
            <a:avLst/>
          </a:prstGeom>
          <a:noFill/>
          <a:ln w="5080">
            <a:solidFill>
              <a:srgbClr val="D7E2EB"/>
            </a:solidFill>
            <a:prstDash val="solid"/>
            <a:headEnd type="none"/>
            <a:tailEnd type="none"/>
          </a:ln>
        </p:spPr>
      </p:sp>
      <p:sp>
        <p:nvSpPr>
          <p:cNvPr id="12" name="Text 9"/>
          <p:cNvSpPr/>
          <p:nvPr/>
        </p:nvSpPr>
        <p:spPr>
          <a:xfrm>
            <a:off x="731520" y="1883664"/>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Deposition</a:t>
            </a:r>
            <a:endParaRPr lang="en-US" sz="700" dirty="0"/>
          </a:p>
        </p:txBody>
      </p:sp>
      <p:sp>
        <p:nvSpPr>
          <p:cNvPr id="13" name="Text 10"/>
          <p:cNvSpPr/>
          <p:nvPr/>
        </p:nvSpPr>
        <p:spPr>
          <a:xfrm>
            <a:off x="2423160" y="1883664"/>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Applied / Lam / TEL</a:t>
            </a:r>
            <a:endParaRPr lang="en-US" sz="700" dirty="0"/>
          </a:p>
        </p:txBody>
      </p:sp>
      <p:sp>
        <p:nvSpPr>
          <p:cNvPr id="14" name="Text 11"/>
          <p:cNvSpPr/>
          <p:nvPr/>
        </p:nvSpPr>
        <p:spPr>
          <a:xfrm>
            <a:off x="4663440" y="1883664"/>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199BD7"/>
                </a:solidFill>
                <a:latin typeface="Aptos" pitchFamily="34" charset="0"/>
                <a:ea typeface="Aptos" pitchFamily="34" charset="-122"/>
                <a:cs typeface="Aptos" pitchFamily="34" charset="-120"/>
              </a:rPr>
              <a:t>High</a:t>
            </a:r>
            <a:endParaRPr lang="en-US" sz="700" dirty="0"/>
          </a:p>
        </p:txBody>
      </p:sp>
      <p:sp>
        <p:nvSpPr>
          <p:cNvPr id="15" name="Text 12"/>
          <p:cNvSpPr/>
          <p:nvPr/>
        </p:nvSpPr>
        <p:spPr>
          <a:xfrm>
            <a:off x="6172200" y="1883664"/>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Atomic-scale films, reactive gases, plasma, vacuum</a:t>
            </a:r>
            <a:endParaRPr lang="en-US" sz="700" dirty="0"/>
          </a:p>
        </p:txBody>
      </p:sp>
      <p:sp>
        <p:nvSpPr>
          <p:cNvPr id="16" name="Shape 13"/>
          <p:cNvSpPr/>
          <p:nvPr/>
        </p:nvSpPr>
        <p:spPr>
          <a:xfrm>
            <a:off x="640080" y="2688336"/>
            <a:ext cx="10835640" cy="0"/>
          </a:xfrm>
          <a:prstGeom prst="line">
            <a:avLst/>
          </a:prstGeom>
          <a:noFill/>
          <a:ln w="5080">
            <a:solidFill>
              <a:srgbClr val="D7E2EB"/>
            </a:solidFill>
            <a:prstDash val="solid"/>
            <a:headEnd type="none"/>
            <a:tailEnd type="none"/>
          </a:ln>
        </p:spPr>
      </p:sp>
      <p:sp>
        <p:nvSpPr>
          <p:cNvPr id="17" name="Text 14"/>
          <p:cNvSpPr/>
          <p:nvPr/>
        </p:nvSpPr>
        <p:spPr>
          <a:xfrm>
            <a:off x="731520" y="2395728"/>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Dry etch</a:t>
            </a:r>
            <a:endParaRPr lang="en-US" sz="700" dirty="0"/>
          </a:p>
        </p:txBody>
      </p:sp>
      <p:sp>
        <p:nvSpPr>
          <p:cNvPr id="18" name="Text 15"/>
          <p:cNvSpPr/>
          <p:nvPr/>
        </p:nvSpPr>
        <p:spPr>
          <a:xfrm>
            <a:off x="2423160" y="2395728"/>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Lam / Applied / TEL</a:t>
            </a:r>
            <a:endParaRPr lang="en-US" sz="700" dirty="0"/>
          </a:p>
        </p:txBody>
      </p:sp>
      <p:sp>
        <p:nvSpPr>
          <p:cNvPr id="19" name="Text 16"/>
          <p:cNvSpPr/>
          <p:nvPr/>
        </p:nvSpPr>
        <p:spPr>
          <a:xfrm>
            <a:off x="4663440" y="2395728"/>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199BD7"/>
                </a:solidFill>
                <a:latin typeface="Aptos" pitchFamily="34" charset="0"/>
                <a:ea typeface="Aptos" pitchFamily="34" charset="-122"/>
                <a:cs typeface="Aptos" pitchFamily="34" charset="-120"/>
              </a:rPr>
              <a:t>High</a:t>
            </a:r>
            <a:endParaRPr lang="en-US" sz="700" dirty="0"/>
          </a:p>
        </p:txBody>
      </p:sp>
      <p:sp>
        <p:nvSpPr>
          <p:cNvPr id="20" name="Text 17"/>
          <p:cNvSpPr/>
          <p:nvPr/>
        </p:nvSpPr>
        <p:spPr>
          <a:xfrm>
            <a:off x="6172200" y="2395728"/>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Plasma, deep structures, particle sensitivity</a:t>
            </a:r>
            <a:endParaRPr lang="en-US" sz="700" dirty="0"/>
          </a:p>
        </p:txBody>
      </p:sp>
      <p:sp>
        <p:nvSpPr>
          <p:cNvPr id="21" name="Shape 18"/>
          <p:cNvSpPr/>
          <p:nvPr/>
        </p:nvSpPr>
        <p:spPr>
          <a:xfrm>
            <a:off x="640080" y="3200400"/>
            <a:ext cx="10835640" cy="0"/>
          </a:xfrm>
          <a:prstGeom prst="line">
            <a:avLst/>
          </a:prstGeom>
          <a:noFill/>
          <a:ln w="5080">
            <a:solidFill>
              <a:srgbClr val="D7E2EB"/>
            </a:solidFill>
            <a:prstDash val="solid"/>
            <a:headEnd type="none"/>
            <a:tailEnd type="none"/>
          </a:ln>
        </p:spPr>
      </p:sp>
      <p:sp>
        <p:nvSpPr>
          <p:cNvPr id="22" name="Text 19"/>
          <p:cNvSpPr/>
          <p:nvPr/>
        </p:nvSpPr>
        <p:spPr>
          <a:xfrm>
            <a:off x="731520" y="2907792"/>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Lithography</a:t>
            </a:r>
            <a:endParaRPr lang="en-US" sz="700" dirty="0"/>
          </a:p>
        </p:txBody>
      </p:sp>
      <p:sp>
        <p:nvSpPr>
          <p:cNvPr id="23" name="Text 20"/>
          <p:cNvSpPr/>
          <p:nvPr/>
        </p:nvSpPr>
        <p:spPr>
          <a:xfrm>
            <a:off x="2423160" y="2907792"/>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ASML</a:t>
            </a:r>
            <a:endParaRPr lang="en-US" sz="700" dirty="0"/>
          </a:p>
        </p:txBody>
      </p:sp>
      <p:sp>
        <p:nvSpPr>
          <p:cNvPr id="24" name="Text 21"/>
          <p:cNvSpPr/>
          <p:nvPr/>
        </p:nvSpPr>
        <p:spPr>
          <a:xfrm>
            <a:off x="4663440" y="2907792"/>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E69A21"/>
                </a:solidFill>
                <a:latin typeface="Aptos" pitchFamily="34" charset="0"/>
                <a:ea typeface="Aptos" pitchFamily="34" charset="-122"/>
                <a:cs typeface="Aptos" pitchFamily="34" charset="-120"/>
              </a:rPr>
              <a:t>Selective</a:t>
            </a:r>
            <a:endParaRPr lang="en-US" sz="700" dirty="0"/>
          </a:p>
        </p:txBody>
      </p:sp>
      <p:sp>
        <p:nvSpPr>
          <p:cNvPr id="25" name="Text 22"/>
          <p:cNvSpPr/>
          <p:nvPr/>
        </p:nvSpPr>
        <p:spPr>
          <a:xfrm>
            <a:off x="6172200" y="2907792"/>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Vacuum used in some environments; avoid overstatement</a:t>
            </a:r>
            <a:endParaRPr lang="en-US" sz="700" dirty="0"/>
          </a:p>
        </p:txBody>
      </p:sp>
      <p:sp>
        <p:nvSpPr>
          <p:cNvPr id="26" name="Shape 23"/>
          <p:cNvSpPr/>
          <p:nvPr/>
        </p:nvSpPr>
        <p:spPr>
          <a:xfrm>
            <a:off x="640080" y="3712464"/>
            <a:ext cx="10835640" cy="0"/>
          </a:xfrm>
          <a:prstGeom prst="line">
            <a:avLst/>
          </a:prstGeom>
          <a:noFill/>
          <a:ln w="5080">
            <a:solidFill>
              <a:srgbClr val="D7E2EB"/>
            </a:solidFill>
            <a:prstDash val="solid"/>
            <a:headEnd type="none"/>
            <a:tailEnd type="none"/>
          </a:ln>
        </p:spPr>
      </p:sp>
      <p:sp>
        <p:nvSpPr>
          <p:cNvPr id="27" name="Text 24"/>
          <p:cNvSpPr/>
          <p:nvPr/>
        </p:nvSpPr>
        <p:spPr>
          <a:xfrm>
            <a:off x="731520" y="3419856"/>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Ion implantation</a:t>
            </a:r>
            <a:endParaRPr lang="en-US" sz="700" dirty="0"/>
          </a:p>
        </p:txBody>
      </p:sp>
      <p:sp>
        <p:nvSpPr>
          <p:cNvPr id="28" name="Text 25"/>
          <p:cNvSpPr/>
          <p:nvPr/>
        </p:nvSpPr>
        <p:spPr>
          <a:xfrm>
            <a:off x="2423160" y="3419856"/>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Applied / Axcelis</a:t>
            </a:r>
            <a:endParaRPr lang="en-US" sz="700" dirty="0"/>
          </a:p>
        </p:txBody>
      </p:sp>
      <p:sp>
        <p:nvSpPr>
          <p:cNvPr id="29" name="Text 26"/>
          <p:cNvSpPr/>
          <p:nvPr/>
        </p:nvSpPr>
        <p:spPr>
          <a:xfrm>
            <a:off x="4663440" y="3419856"/>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E69A21"/>
                </a:solidFill>
                <a:latin typeface="Aptos" pitchFamily="34" charset="0"/>
                <a:ea typeface="Aptos" pitchFamily="34" charset="-122"/>
                <a:cs typeface="Aptos" pitchFamily="34" charset="-120"/>
              </a:rPr>
              <a:t>Medium</a:t>
            </a:r>
            <a:endParaRPr lang="en-US" sz="700" dirty="0"/>
          </a:p>
        </p:txBody>
      </p:sp>
      <p:sp>
        <p:nvSpPr>
          <p:cNvPr id="30" name="Text 27"/>
          <p:cNvSpPr/>
          <p:nvPr/>
        </p:nvSpPr>
        <p:spPr>
          <a:xfrm>
            <a:off x="6172200" y="3419856"/>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Ion beam and pressure control</a:t>
            </a:r>
            <a:endParaRPr lang="en-US" sz="700" dirty="0"/>
          </a:p>
        </p:txBody>
      </p:sp>
      <p:sp>
        <p:nvSpPr>
          <p:cNvPr id="31" name="Shape 28"/>
          <p:cNvSpPr/>
          <p:nvPr/>
        </p:nvSpPr>
        <p:spPr>
          <a:xfrm>
            <a:off x="640080" y="4224528"/>
            <a:ext cx="10835640" cy="0"/>
          </a:xfrm>
          <a:prstGeom prst="line">
            <a:avLst/>
          </a:prstGeom>
          <a:noFill/>
          <a:ln w="5080">
            <a:solidFill>
              <a:srgbClr val="D7E2EB"/>
            </a:solidFill>
            <a:prstDash val="solid"/>
            <a:headEnd type="none"/>
            <a:tailEnd type="none"/>
          </a:ln>
        </p:spPr>
      </p:sp>
      <p:sp>
        <p:nvSpPr>
          <p:cNvPr id="32" name="Text 29"/>
          <p:cNvSpPr/>
          <p:nvPr/>
        </p:nvSpPr>
        <p:spPr>
          <a:xfrm>
            <a:off x="731520" y="3931920"/>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Cleaning / CMP</a:t>
            </a:r>
            <a:endParaRPr lang="en-US" sz="700" dirty="0"/>
          </a:p>
        </p:txBody>
      </p:sp>
      <p:sp>
        <p:nvSpPr>
          <p:cNvPr id="33" name="Text 30"/>
          <p:cNvSpPr/>
          <p:nvPr/>
        </p:nvSpPr>
        <p:spPr>
          <a:xfrm>
            <a:off x="2423160" y="3931920"/>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TEL / Applied</a:t>
            </a:r>
            <a:endParaRPr lang="en-US" sz="700" dirty="0"/>
          </a:p>
        </p:txBody>
      </p:sp>
      <p:sp>
        <p:nvSpPr>
          <p:cNvPr id="34" name="Text 31"/>
          <p:cNvSpPr/>
          <p:nvPr/>
        </p:nvSpPr>
        <p:spPr>
          <a:xfrm>
            <a:off x="4663440" y="3931920"/>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687486"/>
                </a:solidFill>
                <a:latin typeface="Aptos" pitchFamily="34" charset="0"/>
                <a:ea typeface="Aptos" pitchFamily="34" charset="-122"/>
                <a:cs typeface="Aptos" pitchFamily="34" charset="-120"/>
              </a:rPr>
              <a:t>Low-med</a:t>
            </a:r>
            <a:endParaRPr lang="en-US" sz="700" dirty="0"/>
          </a:p>
        </p:txBody>
      </p:sp>
      <p:sp>
        <p:nvSpPr>
          <p:cNvPr id="35" name="Text 32"/>
          <p:cNvSpPr/>
          <p:nvPr/>
        </p:nvSpPr>
        <p:spPr>
          <a:xfrm>
            <a:off x="6172200" y="3931920"/>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Less consistently vacuum-intensive</a:t>
            </a:r>
            <a:endParaRPr lang="en-US" sz="700" dirty="0"/>
          </a:p>
        </p:txBody>
      </p:sp>
      <p:sp>
        <p:nvSpPr>
          <p:cNvPr id="36" name="Shape 33"/>
          <p:cNvSpPr/>
          <p:nvPr/>
        </p:nvSpPr>
        <p:spPr>
          <a:xfrm>
            <a:off x="640080" y="4736592"/>
            <a:ext cx="10835640" cy="0"/>
          </a:xfrm>
          <a:prstGeom prst="line">
            <a:avLst/>
          </a:prstGeom>
          <a:noFill/>
          <a:ln w="5080">
            <a:solidFill>
              <a:srgbClr val="D7E2EB"/>
            </a:solidFill>
            <a:prstDash val="solid"/>
            <a:headEnd type="none"/>
            <a:tailEnd type="none"/>
          </a:ln>
        </p:spPr>
      </p:sp>
      <p:sp>
        <p:nvSpPr>
          <p:cNvPr id="37" name="Text 34"/>
          <p:cNvSpPr/>
          <p:nvPr/>
        </p:nvSpPr>
        <p:spPr>
          <a:xfrm>
            <a:off x="731520" y="4443984"/>
            <a:ext cx="1371600" cy="182880"/>
          </a:xfrm>
          <a:prstGeom prst="rect">
            <a:avLst/>
          </a:prstGeom>
          <a:noFill/>
          <a:ln/>
        </p:spPr>
        <p:txBody>
          <a:bodyPr wrap="square" lIns="0" tIns="0" rIns="0" bIns="0" rtlCol="0" anchor="t">
            <a:normAutofit/>
          </a:bodyPr>
          <a:lstStyle/>
          <a:p>
            <a:pPr algn="l" indent="0" marL="0">
              <a:buNone/>
            </a:pPr>
            <a:r>
              <a:rPr lang="en-US" sz="700" b="1" dirty="0">
                <a:solidFill>
                  <a:srgbClr val="17212B"/>
                </a:solidFill>
                <a:latin typeface="Aptos" pitchFamily="34" charset="0"/>
                <a:ea typeface="Aptos" pitchFamily="34" charset="-122"/>
                <a:cs typeface="Aptos" pitchFamily="34" charset="-120"/>
              </a:rPr>
              <a:t>Metrology</a:t>
            </a:r>
            <a:endParaRPr lang="en-US" sz="700" dirty="0"/>
          </a:p>
        </p:txBody>
      </p:sp>
      <p:sp>
        <p:nvSpPr>
          <p:cNvPr id="38" name="Text 35"/>
          <p:cNvSpPr/>
          <p:nvPr/>
        </p:nvSpPr>
        <p:spPr>
          <a:xfrm>
            <a:off x="2423160" y="4443984"/>
            <a:ext cx="164592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KLA / others</a:t>
            </a:r>
            <a:endParaRPr lang="en-US" sz="700" dirty="0"/>
          </a:p>
        </p:txBody>
      </p:sp>
      <p:sp>
        <p:nvSpPr>
          <p:cNvPr id="39" name="Text 36"/>
          <p:cNvSpPr/>
          <p:nvPr/>
        </p:nvSpPr>
        <p:spPr>
          <a:xfrm>
            <a:off x="4663440" y="4443984"/>
            <a:ext cx="1097280" cy="182880"/>
          </a:xfrm>
          <a:prstGeom prst="rect">
            <a:avLst/>
          </a:prstGeom>
          <a:noFill/>
          <a:ln/>
        </p:spPr>
        <p:txBody>
          <a:bodyPr wrap="square" lIns="0" tIns="0" rIns="0" bIns="0" rtlCol="0" anchor="t">
            <a:normAutofit/>
          </a:bodyPr>
          <a:lstStyle/>
          <a:p>
            <a:pPr algn="l" indent="0" marL="0">
              <a:buNone/>
            </a:pPr>
            <a:r>
              <a:rPr lang="en-US" sz="700" b="1" dirty="0">
                <a:solidFill>
                  <a:srgbClr val="E69A21"/>
                </a:solidFill>
                <a:latin typeface="Aptos" pitchFamily="34" charset="0"/>
                <a:ea typeface="Aptos" pitchFamily="34" charset="-122"/>
                <a:cs typeface="Aptos" pitchFamily="34" charset="-120"/>
              </a:rPr>
              <a:t>Selective</a:t>
            </a:r>
            <a:endParaRPr lang="en-US" sz="700" dirty="0"/>
          </a:p>
        </p:txBody>
      </p:sp>
      <p:sp>
        <p:nvSpPr>
          <p:cNvPr id="40" name="Text 37"/>
          <p:cNvSpPr/>
          <p:nvPr/>
        </p:nvSpPr>
        <p:spPr>
          <a:xfrm>
            <a:off x="6172200" y="4443984"/>
            <a:ext cx="4434840" cy="182880"/>
          </a:xfrm>
          <a:prstGeom prst="rect">
            <a:avLst/>
          </a:prstGeom>
          <a:noFill/>
          <a:ln/>
        </p:spPr>
        <p:txBody>
          <a:bodyPr wrap="square" lIns="0" tIns="0" rIns="0" bIns="0" rtlCol="0" anchor="t">
            <a:normAutofit/>
          </a:bodyPr>
          <a:lstStyle/>
          <a:p>
            <a:pPr algn="l" indent="0" marL="0">
              <a:buNone/>
            </a:pPr>
            <a:r>
              <a:rPr lang="en-US" sz="700" dirty="0">
                <a:solidFill>
                  <a:srgbClr val="17212B"/>
                </a:solidFill>
                <a:latin typeface="Aptos" pitchFamily="34" charset="0"/>
                <a:ea typeface="Aptos" pitchFamily="34" charset="-122"/>
                <a:cs typeface="Aptos" pitchFamily="34" charset="-120"/>
              </a:rPr>
              <a:t>Tool-specific vacuum requirement</a:t>
            </a:r>
            <a:endParaRPr lang="en-US" sz="700" dirty="0"/>
          </a:p>
        </p:txBody>
      </p:sp>
      <p:sp>
        <p:nvSpPr>
          <p:cNvPr id="41" name="Shape 38"/>
          <p:cNvSpPr/>
          <p:nvPr/>
        </p:nvSpPr>
        <p:spPr>
          <a:xfrm>
            <a:off x="420624" y="6419088"/>
            <a:ext cx="11338560" cy="0"/>
          </a:xfrm>
          <a:prstGeom prst="line">
            <a:avLst/>
          </a:prstGeom>
          <a:noFill/>
          <a:ln w="7620">
            <a:solidFill>
              <a:srgbClr val="D7E2EB"/>
            </a:solidFill>
            <a:prstDash val="solid"/>
            <a:headEnd type="none"/>
            <a:tailEnd type="none"/>
          </a:ln>
        </p:spPr>
      </p:sp>
      <p:sp>
        <p:nvSpPr>
          <p:cNvPr id="42" name="Text 3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process OEM company materials; analyst estimates.</a:t>
            </a:r>
            <a:endParaRPr lang="en-US" sz="540" dirty="0"/>
          </a:p>
        </p:txBody>
      </p:sp>
      <p:sp>
        <p:nvSpPr>
          <p:cNvPr id="43" name="Text 4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12</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OEM and customer ecosystem: VAT demand is pulled by fab capex but specified into OEM platforms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731520" y="1508760"/>
            <a:ext cx="2971800" cy="1965960"/>
          </a:xfrm>
          <a:prstGeom prst="roundRect">
            <a:avLst>
              <a:gd name="adj" fmla="val 3721"/>
            </a:avLst>
          </a:prstGeom>
          <a:solidFill>
            <a:srgbClr val="FFFFFF"/>
          </a:solidFill>
          <a:ln w="8890">
            <a:solidFill>
              <a:srgbClr val="D7E2EB"/>
            </a:solidFill>
            <a:prstDash val="solid"/>
          </a:ln>
        </p:spPr>
      </p:sp>
      <p:sp>
        <p:nvSpPr>
          <p:cNvPr id="7" name="Text 4"/>
          <p:cNvSpPr/>
          <p:nvPr/>
        </p:nvSpPr>
        <p:spPr>
          <a:xfrm>
            <a:off x="896112" y="1737360"/>
            <a:ext cx="2633472" cy="201168"/>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Foundries / IDMs</a:t>
            </a:r>
            <a:endParaRPr lang="en-US" sz="900" dirty="0"/>
          </a:p>
        </p:txBody>
      </p:sp>
      <p:sp>
        <p:nvSpPr>
          <p:cNvPr id="8" name="Text 5"/>
          <p:cNvSpPr/>
          <p:nvPr/>
        </p:nvSpPr>
        <p:spPr>
          <a:xfrm>
            <a:off x="914400" y="2176272"/>
            <a:ext cx="2606040" cy="256032"/>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TSMC, Samsung, Intel, Micron, SK Hynix</a:t>
            </a:r>
            <a:endParaRPr lang="en-US" sz="740" dirty="0"/>
          </a:p>
        </p:txBody>
      </p:sp>
      <p:sp>
        <p:nvSpPr>
          <p:cNvPr id="9" name="Text 6"/>
          <p:cNvSpPr/>
          <p:nvPr/>
        </p:nvSpPr>
        <p:spPr>
          <a:xfrm>
            <a:off x="914400" y="2761488"/>
            <a:ext cx="2606040" cy="182880"/>
          </a:xfrm>
          <a:prstGeom prst="rect">
            <a:avLst/>
          </a:prstGeom>
          <a:noFill/>
          <a:ln/>
        </p:spPr>
        <p:txBody>
          <a:bodyPr wrap="square" lIns="0" tIns="0" rIns="0" bIns="0" rtlCol="0" anchor="t">
            <a:normAutofit/>
          </a:bodyPr>
          <a:lstStyle/>
          <a:p>
            <a:pPr algn="ctr" indent="0" marL="0">
              <a:buNone/>
            </a:pPr>
            <a:r>
              <a:rPr lang="en-US" sz="660" dirty="0">
                <a:solidFill>
                  <a:srgbClr val="687486"/>
                </a:solidFill>
                <a:latin typeface="Aptos" pitchFamily="34" charset="0"/>
                <a:ea typeface="Aptos" pitchFamily="34" charset="-122"/>
                <a:cs typeface="Aptos" pitchFamily="34" charset="-120"/>
              </a:rPr>
              <a:t>Capex owner and ultimate tool buyer</a:t>
            </a:r>
            <a:endParaRPr lang="en-US" sz="660" dirty="0"/>
          </a:p>
        </p:txBody>
      </p:sp>
      <p:sp>
        <p:nvSpPr>
          <p:cNvPr id="10" name="Shape 7"/>
          <p:cNvSpPr/>
          <p:nvPr/>
        </p:nvSpPr>
        <p:spPr>
          <a:xfrm>
            <a:off x="3803904" y="2487168"/>
            <a:ext cx="429768" cy="0"/>
          </a:xfrm>
          <a:prstGeom prst="line">
            <a:avLst/>
          </a:prstGeom>
          <a:noFill/>
          <a:ln w="17780">
            <a:solidFill>
              <a:srgbClr val="199BD7"/>
            </a:solidFill>
            <a:prstDash val="solid"/>
            <a:headEnd type="none"/>
            <a:tailEnd type="triangle"/>
          </a:ln>
        </p:spPr>
      </p:sp>
      <p:sp>
        <p:nvSpPr>
          <p:cNvPr id="11" name="Shape 8"/>
          <p:cNvSpPr/>
          <p:nvPr/>
        </p:nvSpPr>
        <p:spPr>
          <a:xfrm>
            <a:off x="4389120" y="1508760"/>
            <a:ext cx="2971800" cy="1965960"/>
          </a:xfrm>
          <a:prstGeom prst="roundRect">
            <a:avLst>
              <a:gd name="adj" fmla="val 3721"/>
            </a:avLst>
          </a:prstGeom>
          <a:solidFill>
            <a:srgbClr val="FFFFFF"/>
          </a:solidFill>
          <a:ln w="8890">
            <a:solidFill>
              <a:srgbClr val="D7E2EB"/>
            </a:solidFill>
            <a:prstDash val="solid"/>
          </a:ln>
        </p:spPr>
      </p:sp>
      <p:sp>
        <p:nvSpPr>
          <p:cNvPr id="12" name="Text 9"/>
          <p:cNvSpPr/>
          <p:nvPr/>
        </p:nvSpPr>
        <p:spPr>
          <a:xfrm>
            <a:off x="4553712" y="1737360"/>
            <a:ext cx="2633472" cy="201168"/>
          </a:xfrm>
          <a:prstGeom prst="rect">
            <a:avLst/>
          </a:prstGeom>
          <a:noFill/>
          <a:ln/>
        </p:spPr>
        <p:txBody>
          <a:bodyPr wrap="square" lIns="0" tIns="0" rIns="0" bIns="0" rtlCol="0" anchor="t">
            <a:normAutofit/>
          </a:bodyPr>
          <a:lstStyle/>
          <a:p>
            <a:pPr algn="ctr" indent="0" marL="0">
              <a:buNone/>
            </a:pPr>
            <a:r>
              <a:rPr lang="en-US" sz="900" b="1" dirty="0">
                <a:solidFill>
                  <a:srgbClr val="17212B"/>
                </a:solidFill>
                <a:latin typeface="Aptos" pitchFamily="34" charset="0"/>
                <a:ea typeface="Aptos" pitchFamily="34" charset="-122"/>
                <a:cs typeface="Aptos" pitchFamily="34" charset="-120"/>
              </a:rPr>
              <a:t>Equipment OEMs</a:t>
            </a:r>
            <a:endParaRPr lang="en-US" sz="900" dirty="0"/>
          </a:p>
        </p:txBody>
      </p:sp>
      <p:sp>
        <p:nvSpPr>
          <p:cNvPr id="13" name="Text 10"/>
          <p:cNvSpPr/>
          <p:nvPr/>
        </p:nvSpPr>
        <p:spPr>
          <a:xfrm>
            <a:off x="4572000" y="2176272"/>
            <a:ext cx="2606040" cy="256032"/>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ASML, Applied, Lam, TEL, KLA</a:t>
            </a:r>
            <a:endParaRPr lang="en-US" sz="740" dirty="0"/>
          </a:p>
        </p:txBody>
      </p:sp>
      <p:sp>
        <p:nvSpPr>
          <p:cNvPr id="14" name="Text 11"/>
          <p:cNvSpPr/>
          <p:nvPr/>
        </p:nvSpPr>
        <p:spPr>
          <a:xfrm>
            <a:off x="4572000" y="2761488"/>
            <a:ext cx="2606040" cy="182880"/>
          </a:xfrm>
          <a:prstGeom prst="rect">
            <a:avLst/>
          </a:prstGeom>
          <a:noFill/>
          <a:ln/>
        </p:spPr>
        <p:txBody>
          <a:bodyPr wrap="square" lIns="0" tIns="0" rIns="0" bIns="0" rtlCol="0" anchor="t">
            <a:normAutofit/>
          </a:bodyPr>
          <a:lstStyle/>
          <a:p>
            <a:pPr algn="ctr" indent="0" marL="0">
              <a:buNone/>
            </a:pPr>
            <a:r>
              <a:rPr lang="en-US" sz="660" dirty="0">
                <a:solidFill>
                  <a:srgbClr val="687486"/>
                </a:solidFill>
                <a:latin typeface="Aptos" pitchFamily="34" charset="0"/>
                <a:ea typeface="Aptos" pitchFamily="34" charset="-122"/>
                <a:cs typeface="Aptos" pitchFamily="34" charset="-120"/>
              </a:rPr>
              <a:t>Tool platform where VAT is specified</a:t>
            </a:r>
            <a:endParaRPr lang="en-US" sz="660" dirty="0"/>
          </a:p>
        </p:txBody>
      </p:sp>
      <p:sp>
        <p:nvSpPr>
          <p:cNvPr id="15" name="Shape 12"/>
          <p:cNvSpPr/>
          <p:nvPr/>
        </p:nvSpPr>
        <p:spPr>
          <a:xfrm>
            <a:off x="7461504" y="2487168"/>
            <a:ext cx="429768" cy="0"/>
          </a:xfrm>
          <a:prstGeom prst="line">
            <a:avLst/>
          </a:prstGeom>
          <a:noFill/>
          <a:ln w="17780">
            <a:solidFill>
              <a:srgbClr val="199BD7"/>
            </a:solidFill>
            <a:prstDash val="solid"/>
            <a:headEnd type="none"/>
            <a:tailEnd type="triangle"/>
          </a:ln>
        </p:spPr>
      </p:sp>
      <p:sp>
        <p:nvSpPr>
          <p:cNvPr id="16" name="Shape 13"/>
          <p:cNvSpPr/>
          <p:nvPr/>
        </p:nvSpPr>
        <p:spPr>
          <a:xfrm>
            <a:off x="8046720" y="1508760"/>
            <a:ext cx="2971800" cy="1965960"/>
          </a:xfrm>
          <a:prstGeom prst="roundRect">
            <a:avLst>
              <a:gd name="adj" fmla="val 3721"/>
            </a:avLst>
          </a:prstGeom>
          <a:solidFill>
            <a:srgbClr val="EAF7FD"/>
          </a:solidFill>
          <a:ln w="13970">
            <a:solidFill>
              <a:srgbClr val="199BD7"/>
            </a:solidFill>
            <a:prstDash val="solid"/>
          </a:ln>
        </p:spPr>
      </p:sp>
      <p:sp>
        <p:nvSpPr>
          <p:cNvPr id="17" name="Text 14"/>
          <p:cNvSpPr/>
          <p:nvPr/>
        </p:nvSpPr>
        <p:spPr>
          <a:xfrm>
            <a:off x="8211312" y="1737360"/>
            <a:ext cx="2633472" cy="201168"/>
          </a:xfrm>
          <a:prstGeom prst="rect">
            <a:avLst/>
          </a:prstGeom>
          <a:noFill/>
          <a:ln/>
        </p:spPr>
        <p:txBody>
          <a:bodyPr wrap="square" lIns="0" tIns="0" rIns="0" bIns="0" rtlCol="0" anchor="t">
            <a:normAutofit/>
          </a:bodyPr>
          <a:lstStyle/>
          <a:p>
            <a:pPr algn="ctr" indent="0" marL="0">
              <a:buNone/>
            </a:pPr>
            <a:r>
              <a:rPr lang="en-US" sz="900" b="1" dirty="0">
                <a:solidFill>
                  <a:srgbClr val="199BD7"/>
                </a:solidFill>
                <a:latin typeface="Aptos" pitchFamily="34" charset="0"/>
                <a:ea typeface="Aptos" pitchFamily="34" charset="-122"/>
                <a:cs typeface="Aptos" pitchFamily="34" charset="-120"/>
              </a:rPr>
              <a:t>Subsystem suppliers</a:t>
            </a:r>
            <a:endParaRPr lang="en-US" sz="900" dirty="0"/>
          </a:p>
        </p:txBody>
      </p:sp>
      <p:sp>
        <p:nvSpPr>
          <p:cNvPr id="18" name="Text 15"/>
          <p:cNvSpPr/>
          <p:nvPr/>
        </p:nvSpPr>
        <p:spPr>
          <a:xfrm>
            <a:off x="8229600" y="2176272"/>
            <a:ext cx="2606040" cy="256032"/>
          </a:xfrm>
          <a:prstGeom prst="rect">
            <a:avLst/>
          </a:prstGeom>
          <a:noFill/>
          <a:ln/>
        </p:spPr>
        <p:txBody>
          <a:bodyPr wrap="square" lIns="0" tIns="0" rIns="0" bIns="0" rtlCol="0" anchor="t">
            <a:normAutofit/>
          </a:bodyPr>
          <a:lstStyle/>
          <a:p>
            <a:pPr algn="ctr" indent="0" marL="0">
              <a:buNone/>
            </a:pPr>
            <a:r>
              <a:rPr lang="en-US" sz="740" dirty="0">
                <a:solidFill>
                  <a:srgbClr val="344153"/>
                </a:solidFill>
                <a:latin typeface="Aptos" pitchFamily="34" charset="0"/>
                <a:ea typeface="Aptos" pitchFamily="34" charset="-122"/>
                <a:cs typeface="Aptos" pitchFamily="34" charset="-120"/>
              </a:rPr>
              <a:t>VAT, MKS, Edwards, Horiba</a:t>
            </a:r>
            <a:endParaRPr lang="en-US" sz="740" dirty="0"/>
          </a:p>
        </p:txBody>
      </p:sp>
      <p:sp>
        <p:nvSpPr>
          <p:cNvPr id="19" name="Text 16"/>
          <p:cNvSpPr/>
          <p:nvPr/>
        </p:nvSpPr>
        <p:spPr>
          <a:xfrm>
            <a:off x="8229600" y="2761488"/>
            <a:ext cx="2606040" cy="182880"/>
          </a:xfrm>
          <a:prstGeom prst="rect">
            <a:avLst/>
          </a:prstGeom>
          <a:noFill/>
          <a:ln/>
        </p:spPr>
        <p:txBody>
          <a:bodyPr wrap="square" lIns="0" tIns="0" rIns="0" bIns="0" rtlCol="0" anchor="t">
            <a:normAutofit/>
          </a:bodyPr>
          <a:lstStyle/>
          <a:p>
            <a:pPr algn="ctr" indent="0" marL="0">
              <a:buNone/>
            </a:pPr>
            <a:r>
              <a:rPr lang="en-US" sz="660" dirty="0">
                <a:solidFill>
                  <a:srgbClr val="687486"/>
                </a:solidFill>
                <a:latin typeface="Aptos" pitchFamily="34" charset="0"/>
                <a:ea typeface="Aptos" pitchFamily="34" charset="-122"/>
                <a:cs typeface="Aptos" pitchFamily="34" charset="-120"/>
              </a:rPr>
              <a:t>Critical components inside tools</a:t>
            </a:r>
            <a:endParaRPr lang="en-US" sz="660" dirty="0"/>
          </a:p>
        </p:txBody>
      </p:sp>
      <p:sp>
        <p:nvSpPr>
          <p:cNvPr id="20" name="Text 17"/>
          <p:cNvSpPr/>
          <p:nvPr/>
        </p:nvSpPr>
        <p:spPr>
          <a:xfrm>
            <a:off x="1143000" y="4800600"/>
            <a:ext cx="9738360" cy="219456"/>
          </a:xfrm>
          <a:prstGeom prst="rect">
            <a:avLst/>
          </a:prstGeom>
          <a:noFill/>
          <a:ln/>
        </p:spPr>
        <p:txBody>
          <a:bodyPr wrap="square" lIns="0" tIns="0" rIns="0" bIns="0" rtlCol="0" anchor="t">
            <a:normAutofit/>
          </a:bodyPr>
          <a:lstStyle/>
          <a:p>
            <a:pPr algn="ctr" indent="0" marL="0">
              <a:buNone/>
            </a:pPr>
            <a:r>
              <a:rPr lang="en-US" sz="1020" b="1" dirty="0">
                <a:solidFill>
                  <a:srgbClr val="17212B"/>
                </a:solidFill>
                <a:latin typeface="Aptos" pitchFamily="34" charset="0"/>
                <a:ea typeface="Aptos" pitchFamily="34" charset="-122"/>
                <a:cs typeface="Aptos" pitchFamily="34" charset="-120"/>
              </a:rPr>
              <a:t>Important distinction: VAT's commercial route is equipment OEM procurement; ultimate demand is foundry / IDM capex.</a:t>
            </a:r>
            <a:endParaRPr lang="en-US" sz="1020" dirty="0"/>
          </a:p>
        </p:txBody>
      </p:sp>
      <p:sp>
        <p:nvSpPr>
          <p:cNvPr id="21" name="Shape 18"/>
          <p:cNvSpPr/>
          <p:nvPr/>
        </p:nvSpPr>
        <p:spPr>
          <a:xfrm>
            <a:off x="420624" y="6419088"/>
            <a:ext cx="11338560" cy="0"/>
          </a:xfrm>
          <a:prstGeom prst="line">
            <a:avLst/>
          </a:prstGeom>
          <a:noFill/>
          <a:ln w="7620">
            <a:solidFill>
              <a:srgbClr val="D7E2EB"/>
            </a:solidFill>
            <a:prstDash val="solid"/>
            <a:headEnd type="none"/>
            <a:tailEnd type="none"/>
          </a:ln>
        </p:spPr>
      </p:sp>
      <p:sp>
        <p:nvSpPr>
          <p:cNvPr id="22" name="Text 1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company filings; analyst estimates.</a:t>
            </a:r>
            <a:endParaRPr lang="en-US" sz="540" dirty="0"/>
          </a:p>
        </p:txBody>
      </p:sp>
      <p:sp>
        <p:nvSpPr>
          <p:cNvPr id="23" name="Text 2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13</a:t>
            </a:r>
            <a:endParaRPr lang="en-US" sz="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WFE cyclicality: orders lead reported sales and can reverse faster than chip consumption</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713232" y="1417320"/>
            <a:ext cx="4754880" cy="3291840"/>
          </a:xfrm>
          <a:prstGeom prst="roundRect">
            <a:avLst>
              <a:gd name="adj" fmla="val 2222"/>
            </a:avLst>
          </a:prstGeom>
          <a:solidFill>
            <a:srgbClr val="FFFFFF"/>
          </a:solidFill>
          <a:ln w="8890">
            <a:solidFill>
              <a:srgbClr val="D7E2EB"/>
            </a:solidFill>
            <a:prstDash val="solid"/>
          </a:ln>
        </p:spPr>
      </p:sp>
      <p:graphicFrame>
        <p:nvGraphicFramePr>
          <p:cNvPr id="7" name="Chart 0" descr=""/>
          <p:cNvGraphicFramePr/>
          <p:nvPr/>
        </p:nvGraphicFramePr>
        <p:xfrm>
          <a:off x="960120" y="1874520"/>
          <a:ext cx="4114800" cy="201168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897880" y="1417320"/>
            <a:ext cx="5166360" cy="3291840"/>
          </a:xfrm>
          <a:prstGeom prst="roundRect">
            <a:avLst>
              <a:gd name="adj" fmla="val 2222"/>
            </a:avLst>
          </a:prstGeom>
          <a:solidFill>
            <a:srgbClr val="F7FAFC"/>
          </a:solidFill>
          <a:ln w="8890">
            <a:solidFill>
              <a:srgbClr val="D7E2EB"/>
            </a:solidFill>
            <a:prstDash val="solid"/>
          </a:ln>
        </p:spPr>
      </p:sp>
      <p:sp>
        <p:nvSpPr>
          <p:cNvPr id="9" name="Text 5"/>
          <p:cNvSpPr/>
          <p:nvPr/>
        </p:nvSpPr>
        <p:spPr>
          <a:xfrm>
            <a:off x="6172200" y="1700784"/>
            <a:ext cx="2103120" cy="201168"/>
          </a:xfrm>
          <a:prstGeom prst="rect">
            <a:avLst/>
          </a:prstGeom>
          <a:noFill/>
          <a:ln/>
        </p:spPr>
        <p:txBody>
          <a:bodyPr wrap="square" lIns="0" tIns="0" rIns="0" bIns="0" rtlCol="0" anchor="t">
            <a:normAutofit/>
          </a:bodyPr>
          <a:lstStyle/>
          <a:p>
            <a:pPr algn="l" indent="0" marL="0">
              <a:buNone/>
            </a:pPr>
            <a:r>
              <a:rPr lang="en-US" sz="1000" b="1" dirty="0">
                <a:solidFill>
                  <a:srgbClr val="17212B"/>
                </a:solidFill>
                <a:latin typeface="Aptos" pitchFamily="34" charset="0"/>
                <a:ea typeface="Aptos" pitchFamily="34" charset="-122"/>
                <a:cs typeface="Aptos" pitchFamily="34" charset="-120"/>
              </a:rPr>
              <a:t>Semiconductor capex cycle</a:t>
            </a:r>
            <a:endParaRPr lang="en-US" sz="1000" dirty="0"/>
          </a:p>
        </p:txBody>
      </p:sp>
      <p:sp>
        <p:nvSpPr>
          <p:cNvPr id="10" name="Text 6"/>
          <p:cNvSpPr/>
          <p:nvPr/>
        </p:nvSpPr>
        <p:spPr>
          <a:xfrm>
            <a:off x="6217920" y="2148840"/>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1</a:t>
            </a:r>
            <a:endParaRPr lang="en-US" sz="680" dirty="0"/>
          </a:p>
        </p:txBody>
      </p:sp>
      <p:sp>
        <p:nvSpPr>
          <p:cNvPr id="11" name="Text 7"/>
          <p:cNvSpPr/>
          <p:nvPr/>
        </p:nvSpPr>
        <p:spPr>
          <a:xfrm>
            <a:off x="6510528" y="2148840"/>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Chip demand strengthens</a:t>
            </a:r>
            <a:endParaRPr lang="en-US" sz="700" dirty="0"/>
          </a:p>
        </p:txBody>
      </p:sp>
      <p:sp>
        <p:nvSpPr>
          <p:cNvPr id="12" name="Text 8"/>
          <p:cNvSpPr/>
          <p:nvPr/>
        </p:nvSpPr>
        <p:spPr>
          <a:xfrm>
            <a:off x="6217920" y="2441448"/>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2</a:t>
            </a:r>
            <a:endParaRPr lang="en-US" sz="680" dirty="0"/>
          </a:p>
        </p:txBody>
      </p:sp>
      <p:sp>
        <p:nvSpPr>
          <p:cNvPr id="13" name="Text 9"/>
          <p:cNvSpPr/>
          <p:nvPr/>
        </p:nvSpPr>
        <p:spPr>
          <a:xfrm>
            <a:off x="6510528" y="2441448"/>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Fab utilisation rises</a:t>
            </a:r>
            <a:endParaRPr lang="en-US" sz="700" dirty="0"/>
          </a:p>
        </p:txBody>
      </p:sp>
      <p:sp>
        <p:nvSpPr>
          <p:cNvPr id="14" name="Text 10"/>
          <p:cNvSpPr/>
          <p:nvPr/>
        </p:nvSpPr>
        <p:spPr>
          <a:xfrm>
            <a:off x="6217920" y="2734056"/>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3</a:t>
            </a:r>
            <a:endParaRPr lang="en-US" sz="680" dirty="0"/>
          </a:p>
        </p:txBody>
      </p:sp>
      <p:sp>
        <p:nvSpPr>
          <p:cNvPr id="15" name="Text 11"/>
          <p:cNvSpPr/>
          <p:nvPr/>
        </p:nvSpPr>
        <p:spPr>
          <a:xfrm>
            <a:off x="6510528" y="2734056"/>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Capex / WFE orders accelerate</a:t>
            </a:r>
            <a:endParaRPr lang="en-US" sz="700" dirty="0"/>
          </a:p>
        </p:txBody>
      </p:sp>
      <p:sp>
        <p:nvSpPr>
          <p:cNvPr id="16" name="Text 12"/>
          <p:cNvSpPr/>
          <p:nvPr/>
        </p:nvSpPr>
        <p:spPr>
          <a:xfrm>
            <a:off x="6217920" y="3026664"/>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4</a:t>
            </a:r>
            <a:endParaRPr lang="en-US" sz="680" dirty="0"/>
          </a:p>
        </p:txBody>
      </p:sp>
      <p:sp>
        <p:nvSpPr>
          <p:cNvPr id="17" name="Text 13"/>
          <p:cNvSpPr/>
          <p:nvPr/>
        </p:nvSpPr>
        <p:spPr>
          <a:xfrm>
            <a:off x="6510528" y="3026664"/>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VAT order intake rises</a:t>
            </a:r>
            <a:endParaRPr lang="en-US" sz="700" dirty="0"/>
          </a:p>
        </p:txBody>
      </p:sp>
      <p:sp>
        <p:nvSpPr>
          <p:cNvPr id="18" name="Text 14"/>
          <p:cNvSpPr/>
          <p:nvPr/>
        </p:nvSpPr>
        <p:spPr>
          <a:xfrm>
            <a:off x="6217920" y="3319272"/>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5</a:t>
            </a:r>
            <a:endParaRPr lang="en-US" sz="680" dirty="0"/>
          </a:p>
        </p:txBody>
      </p:sp>
      <p:sp>
        <p:nvSpPr>
          <p:cNvPr id="19" name="Text 15"/>
          <p:cNvSpPr/>
          <p:nvPr/>
        </p:nvSpPr>
        <p:spPr>
          <a:xfrm>
            <a:off x="6510528" y="3319272"/>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Equipment is shipped</a:t>
            </a:r>
            <a:endParaRPr lang="en-US" sz="700" dirty="0"/>
          </a:p>
        </p:txBody>
      </p:sp>
      <p:sp>
        <p:nvSpPr>
          <p:cNvPr id="20" name="Text 16"/>
          <p:cNvSpPr/>
          <p:nvPr/>
        </p:nvSpPr>
        <p:spPr>
          <a:xfrm>
            <a:off x="6217920" y="3611880"/>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6</a:t>
            </a:r>
            <a:endParaRPr lang="en-US" sz="680" dirty="0"/>
          </a:p>
        </p:txBody>
      </p:sp>
      <p:sp>
        <p:nvSpPr>
          <p:cNvPr id="21" name="Text 17"/>
          <p:cNvSpPr/>
          <p:nvPr/>
        </p:nvSpPr>
        <p:spPr>
          <a:xfrm>
            <a:off x="6510528" y="3611880"/>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New capacity comes online</a:t>
            </a:r>
            <a:endParaRPr lang="en-US" sz="700" dirty="0"/>
          </a:p>
        </p:txBody>
      </p:sp>
      <p:sp>
        <p:nvSpPr>
          <p:cNvPr id="22" name="Text 18"/>
          <p:cNvSpPr/>
          <p:nvPr/>
        </p:nvSpPr>
        <p:spPr>
          <a:xfrm>
            <a:off x="6217920" y="3904488"/>
            <a:ext cx="182880" cy="146304"/>
          </a:xfrm>
          <a:prstGeom prst="rect">
            <a:avLst/>
          </a:prstGeom>
          <a:noFill/>
          <a:ln/>
        </p:spPr>
        <p:txBody>
          <a:bodyPr wrap="square" lIns="0" tIns="0" rIns="0" bIns="0" rtlCol="0" anchor="t">
            <a:normAutofit/>
          </a:bodyPr>
          <a:lstStyle/>
          <a:p>
            <a:pPr algn="l" indent="0" marL="0">
              <a:buNone/>
            </a:pPr>
            <a:r>
              <a:rPr lang="en-US" sz="680" b="1" dirty="0">
                <a:solidFill>
                  <a:srgbClr val="199BD7"/>
                </a:solidFill>
                <a:latin typeface="Aptos" pitchFamily="34" charset="0"/>
                <a:ea typeface="Aptos" pitchFamily="34" charset="-122"/>
                <a:cs typeface="Aptos" pitchFamily="34" charset="-120"/>
              </a:rPr>
              <a:t>7</a:t>
            </a:r>
            <a:endParaRPr lang="en-US" sz="680" dirty="0"/>
          </a:p>
        </p:txBody>
      </p:sp>
      <p:sp>
        <p:nvSpPr>
          <p:cNvPr id="23" name="Text 19"/>
          <p:cNvSpPr/>
          <p:nvPr/>
        </p:nvSpPr>
        <p:spPr>
          <a:xfrm>
            <a:off x="6510528" y="3904488"/>
            <a:ext cx="3749040" cy="146304"/>
          </a:xfrm>
          <a:prstGeom prst="rect">
            <a:avLst/>
          </a:prstGeom>
          <a:noFill/>
          <a:ln/>
        </p:spPr>
        <p:txBody>
          <a:bodyPr wrap="square" lIns="0" tIns="0" rIns="0" bIns="0" rtlCol="0" anchor="t">
            <a:normAutofit/>
          </a:bodyPr>
          <a:lstStyle/>
          <a:p>
            <a:pPr algn="l" indent="0" marL="0">
              <a:buNone/>
            </a:pPr>
            <a:r>
              <a:rPr lang="en-US" sz="700" dirty="0">
                <a:solidFill>
                  <a:srgbClr val="344153"/>
                </a:solidFill>
                <a:latin typeface="Aptos" pitchFamily="34" charset="0"/>
                <a:ea typeface="Aptos" pitchFamily="34" charset="-122"/>
                <a:cs typeface="Aptos" pitchFamily="34" charset="-120"/>
              </a:rPr>
              <a:t>Capex growth slows or reverses</a:t>
            </a:r>
            <a:endParaRPr lang="en-US" sz="700" dirty="0"/>
          </a:p>
        </p:txBody>
      </p:sp>
      <p:sp>
        <p:nvSpPr>
          <p:cNvPr id="24" name="Text 20"/>
          <p:cNvSpPr/>
          <p:nvPr/>
        </p:nvSpPr>
        <p:spPr>
          <a:xfrm>
            <a:off x="914400" y="5257800"/>
            <a:ext cx="10241280" cy="219456"/>
          </a:xfrm>
          <a:prstGeom prst="rect">
            <a:avLst/>
          </a:prstGeom>
          <a:noFill/>
          <a:ln/>
        </p:spPr>
        <p:txBody>
          <a:bodyPr wrap="square" lIns="0" tIns="0" rIns="0" bIns="0" rtlCol="0" anchor="t">
            <a:normAutofit/>
          </a:bodyPr>
          <a:lstStyle/>
          <a:p>
            <a:pPr algn="ctr" indent="0" marL="0">
              <a:buNone/>
            </a:pPr>
            <a:r>
              <a:rPr lang="en-US" sz="860" b="1" dirty="0">
                <a:solidFill>
                  <a:srgbClr val="199BD7"/>
                </a:solidFill>
                <a:latin typeface="Aptos" pitchFamily="34" charset="0"/>
                <a:ea typeface="Aptos" pitchFamily="34" charset="-122"/>
                <a:cs typeface="Aptos" pitchFamily="34" charset="-120"/>
              </a:rPr>
              <a:t>Pitch discipline: the BUY thesis must acknowledge cyclicality; it rests on structural outgrowth plus visible backlog conversion, not on claiming VAT is non-cyclical.</a:t>
            </a:r>
            <a:endParaRPr lang="en-US" sz="860" dirty="0"/>
          </a:p>
        </p:txBody>
      </p:sp>
      <p:sp>
        <p:nvSpPr>
          <p:cNvPr id="25" name="Shape 21"/>
          <p:cNvSpPr/>
          <p:nvPr/>
        </p:nvSpPr>
        <p:spPr>
          <a:xfrm>
            <a:off x="420624" y="6419088"/>
            <a:ext cx="11338560" cy="0"/>
          </a:xfrm>
          <a:prstGeom prst="line">
            <a:avLst/>
          </a:prstGeom>
          <a:noFill/>
          <a:ln w="7620">
            <a:solidFill>
              <a:srgbClr val="D7E2EB"/>
            </a:solidFill>
            <a:prstDash val="solid"/>
            <a:headEnd type="none"/>
            <a:tailEnd type="none"/>
          </a:ln>
        </p:spPr>
      </p:sp>
      <p:sp>
        <p:nvSpPr>
          <p:cNvPr id="26" name="Text 22"/>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Uploaded VAT 101 document; analyst estimates.</a:t>
            </a:r>
            <a:endParaRPr lang="en-US" sz="540" dirty="0"/>
          </a:p>
        </p:txBody>
      </p:sp>
      <p:sp>
        <p:nvSpPr>
          <p:cNvPr id="27" name="Text 23"/>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14</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Backlog / book-to-bill / capacity: the near-term debate is execution, not demand visibility</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731520" y="1325880"/>
            <a:ext cx="5074920" cy="3291840"/>
          </a:xfrm>
          <a:prstGeom prst="roundRect">
            <a:avLst>
              <a:gd name="adj" fmla="val 2222"/>
            </a:avLst>
          </a:prstGeom>
          <a:solidFill>
            <a:srgbClr val="FFFFFF"/>
          </a:solidFill>
          <a:ln w="8890">
            <a:solidFill>
              <a:srgbClr val="D7E2EB"/>
            </a:solidFill>
            <a:prstDash val="solid"/>
          </a:ln>
        </p:spPr>
      </p:sp>
      <p:graphicFrame>
        <p:nvGraphicFramePr>
          <p:cNvPr id="7" name="Chart 0" descr=""/>
          <p:cNvGraphicFramePr/>
          <p:nvPr/>
        </p:nvGraphicFramePr>
        <p:xfrm>
          <a:off x="1005840" y="1783080"/>
          <a:ext cx="4434840" cy="21488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6217920" y="1325880"/>
            <a:ext cx="4663440" cy="3291840"/>
          </a:xfrm>
          <a:prstGeom prst="roundRect">
            <a:avLst>
              <a:gd name="adj" fmla="val 2222"/>
            </a:avLst>
          </a:prstGeom>
          <a:solidFill>
            <a:srgbClr val="F7FAFC"/>
          </a:solidFill>
          <a:ln w="8890">
            <a:solidFill>
              <a:srgbClr val="D7E2EB"/>
            </a:solidFill>
            <a:prstDash val="solid"/>
          </a:ln>
        </p:spPr>
      </p:sp>
      <p:sp>
        <p:nvSpPr>
          <p:cNvPr id="9" name="Shape 5"/>
          <p:cNvSpPr/>
          <p:nvPr/>
        </p:nvSpPr>
        <p:spPr>
          <a:xfrm>
            <a:off x="6492240" y="1938528"/>
            <a:ext cx="1188720" cy="987552"/>
          </a:xfrm>
          <a:prstGeom prst="roundRect">
            <a:avLst>
              <a:gd name="adj" fmla="val 7407"/>
            </a:avLst>
          </a:prstGeom>
          <a:solidFill>
            <a:srgbClr val="FFFFFF"/>
          </a:solidFill>
          <a:ln w="7620">
            <a:solidFill>
              <a:srgbClr val="D7E2EB"/>
            </a:solidFill>
            <a:prstDash val="solid"/>
          </a:ln>
        </p:spPr>
      </p:sp>
      <p:sp>
        <p:nvSpPr>
          <p:cNvPr id="10" name="Text 6"/>
          <p:cNvSpPr/>
          <p:nvPr/>
        </p:nvSpPr>
        <p:spPr>
          <a:xfrm>
            <a:off x="6601968" y="2039112"/>
            <a:ext cx="969264"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Book-to-bill</a:t>
            </a:r>
            <a:endParaRPr lang="en-US" sz="640" dirty="0"/>
          </a:p>
        </p:txBody>
      </p:sp>
      <p:sp>
        <p:nvSpPr>
          <p:cNvPr id="11" name="Text 7"/>
          <p:cNvSpPr/>
          <p:nvPr/>
        </p:nvSpPr>
        <p:spPr>
          <a:xfrm>
            <a:off x="6601968" y="2267712"/>
            <a:ext cx="969264" cy="347472"/>
          </a:xfrm>
          <a:prstGeom prst="rect">
            <a:avLst/>
          </a:prstGeom>
          <a:noFill/>
          <a:ln/>
        </p:spPr>
        <p:txBody>
          <a:bodyPr wrap="square" lIns="0" tIns="0" rIns="0" bIns="0" rtlCol="0" anchor="t">
            <a:normAutofit/>
          </a:bodyPr>
          <a:lstStyle/>
          <a:p>
            <a:pPr algn="l" indent="0" marL="0">
              <a:buNone/>
            </a:pPr>
            <a:r>
              <a:rPr lang="en-US" sz="1500" b="1" dirty="0">
                <a:solidFill>
                  <a:srgbClr val="199BD7"/>
                </a:solidFill>
                <a:latin typeface="Aptos" pitchFamily="34" charset="0"/>
                <a:ea typeface="Aptos" pitchFamily="34" charset="-122"/>
                <a:cs typeface="Aptos" pitchFamily="34" charset="-120"/>
              </a:rPr>
              <a:t>1.7x</a:t>
            </a:r>
            <a:endParaRPr lang="en-US" sz="1500" dirty="0"/>
          </a:p>
        </p:txBody>
      </p:sp>
      <p:sp>
        <p:nvSpPr>
          <p:cNvPr id="12" name="Text 8"/>
          <p:cNvSpPr/>
          <p:nvPr/>
        </p:nvSpPr>
        <p:spPr>
          <a:xfrm>
            <a:off x="6601968" y="2660904"/>
            <a:ext cx="969264" cy="201168"/>
          </a:xfrm>
          <a:prstGeom prst="rect">
            <a:avLst/>
          </a:prstGeom>
          <a:noFill/>
          <a:ln/>
        </p:spPr>
        <p:txBody>
          <a:bodyPr wrap="square" lIns="0" tIns="0" rIns="0" bIns="0" rtlCol="0" anchor="t">
            <a:normAutofit/>
          </a:bodyPr>
          <a:lstStyle/>
          <a:p>
            <a:pPr algn="l" indent="0" marL="0">
              <a:buNone/>
            </a:pPr>
            <a:r>
              <a:rPr lang="en-US" sz="620" dirty="0">
                <a:solidFill>
                  <a:srgbClr val="687486"/>
                </a:solidFill>
                <a:latin typeface="Aptos" pitchFamily="34" charset="0"/>
                <a:ea typeface="Aptos" pitchFamily="34" charset="-122"/>
                <a:cs typeface="Aptos" pitchFamily="34" charset="-120"/>
              </a:rPr>
              <a:t>H1 2026</a:t>
            </a:r>
            <a:endParaRPr lang="en-US" sz="620" dirty="0"/>
          </a:p>
        </p:txBody>
      </p:sp>
      <p:sp>
        <p:nvSpPr>
          <p:cNvPr id="13" name="Shape 9"/>
          <p:cNvSpPr/>
          <p:nvPr/>
        </p:nvSpPr>
        <p:spPr>
          <a:xfrm>
            <a:off x="7909560" y="1938528"/>
            <a:ext cx="1188720" cy="987552"/>
          </a:xfrm>
          <a:prstGeom prst="roundRect">
            <a:avLst>
              <a:gd name="adj" fmla="val 7407"/>
            </a:avLst>
          </a:prstGeom>
          <a:solidFill>
            <a:srgbClr val="FFFFFF"/>
          </a:solidFill>
          <a:ln w="7620">
            <a:solidFill>
              <a:srgbClr val="D7E2EB"/>
            </a:solidFill>
            <a:prstDash val="solid"/>
          </a:ln>
        </p:spPr>
      </p:sp>
      <p:sp>
        <p:nvSpPr>
          <p:cNvPr id="14" name="Text 10"/>
          <p:cNvSpPr/>
          <p:nvPr/>
        </p:nvSpPr>
        <p:spPr>
          <a:xfrm>
            <a:off x="8019288" y="2039112"/>
            <a:ext cx="969264"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Backlog</a:t>
            </a:r>
            <a:endParaRPr lang="en-US" sz="640" dirty="0"/>
          </a:p>
        </p:txBody>
      </p:sp>
      <p:sp>
        <p:nvSpPr>
          <p:cNvPr id="15" name="Text 11"/>
          <p:cNvSpPr/>
          <p:nvPr/>
        </p:nvSpPr>
        <p:spPr>
          <a:xfrm>
            <a:off x="8019288" y="2267712"/>
            <a:ext cx="969264" cy="347472"/>
          </a:xfrm>
          <a:prstGeom prst="rect">
            <a:avLst/>
          </a:prstGeom>
          <a:noFill/>
          <a:ln/>
        </p:spPr>
        <p:txBody>
          <a:bodyPr wrap="square" lIns="0" tIns="0" rIns="0" bIns="0" rtlCol="0" anchor="t">
            <a:normAutofit/>
          </a:bodyPr>
          <a:lstStyle/>
          <a:p>
            <a:pPr algn="l" indent="0" marL="0">
              <a:buNone/>
            </a:pPr>
            <a:r>
              <a:rPr lang="en-US" sz="1500" b="1" dirty="0">
                <a:solidFill>
                  <a:srgbClr val="199BD7"/>
                </a:solidFill>
                <a:latin typeface="Aptos" pitchFamily="34" charset="0"/>
                <a:ea typeface="Aptos" pitchFamily="34" charset="-122"/>
                <a:cs typeface="Aptos" pitchFamily="34" charset="-120"/>
              </a:rPr>
              <a:t>CHF648m</a:t>
            </a:r>
            <a:endParaRPr lang="en-US" sz="1500" dirty="0"/>
          </a:p>
        </p:txBody>
      </p:sp>
      <p:sp>
        <p:nvSpPr>
          <p:cNvPr id="16" name="Text 12"/>
          <p:cNvSpPr/>
          <p:nvPr/>
        </p:nvSpPr>
        <p:spPr>
          <a:xfrm>
            <a:off x="8019288" y="2660904"/>
            <a:ext cx="969264" cy="201168"/>
          </a:xfrm>
          <a:prstGeom prst="rect">
            <a:avLst/>
          </a:prstGeom>
          <a:noFill/>
          <a:ln/>
        </p:spPr>
        <p:txBody>
          <a:bodyPr wrap="square" lIns="0" tIns="0" rIns="0" bIns="0" rtlCol="0" anchor="t">
            <a:normAutofit/>
          </a:bodyPr>
          <a:lstStyle/>
          <a:p>
            <a:pPr algn="l" indent="0" marL="0">
              <a:buNone/>
            </a:pPr>
            <a:r>
              <a:rPr lang="en-US" sz="620" dirty="0">
                <a:solidFill>
                  <a:srgbClr val="687486"/>
                </a:solidFill>
                <a:latin typeface="Aptos" pitchFamily="34" charset="0"/>
                <a:ea typeface="Aptos" pitchFamily="34" charset="-122"/>
                <a:cs typeface="Aptos" pitchFamily="34" charset="-120"/>
              </a:rPr>
              <a:t>+121% YoY</a:t>
            </a:r>
            <a:endParaRPr lang="en-US" sz="620" dirty="0"/>
          </a:p>
        </p:txBody>
      </p:sp>
      <p:sp>
        <p:nvSpPr>
          <p:cNvPr id="17" name="Shape 13"/>
          <p:cNvSpPr/>
          <p:nvPr/>
        </p:nvSpPr>
        <p:spPr>
          <a:xfrm>
            <a:off x="9326880" y="1938528"/>
            <a:ext cx="1188720" cy="987552"/>
          </a:xfrm>
          <a:prstGeom prst="roundRect">
            <a:avLst>
              <a:gd name="adj" fmla="val 7407"/>
            </a:avLst>
          </a:prstGeom>
          <a:solidFill>
            <a:srgbClr val="FFFFFF"/>
          </a:solidFill>
          <a:ln w="7620">
            <a:solidFill>
              <a:srgbClr val="D7E2EB"/>
            </a:solidFill>
            <a:prstDash val="solid"/>
          </a:ln>
        </p:spPr>
      </p:sp>
      <p:sp>
        <p:nvSpPr>
          <p:cNvPr id="18" name="Text 14"/>
          <p:cNvSpPr/>
          <p:nvPr/>
        </p:nvSpPr>
        <p:spPr>
          <a:xfrm>
            <a:off x="9436608" y="2039112"/>
            <a:ext cx="969264"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Factory run-rate</a:t>
            </a:r>
            <a:endParaRPr lang="en-US" sz="640" dirty="0"/>
          </a:p>
        </p:txBody>
      </p:sp>
      <p:sp>
        <p:nvSpPr>
          <p:cNvPr id="19" name="Text 15"/>
          <p:cNvSpPr/>
          <p:nvPr/>
        </p:nvSpPr>
        <p:spPr>
          <a:xfrm>
            <a:off x="9436608" y="2267712"/>
            <a:ext cx="969264" cy="347472"/>
          </a:xfrm>
          <a:prstGeom prst="rect">
            <a:avLst/>
          </a:prstGeom>
          <a:noFill/>
          <a:ln/>
        </p:spPr>
        <p:txBody>
          <a:bodyPr wrap="square" lIns="0" tIns="0" rIns="0" bIns="0" rtlCol="0" anchor="t">
            <a:normAutofit/>
          </a:bodyPr>
          <a:lstStyle/>
          <a:p>
            <a:pPr algn="l" indent="0" marL="0">
              <a:buNone/>
            </a:pPr>
            <a:r>
              <a:rPr lang="en-US" sz="1500" b="1" dirty="0">
                <a:solidFill>
                  <a:srgbClr val="199BD7"/>
                </a:solidFill>
                <a:latin typeface="Aptos" pitchFamily="34" charset="0"/>
                <a:ea typeface="Aptos" pitchFamily="34" charset="-122"/>
                <a:cs typeface="Aptos" pitchFamily="34" charset="-120"/>
              </a:rPr>
              <a:t>&gt;CHF450m</a:t>
            </a:r>
            <a:endParaRPr lang="en-US" sz="1500" dirty="0"/>
          </a:p>
        </p:txBody>
      </p:sp>
      <p:sp>
        <p:nvSpPr>
          <p:cNvPr id="20" name="Text 16"/>
          <p:cNvSpPr/>
          <p:nvPr/>
        </p:nvSpPr>
        <p:spPr>
          <a:xfrm>
            <a:off x="9436608" y="2660904"/>
            <a:ext cx="969264" cy="201168"/>
          </a:xfrm>
          <a:prstGeom prst="rect">
            <a:avLst/>
          </a:prstGeom>
          <a:noFill/>
          <a:ln/>
        </p:spPr>
        <p:txBody>
          <a:bodyPr wrap="square" lIns="0" tIns="0" rIns="0" bIns="0" rtlCol="0" anchor="t">
            <a:normAutofit/>
          </a:bodyPr>
          <a:lstStyle/>
          <a:p>
            <a:pPr algn="l" indent="0" marL="0">
              <a:buNone/>
            </a:pPr>
            <a:r>
              <a:rPr lang="en-US" sz="620" dirty="0">
                <a:solidFill>
                  <a:srgbClr val="687486"/>
                </a:solidFill>
                <a:latin typeface="Aptos" pitchFamily="34" charset="0"/>
                <a:ea typeface="Aptos" pitchFamily="34" charset="-122"/>
                <a:cs typeface="Aptos" pitchFamily="34" charset="-120"/>
              </a:rPr>
              <a:t>target by YE26</a:t>
            </a:r>
            <a:endParaRPr lang="en-US" sz="620" dirty="0"/>
          </a:p>
        </p:txBody>
      </p:sp>
      <p:sp>
        <p:nvSpPr>
          <p:cNvPr id="21" name="Text 17"/>
          <p:cNvSpPr/>
          <p:nvPr/>
        </p:nvSpPr>
        <p:spPr>
          <a:xfrm>
            <a:off x="1051560" y="5230368"/>
            <a:ext cx="9966960" cy="237744"/>
          </a:xfrm>
          <a:prstGeom prst="rect">
            <a:avLst/>
          </a:prstGeom>
          <a:noFill/>
          <a:ln/>
        </p:spPr>
        <p:txBody>
          <a:bodyPr wrap="square" lIns="0" tIns="0" rIns="0" bIns="0" rtlCol="0" anchor="t">
            <a:normAutofit/>
          </a:bodyPr>
          <a:lstStyle/>
          <a:p>
            <a:pPr algn="ctr" indent="0" marL="0">
              <a:buNone/>
            </a:pPr>
            <a:r>
              <a:rPr lang="en-US" sz="870" b="1" dirty="0">
                <a:solidFill>
                  <a:srgbClr val="17212B"/>
                </a:solidFill>
                <a:latin typeface="Aptos" pitchFamily="34" charset="0"/>
                <a:ea typeface="Aptos" pitchFamily="34" charset="-122"/>
                <a:cs typeface="Aptos" pitchFamily="34" charset="-120"/>
              </a:rPr>
              <a:t>H1 2026 demand accelerated faster than shipments. The thesis requires backlog conversion without major quality, supply-chain or margin disruption.</a:t>
            </a:r>
            <a:endParaRPr lang="en-US" sz="870" dirty="0"/>
          </a:p>
        </p:txBody>
      </p:sp>
      <p:sp>
        <p:nvSpPr>
          <p:cNvPr id="22" name="Shape 18"/>
          <p:cNvSpPr/>
          <p:nvPr/>
        </p:nvSpPr>
        <p:spPr>
          <a:xfrm>
            <a:off x="420624" y="6419088"/>
            <a:ext cx="11338560" cy="0"/>
          </a:xfrm>
          <a:prstGeom prst="line">
            <a:avLst/>
          </a:prstGeom>
          <a:noFill/>
          <a:ln w="7620">
            <a:solidFill>
              <a:srgbClr val="D7E2EB"/>
            </a:solidFill>
            <a:prstDash val="solid"/>
            <a:headEnd type="none"/>
            <a:tailEnd type="none"/>
          </a:ln>
        </p:spPr>
      </p:sp>
      <p:sp>
        <p:nvSpPr>
          <p:cNvPr id="23" name="Text 19"/>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H1 2026 release; uploaded VAT 101 document.</a:t>
            </a:r>
            <a:endParaRPr lang="en-US" sz="540" dirty="0"/>
          </a:p>
        </p:txBody>
      </p:sp>
      <p:sp>
        <p:nvSpPr>
          <p:cNvPr id="24" name="Text 20"/>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15</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Historical financials and forecast bridge</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731520" y="1325880"/>
            <a:ext cx="4846320" cy="3520440"/>
          </a:xfrm>
          <a:prstGeom prst="roundRect">
            <a:avLst>
              <a:gd name="adj" fmla="val 2078"/>
            </a:avLst>
          </a:prstGeom>
          <a:solidFill>
            <a:srgbClr val="FFFFFF"/>
          </a:solidFill>
          <a:ln w="8890">
            <a:solidFill>
              <a:srgbClr val="D7E2EB"/>
            </a:solidFill>
            <a:prstDash val="solid"/>
          </a:ln>
        </p:spPr>
      </p:sp>
      <p:graphicFrame>
        <p:nvGraphicFramePr>
          <p:cNvPr id="7" name="Chart 0" descr=""/>
          <p:cNvGraphicFramePr/>
          <p:nvPr/>
        </p:nvGraphicFramePr>
        <p:xfrm>
          <a:off x="960120" y="1783080"/>
          <a:ext cx="4297680" cy="22860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989320" y="1325880"/>
            <a:ext cx="4846320" cy="3520440"/>
          </a:xfrm>
          <a:prstGeom prst="roundRect">
            <a:avLst>
              <a:gd name="adj" fmla="val 2078"/>
            </a:avLst>
          </a:prstGeom>
          <a:solidFill>
            <a:srgbClr val="FFFFFF"/>
          </a:solidFill>
          <a:ln w="8890">
            <a:solidFill>
              <a:srgbClr val="D7E2EB"/>
            </a:solidFill>
            <a:prstDash val="solid"/>
          </a:ln>
        </p:spPr>
      </p:sp>
      <p:graphicFrame>
        <p:nvGraphicFramePr>
          <p:cNvPr id="9" name="Chart 1" descr=""/>
          <p:cNvGraphicFramePr/>
          <p:nvPr/>
        </p:nvGraphicFramePr>
        <p:xfrm>
          <a:off x="6263640" y="1783080"/>
          <a:ext cx="4206240" cy="228600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1051560" y="5257800"/>
            <a:ext cx="9921240" cy="219456"/>
          </a:xfrm>
          <a:prstGeom prst="rect">
            <a:avLst/>
          </a:prstGeom>
          <a:noFill/>
          <a:ln/>
        </p:spPr>
        <p:txBody>
          <a:bodyPr wrap="square" lIns="0" tIns="0" rIns="0" bIns="0" rtlCol="0" anchor="t">
            <a:normAutofit/>
          </a:bodyPr>
          <a:lstStyle/>
          <a:p>
            <a:pPr algn="ctr" indent="0" marL="0">
              <a:buNone/>
            </a:pPr>
            <a:r>
              <a:rPr lang="en-US" sz="850" b="1" dirty="0">
                <a:solidFill>
                  <a:srgbClr val="17212B"/>
                </a:solidFill>
                <a:latin typeface="Aptos" pitchFamily="34" charset="0"/>
                <a:ea typeface="Aptos" pitchFamily="34" charset="-122"/>
                <a:cs typeface="Aptos" pitchFamily="34" charset="-120"/>
              </a:rPr>
              <a:t>Forecast is analyst estimate, not company guidance. Outcome depends on backlog conversion, run-rate expansion and margins remaining at sustainable levels.</a:t>
            </a:r>
            <a:endParaRPr lang="en-US" sz="850" dirty="0"/>
          </a:p>
        </p:txBody>
      </p:sp>
      <p:sp>
        <p:nvSpPr>
          <p:cNvPr id="11" name="Shape 6"/>
          <p:cNvSpPr/>
          <p:nvPr/>
        </p:nvSpPr>
        <p:spPr>
          <a:xfrm>
            <a:off x="420624" y="6419088"/>
            <a:ext cx="11338560" cy="0"/>
          </a:xfrm>
          <a:prstGeom prst="line">
            <a:avLst/>
          </a:prstGeom>
          <a:noFill/>
          <a:ln w="7620">
            <a:solidFill>
              <a:srgbClr val="D7E2EB"/>
            </a:solidFill>
            <a:prstDash val="solid"/>
            <a:headEnd type="none"/>
            <a:tailEnd type="none"/>
          </a:ln>
        </p:spPr>
      </p:sp>
      <p:sp>
        <p:nvSpPr>
          <p:cNvPr id="12" name="Text 7"/>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VAT filings; analyst estimates.</a:t>
            </a:r>
            <a:endParaRPr lang="en-US" sz="540" dirty="0"/>
          </a:p>
        </p:txBody>
      </p:sp>
      <p:sp>
        <p:nvSpPr>
          <p:cNvPr id="13" name="Text 8"/>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16</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Risk matrix: what breaks the thesis</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Shape 3"/>
          <p:cNvSpPr/>
          <p:nvPr/>
        </p:nvSpPr>
        <p:spPr>
          <a:xfrm>
            <a:off x="640080" y="1307592"/>
            <a:ext cx="10881360" cy="384048"/>
          </a:xfrm>
          <a:prstGeom prst="rect">
            <a:avLst>
              <a:gd name="adj" fmla="val 19048"/>
            </a:avLst>
          </a:prstGeom>
          <a:solidFill>
            <a:srgbClr val="F1F5F9"/>
          </a:solidFill>
          <a:ln w="8890">
            <a:solidFill>
              <a:srgbClr val="F1F5F9">
                <a:alpha val="0"/>
              </a:srgbClr>
            </a:solidFill>
            <a:prstDash val="solid"/>
          </a:ln>
        </p:spPr>
      </p:sp>
      <p:sp>
        <p:nvSpPr>
          <p:cNvPr id="7" name="Text 4"/>
          <p:cNvSpPr/>
          <p:nvPr/>
        </p:nvSpPr>
        <p:spPr>
          <a:xfrm>
            <a:off x="777240" y="1417320"/>
            <a:ext cx="192024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Risk</a:t>
            </a:r>
            <a:endParaRPr lang="en-US" sz="640" dirty="0"/>
          </a:p>
        </p:txBody>
      </p:sp>
      <p:sp>
        <p:nvSpPr>
          <p:cNvPr id="8" name="Text 5"/>
          <p:cNvSpPr/>
          <p:nvPr/>
        </p:nvSpPr>
        <p:spPr>
          <a:xfrm>
            <a:off x="3063240" y="1417320"/>
            <a:ext cx="438912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Observable breaker</a:t>
            </a:r>
            <a:endParaRPr lang="en-US" sz="640" dirty="0"/>
          </a:p>
        </p:txBody>
      </p:sp>
      <p:sp>
        <p:nvSpPr>
          <p:cNvPr id="9" name="Text 6"/>
          <p:cNvSpPr/>
          <p:nvPr/>
        </p:nvSpPr>
        <p:spPr>
          <a:xfrm>
            <a:off x="7909560" y="1417320"/>
            <a:ext cx="1280160" cy="182880"/>
          </a:xfrm>
          <a:prstGeom prst="rect">
            <a:avLst/>
          </a:prstGeom>
          <a:noFill/>
          <a:ln/>
        </p:spPr>
        <p:txBody>
          <a:bodyPr wrap="square" lIns="0" tIns="0" rIns="0" bIns="0" rtlCol="0" anchor="t">
            <a:normAutofit/>
          </a:bodyPr>
          <a:lstStyle/>
          <a:p>
            <a:pPr algn="l" indent="0" marL="0">
              <a:buNone/>
            </a:pPr>
            <a:r>
              <a:rPr lang="en-US" sz="640" b="1" dirty="0">
                <a:solidFill>
                  <a:srgbClr val="687486"/>
                </a:solidFill>
                <a:latin typeface="Aptos" pitchFamily="34" charset="0"/>
                <a:ea typeface="Aptos" pitchFamily="34" charset="-122"/>
                <a:cs typeface="Aptos" pitchFamily="34" charset="-120"/>
              </a:rPr>
              <a:t>Severity</a:t>
            </a:r>
            <a:endParaRPr lang="en-US" sz="640" dirty="0"/>
          </a:p>
        </p:txBody>
      </p:sp>
      <p:sp>
        <p:nvSpPr>
          <p:cNvPr id="10" name="Shape 7"/>
          <p:cNvSpPr/>
          <p:nvPr/>
        </p:nvSpPr>
        <p:spPr>
          <a:xfrm>
            <a:off x="640080" y="2286000"/>
            <a:ext cx="10881360" cy="0"/>
          </a:xfrm>
          <a:prstGeom prst="line">
            <a:avLst/>
          </a:prstGeom>
          <a:noFill/>
          <a:ln w="5080">
            <a:solidFill>
              <a:srgbClr val="D7E2EB"/>
            </a:solidFill>
            <a:prstDash val="solid"/>
            <a:headEnd type="none"/>
            <a:tailEnd type="none"/>
          </a:ln>
        </p:spPr>
      </p:sp>
      <p:sp>
        <p:nvSpPr>
          <p:cNvPr id="11" name="Text 8"/>
          <p:cNvSpPr/>
          <p:nvPr/>
        </p:nvSpPr>
        <p:spPr>
          <a:xfrm>
            <a:off x="777240" y="196596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WFE / memory downturn</a:t>
            </a:r>
            <a:endParaRPr lang="en-US" sz="730" dirty="0"/>
          </a:p>
        </p:txBody>
      </p:sp>
      <p:sp>
        <p:nvSpPr>
          <p:cNvPr id="12" name="Text 9"/>
          <p:cNvSpPr/>
          <p:nvPr/>
        </p:nvSpPr>
        <p:spPr>
          <a:xfrm>
            <a:off x="3063240" y="196596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Orders roll over before backlog conversion</a:t>
            </a:r>
            <a:endParaRPr lang="en-US" sz="730" dirty="0"/>
          </a:p>
        </p:txBody>
      </p:sp>
      <p:sp>
        <p:nvSpPr>
          <p:cNvPr id="13" name="Text 10"/>
          <p:cNvSpPr/>
          <p:nvPr/>
        </p:nvSpPr>
        <p:spPr>
          <a:xfrm>
            <a:off x="7909560" y="196596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C84545"/>
                </a:solidFill>
                <a:latin typeface="Aptos" pitchFamily="34" charset="0"/>
                <a:ea typeface="Aptos" pitchFamily="34" charset="-122"/>
                <a:cs typeface="Aptos" pitchFamily="34" charset="-120"/>
              </a:rPr>
              <a:t>High</a:t>
            </a:r>
            <a:endParaRPr lang="en-US" sz="730" dirty="0"/>
          </a:p>
        </p:txBody>
      </p:sp>
      <p:sp>
        <p:nvSpPr>
          <p:cNvPr id="14" name="Shape 11"/>
          <p:cNvSpPr/>
          <p:nvPr/>
        </p:nvSpPr>
        <p:spPr>
          <a:xfrm>
            <a:off x="640080" y="2834640"/>
            <a:ext cx="10881360" cy="0"/>
          </a:xfrm>
          <a:prstGeom prst="line">
            <a:avLst/>
          </a:prstGeom>
          <a:noFill/>
          <a:ln w="5080">
            <a:solidFill>
              <a:srgbClr val="D7E2EB"/>
            </a:solidFill>
            <a:prstDash val="solid"/>
            <a:headEnd type="none"/>
            <a:tailEnd type="none"/>
          </a:ln>
        </p:spPr>
      </p:sp>
      <p:sp>
        <p:nvSpPr>
          <p:cNvPr id="15" name="Text 12"/>
          <p:cNvSpPr/>
          <p:nvPr/>
        </p:nvSpPr>
        <p:spPr>
          <a:xfrm>
            <a:off x="777240" y="251460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Factory ramp execution</a:t>
            </a:r>
            <a:endParaRPr lang="en-US" sz="730" dirty="0"/>
          </a:p>
        </p:txBody>
      </p:sp>
      <p:sp>
        <p:nvSpPr>
          <p:cNvPr id="16" name="Text 13"/>
          <p:cNvSpPr/>
          <p:nvPr/>
        </p:nvSpPr>
        <p:spPr>
          <a:xfrm>
            <a:off x="3063240" y="251460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Quality, delivery or yield problems</a:t>
            </a:r>
            <a:endParaRPr lang="en-US" sz="730" dirty="0"/>
          </a:p>
        </p:txBody>
      </p:sp>
      <p:sp>
        <p:nvSpPr>
          <p:cNvPr id="17" name="Text 14"/>
          <p:cNvSpPr/>
          <p:nvPr/>
        </p:nvSpPr>
        <p:spPr>
          <a:xfrm>
            <a:off x="7909560" y="251460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C84545"/>
                </a:solidFill>
                <a:latin typeface="Aptos" pitchFamily="34" charset="0"/>
                <a:ea typeface="Aptos" pitchFamily="34" charset="-122"/>
                <a:cs typeface="Aptos" pitchFamily="34" charset="-120"/>
              </a:rPr>
              <a:t>High</a:t>
            </a:r>
            <a:endParaRPr lang="en-US" sz="730" dirty="0"/>
          </a:p>
        </p:txBody>
      </p:sp>
      <p:sp>
        <p:nvSpPr>
          <p:cNvPr id="18" name="Shape 15"/>
          <p:cNvSpPr/>
          <p:nvPr/>
        </p:nvSpPr>
        <p:spPr>
          <a:xfrm>
            <a:off x="640080" y="3383280"/>
            <a:ext cx="10881360" cy="0"/>
          </a:xfrm>
          <a:prstGeom prst="line">
            <a:avLst/>
          </a:prstGeom>
          <a:noFill/>
          <a:ln w="5080">
            <a:solidFill>
              <a:srgbClr val="D7E2EB"/>
            </a:solidFill>
            <a:prstDash val="solid"/>
            <a:headEnd type="none"/>
            <a:tailEnd type="none"/>
          </a:ln>
        </p:spPr>
      </p:sp>
      <p:sp>
        <p:nvSpPr>
          <p:cNvPr id="19" name="Text 16"/>
          <p:cNvSpPr/>
          <p:nvPr/>
        </p:nvSpPr>
        <p:spPr>
          <a:xfrm>
            <a:off x="777240" y="306324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Margin dilution</a:t>
            </a:r>
            <a:endParaRPr lang="en-US" sz="730" dirty="0"/>
          </a:p>
        </p:txBody>
      </p:sp>
      <p:sp>
        <p:nvSpPr>
          <p:cNvPr id="20" name="Text 17"/>
          <p:cNvSpPr/>
          <p:nvPr/>
        </p:nvSpPr>
        <p:spPr>
          <a:xfrm>
            <a:off x="3063240" y="306324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Hiring and ramp costs outpace revenue</a:t>
            </a:r>
            <a:endParaRPr lang="en-US" sz="730" dirty="0"/>
          </a:p>
        </p:txBody>
      </p:sp>
      <p:sp>
        <p:nvSpPr>
          <p:cNvPr id="21" name="Text 18"/>
          <p:cNvSpPr/>
          <p:nvPr/>
        </p:nvSpPr>
        <p:spPr>
          <a:xfrm>
            <a:off x="7909560" y="306324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E69A21"/>
                </a:solidFill>
                <a:latin typeface="Aptos" pitchFamily="34" charset="0"/>
                <a:ea typeface="Aptos" pitchFamily="34" charset="-122"/>
                <a:cs typeface="Aptos" pitchFamily="34" charset="-120"/>
              </a:rPr>
              <a:t>Medium</a:t>
            </a:r>
            <a:endParaRPr lang="en-US" sz="730" dirty="0"/>
          </a:p>
        </p:txBody>
      </p:sp>
      <p:sp>
        <p:nvSpPr>
          <p:cNvPr id="22" name="Shape 19"/>
          <p:cNvSpPr/>
          <p:nvPr/>
        </p:nvSpPr>
        <p:spPr>
          <a:xfrm>
            <a:off x="640080" y="3931920"/>
            <a:ext cx="10881360" cy="0"/>
          </a:xfrm>
          <a:prstGeom prst="line">
            <a:avLst/>
          </a:prstGeom>
          <a:noFill/>
          <a:ln w="5080">
            <a:solidFill>
              <a:srgbClr val="D7E2EB"/>
            </a:solidFill>
            <a:prstDash val="solid"/>
            <a:headEnd type="none"/>
            <a:tailEnd type="none"/>
          </a:ln>
        </p:spPr>
      </p:sp>
      <p:sp>
        <p:nvSpPr>
          <p:cNvPr id="23" name="Text 20"/>
          <p:cNvSpPr/>
          <p:nvPr/>
        </p:nvSpPr>
        <p:spPr>
          <a:xfrm>
            <a:off x="777240" y="361188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Customer second-sourcing</a:t>
            </a:r>
            <a:endParaRPr lang="en-US" sz="730" dirty="0"/>
          </a:p>
        </p:txBody>
      </p:sp>
      <p:sp>
        <p:nvSpPr>
          <p:cNvPr id="24" name="Text 21"/>
          <p:cNvSpPr/>
          <p:nvPr/>
        </p:nvSpPr>
        <p:spPr>
          <a:xfrm>
            <a:off x="3063240" y="361188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Loss of spec-in or excessive dual sourcing</a:t>
            </a:r>
            <a:endParaRPr lang="en-US" sz="730" dirty="0"/>
          </a:p>
        </p:txBody>
      </p:sp>
      <p:sp>
        <p:nvSpPr>
          <p:cNvPr id="25" name="Text 22"/>
          <p:cNvSpPr/>
          <p:nvPr/>
        </p:nvSpPr>
        <p:spPr>
          <a:xfrm>
            <a:off x="7909560" y="361188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E69A21"/>
                </a:solidFill>
                <a:latin typeface="Aptos" pitchFamily="34" charset="0"/>
                <a:ea typeface="Aptos" pitchFamily="34" charset="-122"/>
                <a:cs typeface="Aptos" pitchFamily="34" charset="-120"/>
              </a:rPr>
              <a:t>Medium</a:t>
            </a:r>
            <a:endParaRPr lang="en-US" sz="730" dirty="0"/>
          </a:p>
        </p:txBody>
      </p:sp>
      <p:sp>
        <p:nvSpPr>
          <p:cNvPr id="26" name="Shape 23"/>
          <p:cNvSpPr/>
          <p:nvPr/>
        </p:nvSpPr>
        <p:spPr>
          <a:xfrm>
            <a:off x="640080" y="4480560"/>
            <a:ext cx="10881360" cy="0"/>
          </a:xfrm>
          <a:prstGeom prst="line">
            <a:avLst/>
          </a:prstGeom>
          <a:noFill/>
          <a:ln w="5080">
            <a:solidFill>
              <a:srgbClr val="D7E2EB"/>
            </a:solidFill>
            <a:prstDash val="solid"/>
            <a:headEnd type="none"/>
            <a:tailEnd type="none"/>
          </a:ln>
        </p:spPr>
      </p:sp>
      <p:sp>
        <p:nvSpPr>
          <p:cNvPr id="27" name="Text 24"/>
          <p:cNvSpPr/>
          <p:nvPr/>
        </p:nvSpPr>
        <p:spPr>
          <a:xfrm>
            <a:off x="777240" y="416052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China / export controls</a:t>
            </a:r>
            <a:endParaRPr lang="en-US" sz="730" dirty="0"/>
          </a:p>
        </p:txBody>
      </p:sp>
      <p:sp>
        <p:nvSpPr>
          <p:cNvPr id="28" name="Text 25"/>
          <p:cNvSpPr/>
          <p:nvPr/>
        </p:nvSpPr>
        <p:spPr>
          <a:xfrm>
            <a:off x="3063240" y="416052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Geographic exposure and order delays</a:t>
            </a:r>
            <a:endParaRPr lang="en-US" sz="730" dirty="0"/>
          </a:p>
        </p:txBody>
      </p:sp>
      <p:sp>
        <p:nvSpPr>
          <p:cNvPr id="29" name="Text 26"/>
          <p:cNvSpPr/>
          <p:nvPr/>
        </p:nvSpPr>
        <p:spPr>
          <a:xfrm>
            <a:off x="7909560" y="416052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E69A21"/>
                </a:solidFill>
                <a:latin typeface="Aptos" pitchFamily="34" charset="0"/>
                <a:ea typeface="Aptos" pitchFamily="34" charset="-122"/>
                <a:cs typeface="Aptos" pitchFamily="34" charset="-120"/>
              </a:rPr>
              <a:t>Medium</a:t>
            </a:r>
            <a:endParaRPr lang="en-US" sz="730" dirty="0"/>
          </a:p>
        </p:txBody>
      </p:sp>
      <p:sp>
        <p:nvSpPr>
          <p:cNvPr id="30" name="Shape 27"/>
          <p:cNvSpPr/>
          <p:nvPr/>
        </p:nvSpPr>
        <p:spPr>
          <a:xfrm>
            <a:off x="640080" y="5029200"/>
            <a:ext cx="10881360" cy="0"/>
          </a:xfrm>
          <a:prstGeom prst="line">
            <a:avLst/>
          </a:prstGeom>
          <a:noFill/>
          <a:ln w="5080">
            <a:solidFill>
              <a:srgbClr val="D7E2EB"/>
            </a:solidFill>
            <a:prstDash val="solid"/>
            <a:headEnd type="none"/>
            <a:tailEnd type="none"/>
          </a:ln>
        </p:spPr>
      </p:sp>
      <p:sp>
        <p:nvSpPr>
          <p:cNvPr id="31" name="Text 28"/>
          <p:cNvSpPr/>
          <p:nvPr/>
        </p:nvSpPr>
        <p:spPr>
          <a:xfrm>
            <a:off x="777240" y="4709160"/>
            <a:ext cx="1920240" cy="182880"/>
          </a:xfrm>
          <a:prstGeom prst="rect">
            <a:avLst/>
          </a:prstGeom>
          <a:noFill/>
          <a:ln/>
        </p:spPr>
        <p:txBody>
          <a:bodyPr wrap="square" lIns="0" tIns="0" rIns="0" bIns="0" rtlCol="0" anchor="t">
            <a:normAutofit/>
          </a:bodyPr>
          <a:lstStyle/>
          <a:p>
            <a:pPr algn="l" indent="0" marL="0">
              <a:buNone/>
            </a:pPr>
            <a:r>
              <a:rPr lang="en-US" sz="730" b="1" dirty="0">
                <a:solidFill>
                  <a:srgbClr val="17212B"/>
                </a:solidFill>
                <a:latin typeface="Aptos" pitchFamily="34" charset="0"/>
                <a:ea typeface="Aptos" pitchFamily="34" charset="-122"/>
                <a:cs typeface="Aptos" pitchFamily="34" charset="-120"/>
              </a:rPr>
              <a:t>Valuation de-rating</a:t>
            </a:r>
            <a:endParaRPr lang="en-US" sz="730" dirty="0"/>
          </a:p>
        </p:txBody>
      </p:sp>
      <p:sp>
        <p:nvSpPr>
          <p:cNvPr id="32" name="Text 29"/>
          <p:cNvSpPr/>
          <p:nvPr/>
        </p:nvSpPr>
        <p:spPr>
          <a:xfrm>
            <a:off x="3063240" y="4709160"/>
            <a:ext cx="4389120" cy="182880"/>
          </a:xfrm>
          <a:prstGeom prst="rect">
            <a:avLst/>
          </a:prstGeom>
          <a:noFill/>
          <a:ln/>
        </p:spPr>
        <p:txBody>
          <a:bodyPr wrap="square" lIns="0" tIns="0" rIns="0" bIns="0" rtlCol="0" anchor="t">
            <a:normAutofit/>
          </a:bodyPr>
          <a:lstStyle/>
          <a:p>
            <a:pPr algn="l" indent="0" marL="0">
              <a:buNone/>
            </a:pPr>
            <a:r>
              <a:rPr lang="en-US" sz="730" dirty="0">
                <a:solidFill>
                  <a:srgbClr val="17212B"/>
                </a:solidFill>
                <a:latin typeface="Aptos" pitchFamily="34" charset="0"/>
                <a:ea typeface="Aptos" pitchFamily="34" charset="-122"/>
                <a:cs typeface="Aptos" pitchFamily="34" charset="-120"/>
              </a:rPr>
              <a:t>Premium multiple contracts despite EPS growth</a:t>
            </a:r>
            <a:endParaRPr lang="en-US" sz="730" dirty="0"/>
          </a:p>
        </p:txBody>
      </p:sp>
      <p:sp>
        <p:nvSpPr>
          <p:cNvPr id="33" name="Text 30"/>
          <p:cNvSpPr/>
          <p:nvPr/>
        </p:nvSpPr>
        <p:spPr>
          <a:xfrm>
            <a:off x="7909560" y="4709160"/>
            <a:ext cx="1280160" cy="182880"/>
          </a:xfrm>
          <a:prstGeom prst="rect">
            <a:avLst/>
          </a:prstGeom>
          <a:noFill/>
          <a:ln/>
        </p:spPr>
        <p:txBody>
          <a:bodyPr wrap="square" lIns="0" tIns="0" rIns="0" bIns="0" rtlCol="0" anchor="t">
            <a:normAutofit/>
          </a:bodyPr>
          <a:lstStyle/>
          <a:p>
            <a:pPr algn="l" indent="0" marL="0">
              <a:buNone/>
            </a:pPr>
            <a:r>
              <a:rPr lang="en-US" sz="730" b="1" dirty="0">
                <a:solidFill>
                  <a:srgbClr val="C84545"/>
                </a:solidFill>
                <a:latin typeface="Aptos" pitchFamily="34" charset="0"/>
                <a:ea typeface="Aptos" pitchFamily="34" charset="-122"/>
                <a:cs typeface="Aptos" pitchFamily="34" charset="-120"/>
              </a:rPr>
              <a:t>High</a:t>
            </a:r>
            <a:endParaRPr lang="en-US" sz="730" dirty="0"/>
          </a:p>
        </p:txBody>
      </p:sp>
      <p:sp>
        <p:nvSpPr>
          <p:cNvPr id="34" name="Shape 31"/>
          <p:cNvSpPr/>
          <p:nvPr/>
        </p:nvSpPr>
        <p:spPr>
          <a:xfrm>
            <a:off x="420624" y="6419088"/>
            <a:ext cx="11338560" cy="0"/>
          </a:xfrm>
          <a:prstGeom prst="line">
            <a:avLst/>
          </a:prstGeom>
          <a:noFill/>
          <a:ln w="7620">
            <a:solidFill>
              <a:srgbClr val="D7E2EB"/>
            </a:solidFill>
            <a:prstDash val="solid"/>
            <a:headEnd type="none"/>
            <a:tailEnd type="none"/>
          </a:ln>
        </p:spPr>
      </p:sp>
      <p:sp>
        <p:nvSpPr>
          <p:cNvPr id="35" name="Text 32"/>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Analyst estimates; company filings.</a:t>
            </a:r>
            <a:endParaRPr lang="en-US" sz="540" dirty="0"/>
          </a:p>
        </p:txBody>
      </p:sp>
      <p:sp>
        <p:nvSpPr>
          <p:cNvPr id="36" name="Text 33"/>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17</a:t>
            </a:r>
            <a:endParaRPr lang="en-US" sz="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20624" y="182880"/>
            <a:ext cx="4023360" cy="182880"/>
          </a:xfrm>
          <a:prstGeom prst="rect">
            <a:avLst/>
          </a:prstGeom>
          <a:noFill/>
          <a:ln/>
        </p:spPr>
        <p:txBody>
          <a:bodyPr wrap="square" lIns="0" tIns="0" rIns="0" bIns="0" rtlCol="0" anchor="t">
            <a:normAutofit/>
          </a:bodyPr>
          <a:lstStyle/>
          <a:p>
            <a:pPr algn="l" indent="0" marL="0">
              <a:buNone/>
            </a:pPr>
            <a:r>
              <a:rPr lang="en-US" sz="640" b="1" dirty="0">
                <a:solidFill>
                  <a:srgbClr val="199BD7"/>
                </a:solidFill>
                <a:latin typeface="Aptos" pitchFamily="34" charset="0"/>
                <a:ea typeface="Aptos" pitchFamily="34" charset="-122"/>
                <a:cs typeface="Aptos" pitchFamily="34" charset="-120"/>
              </a:rPr>
              <a:t>APPENDIX</a:t>
            </a:r>
            <a:endParaRPr lang="en-US" sz="640" dirty="0"/>
          </a:p>
        </p:txBody>
      </p:sp>
      <p:sp>
        <p:nvSpPr>
          <p:cNvPr id="3" name="Text 1"/>
          <p:cNvSpPr/>
          <p:nvPr/>
        </p:nvSpPr>
        <p:spPr>
          <a:xfrm>
            <a:off x="420624" y="420624"/>
            <a:ext cx="9784080" cy="512064"/>
          </a:xfrm>
          <a:prstGeom prst="rect">
            <a:avLst/>
          </a:prstGeom>
          <a:noFill/>
          <a:ln/>
        </p:spPr>
        <p:txBody>
          <a:bodyPr wrap="square" lIns="0" tIns="0" rIns="0" bIns="0" rtlCol="0" anchor="t">
            <a:normAutofit/>
          </a:bodyPr>
          <a:lstStyle/>
          <a:p>
            <a:pPr algn="l" indent="0" marL="0">
              <a:buNone/>
            </a:pPr>
            <a:r>
              <a:rPr lang="en-US" sz="1880" b="1" dirty="0">
                <a:solidFill>
                  <a:srgbClr val="17212B"/>
                </a:solidFill>
                <a:latin typeface="Aptos" pitchFamily="34" charset="0"/>
                <a:ea typeface="Aptos" pitchFamily="34" charset="-122"/>
                <a:cs typeface="Aptos" pitchFamily="34" charset="-120"/>
              </a:rPr>
              <a:t>Valuation sensitivity: CHF800 requires execution plus a premium scarcity multiple</a:t>
            </a:r>
            <a:endParaRPr lang="en-US" sz="1880" dirty="0"/>
          </a:p>
        </p:txBody>
      </p:sp>
      <p:pic>
        <p:nvPicPr>
          <p:cNvPr id="4" name="Image 0" descr="/mnt/data/ab08a03e-4af6-4181-9828-46f44d67b543.png">    </p:cNvPr>
          <p:cNvPicPr>
            <a:picLocks noChangeAspect="1"/>
          </p:cNvPicPr>
          <p:nvPr/>
        </p:nvPicPr>
        <p:blipFill>
          <a:blip r:embed="rId1"/>
          <a:stretch>
            <a:fillRect/>
          </a:stretch>
        </p:blipFill>
        <p:spPr>
          <a:xfrm>
            <a:off x="10387584" y="182880"/>
            <a:ext cx="1371600" cy="320040"/>
          </a:xfrm>
          <a:prstGeom prst="rect">
            <a:avLst/>
          </a:prstGeom>
        </p:spPr>
      </p:pic>
      <p:sp>
        <p:nvSpPr>
          <p:cNvPr id="5" name="Shape 2"/>
          <p:cNvSpPr/>
          <p:nvPr/>
        </p:nvSpPr>
        <p:spPr>
          <a:xfrm>
            <a:off x="420624" y="1005840"/>
            <a:ext cx="11338560" cy="0"/>
          </a:xfrm>
          <a:prstGeom prst="line">
            <a:avLst/>
          </a:prstGeom>
          <a:noFill/>
          <a:ln w="10160">
            <a:solidFill>
              <a:srgbClr val="D7E2EB"/>
            </a:solidFill>
            <a:prstDash val="solid"/>
            <a:headEnd type="none"/>
            <a:tailEnd type="none"/>
          </a:ln>
        </p:spPr>
      </p:sp>
      <p:sp>
        <p:nvSpPr>
          <p:cNvPr id="6" name="Text 3"/>
          <p:cNvSpPr/>
          <p:nvPr/>
        </p:nvSpPr>
        <p:spPr>
          <a:xfrm>
            <a:off x="777240" y="1325880"/>
            <a:ext cx="1920240" cy="182880"/>
          </a:xfrm>
          <a:prstGeom prst="rect">
            <a:avLst/>
          </a:prstGeom>
          <a:noFill/>
          <a:ln/>
        </p:spPr>
        <p:txBody>
          <a:bodyPr wrap="square" lIns="0" tIns="0" rIns="0" bIns="0" rtlCol="0" anchor="t">
            <a:normAutofit/>
          </a:bodyPr>
          <a:lstStyle/>
          <a:p>
            <a:pPr algn="l" indent="0" marL="0">
              <a:buNone/>
            </a:pPr>
            <a:r>
              <a:rPr lang="en-US" sz="850" b="1" dirty="0">
                <a:solidFill>
                  <a:srgbClr val="17212B"/>
                </a:solidFill>
                <a:latin typeface="Aptos" pitchFamily="34" charset="0"/>
                <a:ea typeface="Aptos" pitchFamily="34" charset="-122"/>
                <a:cs typeface="Aptos" pitchFamily="34" charset="-120"/>
              </a:rPr>
              <a:t>Target price per share, CHF</a:t>
            </a:r>
            <a:endParaRPr lang="en-US" sz="850" dirty="0"/>
          </a:p>
        </p:txBody>
      </p:sp>
      <p:sp>
        <p:nvSpPr>
          <p:cNvPr id="7" name="Shape 4"/>
          <p:cNvSpPr/>
          <p:nvPr/>
        </p:nvSpPr>
        <p:spPr>
          <a:xfrm>
            <a:off x="2240280" y="1691640"/>
            <a:ext cx="6400800" cy="347472"/>
          </a:xfrm>
          <a:prstGeom prst="rect">
            <a:avLst>
              <a:gd name="adj" fmla="val 21053"/>
            </a:avLst>
          </a:prstGeom>
          <a:solidFill>
            <a:srgbClr val="F1F5F9"/>
          </a:solidFill>
          <a:ln w="8890">
            <a:solidFill>
              <a:srgbClr val="F1F5F9">
                <a:alpha val="0"/>
              </a:srgbClr>
            </a:solidFill>
            <a:prstDash val="solid"/>
          </a:ln>
        </p:spPr>
      </p:sp>
      <p:sp>
        <p:nvSpPr>
          <p:cNvPr id="8" name="Text 5"/>
          <p:cNvSpPr/>
          <p:nvPr/>
        </p:nvSpPr>
        <p:spPr>
          <a:xfrm>
            <a:off x="4572000" y="1783080"/>
            <a:ext cx="1828800" cy="128016"/>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Target EV/EBITDA multiple</a:t>
            </a:r>
            <a:endParaRPr lang="en-US" sz="650" dirty="0"/>
          </a:p>
        </p:txBody>
      </p:sp>
      <p:sp>
        <p:nvSpPr>
          <p:cNvPr id="9" name="Text 6"/>
          <p:cNvSpPr/>
          <p:nvPr/>
        </p:nvSpPr>
        <p:spPr>
          <a:xfrm>
            <a:off x="3108960" y="2148840"/>
            <a:ext cx="502920" cy="128016"/>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35x</a:t>
            </a:r>
            <a:endParaRPr lang="en-US" sz="650" dirty="0"/>
          </a:p>
        </p:txBody>
      </p:sp>
      <p:sp>
        <p:nvSpPr>
          <p:cNvPr id="10" name="Text 7"/>
          <p:cNvSpPr/>
          <p:nvPr/>
        </p:nvSpPr>
        <p:spPr>
          <a:xfrm>
            <a:off x="4343400" y="2148840"/>
            <a:ext cx="502920" cy="128016"/>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38x</a:t>
            </a:r>
            <a:endParaRPr lang="en-US" sz="650" dirty="0"/>
          </a:p>
        </p:txBody>
      </p:sp>
      <p:sp>
        <p:nvSpPr>
          <p:cNvPr id="11" name="Text 8"/>
          <p:cNvSpPr/>
          <p:nvPr/>
        </p:nvSpPr>
        <p:spPr>
          <a:xfrm>
            <a:off x="5577840" y="2148840"/>
            <a:ext cx="502920" cy="128016"/>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40x</a:t>
            </a:r>
            <a:endParaRPr lang="en-US" sz="650" dirty="0"/>
          </a:p>
        </p:txBody>
      </p:sp>
      <p:sp>
        <p:nvSpPr>
          <p:cNvPr id="12" name="Text 9"/>
          <p:cNvSpPr/>
          <p:nvPr/>
        </p:nvSpPr>
        <p:spPr>
          <a:xfrm>
            <a:off x="6812280" y="2148840"/>
            <a:ext cx="502920" cy="128016"/>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42x</a:t>
            </a:r>
            <a:endParaRPr lang="en-US" sz="650" dirty="0"/>
          </a:p>
        </p:txBody>
      </p:sp>
      <p:sp>
        <p:nvSpPr>
          <p:cNvPr id="13" name="Text 10"/>
          <p:cNvSpPr/>
          <p:nvPr/>
        </p:nvSpPr>
        <p:spPr>
          <a:xfrm>
            <a:off x="2011680" y="2542032"/>
            <a:ext cx="411480" cy="128016"/>
          </a:xfrm>
          <a:prstGeom prst="rect">
            <a:avLst/>
          </a:prstGeom>
          <a:noFill/>
          <a:ln/>
        </p:spPr>
        <p:txBody>
          <a:bodyPr wrap="square" lIns="0" tIns="0" rIns="0" bIns="0" rtlCol="0" anchor="t">
            <a:normAutofit/>
          </a:bodyPr>
          <a:lstStyle/>
          <a:p>
            <a:pPr algn="r" indent="0" marL="0">
              <a:buNone/>
            </a:pPr>
            <a:r>
              <a:rPr lang="en-US" sz="650" b="1" dirty="0">
                <a:solidFill>
                  <a:srgbClr val="687486"/>
                </a:solidFill>
                <a:latin typeface="Aptos" pitchFamily="34" charset="0"/>
                <a:ea typeface="Aptos" pitchFamily="34" charset="-122"/>
                <a:cs typeface="Aptos" pitchFamily="34" charset="-120"/>
              </a:rPr>
              <a:t>32%</a:t>
            </a:r>
            <a:endParaRPr lang="en-US" sz="650" dirty="0"/>
          </a:p>
        </p:txBody>
      </p:sp>
      <p:sp>
        <p:nvSpPr>
          <p:cNvPr id="14" name="Shape 11"/>
          <p:cNvSpPr/>
          <p:nvPr/>
        </p:nvSpPr>
        <p:spPr>
          <a:xfrm>
            <a:off x="2926080" y="2432304"/>
            <a:ext cx="749808" cy="274320"/>
          </a:xfrm>
          <a:prstGeom prst="roundRect">
            <a:avLst>
              <a:gd name="adj" fmla="val 26667"/>
            </a:avLst>
          </a:prstGeom>
          <a:solidFill>
            <a:srgbClr val="FFFFFF"/>
          </a:solidFill>
          <a:ln w="8890">
            <a:solidFill>
              <a:srgbClr val="D7E2EB"/>
            </a:solidFill>
            <a:prstDash val="solid"/>
          </a:ln>
        </p:spPr>
      </p:sp>
      <p:sp>
        <p:nvSpPr>
          <p:cNvPr id="15" name="Text 12"/>
          <p:cNvSpPr/>
          <p:nvPr/>
        </p:nvSpPr>
        <p:spPr>
          <a:xfrm>
            <a:off x="2926080" y="25146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653</a:t>
            </a:r>
            <a:endParaRPr lang="en-US" sz="630" dirty="0"/>
          </a:p>
        </p:txBody>
      </p:sp>
      <p:sp>
        <p:nvSpPr>
          <p:cNvPr id="16" name="Shape 13"/>
          <p:cNvSpPr/>
          <p:nvPr/>
        </p:nvSpPr>
        <p:spPr>
          <a:xfrm>
            <a:off x="4160520" y="2432304"/>
            <a:ext cx="749808" cy="274320"/>
          </a:xfrm>
          <a:prstGeom prst="roundRect">
            <a:avLst>
              <a:gd name="adj" fmla="val 26667"/>
            </a:avLst>
          </a:prstGeom>
          <a:solidFill>
            <a:srgbClr val="FFFFFF"/>
          </a:solidFill>
          <a:ln w="8890">
            <a:solidFill>
              <a:srgbClr val="D7E2EB"/>
            </a:solidFill>
            <a:prstDash val="solid"/>
          </a:ln>
        </p:spPr>
      </p:sp>
      <p:sp>
        <p:nvSpPr>
          <p:cNvPr id="17" name="Text 14"/>
          <p:cNvSpPr/>
          <p:nvPr/>
        </p:nvSpPr>
        <p:spPr>
          <a:xfrm>
            <a:off x="4160520" y="25146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708</a:t>
            </a:r>
            <a:endParaRPr lang="en-US" sz="630" dirty="0"/>
          </a:p>
        </p:txBody>
      </p:sp>
      <p:sp>
        <p:nvSpPr>
          <p:cNvPr id="18" name="Shape 15"/>
          <p:cNvSpPr/>
          <p:nvPr/>
        </p:nvSpPr>
        <p:spPr>
          <a:xfrm>
            <a:off x="5394960" y="2432304"/>
            <a:ext cx="749808" cy="274320"/>
          </a:xfrm>
          <a:prstGeom prst="roundRect">
            <a:avLst>
              <a:gd name="adj" fmla="val 26667"/>
            </a:avLst>
          </a:prstGeom>
          <a:solidFill>
            <a:srgbClr val="FFFFFF"/>
          </a:solidFill>
          <a:ln w="8890">
            <a:solidFill>
              <a:srgbClr val="D7E2EB"/>
            </a:solidFill>
            <a:prstDash val="solid"/>
          </a:ln>
        </p:spPr>
      </p:sp>
      <p:sp>
        <p:nvSpPr>
          <p:cNvPr id="19" name="Text 16"/>
          <p:cNvSpPr/>
          <p:nvPr/>
        </p:nvSpPr>
        <p:spPr>
          <a:xfrm>
            <a:off x="5394960" y="25146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744</a:t>
            </a:r>
            <a:endParaRPr lang="en-US" sz="630" dirty="0"/>
          </a:p>
        </p:txBody>
      </p:sp>
      <p:sp>
        <p:nvSpPr>
          <p:cNvPr id="20" name="Shape 17"/>
          <p:cNvSpPr/>
          <p:nvPr/>
        </p:nvSpPr>
        <p:spPr>
          <a:xfrm>
            <a:off x="6629400" y="2432304"/>
            <a:ext cx="749808" cy="274320"/>
          </a:xfrm>
          <a:prstGeom prst="roundRect">
            <a:avLst>
              <a:gd name="adj" fmla="val 26667"/>
            </a:avLst>
          </a:prstGeom>
          <a:solidFill>
            <a:srgbClr val="FFFFFF"/>
          </a:solidFill>
          <a:ln w="8890">
            <a:solidFill>
              <a:srgbClr val="D7E2EB"/>
            </a:solidFill>
            <a:prstDash val="solid"/>
          </a:ln>
        </p:spPr>
      </p:sp>
      <p:sp>
        <p:nvSpPr>
          <p:cNvPr id="21" name="Text 18"/>
          <p:cNvSpPr/>
          <p:nvPr/>
        </p:nvSpPr>
        <p:spPr>
          <a:xfrm>
            <a:off x="6629400" y="25146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781</a:t>
            </a:r>
            <a:endParaRPr lang="en-US" sz="630" dirty="0"/>
          </a:p>
        </p:txBody>
      </p:sp>
      <p:sp>
        <p:nvSpPr>
          <p:cNvPr id="22" name="Text 19"/>
          <p:cNvSpPr/>
          <p:nvPr/>
        </p:nvSpPr>
        <p:spPr>
          <a:xfrm>
            <a:off x="2011680" y="2999232"/>
            <a:ext cx="411480" cy="128016"/>
          </a:xfrm>
          <a:prstGeom prst="rect">
            <a:avLst/>
          </a:prstGeom>
          <a:noFill/>
          <a:ln/>
        </p:spPr>
        <p:txBody>
          <a:bodyPr wrap="square" lIns="0" tIns="0" rIns="0" bIns="0" rtlCol="0" anchor="t">
            <a:normAutofit/>
          </a:bodyPr>
          <a:lstStyle/>
          <a:p>
            <a:pPr algn="r" indent="0" marL="0">
              <a:buNone/>
            </a:pPr>
            <a:r>
              <a:rPr lang="en-US" sz="650" b="1" dirty="0">
                <a:solidFill>
                  <a:srgbClr val="687486"/>
                </a:solidFill>
                <a:latin typeface="Aptos" pitchFamily="34" charset="0"/>
                <a:ea typeface="Aptos" pitchFamily="34" charset="-122"/>
                <a:cs typeface="Aptos" pitchFamily="34" charset="-120"/>
              </a:rPr>
              <a:t>33%</a:t>
            </a:r>
            <a:endParaRPr lang="en-US" sz="650" dirty="0"/>
          </a:p>
        </p:txBody>
      </p:sp>
      <p:sp>
        <p:nvSpPr>
          <p:cNvPr id="23" name="Shape 20"/>
          <p:cNvSpPr/>
          <p:nvPr/>
        </p:nvSpPr>
        <p:spPr>
          <a:xfrm>
            <a:off x="2926080" y="2889504"/>
            <a:ext cx="749808" cy="274320"/>
          </a:xfrm>
          <a:prstGeom prst="roundRect">
            <a:avLst>
              <a:gd name="adj" fmla="val 26667"/>
            </a:avLst>
          </a:prstGeom>
          <a:solidFill>
            <a:srgbClr val="FFFFFF"/>
          </a:solidFill>
          <a:ln w="8890">
            <a:solidFill>
              <a:srgbClr val="D7E2EB"/>
            </a:solidFill>
            <a:prstDash val="solid"/>
          </a:ln>
        </p:spPr>
      </p:sp>
      <p:sp>
        <p:nvSpPr>
          <p:cNvPr id="24" name="Text 21"/>
          <p:cNvSpPr/>
          <p:nvPr/>
        </p:nvSpPr>
        <p:spPr>
          <a:xfrm>
            <a:off x="2926080" y="29718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673</a:t>
            </a:r>
            <a:endParaRPr lang="en-US" sz="630" dirty="0"/>
          </a:p>
        </p:txBody>
      </p:sp>
      <p:sp>
        <p:nvSpPr>
          <p:cNvPr id="25" name="Shape 22"/>
          <p:cNvSpPr/>
          <p:nvPr/>
        </p:nvSpPr>
        <p:spPr>
          <a:xfrm>
            <a:off x="4160520" y="2889504"/>
            <a:ext cx="749808" cy="274320"/>
          </a:xfrm>
          <a:prstGeom prst="roundRect">
            <a:avLst>
              <a:gd name="adj" fmla="val 26667"/>
            </a:avLst>
          </a:prstGeom>
          <a:solidFill>
            <a:srgbClr val="FFFFFF"/>
          </a:solidFill>
          <a:ln w="8890">
            <a:solidFill>
              <a:srgbClr val="D7E2EB"/>
            </a:solidFill>
            <a:prstDash val="solid"/>
          </a:ln>
        </p:spPr>
      </p:sp>
      <p:sp>
        <p:nvSpPr>
          <p:cNvPr id="26" name="Text 23"/>
          <p:cNvSpPr/>
          <p:nvPr/>
        </p:nvSpPr>
        <p:spPr>
          <a:xfrm>
            <a:off x="4160520" y="29718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730</a:t>
            </a:r>
            <a:endParaRPr lang="en-US" sz="630" dirty="0"/>
          </a:p>
        </p:txBody>
      </p:sp>
      <p:sp>
        <p:nvSpPr>
          <p:cNvPr id="27" name="Shape 24"/>
          <p:cNvSpPr/>
          <p:nvPr/>
        </p:nvSpPr>
        <p:spPr>
          <a:xfrm>
            <a:off x="5394960" y="2889504"/>
            <a:ext cx="749808" cy="274320"/>
          </a:xfrm>
          <a:prstGeom prst="roundRect">
            <a:avLst>
              <a:gd name="adj" fmla="val 26667"/>
            </a:avLst>
          </a:prstGeom>
          <a:solidFill>
            <a:srgbClr val="FFFFFF"/>
          </a:solidFill>
          <a:ln w="8890">
            <a:solidFill>
              <a:srgbClr val="D7E2EB"/>
            </a:solidFill>
            <a:prstDash val="solid"/>
          </a:ln>
        </p:spPr>
      </p:sp>
      <p:sp>
        <p:nvSpPr>
          <p:cNvPr id="28" name="Text 25"/>
          <p:cNvSpPr/>
          <p:nvPr/>
        </p:nvSpPr>
        <p:spPr>
          <a:xfrm>
            <a:off x="5394960" y="29718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768</a:t>
            </a:r>
            <a:endParaRPr lang="en-US" sz="630" dirty="0"/>
          </a:p>
        </p:txBody>
      </p:sp>
      <p:sp>
        <p:nvSpPr>
          <p:cNvPr id="29" name="Shape 26"/>
          <p:cNvSpPr/>
          <p:nvPr/>
        </p:nvSpPr>
        <p:spPr>
          <a:xfrm>
            <a:off x="6629400" y="2889504"/>
            <a:ext cx="749808" cy="274320"/>
          </a:xfrm>
          <a:prstGeom prst="roundRect">
            <a:avLst>
              <a:gd name="adj" fmla="val 26667"/>
            </a:avLst>
          </a:prstGeom>
          <a:solidFill>
            <a:srgbClr val="199BD7"/>
          </a:solidFill>
          <a:ln w="8890">
            <a:solidFill>
              <a:srgbClr val="199BD7">
                <a:alpha val="0"/>
              </a:srgbClr>
            </a:solidFill>
            <a:prstDash val="solid"/>
          </a:ln>
        </p:spPr>
      </p:sp>
      <p:sp>
        <p:nvSpPr>
          <p:cNvPr id="30" name="Text 27"/>
          <p:cNvSpPr/>
          <p:nvPr/>
        </p:nvSpPr>
        <p:spPr>
          <a:xfrm>
            <a:off x="6629400" y="2971800"/>
            <a:ext cx="749808" cy="109728"/>
          </a:xfrm>
          <a:prstGeom prst="rect">
            <a:avLst/>
          </a:prstGeom>
          <a:noFill/>
          <a:ln/>
        </p:spPr>
        <p:txBody>
          <a:bodyPr wrap="square" lIns="0" tIns="0" rIns="0" bIns="0" rtlCol="0" anchor="t">
            <a:normAutofit/>
          </a:bodyPr>
          <a:lstStyle/>
          <a:p>
            <a:pPr algn="ctr" indent="0" marL="0">
              <a:buNone/>
            </a:pPr>
            <a:r>
              <a:rPr lang="en-US" sz="630" b="1" dirty="0">
                <a:solidFill>
                  <a:srgbClr val="FFFFFF"/>
                </a:solidFill>
                <a:latin typeface="Aptos" pitchFamily="34" charset="0"/>
                <a:ea typeface="Aptos" pitchFamily="34" charset="-122"/>
                <a:cs typeface="Aptos" pitchFamily="34" charset="-120"/>
              </a:rPr>
              <a:t>806</a:t>
            </a:r>
            <a:endParaRPr lang="en-US" sz="630" dirty="0"/>
          </a:p>
        </p:txBody>
      </p:sp>
      <p:sp>
        <p:nvSpPr>
          <p:cNvPr id="31" name="Text 28"/>
          <p:cNvSpPr/>
          <p:nvPr/>
        </p:nvSpPr>
        <p:spPr>
          <a:xfrm>
            <a:off x="2011680" y="3456432"/>
            <a:ext cx="411480" cy="128016"/>
          </a:xfrm>
          <a:prstGeom prst="rect">
            <a:avLst/>
          </a:prstGeom>
          <a:noFill/>
          <a:ln/>
        </p:spPr>
        <p:txBody>
          <a:bodyPr wrap="square" lIns="0" tIns="0" rIns="0" bIns="0" rtlCol="0" anchor="t">
            <a:normAutofit/>
          </a:bodyPr>
          <a:lstStyle/>
          <a:p>
            <a:pPr algn="r" indent="0" marL="0">
              <a:buNone/>
            </a:pPr>
            <a:r>
              <a:rPr lang="en-US" sz="650" b="1" dirty="0">
                <a:solidFill>
                  <a:srgbClr val="687486"/>
                </a:solidFill>
                <a:latin typeface="Aptos" pitchFamily="34" charset="0"/>
                <a:ea typeface="Aptos" pitchFamily="34" charset="-122"/>
                <a:cs typeface="Aptos" pitchFamily="34" charset="-120"/>
              </a:rPr>
              <a:t>34%</a:t>
            </a:r>
            <a:endParaRPr lang="en-US" sz="650" dirty="0"/>
          </a:p>
        </p:txBody>
      </p:sp>
      <p:sp>
        <p:nvSpPr>
          <p:cNvPr id="32" name="Shape 29"/>
          <p:cNvSpPr/>
          <p:nvPr/>
        </p:nvSpPr>
        <p:spPr>
          <a:xfrm>
            <a:off x="2926080" y="3346704"/>
            <a:ext cx="749808" cy="274320"/>
          </a:xfrm>
          <a:prstGeom prst="roundRect">
            <a:avLst>
              <a:gd name="adj" fmla="val 26667"/>
            </a:avLst>
          </a:prstGeom>
          <a:solidFill>
            <a:srgbClr val="FFFFFF"/>
          </a:solidFill>
          <a:ln w="8890">
            <a:solidFill>
              <a:srgbClr val="D7E2EB"/>
            </a:solidFill>
            <a:prstDash val="solid"/>
          </a:ln>
        </p:spPr>
      </p:sp>
      <p:sp>
        <p:nvSpPr>
          <p:cNvPr id="33" name="Text 30"/>
          <p:cNvSpPr/>
          <p:nvPr/>
        </p:nvSpPr>
        <p:spPr>
          <a:xfrm>
            <a:off x="2926080" y="34290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693</a:t>
            </a:r>
            <a:endParaRPr lang="en-US" sz="630" dirty="0"/>
          </a:p>
        </p:txBody>
      </p:sp>
      <p:sp>
        <p:nvSpPr>
          <p:cNvPr id="34" name="Shape 31"/>
          <p:cNvSpPr/>
          <p:nvPr/>
        </p:nvSpPr>
        <p:spPr>
          <a:xfrm>
            <a:off x="4160520" y="3346704"/>
            <a:ext cx="749808" cy="274320"/>
          </a:xfrm>
          <a:prstGeom prst="roundRect">
            <a:avLst>
              <a:gd name="adj" fmla="val 26667"/>
            </a:avLst>
          </a:prstGeom>
          <a:solidFill>
            <a:srgbClr val="FFFFFF"/>
          </a:solidFill>
          <a:ln w="8890">
            <a:solidFill>
              <a:srgbClr val="D7E2EB"/>
            </a:solidFill>
            <a:prstDash val="solid"/>
          </a:ln>
        </p:spPr>
      </p:sp>
      <p:sp>
        <p:nvSpPr>
          <p:cNvPr id="35" name="Text 32"/>
          <p:cNvSpPr/>
          <p:nvPr/>
        </p:nvSpPr>
        <p:spPr>
          <a:xfrm>
            <a:off x="4160520" y="34290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752</a:t>
            </a:r>
            <a:endParaRPr lang="en-US" sz="630" dirty="0"/>
          </a:p>
        </p:txBody>
      </p:sp>
      <p:sp>
        <p:nvSpPr>
          <p:cNvPr id="36" name="Shape 33"/>
          <p:cNvSpPr/>
          <p:nvPr/>
        </p:nvSpPr>
        <p:spPr>
          <a:xfrm>
            <a:off x="5394960" y="3346704"/>
            <a:ext cx="749808" cy="274320"/>
          </a:xfrm>
          <a:prstGeom prst="roundRect">
            <a:avLst>
              <a:gd name="adj" fmla="val 26667"/>
            </a:avLst>
          </a:prstGeom>
          <a:solidFill>
            <a:srgbClr val="199BD7"/>
          </a:solidFill>
          <a:ln w="8890">
            <a:solidFill>
              <a:srgbClr val="199BD7">
                <a:alpha val="0"/>
              </a:srgbClr>
            </a:solidFill>
            <a:prstDash val="solid"/>
          </a:ln>
        </p:spPr>
      </p:sp>
      <p:sp>
        <p:nvSpPr>
          <p:cNvPr id="37" name="Text 34"/>
          <p:cNvSpPr/>
          <p:nvPr/>
        </p:nvSpPr>
        <p:spPr>
          <a:xfrm>
            <a:off x="5394960" y="3429000"/>
            <a:ext cx="749808" cy="109728"/>
          </a:xfrm>
          <a:prstGeom prst="rect">
            <a:avLst/>
          </a:prstGeom>
          <a:noFill/>
          <a:ln/>
        </p:spPr>
        <p:txBody>
          <a:bodyPr wrap="square" lIns="0" tIns="0" rIns="0" bIns="0" rtlCol="0" anchor="t">
            <a:normAutofit/>
          </a:bodyPr>
          <a:lstStyle/>
          <a:p>
            <a:pPr algn="ctr" indent="0" marL="0">
              <a:buNone/>
            </a:pPr>
            <a:r>
              <a:rPr lang="en-US" sz="630" b="1" dirty="0">
                <a:solidFill>
                  <a:srgbClr val="FFFFFF"/>
                </a:solidFill>
                <a:latin typeface="Aptos" pitchFamily="34" charset="0"/>
                <a:ea typeface="Aptos" pitchFamily="34" charset="-122"/>
                <a:cs typeface="Aptos" pitchFamily="34" charset="-120"/>
              </a:rPr>
              <a:t>793</a:t>
            </a:r>
            <a:endParaRPr lang="en-US" sz="630" dirty="0"/>
          </a:p>
        </p:txBody>
      </p:sp>
      <p:sp>
        <p:nvSpPr>
          <p:cNvPr id="38" name="Shape 35"/>
          <p:cNvSpPr/>
          <p:nvPr/>
        </p:nvSpPr>
        <p:spPr>
          <a:xfrm>
            <a:off x="6629400" y="3346704"/>
            <a:ext cx="749808" cy="274320"/>
          </a:xfrm>
          <a:prstGeom prst="roundRect">
            <a:avLst>
              <a:gd name="adj" fmla="val 26667"/>
            </a:avLst>
          </a:prstGeom>
          <a:solidFill>
            <a:srgbClr val="EAF7FD"/>
          </a:solidFill>
          <a:ln w="8890">
            <a:solidFill>
              <a:srgbClr val="EAF7FD">
                <a:alpha val="0"/>
              </a:srgbClr>
            </a:solidFill>
            <a:prstDash val="solid"/>
          </a:ln>
        </p:spPr>
      </p:sp>
      <p:sp>
        <p:nvSpPr>
          <p:cNvPr id="39" name="Text 36"/>
          <p:cNvSpPr/>
          <p:nvPr/>
        </p:nvSpPr>
        <p:spPr>
          <a:xfrm>
            <a:off x="6629400" y="3429000"/>
            <a:ext cx="749808" cy="109728"/>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833</a:t>
            </a:r>
            <a:endParaRPr lang="en-US" sz="630" dirty="0"/>
          </a:p>
        </p:txBody>
      </p:sp>
      <p:sp>
        <p:nvSpPr>
          <p:cNvPr id="40" name="Text 37"/>
          <p:cNvSpPr/>
          <p:nvPr/>
        </p:nvSpPr>
        <p:spPr>
          <a:xfrm>
            <a:off x="2011680" y="3913632"/>
            <a:ext cx="411480" cy="128016"/>
          </a:xfrm>
          <a:prstGeom prst="rect">
            <a:avLst/>
          </a:prstGeom>
          <a:noFill/>
          <a:ln/>
        </p:spPr>
        <p:txBody>
          <a:bodyPr wrap="square" lIns="0" tIns="0" rIns="0" bIns="0" rtlCol="0" anchor="t">
            <a:normAutofit/>
          </a:bodyPr>
          <a:lstStyle/>
          <a:p>
            <a:pPr algn="r" indent="0" marL="0">
              <a:buNone/>
            </a:pPr>
            <a:r>
              <a:rPr lang="en-US" sz="650" b="1" dirty="0">
                <a:solidFill>
                  <a:srgbClr val="687486"/>
                </a:solidFill>
                <a:latin typeface="Aptos" pitchFamily="34" charset="0"/>
                <a:ea typeface="Aptos" pitchFamily="34" charset="-122"/>
                <a:cs typeface="Aptos" pitchFamily="34" charset="-120"/>
              </a:rPr>
              <a:t>35%</a:t>
            </a:r>
            <a:endParaRPr lang="en-US" sz="650" dirty="0"/>
          </a:p>
        </p:txBody>
      </p:sp>
      <p:sp>
        <p:nvSpPr>
          <p:cNvPr id="41" name="Shape 38"/>
          <p:cNvSpPr/>
          <p:nvPr/>
        </p:nvSpPr>
        <p:spPr>
          <a:xfrm>
            <a:off x="2926080" y="3803904"/>
            <a:ext cx="749808" cy="274320"/>
          </a:xfrm>
          <a:prstGeom prst="roundRect">
            <a:avLst>
              <a:gd name="adj" fmla="val 26667"/>
            </a:avLst>
          </a:prstGeom>
          <a:solidFill>
            <a:srgbClr val="FFFFFF"/>
          </a:solidFill>
          <a:ln w="8890">
            <a:solidFill>
              <a:srgbClr val="D7E2EB"/>
            </a:solidFill>
            <a:prstDash val="solid"/>
          </a:ln>
        </p:spPr>
      </p:sp>
      <p:sp>
        <p:nvSpPr>
          <p:cNvPr id="42" name="Text 39"/>
          <p:cNvSpPr/>
          <p:nvPr/>
        </p:nvSpPr>
        <p:spPr>
          <a:xfrm>
            <a:off x="2926080" y="38862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714</a:t>
            </a:r>
            <a:endParaRPr lang="en-US" sz="630" dirty="0"/>
          </a:p>
        </p:txBody>
      </p:sp>
      <p:sp>
        <p:nvSpPr>
          <p:cNvPr id="43" name="Shape 40"/>
          <p:cNvSpPr/>
          <p:nvPr/>
        </p:nvSpPr>
        <p:spPr>
          <a:xfrm>
            <a:off x="4160520" y="3803904"/>
            <a:ext cx="749808" cy="274320"/>
          </a:xfrm>
          <a:prstGeom prst="roundRect">
            <a:avLst>
              <a:gd name="adj" fmla="val 26667"/>
            </a:avLst>
          </a:prstGeom>
          <a:solidFill>
            <a:srgbClr val="FFFFFF"/>
          </a:solidFill>
          <a:ln w="8890">
            <a:solidFill>
              <a:srgbClr val="D7E2EB"/>
            </a:solidFill>
            <a:prstDash val="solid"/>
          </a:ln>
        </p:spPr>
      </p:sp>
      <p:sp>
        <p:nvSpPr>
          <p:cNvPr id="44" name="Text 41"/>
          <p:cNvSpPr/>
          <p:nvPr/>
        </p:nvSpPr>
        <p:spPr>
          <a:xfrm>
            <a:off x="4160520" y="3886200"/>
            <a:ext cx="749808" cy="109728"/>
          </a:xfrm>
          <a:prstGeom prst="rect">
            <a:avLst/>
          </a:prstGeom>
          <a:noFill/>
          <a:ln/>
        </p:spPr>
        <p:txBody>
          <a:bodyPr wrap="square" lIns="0" tIns="0" rIns="0" bIns="0" rtlCol="0" anchor="t">
            <a:normAutofit/>
          </a:bodyPr>
          <a:lstStyle/>
          <a:p>
            <a:pPr algn="ctr" indent="0" marL="0">
              <a:buNone/>
            </a:pPr>
            <a:r>
              <a:rPr lang="en-US" sz="630" dirty="0">
                <a:solidFill>
                  <a:srgbClr val="17212B"/>
                </a:solidFill>
                <a:latin typeface="Aptos" pitchFamily="34" charset="0"/>
                <a:ea typeface="Aptos" pitchFamily="34" charset="-122"/>
                <a:cs typeface="Aptos" pitchFamily="34" charset="-120"/>
              </a:rPr>
              <a:t>775</a:t>
            </a:r>
            <a:endParaRPr lang="en-US" sz="630" dirty="0"/>
          </a:p>
        </p:txBody>
      </p:sp>
      <p:sp>
        <p:nvSpPr>
          <p:cNvPr id="45" name="Shape 42"/>
          <p:cNvSpPr/>
          <p:nvPr/>
        </p:nvSpPr>
        <p:spPr>
          <a:xfrm>
            <a:off x="5394960" y="3803904"/>
            <a:ext cx="749808" cy="274320"/>
          </a:xfrm>
          <a:prstGeom prst="roundRect">
            <a:avLst>
              <a:gd name="adj" fmla="val 26667"/>
            </a:avLst>
          </a:prstGeom>
          <a:solidFill>
            <a:srgbClr val="EAF7FD"/>
          </a:solidFill>
          <a:ln w="8890">
            <a:solidFill>
              <a:srgbClr val="EAF7FD">
                <a:alpha val="0"/>
              </a:srgbClr>
            </a:solidFill>
            <a:prstDash val="solid"/>
          </a:ln>
        </p:spPr>
      </p:sp>
      <p:sp>
        <p:nvSpPr>
          <p:cNvPr id="46" name="Text 43"/>
          <p:cNvSpPr/>
          <p:nvPr/>
        </p:nvSpPr>
        <p:spPr>
          <a:xfrm>
            <a:off x="5394960" y="3886200"/>
            <a:ext cx="749808" cy="109728"/>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817</a:t>
            </a:r>
            <a:endParaRPr lang="en-US" sz="630" dirty="0"/>
          </a:p>
        </p:txBody>
      </p:sp>
      <p:sp>
        <p:nvSpPr>
          <p:cNvPr id="47" name="Shape 44"/>
          <p:cNvSpPr/>
          <p:nvPr/>
        </p:nvSpPr>
        <p:spPr>
          <a:xfrm>
            <a:off x="6629400" y="3803904"/>
            <a:ext cx="749808" cy="274320"/>
          </a:xfrm>
          <a:prstGeom prst="roundRect">
            <a:avLst>
              <a:gd name="adj" fmla="val 26667"/>
            </a:avLst>
          </a:prstGeom>
          <a:solidFill>
            <a:srgbClr val="EAF7FD"/>
          </a:solidFill>
          <a:ln w="8890">
            <a:solidFill>
              <a:srgbClr val="EAF7FD">
                <a:alpha val="0"/>
              </a:srgbClr>
            </a:solidFill>
            <a:prstDash val="solid"/>
          </a:ln>
        </p:spPr>
      </p:sp>
      <p:sp>
        <p:nvSpPr>
          <p:cNvPr id="48" name="Text 45"/>
          <p:cNvSpPr/>
          <p:nvPr/>
        </p:nvSpPr>
        <p:spPr>
          <a:xfrm>
            <a:off x="6629400" y="3886200"/>
            <a:ext cx="749808" cy="109728"/>
          </a:xfrm>
          <a:prstGeom prst="rect">
            <a:avLst/>
          </a:prstGeom>
          <a:noFill/>
          <a:ln/>
        </p:spPr>
        <p:txBody>
          <a:bodyPr wrap="square" lIns="0" tIns="0" rIns="0" bIns="0" rtlCol="0" anchor="t">
            <a:normAutofit/>
          </a:bodyPr>
          <a:lstStyle/>
          <a:p>
            <a:pPr algn="ctr" indent="0" marL="0">
              <a:buNone/>
            </a:pPr>
            <a:r>
              <a:rPr lang="en-US" sz="630" b="1" dirty="0">
                <a:solidFill>
                  <a:srgbClr val="17212B"/>
                </a:solidFill>
                <a:latin typeface="Aptos" pitchFamily="34" charset="0"/>
                <a:ea typeface="Aptos" pitchFamily="34" charset="-122"/>
                <a:cs typeface="Aptos" pitchFamily="34" charset="-120"/>
              </a:rPr>
              <a:t>859</a:t>
            </a:r>
            <a:endParaRPr lang="en-US" sz="630" dirty="0"/>
          </a:p>
        </p:txBody>
      </p:sp>
      <p:sp>
        <p:nvSpPr>
          <p:cNvPr id="49" name="Text 46"/>
          <p:cNvSpPr/>
          <p:nvPr/>
        </p:nvSpPr>
        <p:spPr>
          <a:xfrm rot="16200000">
            <a:off x="1417320" y="2999232"/>
            <a:ext cx="201168" cy="914400"/>
          </a:xfrm>
          <a:prstGeom prst="rect">
            <a:avLst/>
          </a:prstGeom>
          <a:noFill/>
          <a:ln/>
        </p:spPr>
        <p:txBody>
          <a:bodyPr wrap="square" lIns="0" tIns="0" rIns="0" bIns="0" rtlCol="0" anchor="t">
            <a:normAutofit/>
          </a:bodyPr>
          <a:lstStyle/>
          <a:p>
            <a:pPr algn="ctr" indent="0" marL="0">
              <a:buNone/>
            </a:pPr>
            <a:r>
              <a:rPr lang="en-US" sz="650" b="1" dirty="0">
                <a:solidFill>
                  <a:srgbClr val="687486"/>
                </a:solidFill>
                <a:latin typeface="Aptos" pitchFamily="34" charset="0"/>
                <a:ea typeface="Aptos" pitchFamily="34" charset="-122"/>
                <a:cs typeface="Aptos" pitchFamily="34" charset="-120"/>
              </a:rPr>
              <a:t>FY28E EBITDA margin</a:t>
            </a:r>
            <a:endParaRPr lang="en-US" sz="650" dirty="0"/>
          </a:p>
        </p:txBody>
      </p:sp>
      <p:sp>
        <p:nvSpPr>
          <p:cNvPr id="50" name="Shape 47"/>
          <p:cNvSpPr/>
          <p:nvPr/>
        </p:nvSpPr>
        <p:spPr>
          <a:xfrm>
            <a:off x="960120" y="4892040"/>
            <a:ext cx="10195560" cy="566928"/>
          </a:xfrm>
          <a:prstGeom prst="roundRect">
            <a:avLst>
              <a:gd name="adj" fmla="val 12903"/>
            </a:avLst>
          </a:prstGeom>
          <a:solidFill>
            <a:srgbClr val="F7FAFC"/>
          </a:solidFill>
          <a:ln w="8890">
            <a:solidFill>
              <a:srgbClr val="D7E2EB"/>
            </a:solidFill>
            <a:prstDash val="solid"/>
          </a:ln>
        </p:spPr>
      </p:sp>
      <p:sp>
        <p:nvSpPr>
          <p:cNvPr id="51" name="Text 48"/>
          <p:cNvSpPr/>
          <p:nvPr/>
        </p:nvSpPr>
        <p:spPr>
          <a:xfrm>
            <a:off x="1234440" y="5074920"/>
            <a:ext cx="9692640" cy="164592"/>
          </a:xfrm>
          <a:prstGeom prst="rect">
            <a:avLst/>
          </a:prstGeom>
          <a:noFill/>
          <a:ln/>
        </p:spPr>
        <p:txBody>
          <a:bodyPr wrap="square" lIns="0" tIns="0" rIns="0" bIns="0" rtlCol="0" anchor="t">
            <a:normAutofit/>
          </a:bodyPr>
          <a:lstStyle/>
          <a:p>
            <a:pPr algn="ctr" indent="0" marL="0">
              <a:buNone/>
            </a:pPr>
            <a:r>
              <a:rPr lang="en-US" sz="810" b="1" dirty="0">
                <a:solidFill>
                  <a:srgbClr val="17212B"/>
                </a:solidFill>
                <a:latin typeface="Aptos" pitchFamily="34" charset="0"/>
                <a:ea typeface="Aptos" pitchFamily="34" charset="-122"/>
                <a:cs typeface="Aptos" pitchFamily="34" charset="-120"/>
              </a:rPr>
              <a:t>CHF800 is not a mechanical output. It requires a credible FY28 revenue base, margins around the mid-30s and a premium multiple justified by scarcity, share and backlog visibility.</a:t>
            </a:r>
            <a:endParaRPr lang="en-US" sz="810" dirty="0"/>
          </a:p>
        </p:txBody>
      </p:sp>
      <p:sp>
        <p:nvSpPr>
          <p:cNvPr id="52" name="Shape 49"/>
          <p:cNvSpPr/>
          <p:nvPr/>
        </p:nvSpPr>
        <p:spPr>
          <a:xfrm>
            <a:off x="420624" y="6419088"/>
            <a:ext cx="11338560" cy="0"/>
          </a:xfrm>
          <a:prstGeom prst="line">
            <a:avLst/>
          </a:prstGeom>
          <a:noFill/>
          <a:ln w="7620">
            <a:solidFill>
              <a:srgbClr val="D7E2EB"/>
            </a:solidFill>
            <a:prstDash val="solid"/>
            <a:headEnd type="none"/>
            <a:tailEnd type="none"/>
          </a:ln>
        </p:spPr>
      </p:sp>
      <p:sp>
        <p:nvSpPr>
          <p:cNvPr id="53" name="Text 50"/>
          <p:cNvSpPr/>
          <p:nvPr/>
        </p:nvSpPr>
        <p:spPr>
          <a:xfrm>
            <a:off x="420624" y="6510528"/>
            <a:ext cx="10652760" cy="201168"/>
          </a:xfrm>
          <a:prstGeom prst="rect">
            <a:avLst/>
          </a:prstGeom>
          <a:noFill/>
          <a:ln/>
        </p:spPr>
        <p:txBody>
          <a:bodyPr wrap="square" lIns="0" tIns="0" rIns="0" bIns="0" rtlCol="0" anchor="t">
            <a:normAutofit/>
          </a:bodyPr>
          <a:lstStyle/>
          <a:p>
            <a:pPr algn="l" indent="0" marL="0">
              <a:buNone/>
            </a:pPr>
            <a:r>
              <a:rPr lang="en-US" sz="540" dirty="0">
                <a:solidFill>
                  <a:srgbClr val="687486"/>
                </a:solidFill>
                <a:latin typeface="Aptos" pitchFamily="34" charset="0"/>
                <a:ea typeface="Aptos" pitchFamily="34" charset="-122"/>
                <a:cs typeface="Aptos" pitchFamily="34" charset="-120"/>
              </a:rPr>
              <a:t>Source: Analyst estimates.</a:t>
            </a:r>
            <a:endParaRPr lang="en-US" sz="540" dirty="0"/>
          </a:p>
        </p:txBody>
      </p:sp>
      <p:sp>
        <p:nvSpPr>
          <p:cNvPr id="54" name="Text 51"/>
          <p:cNvSpPr/>
          <p:nvPr/>
        </p:nvSpPr>
        <p:spPr>
          <a:xfrm>
            <a:off x="11539728" y="6492240"/>
            <a:ext cx="256032" cy="201168"/>
          </a:xfrm>
          <a:prstGeom prst="rect">
            <a:avLst/>
          </a:prstGeom>
          <a:noFill/>
          <a:ln/>
        </p:spPr>
        <p:txBody>
          <a:bodyPr wrap="square" lIns="0" tIns="0" rIns="0" bIns="0" rtlCol="0" anchor="t">
            <a:normAutofit/>
          </a:bodyPr>
          <a:lstStyle/>
          <a:p>
            <a:pPr algn="r" indent="0" marL="0">
              <a:buNone/>
            </a:pPr>
            <a:r>
              <a:rPr lang="en-US" sz="550" dirty="0">
                <a:solidFill>
                  <a:srgbClr val="687486"/>
                </a:solidFill>
                <a:latin typeface="Aptos" pitchFamily="34" charset="0"/>
                <a:ea typeface="Aptos" pitchFamily="34" charset="-122"/>
                <a:cs typeface="Aptos" pitchFamily="34" charset="-120"/>
              </a:rPr>
              <a:t>18</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Group AG - Premium Institutional Stock Pitch</dc:title>
  <dc:subject>VAT Group AG institutional stock pitch</dc:subject>
  <dc:creator>OpenAI</dc:creator>
  <cp:lastModifiedBy>OpenAI</cp:lastModifiedBy>
  <cp:revision>1</cp:revision>
  <dcterms:created xsi:type="dcterms:W3CDTF">2026-08-10T06:11:19Z</dcterms:created>
  <dcterms:modified xsi:type="dcterms:W3CDTF">2026-08-10T06:11:19Z</dcterms:modified>
</cp:coreProperties>
</file>