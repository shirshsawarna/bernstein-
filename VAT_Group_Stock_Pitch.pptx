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VAT is a Buy because the debate is not whether it is a quality company; it is whether backlog and vacuum-intensity can still drive upgrades after the AI rerating.
SCRIPT: The pitch is VAT Group, listed in Switzerland. The investment framing is simple: VAT is the dominant supplier of vacuum valves used inside semiconductor manufacturing tools. Those valves are not a commodity. They sit inside process chambers where contamination or pressure instability can destroy yield. The stock has already rerated on AI and WFE upgrades, so the question is not quality. The question is whether the order surge, factory ramp and increasing vacuum intensity create further earnings upgrades. My answer is yes. At CHF 602, I recommend Buy with a CHF 740 target, roughly 23% upside.
TRANSITION: To make that view credible, I will start with the 60-second thesis, then build the industry and company logic from first principles.
LIKELY QUESTION: Is this just chasing an AI-related stock after it has already doubled?
ANSWER: That is the bear case. The Buy case depends on 2026-27 consensus still being too low because H1 orders and backlog imply a faster revenue ramp than the market was underwriting earlier in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The entire recommendation is a tension between a great company and a demanding valuation; the positive call requires upgrade risk, not just quality.
SCRIPT: The investment thesis has three parts. First, VAT is the dominant bottleneck supplier. Its valves are a small part of tool cost, but a large part of process reliability, so customers optimize for yield and qualification certainty rather than lowest price. Second, VAT should structurally outgrow WFE because leading-edge nodes and HBM require more deposition, etch, vacuum chambers and integrated modules. Third, the near-term setup has changed. H1 orders were CHF 856 million, backlog was CHF 648 million, and management is adding capacity to reach over CHF 450 million of quarterly factory output by year-end. The market concern is that this is peak-cycle demand and margins are under pressure. My variant view is that revenue conversion and operating leverage are still ahead of estimates.
TRANSITION: Now I will step back and explain how AI demand physically reaches VAT.
LIKELY QUESTION: What exactly is the forecast line where you differ from consensus?
ANSWER: I am above consensus on 2027 revenue and EBITDA, primarily on faster backlog conversion and higher exit-rate capacity. I am not assuming a materially higher long-term market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VAT is several layers removed from AI end demand, but the economic linkage is direct through WFE spending.
SCRIPT: Start with the basics. A semiconductor chip is a silicon device containing billions of microscopic switches. Logic chips calculate. Memory chips store data; HBM is stacked memory designed to feed AI processors quickly. Nvidia or Apple may design a chip, but foundries and memory manufacturers such as TSMC, Samsung, Intel, Micron and SK Hynix physically manufacture it. To do that, they buy equipment from ASML, Applied Materials, Lam, Tokyo Electron and KLA. VAT supplies the vacuum valves and modules inside many of those tools. Therefore, when AI demand forces more advanced fab capacity, VAT participates through the equipment chain.
TRANSITION: The next question is why that equipment needs vacuum in the first place.
LIKELY QUESTION: Is VAT exposed to semiconductor unit demand or capex demand?
ANSWER: Primarily capex and tool build demand, plus service revenue from the installed base. It is less directly tied to consumer electronics sell-through than chipmakers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Vacuum demand is not cosmetic; it is a yield-enabling process requirement.
SCRIPT: Chip manufacturing is a repeated loop. A wafer is coated, patterned, etched, cleaned, inspected and then the loop repeats many times to build layers of circuitry. Vacuum matters because ordinary air is uncontrolled. It contains molecules, water vapor and particles that would contaminate the wafer or destabilize the chemistry. In deposition and etch, process gases must be introduced and removed precisely; pressure stability drives film thickness, etch rate and yield. The healthcare analogy is useful: the chamber is like a sterile isolator, and the VAT valve is the validated flow-control component. It is inexpensive compared with the total tool, but failure can compromise output.
TRANSITION: With that, we can define what VAT actually sells.
LIKELY QUESTION: Is vacuum needed only in a few exotic steps?
ANSWER: No. It is especially important in deposition and etch, and the share of vacuum-related WFE increases as nodes get more complex and more layers are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VAT is best understood as a high-precision installed-base business, not a generic valve company.
SCRIPT: VAT sells several categories of valves and modules. Control valves stabilize chamber pressure; isolation valves separate process zones; gate and transfer valves move wafers; gas-inlet valves meter gases; modules and motion components increase VAT content per tool. The commercial model starts with a new equipment sale, but then the installed base creates service, spares, repairs, upgrades and consumables. This is important because Global Service revenue grows with fab utilization and tends to be more recurring than new tool shipments. In 2025, VAT reported 67% semiconductor market exposure, 19% Global Service and 14% Advanced Industrials, with more than 80% semiconductor-related when service is included.
TRANSITION: The next slide explains why customers do not simply substitute the component.
LIKELY QUESTION: Is the service business large enough to matter?
ANSWER: Yes. Global Service was 18% of 2025 net sales by business segment and 19% by market segment, and H1 2026 service sales grew 17% year on year while new Valves sales were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The defensibility is a system-level switching cost rather than legal monopoly protection.
SCRIPT: VAT’s share is not explained by price. The semiconductor customer cares about process yield, uptime and qualification risk. VAT has roughly 71% share in semi-related vacuum valves and more than 90% share in selected leading-edge applications. It is specified into tool platforms through multi-year qualification and co-development with equipment OEMs. The valve may represent only 1-2% of the tool bill of materials, but a failure can cause chamber downtime, wafer scrap or tool-release delay. That asymmetry is why OEMs are reluctant to requalify an alternative supplier simply to save component cost.
TRANSITION: The moat matters because it lets VAT participate in structural growth rather than only a cycle.
LIKELY QUESTION: Can Lam, Applied Materials or ASML insource this?
ANSWER: They can build many subsystems, but internalizing VAT-like valves would divert engineering attention, require years of qualification and add supply-chain risk. The economic payoff is small relative to process and release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The growth algorithm is not just semiconductor capex; it is mix-adjusted WFE plus content expansion.
SCRIPT: The revenue equation is WFE growth multiplied by vacuum intensity, multiplied by VAT share and content per tool, plus installed-base service. The most important piece is vacuum intensity. AI drives leading-edge logic, HBM and DRAM investment; GAA and advanced memory structures increase process complexity; deposition and etch chambers become more important; and integrated tool designs create more opportunities for modules and motion components. The cycle matters, but structurally, VAT can grow faster than WFE when the WFE mix shifts toward vacuum-related steps. That is the core reason a component supplier can deserve a premium multiple.
TRANSITION: Now the question is whether the current setup already discounts that growth.
LIKELY QUESTION: Why should VAT grow faster than WFE rather than just in line with it?
ANSWER: Because its addressable content rises when the WFE mix shifts to deposition, etch, advanced chambers and modules. It is an intensity story, not simply a unit-share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The current stock pitch is really an estimate-revision pitch, driven by backlog and capacity.
SCRIPT: This slide shows why the setup matters. Order intake troughed in 2023, recovered in 2024 and 2025, and then accelerated sharply in H1 2026 to CHF 856 million. Backlog reached CHF 648 million, more than double H1 2025. The book-to-bill was approximately 1.7 times. Sales have lagged orders because capacity is catching up, not because demand is absent. The bear view is that orders are peak-cycle and the capacity ramp pressures margins. The Buy view is that by year-end VAT targets a factory run-rate above CHF 450 million per quarter, which materially improves revenue visibility for 2027. The debate is therefore estimate risk: if the backlog converts, consensus revenue and EBITDA are biased upward.
TRANSITION: That leads directly to valuation and the recommendation.
LIKELY QUESTION: How do you know orders are not double orders?
ANSWER: You cannot rule it out. The offset is that VAT serves qualified tool platforms, H1 backlog is high, management guides continued strong trends into 2027, and service/utilization indicators corroborate real fab demand. Cancellation terms and order quality remain diligence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Valuation is the main constraint, but the base case still offers acceptable upside if 2027 earnings rise.
SCRIPT: VAT is not optically cheap. At the current price, the market cap is about CHF 18.1 billion and the stock trades around the high-20s on 2027 EBITDA using visible consensus. My base target is CHF 740. This assumes a premium multiple on 2027 EBITDA, reflecting dominant market share, high margins and structural outgrowth, but it is not a cheap-multiple call. The catalysts over the next two to six months are concrete: Q3 2026 sales and orders, potential review of 2027 guidance, evidence of H2 margin recovery and proof that the factory run-rate is moving toward the target. The risk is clear: if orders are double-booked, WFE rolls over, China worsens or the capacity ramp dilutes margins, the thesis breaks.
TRANSITION: I will now move to the appendix for deeper support and Q&amp;A.
LIKELY QUESTION: What would make you change the recommendation?
ANSWER: I would change it if book-to-bill falls below 1x without service strength, backlog quality deteriorates, guidance fails to move upward despite the capacity ramp, or margin recovery does not show up in H2.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858000" y="1143000"/>
            <a:ext cx="0" cy="4389120"/>
          </a:xfrm>
          <a:prstGeom prst="line">
            <a:avLst/>
          </a:prstGeom>
          <a:noFill/>
          <a:ln w="6350">
            <a:solidFill>
              <a:srgbClr val="DDE6EC">
                <a:alpha val="90000"/>
              </a:srgbClr>
            </a:solidFill>
            <a:prstDash val="solid"/>
          </a:ln>
        </p:spPr>
      </p:sp>
      <p:sp>
        <p:nvSpPr>
          <p:cNvPr id="3" name="Shape 1"/>
          <p:cNvSpPr/>
          <p:nvPr/>
        </p:nvSpPr>
        <p:spPr>
          <a:xfrm>
            <a:off x="7269480" y="1143000"/>
            <a:ext cx="0" cy="4389120"/>
          </a:xfrm>
          <a:prstGeom prst="line">
            <a:avLst/>
          </a:prstGeom>
          <a:noFill/>
          <a:ln w="6350">
            <a:solidFill>
              <a:srgbClr val="DDE6EC">
                <a:alpha val="90000"/>
              </a:srgbClr>
            </a:solidFill>
            <a:prstDash val="solid"/>
          </a:ln>
        </p:spPr>
      </p:sp>
      <p:sp>
        <p:nvSpPr>
          <p:cNvPr id="4" name="Shape 2"/>
          <p:cNvSpPr/>
          <p:nvPr/>
        </p:nvSpPr>
        <p:spPr>
          <a:xfrm>
            <a:off x="7680960" y="1143000"/>
            <a:ext cx="0" cy="4389120"/>
          </a:xfrm>
          <a:prstGeom prst="line">
            <a:avLst/>
          </a:prstGeom>
          <a:noFill/>
          <a:ln w="6350">
            <a:solidFill>
              <a:srgbClr val="DDE6EC">
                <a:alpha val="90000"/>
              </a:srgbClr>
            </a:solidFill>
            <a:prstDash val="solid"/>
          </a:ln>
        </p:spPr>
      </p:sp>
      <p:sp>
        <p:nvSpPr>
          <p:cNvPr id="5" name="Shape 3"/>
          <p:cNvSpPr/>
          <p:nvPr/>
        </p:nvSpPr>
        <p:spPr>
          <a:xfrm>
            <a:off x="8092440" y="1143000"/>
            <a:ext cx="0" cy="4389120"/>
          </a:xfrm>
          <a:prstGeom prst="line">
            <a:avLst/>
          </a:prstGeom>
          <a:noFill/>
          <a:ln w="6350">
            <a:solidFill>
              <a:srgbClr val="DDE6EC">
                <a:alpha val="90000"/>
              </a:srgbClr>
            </a:solidFill>
            <a:prstDash val="solid"/>
          </a:ln>
        </p:spPr>
      </p:sp>
      <p:sp>
        <p:nvSpPr>
          <p:cNvPr id="6" name="Shape 4"/>
          <p:cNvSpPr/>
          <p:nvPr/>
        </p:nvSpPr>
        <p:spPr>
          <a:xfrm>
            <a:off x="8503920" y="1143000"/>
            <a:ext cx="0" cy="4389120"/>
          </a:xfrm>
          <a:prstGeom prst="line">
            <a:avLst/>
          </a:prstGeom>
          <a:noFill/>
          <a:ln w="6350">
            <a:solidFill>
              <a:srgbClr val="DDE6EC">
                <a:alpha val="90000"/>
              </a:srgbClr>
            </a:solidFill>
            <a:prstDash val="solid"/>
          </a:ln>
        </p:spPr>
      </p:sp>
      <p:sp>
        <p:nvSpPr>
          <p:cNvPr id="7" name="Shape 5"/>
          <p:cNvSpPr/>
          <p:nvPr/>
        </p:nvSpPr>
        <p:spPr>
          <a:xfrm>
            <a:off x="8915400" y="1143000"/>
            <a:ext cx="0" cy="4389120"/>
          </a:xfrm>
          <a:prstGeom prst="line">
            <a:avLst/>
          </a:prstGeom>
          <a:noFill/>
          <a:ln w="6350">
            <a:solidFill>
              <a:srgbClr val="DDE6EC">
                <a:alpha val="90000"/>
              </a:srgbClr>
            </a:solidFill>
            <a:prstDash val="solid"/>
          </a:ln>
        </p:spPr>
      </p:sp>
      <p:sp>
        <p:nvSpPr>
          <p:cNvPr id="8" name="Shape 6"/>
          <p:cNvSpPr/>
          <p:nvPr/>
        </p:nvSpPr>
        <p:spPr>
          <a:xfrm>
            <a:off x="9326880" y="1143000"/>
            <a:ext cx="0" cy="4389120"/>
          </a:xfrm>
          <a:prstGeom prst="line">
            <a:avLst/>
          </a:prstGeom>
          <a:noFill/>
          <a:ln w="6350">
            <a:solidFill>
              <a:srgbClr val="DDE6EC">
                <a:alpha val="90000"/>
              </a:srgbClr>
            </a:solidFill>
            <a:prstDash val="solid"/>
          </a:ln>
        </p:spPr>
      </p:sp>
      <p:sp>
        <p:nvSpPr>
          <p:cNvPr id="9" name="Shape 7"/>
          <p:cNvSpPr/>
          <p:nvPr/>
        </p:nvSpPr>
        <p:spPr>
          <a:xfrm>
            <a:off x="9738360" y="1143000"/>
            <a:ext cx="0" cy="4389120"/>
          </a:xfrm>
          <a:prstGeom prst="line">
            <a:avLst/>
          </a:prstGeom>
          <a:noFill/>
          <a:ln w="6350">
            <a:solidFill>
              <a:srgbClr val="DDE6EC">
                <a:alpha val="90000"/>
              </a:srgbClr>
            </a:solidFill>
            <a:prstDash val="solid"/>
          </a:ln>
        </p:spPr>
      </p:sp>
      <p:sp>
        <p:nvSpPr>
          <p:cNvPr id="10" name="Shape 8"/>
          <p:cNvSpPr/>
          <p:nvPr/>
        </p:nvSpPr>
        <p:spPr>
          <a:xfrm>
            <a:off x="10149840" y="1143000"/>
            <a:ext cx="0" cy="4389120"/>
          </a:xfrm>
          <a:prstGeom prst="line">
            <a:avLst/>
          </a:prstGeom>
          <a:noFill/>
          <a:ln w="6350">
            <a:solidFill>
              <a:srgbClr val="DDE6EC">
                <a:alpha val="90000"/>
              </a:srgbClr>
            </a:solidFill>
            <a:prstDash val="solid"/>
          </a:ln>
        </p:spPr>
      </p:sp>
      <p:sp>
        <p:nvSpPr>
          <p:cNvPr id="11" name="Shape 9"/>
          <p:cNvSpPr/>
          <p:nvPr/>
        </p:nvSpPr>
        <p:spPr>
          <a:xfrm>
            <a:off x="6583680" y="1325880"/>
            <a:ext cx="4389120" cy="0"/>
          </a:xfrm>
          <a:prstGeom prst="line">
            <a:avLst/>
          </a:prstGeom>
          <a:noFill/>
          <a:ln w="6350">
            <a:solidFill>
              <a:srgbClr val="DDE6EC">
                <a:alpha val="90000"/>
              </a:srgbClr>
            </a:solidFill>
            <a:prstDash val="solid"/>
          </a:ln>
        </p:spPr>
      </p:sp>
      <p:sp>
        <p:nvSpPr>
          <p:cNvPr id="12" name="Shape 10"/>
          <p:cNvSpPr/>
          <p:nvPr/>
        </p:nvSpPr>
        <p:spPr>
          <a:xfrm>
            <a:off x="6583680" y="1828800"/>
            <a:ext cx="4389120" cy="0"/>
          </a:xfrm>
          <a:prstGeom prst="line">
            <a:avLst/>
          </a:prstGeom>
          <a:noFill/>
          <a:ln w="6350">
            <a:solidFill>
              <a:srgbClr val="DDE6EC">
                <a:alpha val="90000"/>
              </a:srgbClr>
            </a:solidFill>
            <a:prstDash val="solid"/>
          </a:ln>
        </p:spPr>
      </p:sp>
      <p:sp>
        <p:nvSpPr>
          <p:cNvPr id="13" name="Shape 11"/>
          <p:cNvSpPr/>
          <p:nvPr/>
        </p:nvSpPr>
        <p:spPr>
          <a:xfrm>
            <a:off x="6583680" y="2331720"/>
            <a:ext cx="4389120" cy="0"/>
          </a:xfrm>
          <a:prstGeom prst="line">
            <a:avLst/>
          </a:prstGeom>
          <a:noFill/>
          <a:ln w="6350">
            <a:solidFill>
              <a:srgbClr val="DDE6EC">
                <a:alpha val="90000"/>
              </a:srgbClr>
            </a:solidFill>
            <a:prstDash val="solid"/>
          </a:ln>
        </p:spPr>
      </p:sp>
      <p:sp>
        <p:nvSpPr>
          <p:cNvPr id="14" name="Shape 12"/>
          <p:cNvSpPr/>
          <p:nvPr/>
        </p:nvSpPr>
        <p:spPr>
          <a:xfrm>
            <a:off x="6583680" y="2834640"/>
            <a:ext cx="4389120" cy="0"/>
          </a:xfrm>
          <a:prstGeom prst="line">
            <a:avLst/>
          </a:prstGeom>
          <a:noFill/>
          <a:ln w="6350">
            <a:solidFill>
              <a:srgbClr val="DDE6EC">
                <a:alpha val="90000"/>
              </a:srgbClr>
            </a:solidFill>
            <a:prstDash val="solid"/>
          </a:ln>
        </p:spPr>
      </p:sp>
      <p:sp>
        <p:nvSpPr>
          <p:cNvPr id="15" name="Shape 13"/>
          <p:cNvSpPr/>
          <p:nvPr/>
        </p:nvSpPr>
        <p:spPr>
          <a:xfrm>
            <a:off x="6583680" y="3337560"/>
            <a:ext cx="4389120" cy="0"/>
          </a:xfrm>
          <a:prstGeom prst="line">
            <a:avLst/>
          </a:prstGeom>
          <a:noFill/>
          <a:ln w="6350">
            <a:solidFill>
              <a:srgbClr val="DDE6EC">
                <a:alpha val="90000"/>
              </a:srgbClr>
            </a:solidFill>
            <a:prstDash val="solid"/>
          </a:ln>
        </p:spPr>
      </p:sp>
      <p:sp>
        <p:nvSpPr>
          <p:cNvPr id="16" name="Shape 14"/>
          <p:cNvSpPr/>
          <p:nvPr/>
        </p:nvSpPr>
        <p:spPr>
          <a:xfrm>
            <a:off x="6583680" y="3840480"/>
            <a:ext cx="4389120" cy="0"/>
          </a:xfrm>
          <a:prstGeom prst="line">
            <a:avLst/>
          </a:prstGeom>
          <a:noFill/>
          <a:ln w="6350">
            <a:solidFill>
              <a:srgbClr val="DDE6EC">
                <a:alpha val="90000"/>
              </a:srgbClr>
            </a:solidFill>
            <a:prstDash val="solid"/>
          </a:ln>
        </p:spPr>
      </p:sp>
      <p:sp>
        <p:nvSpPr>
          <p:cNvPr id="17" name="Shape 15"/>
          <p:cNvSpPr/>
          <p:nvPr/>
        </p:nvSpPr>
        <p:spPr>
          <a:xfrm>
            <a:off x="6583680" y="4343400"/>
            <a:ext cx="4389120" cy="0"/>
          </a:xfrm>
          <a:prstGeom prst="line">
            <a:avLst/>
          </a:prstGeom>
          <a:noFill/>
          <a:ln w="6350">
            <a:solidFill>
              <a:srgbClr val="DDE6EC">
                <a:alpha val="90000"/>
              </a:srgbClr>
            </a:solidFill>
            <a:prstDash val="solid"/>
          </a:ln>
        </p:spPr>
      </p:sp>
      <p:sp>
        <p:nvSpPr>
          <p:cNvPr id="18" name="Shape 16"/>
          <p:cNvSpPr/>
          <p:nvPr/>
        </p:nvSpPr>
        <p:spPr>
          <a:xfrm>
            <a:off x="7680960" y="1554480"/>
            <a:ext cx="2743200" cy="2743200"/>
          </a:xfrm>
          <a:prstGeom prst="roundRect">
            <a:avLst>
              <a:gd name="adj" fmla="val 2667"/>
            </a:avLst>
          </a:prstGeom>
          <a:solidFill>
            <a:srgbClr val="FFFFFF">
              <a:alpha val="85000"/>
            </a:srgbClr>
          </a:solidFill>
          <a:ln w="12700">
            <a:solidFill>
              <a:srgbClr val="C8D5DE"/>
            </a:solidFill>
            <a:prstDash val="solid"/>
          </a:ln>
        </p:spPr>
      </p:sp>
      <p:sp>
        <p:nvSpPr>
          <p:cNvPr id="19" name="Text 17"/>
          <p:cNvSpPr/>
          <p:nvPr/>
        </p:nvSpPr>
        <p:spPr>
          <a:xfrm>
            <a:off x="8138160" y="2267712"/>
            <a:ext cx="1828800" cy="594360"/>
          </a:xfrm>
          <a:prstGeom prst="rect">
            <a:avLst/>
          </a:prstGeom>
          <a:noFill/>
          <a:ln/>
        </p:spPr>
        <p:txBody>
          <a:bodyPr wrap="square" lIns="0" tIns="0" rIns="0" bIns="0" rtlCol="0" anchor="ctr"/>
          <a:lstStyle/>
          <a:p>
            <a:pPr algn="ctr" indent="0" marL="0">
              <a:buNone/>
            </a:pPr>
            <a:r>
              <a:rPr lang="en-US" sz="1400" b="1" dirty="0">
                <a:solidFill>
                  <a:srgbClr val="2A9D8F"/>
                </a:solidFill>
              </a:rPr>
              <a:t>VACUUM</a:t>
            </a:r>
            <a:endParaRPr lang="en-US" sz="1400" dirty="0"/>
          </a:p>
          <a:p>
            <a:pPr algn="ctr" indent="0" marL="0">
              <a:buNone/>
            </a:pPr>
            <a:r>
              <a:rPr lang="en-US" sz="1400" b="1" dirty="0">
                <a:solidFill>
                  <a:srgbClr val="2A9D8F"/>
                </a:solidFill>
              </a:rPr>
              <a:t>PROCESS</a:t>
            </a:r>
            <a:endParaRPr lang="en-US" sz="1400" dirty="0"/>
          </a:p>
          <a:p>
            <a:pPr algn="ctr" indent="0" marL="0">
              <a:buNone/>
            </a:pPr>
            <a:r>
              <a:rPr lang="en-US" sz="1400" b="1" dirty="0">
                <a:solidFill>
                  <a:srgbClr val="2A9D8F"/>
                </a:solidFill>
              </a:rPr>
              <a:t>CONTROL</a:t>
            </a:r>
            <a:endParaRPr lang="en-US" sz="1400" dirty="0"/>
          </a:p>
        </p:txBody>
      </p:sp>
      <p:sp>
        <p:nvSpPr>
          <p:cNvPr id="20" name="Shape 18"/>
          <p:cNvSpPr/>
          <p:nvPr/>
        </p:nvSpPr>
        <p:spPr>
          <a:xfrm>
            <a:off x="7973568" y="1847088"/>
            <a:ext cx="2148840" cy="2148840"/>
          </a:xfrm>
          <a:prstGeom prst="arc">
            <a:avLst/>
          </a:prstGeom>
          <a:noFill/>
          <a:ln w="25400">
            <a:solidFill>
              <a:srgbClr val="2A9D8F"/>
            </a:solidFill>
            <a:prstDash val="solid"/>
          </a:ln>
        </p:spPr>
      </p:sp>
      <p:sp>
        <p:nvSpPr>
          <p:cNvPr id="21" name="Text 19"/>
          <p:cNvSpPr/>
          <p:nvPr/>
        </p:nvSpPr>
        <p:spPr>
          <a:xfrm>
            <a:off x="594360" y="685800"/>
            <a:ext cx="6126480" cy="713232"/>
          </a:xfrm>
          <a:prstGeom prst="rect">
            <a:avLst/>
          </a:prstGeom>
          <a:noFill/>
          <a:ln/>
        </p:spPr>
        <p:txBody>
          <a:bodyPr wrap="square" lIns="0" tIns="0" rIns="0" bIns="0" rtlCol="0" anchor="ctr">
            <a:normAutofit/>
          </a:bodyPr>
          <a:lstStyle/>
          <a:p>
            <a:pPr indent="0" marL="0">
              <a:buNone/>
            </a:pPr>
            <a:r>
              <a:rPr lang="en-US" sz="2400" b="1" dirty="0">
                <a:solidFill>
                  <a:srgbClr val="12202F"/>
                </a:solidFill>
                <a:latin typeface="Aptos Display" pitchFamily="34" charset="0"/>
                <a:ea typeface="Aptos Display" pitchFamily="34" charset="-122"/>
                <a:cs typeface="Aptos Display" pitchFamily="34" charset="-120"/>
              </a:rPr>
              <a:t>VAT Group: the hidden toll booth on atomic-scale manufacturing</a:t>
            </a:r>
            <a:endParaRPr lang="en-US" sz="2400" dirty="0"/>
          </a:p>
        </p:txBody>
      </p:sp>
      <p:sp>
        <p:nvSpPr>
          <p:cNvPr id="22" name="Text 20"/>
          <p:cNvSpPr/>
          <p:nvPr/>
        </p:nvSpPr>
        <p:spPr>
          <a:xfrm>
            <a:off x="621792" y="1508760"/>
            <a:ext cx="5486400" cy="237744"/>
          </a:xfrm>
          <a:prstGeom prst="rect">
            <a:avLst/>
          </a:prstGeom>
          <a:noFill/>
          <a:ln/>
        </p:spPr>
        <p:txBody>
          <a:bodyPr wrap="square" lIns="0" tIns="0" rIns="0" bIns="0" rtlCol="0" anchor="ctr"/>
          <a:lstStyle/>
          <a:p>
            <a:pPr indent="0" marL="0">
              <a:buNone/>
            </a:pPr>
            <a:r>
              <a:rPr lang="en-US" sz="1000" dirty="0">
                <a:solidFill>
                  <a:srgbClr val="64748B"/>
                </a:solidFill>
              </a:rPr>
              <a:t>SIX: VACN | Semiconductor equipment critical subsystem supplier</a:t>
            </a:r>
            <a:endParaRPr lang="en-US" sz="1000" dirty="0"/>
          </a:p>
        </p:txBody>
      </p:sp>
      <p:sp>
        <p:nvSpPr>
          <p:cNvPr id="23" name="Text 21"/>
          <p:cNvSpPr/>
          <p:nvPr/>
        </p:nvSpPr>
        <p:spPr>
          <a:xfrm>
            <a:off x="621792" y="2084832"/>
            <a:ext cx="640080" cy="301752"/>
          </a:xfrm>
          <a:prstGeom prst="rect">
            <a:avLst/>
          </a:prstGeom>
          <a:solidFill>
            <a:srgbClr val="2A9D8F"/>
          </a:solidFill>
          <a:ln>
            <a:solidFill>
              <a:srgbClr val="2A9D8F"/>
            </a:solidFill>
          </a:ln>
        </p:spPr>
        <p:txBody>
          <a:bodyPr wrap="square" lIns="381" tIns="381" rIns="381" bIns="381" rtlCol="0" anchor="ctr">
            <a:normAutofit/>
          </a:bodyPr>
          <a:lstStyle/>
          <a:p>
            <a:pPr algn="ctr" indent="0" marL="0">
              <a:buNone/>
            </a:pPr>
            <a:r>
              <a:rPr lang="en-US" sz="1000" b="1" dirty="0">
                <a:solidFill>
                  <a:srgbClr val="FFFFFF"/>
                </a:solidFill>
              </a:rPr>
              <a:t>BUY</a:t>
            </a:r>
            <a:endParaRPr lang="en-US" sz="1000" dirty="0"/>
          </a:p>
        </p:txBody>
      </p:sp>
      <p:sp>
        <p:nvSpPr>
          <p:cNvPr id="24" name="Text 22"/>
          <p:cNvSpPr/>
          <p:nvPr/>
        </p:nvSpPr>
        <p:spPr>
          <a:xfrm>
            <a:off x="621792" y="2743200"/>
            <a:ext cx="1508760" cy="320040"/>
          </a:xfrm>
          <a:prstGeom prst="rect">
            <a:avLst/>
          </a:prstGeom>
          <a:noFill/>
          <a:ln/>
        </p:spPr>
        <p:txBody>
          <a:bodyPr wrap="square" lIns="0" tIns="0" rIns="0" bIns="0" rtlCol="0" anchor="ctr">
            <a:normAutofit/>
          </a:bodyPr>
          <a:lstStyle/>
          <a:p>
            <a:pPr indent="0" marL="0">
              <a:buNone/>
            </a:pPr>
            <a:r>
              <a:rPr lang="en-US" sz="1800" b="1" dirty="0">
                <a:solidFill>
                  <a:srgbClr val="12202F"/>
                </a:solidFill>
              </a:rPr>
              <a:t>CHF 602</a:t>
            </a:r>
            <a:endParaRPr lang="en-US" sz="1800" dirty="0"/>
          </a:p>
        </p:txBody>
      </p:sp>
      <p:sp>
        <p:nvSpPr>
          <p:cNvPr id="25" name="Text 23"/>
          <p:cNvSpPr/>
          <p:nvPr/>
        </p:nvSpPr>
        <p:spPr>
          <a:xfrm>
            <a:off x="621792" y="3090672"/>
            <a:ext cx="1508760" cy="164592"/>
          </a:xfrm>
          <a:prstGeom prst="rect">
            <a:avLst/>
          </a:prstGeom>
          <a:noFill/>
          <a:ln/>
        </p:spPr>
        <p:txBody>
          <a:bodyPr wrap="square" lIns="0" tIns="0" rIns="0" bIns="0" rtlCol="0" anchor="ctr">
            <a:normAutofit/>
          </a:bodyPr>
          <a:lstStyle/>
          <a:p>
            <a:pPr indent="0" marL="0">
              <a:buNone/>
            </a:pPr>
            <a:r>
              <a:rPr lang="en-US" sz="700" b="1" dirty="0">
                <a:solidFill>
                  <a:srgbClr val="12202F"/>
                </a:solidFill>
              </a:rPr>
              <a:t>Current share price</a:t>
            </a:r>
            <a:endParaRPr lang="en-US" sz="700" dirty="0"/>
          </a:p>
        </p:txBody>
      </p:sp>
      <p:sp>
        <p:nvSpPr>
          <p:cNvPr id="26" name="Text 24"/>
          <p:cNvSpPr/>
          <p:nvPr/>
        </p:nvSpPr>
        <p:spPr>
          <a:xfrm>
            <a:off x="621792" y="3273552"/>
            <a:ext cx="1508760" cy="164592"/>
          </a:xfrm>
          <a:prstGeom prst="rect">
            <a:avLst/>
          </a:prstGeom>
          <a:noFill/>
          <a:ln/>
        </p:spPr>
        <p:txBody>
          <a:bodyPr wrap="square" lIns="0" tIns="0" rIns="0" bIns="0" rtlCol="0" anchor="ctr">
            <a:normAutofit/>
          </a:bodyPr>
          <a:lstStyle/>
          <a:p>
            <a:pPr indent="0" marL="0">
              <a:buNone/>
            </a:pPr>
            <a:r>
              <a:rPr lang="en-US" sz="580" dirty="0">
                <a:solidFill>
                  <a:srgbClr val="64748B"/>
                </a:solidFill>
              </a:rPr>
              <a:t>SIX / LSEG, 31 Jul 2026</a:t>
            </a:r>
            <a:endParaRPr lang="en-US" sz="580" dirty="0"/>
          </a:p>
        </p:txBody>
      </p:sp>
      <p:sp>
        <p:nvSpPr>
          <p:cNvPr id="27" name="Text 25"/>
          <p:cNvSpPr/>
          <p:nvPr/>
        </p:nvSpPr>
        <p:spPr>
          <a:xfrm>
            <a:off x="2331720" y="2743200"/>
            <a:ext cx="1417320" cy="320040"/>
          </a:xfrm>
          <a:prstGeom prst="rect">
            <a:avLst/>
          </a:prstGeom>
          <a:noFill/>
          <a:ln/>
        </p:spPr>
        <p:txBody>
          <a:bodyPr wrap="square" lIns="0" tIns="0" rIns="0" bIns="0" rtlCol="0" anchor="ctr">
            <a:normAutofit/>
          </a:bodyPr>
          <a:lstStyle/>
          <a:p>
            <a:pPr indent="0" marL="0">
              <a:buNone/>
            </a:pPr>
            <a:r>
              <a:rPr lang="en-US" sz="1800" b="1" dirty="0">
                <a:solidFill>
                  <a:srgbClr val="2A9D8F"/>
                </a:solidFill>
              </a:rPr>
              <a:t>CHF 740</a:t>
            </a:r>
            <a:endParaRPr lang="en-US" sz="1800" dirty="0"/>
          </a:p>
        </p:txBody>
      </p:sp>
      <p:sp>
        <p:nvSpPr>
          <p:cNvPr id="28" name="Text 26"/>
          <p:cNvSpPr/>
          <p:nvPr/>
        </p:nvSpPr>
        <p:spPr>
          <a:xfrm>
            <a:off x="2331720" y="3090672"/>
            <a:ext cx="1417320" cy="164592"/>
          </a:xfrm>
          <a:prstGeom prst="rect">
            <a:avLst/>
          </a:prstGeom>
          <a:noFill/>
          <a:ln/>
        </p:spPr>
        <p:txBody>
          <a:bodyPr wrap="square" lIns="0" tIns="0" rIns="0" bIns="0" rtlCol="0" anchor="ctr">
            <a:normAutofit/>
          </a:bodyPr>
          <a:lstStyle/>
          <a:p>
            <a:pPr indent="0" marL="0">
              <a:buNone/>
            </a:pPr>
            <a:r>
              <a:rPr lang="en-US" sz="700" b="1" dirty="0">
                <a:solidFill>
                  <a:srgbClr val="12202F"/>
                </a:solidFill>
              </a:rPr>
              <a:t>Target price</a:t>
            </a:r>
            <a:endParaRPr lang="en-US" sz="700" dirty="0"/>
          </a:p>
        </p:txBody>
      </p:sp>
      <p:sp>
        <p:nvSpPr>
          <p:cNvPr id="29" name="Text 27"/>
          <p:cNvSpPr/>
          <p:nvPr/>
        </p:nvSpPr>
        <p:spPr>
          <a:xfrm>
            <a:off x="2331720" y="3273552"/>
            <a:ext cx="1417320" cy="164592"/>
          </a:xfrm>
          <a:prstGeom prst="rect">
            <a:avLst/>
          </a:prstGeom>
          <a:noFill/>
          <a:ln/>
        </p:spPr>
        <p:txBody>
          <a:bodyPr wrap="square" lIns="0" tIns="0" rIns="0" bIns="0" rtlCol="0" anchor="ctr">
            <a:normAutofit/>
          </a:bodyPr>
          <a:lstStyle/>
          <a:p>
            <a:pPr indent="0" marL="0">
              <a:buNone/>
            </a:pPr>
            <a:r>
              <a:rPr lang="en-US" sz="580" dirty="0">
                <a:solidFill>
                  <a:srgbClr val="64748B"/>
                </a:solidFill>
              </a:rPr>
              <a:t>Base case, 12-month</a:t>
            </a:r>
            <a:endParaRPr lang="en-US" sz="580" dirty="0"/>
          </a:p>
        </p:txBody>
      </p:sp>
      <p:sp>
        <p:nvSpPr>
          <p:cNvPr id="30" name="Text 28"/>
          <p:cNvSpPr/>
          <p:nvPr/>
        </p:nvSpPr>
        <p:spPr>
          <a:xfrm>
            <a:off x="3886200" y="2743200"/>
            <a:ext cx="1417320" cy="320040"/>
          </a:xfrm>
          <a:prstGeom prst="rect">
            <a:avLst/>
          </a:prstGeom>
          <a:noFill/>
          <a:ln/>
        </p:spPr>
        <p:txBody>
          <a:bodyPr wrap="square" lIns="0" tIns="0" rIns="0" bIns="0" rtlCol="0" anchor="ctr">
            <a:normAutofit/>
          </a:bodyPr>
          <a:lstStyle/>
          <a:p>
            <a:pPr indent="0" marL="0">
              <a:buNone/>
            </a:pPr>
            <a:r>
              <a:rPr lang="en-US" sz="1800" b="1" dirty="0">
                <a:solidFill>
                  <a:srgbClr val="2A9D8F"/>
                </a:solidFill>
              </a:rPr>
              <a:t>+23%</a:t>
            </a:r>
            <a:endParaRPr lang="en-US" sz="1800" dirty="0"/>
          </a:p>
        </p:txBody>
      </p:sp>
      <p:sp>
        <p:nvSpPr>
          <p:cNvPr id="31" name="Text 29"/>
          <p:cNvSpPr/>
          <p:nvPr/>
        </p:nvSpPr>
        <p:spPr>
          <a:xfrm>
            <a:off x="3886200" y="3090672"/>
            <a:ext cx="1417320" cy="164592"/>
          </a:xfrm>
          <a:prstGeom prst="rect">
            <a:avLst/>
          </a:prstGeom>
          <a:noFill/>
          <a:ln/>
        </p:spPr>
        <p:txBody>
          <a:bodyPr wrap="square" lIns="0" tIns="0" rIns="0" bIns="0" rtlCol="0" anchor="ctr">
            <a:normAutofit/>
          </a:bodyPr>
          <a:lstStyle/>
          <a:p>
            <a:pPr indent="0" marL="0">
              <a:buNone/>
            </a:pPr>
            <a:r>
              <a:rPr lang="en-US" sz="700" b="1" dirty="0">
                <a:solidFill>
                  <a:srgbClr val="12202F"/>
                </a:solidFill>
              </a:rPr>
              <a:t>Implied upside</a:t>
            </a:r>
            <a:endParaRPr lang="en-US" sz="700" dirty="0"/>
          </a:p>
        </p:txBody>
      </p:sp>
      <p:sp>
        <p:nvSpPr>
          <p:cNvPr id="32" name="Text 30"/>
          <p:cNvSpPr/>
          <p:nvPr/>
        </p:nvSpPr>
        <p:spPr>
          <a:xfrm>
            <a:off x="3886200" y="3273552"/>
            <a:ext cx="1417320" cy="164592"/>
          </a:xfrm>
          <a:prstGeom prst="rect">
            <a:avLst/>
          </a:prstGeom>
          <a:noFill/>
          <a:ln/>
        </p:spPr>
        <p:txBody>
          <a:bodyPr wrap="square" lIns="0" tIns="0" rIns="0" bIns="0" rtlCol="0" anchor="ctr">
            <a:normAutofit/>
          </a:bodyPr>
          <a:lstStyle/>
          <a:p>
            <a:pPr indent="0" marL="0">
              <a:buNone/>
            </a:pPr>
            <a:r>
              <a:rPr lang="en-US" sz="580" dirty="0">
                <a:solidFill>
                  <a:srgbClr val="64748B"/>
                </a:solidFill>
              </a:rPr>
              <a:t>ex-dividend yield</a:t>
            </a:r>
            <a:endParaRPr lang="en-US" sz="580" dirty="0"/>
          </a:p>
        </p:txBody>
      </p:sp>
      <p:sp>
        <p:nvSpPr>
          <p:cNvPr id="33" name="Text 31"/>
          <p:cNvSpPr/>
          <p:nvPr/>
        </p:nvSpPr>
        <p:spPr>
          <a:xfrm>
            <a:off x="621792" y="4892040"/>
            <a:ext cx="2926080" cy="402336"/>
          </a:xfrm>
          <a:prstGeom prst="rect">
            <a:avLst/>
          </a:prstGeom>
          <a:noFill/>
          <a:ln/>
        </p:spPr>
        <p:txBody>
          <a:bodyPr wrap="square" lIns="0" tIns="0" rIns="0" bIns="0" rtlCol="0" anchor="ctr"/>
          <a:lstStyle/>
          <a:p>
            <a:pPr indent="0" marL="0">
              <a:buNone/>
            </a:pPr>
            <a:r>
              <a:rPr lang="en-US" sz="800" dirty="0">
                <a:solidFill>
                  <a:srgbClr val="64748B"/>
                </a:solidFill>
              </a:rPr>
              <a:t>Preparation date: 4 Aug 2026</a:t>
            </a:r>
            <a:endParaRPr lang="en-US" sz="800" dirty="0"/>
          </a:p>
          <a:p>
            <a:pPr indent="0" marL="0">
              <a:buNone/>
            </a:pPr>
            <a:r>
              <a:rPr lang="en-US" sz="800" dirty="0">
                <a:solidFill>
                  <a:srgbClr val="64748B"/>
                </a:solidFill>
              </a:rPr>
              <a:t>Presenter: [Name]</a:t>
            </a:r>
            <a:endParaRPr lang="en-US" sz="800" dirty="0"/>
          </a:p>
        </p:txBody>
      </p:sp>
      <p:sp>
        <p:nvSpPr>
          <p:cNvPr id="34" name="Shape 32"/>
          <p:cNvSpPr/>
          <p:nvPr/>
        </p:nvSpPr>
        <p:spPr>
          <a:xfrm>
            <a:off x="411480" y="6510528"/>
            <a:ext cx="11384280" cy="0"/>
          </a:xfrm>
          <a:prstGeom prst="line">
            <a:avLst/>
          </a:prstGeom>
          <a:noFill/>
          <a:ln w="7620">
            <a:solidFill>
              <a:srgbClr val="D5DEE6"/>
            </a:solidFill>
            <a:prstDash val="solid"/>
          </a:ln>
        </p:spPr>
      </p:sp>
      <p:sp>
        <p:nvSpPr>
          <p:cNvPr id="35" name="Text 33"/>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SIX / LSEG quote; VAT Group disclosures; analyst estimates.</a:t>
            </a:r>
            <a:endParaRPr lang="en-US" sz="580" dirty="0"/>
          </a:p>
        </p:txBody>
      </p:sp>
      <p:sp>
        <p:nvSpPr>
          <p:cNvPr id="36" name="Text 34"/>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1</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The Buy case: a near-monopoly with an earnings-upgrade setup</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Thesis must pass two tests: structural moat and near-term estimate risk.</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Text 3"/>
          <p:cNvSpPr/>
          <p:nvPr/>
        </p:nvSpPr>
        <p:spPr>
          <a:xfrm>
            <a:off x="548640" y="1207008"/>
            <a:ext cx="1828800" cy="228600"/>
          </a:xfrm>
          <a:prstGeom prst="rect">
            <a:avLst/>
          </a:prstGeom>
          <a:noFill/>
          <a:ln/>
        </p:spPr>
        <p:txBody>
          <a:bodyPr wrap="square" lIns="0" tIns="0" rIns="0" bIns="0" rtlCol="0" anchor="ctr"/>
          <a:lstStyle/>
          <a:p>
            <a:pPr indent="0" marL="0">
              <a:buNone/>
            </a:pPr>
            <a:r>
              <a:rPr lang="en-US" sz="1000" b="1" dirty="0">
                <a:solidFill>
                  <a:srgbClr val="12202F"/>
                </a:solidFill>
              </a:rPr>
              <a:t>Elevator pitch</a:t>
            </a:r>
            <a:endParaRPr lang="en-US" sz="1000" dirty="0"/>
          </a:p>
        </p:txBody>
      </p:sp>
      <p:sp>
        <p:nvSpPr>
          <p:cNvPr id="6" name="Text 4"/>
          <p:cNvSpPr/>
          <p:nvPr/>
        </p:nvSpPr>
        <p:spPr>
          <a:xfrm>
            <a:off x="548640" y="1481328"/>
            <a:ext cx="5394960" cy="914400"/>
          </a:xfrm>
          <a:prstGeom prst="rect">
            <a:avLst/>
          </a:prstGeom>
          <a:solidFill>
            <a:srgbClr val="FFFFFF"/>
          </a:solidFill>
          <a:ln w="10160">
            <a:solidFill>
              <a:srgbClr val="D5DEE6"/>
            </a:solidFill>
          </a:ln>
        </p:spPr>
        <p:txBody>
          <a:bodyPr wrap="square" lIns="1270" tIns="1270" rIns="1270" bIns="1270" rtlCol="0" anchor="ctr">
            <a:normAutofit/>
          </a:bodyPr>
          <a:lstStyle/>
          <a:p>
            <a:pPr algn="l" indent="0" marL="0">
              <a:buNone/>
            </a:pPr>
            <a:r>
              <a:rPr lang="en-US" sz="950" dirty="0">
                <a:solidFill>
                  <a:srgbClr val="24313F"/>
                </a:solidFill>
                <a:latin typeface="Aptos" pitchFamily="34" charset="0"/>
                <a:ea typeface="Aptos" pitchFamily="34" charset="-122"/>
                <a:cs typeface="Aptos" pitchFamily="34" charset="-120"/>
              </a:rPr>
              <a:t>VAT sells mission-critical vacuum valves and modules used inside chip-making tools. It has ~71% share in semi-related vacuum valves and is exposed to the most vacuum-intensive steps: deposition, etch and advanced modules. H1 2026 orders and backlog now point to a backlog-conversion cycle that consensus has not fully capitalized.</a:t>
            </a:r>
            <a:endParaRPr lang="en-US" sz="950" dirty="0"/>
          </a:p>
        </p:txBody>
      </p:sp>
      <p:sp>
        <p:nvSpPr>
          <p:cNvPr id="7" name="Text 5"/>
          <p:cNvSpPr/>
          <p:nvPr/>
        </p:nvSpPr>
        <p:spPr>
          <a:xfrm>
            <a:off x="548640" y="2743200"/>
            <a:ext cx="3246120" cy="960120"/>
          </a:xfrm>
          <a:prstGeom prst="rect">
            <a:avLst/>
          </a:prstGeom>
          <a:solidFill>
            <a:srgbClr val="EDF8F6"/>
          </a:solidFill>
          <a:ln w="10160">
            <a:solidFill>
              <a:srgbClr val="2A9D8F"/>
            </a:solidFill>
          </a:ln>
        </p:spPr>
        <p:txBody>
          <a:bodyPr wrap="square" lIns="1270" tIns="1270" rIns="1270" bIns="1270" rtlCol="0" anchor="ctr">
            <a:normAutofit/>
          </a:bodyPr>
          <a:lstStyle/>
          <a:p>
            <a:pPr algn="l" indent="0" marL="0">
              <a:buNone/>
            </a:pPr>
            <a:r>
              <a:rPr lang="en-US" sz="880" dirty="0">
                <a:solidFill>
                  <a:srgbClr val="24313F"/>
                </a:solidFill>
                <a:latin typeface="Aptos" pitchFamily="34" charset="0"/>
                <a:ea typeface="Aptos" pitchFamily="34" charset="-122"/>
                <a:cs typeface="Aptos" pitchFamily="34" charset="-120"/>
              </a:rPr>
              <a:t>1. Dominant bottleneck supplier</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~71% semi-related share; &gt;90% in selected leading-edge applications; low component cost but high failure cost.</a:t>
            </a:r>
            <a:endParaRPr lang="en-US" sz="880" dirty="0"/>
          </a:p>
        </p:txBody>
      </p:sp>
      <p:sp>
        <p:nvSpPr>
          <p:cNvPr id="8" name="Text 6"/>
          <p:cNvSpPr/>
          <p:nvPr/>
        </p:nvSpPr>
        <p:spPr>
          <a:xfrm>
            <a:off x="4251960" y="2743200"/>
            <a:ext cx="3246120" cy="960120"/>
          </a:xfrm>
          <a:prstGeom prst="rect">
            <a:avLst/>
          </a:prstGeom>
          <a:solidFill>
            <a:srgbClr val="FFFFFF"/>
          </a:solidFill>
          <a:ln w="10160">
            <a:solidFill>
              <a:srgbClr val="D5DEE6"/>
            </a:solidFill>
          </a:ln>
        </p:spPr>
        <p:txBody>
          <a:bodyPr wrap="square" lIns="1270" tIns="1270" rIns="1270" bIns="1270" rtlCol="0" anchor="ctr">
            <a:normAutofit/>
          </a:bodyPr>
          <a:lstStyle/>
          <a:p>
            <a:pPr algn="l" indent="0" marL="0">
              <a:buNone/>
            </a:pPr>
            <a:r>
              <a:rPr lang="en-US" sz="880" dirty="0">
                <a:solidFill>
                  <a:srgbClr val="24313F"/>
                </a:solidFill>
                <a:latin typeface="Aptos" pitchFamily="34" charset="0"/>
                <a:ea typeface="Aptos" pitchFamily="34" charset="-122"/>
                <a:cs typeface="Aptos" pitchFamily="34" charset="-120"/>
              </a:rPr>
              <a:t>2. Structural outgrowth vs WFE</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Advanced logic / HBM / GAA increase process chambers, deposition and etch intensity, lifting content per tool.</a:t>
            </a:r>
            <a:endParaRPr lang="en-US" sz="880" dirty="0"/>
          </a:p>
        </p:txBody>
      </p:sp>
      <p:sp>
        <p:nvSpPr>
          <p:cNvPr id="9" name="Text 7"/>
          <p:cNvSpPr/>
          <p:nvPr/>
        </p:nvSpPr>
        <p:spPr>
          <a:xfrm>
            <a:off x="7955280" y="2743200"/>
            <a:ext cx="3246120" cy="960120"/>
          </a:xfrm>
          <a:prstGeom prst="rect">
            <a:avLst/>
          </a:prstGeom>
          <a:solidFill>
            <a:srgbClr val="FFFFFF"/>
          </a:solidFill>
          <a:ln w="10160">
            <a:solidFill>
              <a:srgbClr val="D5DEE6"/>
            </a:solidFill>
          </a:ln>
        </p:spPr>
        <p:txBody>
          <a:bodyPr wrap="square" lIns="1270" tIns="1270" rIns="1270" bIns="1270" rtlCol="0" anchor="ctr">
            <a:normAutofit/>
          </a:bodyPr>
          <a:lstStyle/>
          <a:p>
            <a:pPr algn="l" indent="0" marL="0">
              <a:buNone/>
            </a:pPr>
            <a:r>
              <a:rPr lang="en-US" sz="880" dirty="0">
                <a:solidFill>
                  <a:srgbClr val="24313F"/>
                </a:solidFill>
                <a:latin typeface="Aptos" pitchFamily="34" charset="0"/>
                <a:ea typeface="Aptos" pitchFamily="34" charset="-122"/>
                <a:cs typeface="Aptos" pitchFamily="34" charset="-120"/>
              </a:rPr>
              <a:t>3. Backlog-to-earnings inflection</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H1 2026 order intake CHF 856m; backlog CHF 648m; factory run-rate target &gt;CHF450m/qtr by YE26.</a:t>
            </a:r>
            <a:endParaRPr lang="en-US" sz="880" dirty="0"/>
          </a:p>
        </p:txBody>
      </p:sp>
      <p:sp>
        <p:nvSpPr>
          <p:cNvPr id="10" name="Text 8"/>
          <p:cNvSpPr/>
          <p:nvPr/>
        </p:nvSpPr>
        <p:spPr>
          <a:xfrm>
            <a:off x="548640" y="4069080"/>
            <a:ext cx="5577840" cy="685800"/>
          </a:xfrm>
          <a:prstGeom prst="rect">
            <a:avLst/>
          </a:prstGeom>
          <a:solidFill>
            <a:srgbClr val="FFF8EA"/>
          </a:solidFill>
          <a:ln w="10160">
            <a:solidFill>
              <a:srgbClr val="E9C46A"/>
            </a:solidFill>
          </a:ln>
        </p:spPr>
        <p:txBody>
          <a:bodyPr wrap="square" lIns="1270" tIns="1270" rIns="1270" bIns="1270" rtlCol="0" anchor="ctr">
            <a:normAutofit/>
          </a:bodyPr>
          <a:lstStyle/>
          <a:p>
            <a:pPr algn="l" indent="0" marL="0">
              <a:buNone/>
            </a:pPr>
            <a:r>
              <a:rPr lang="en-US" sz="900" dirty="0">
                <a:solidFill>
                  <a:srgbClr val="24313F"/>
                </a:solidFill>
                <a:latin typeface="Aptos" pitchFamily="34" charset="0"/>
                <a:ea typeface="Aptos" pitchFamily="34" charset="-122"/>
                <a:cs typeface="Aptos" pitchFamily="34" charset="-120"/>
              </a:rPr>
              <a:t>Variant perception: the market sees peak-cycle orders and margin pressure from hiring; our view is backlog conversion plus operating leverage drives FY26/27 upgrades.</a:t>
            </a:r>
            <a:endParaRPr lang="en-US" sz="900" dirty="0"/>
          </a:p>
        </p:txBody>
      </p:sp>
      <p:sp>
        <p:nvSpPr>
          <p:cNvPr id="11" name="Text 9"/>
          <p:cNvSpPr/>
          <p:nvPr/>
        </p:nvSpPr>
        <p:spPr>
          <a:xfrm>
            <a:off x="6446520" y="4069080"/>
            <a:ext cx="5166360" cy="685800"/>
          </a:xfrm>
          <a:prstGeom prst="rect">
            <a:avLst/>
          </a:prstGeom>
          <a:solidFill>
            <a:srgbClr val="FFFFFF"/>
          </a:solidFill>
          <a:ln w="10160">
            <a:solidFill>
              <a:srgbClr val="D5DEE6"/>
            </a:solidFill>
          </a:ln>
        </p:spPr>
        <p:txBody>
          <a:bodyPr wrap="square" lIns="1270" tIns="1270" rIns="1270" bIns="1270" rtlCol="0" anchor="ctr">
            <a:normAutofit/>
          </a:bodyPr>
          <a:lstStyle/>
          <a:p>
            <a:pPr algn="l" indent="0" marL="0">
              <a:buNone/>
            </a:pPr>
            <a:r>
              <a:rPr lang="en-US" sz="900" dirty="0">
                <a:solidFill>
                  <a:srgbClr val="24313F"/>
                </a:solidFill>
                <a:latin typeface="Aptos" pitchFamily="34" charset="0"/>
                <a:ea typeface="Aptos" pitchFamily="34" charset="-122"/>
                <a:cs typeface="Aptos" pitchFamily="34" charset="-120"/>
              </a:rPr>
              <a:t>Risk / reward: Bear CHF 470 | Base CHF 740 | Bull CHF 900</a:t>
            </a:r>
            <a:endParaRPr lang="en-US" sz="900" dirty="0"/>
          </a:p>
          <a:p>
            <a:pPr algn="l" indent="0" marL="0">
              <a:buNone/>
            </a:pPr>
            <a:r>
              <a:rPr lang="en-US" sz="900" dirty="0">
                <a:solidFill>
                  <a:srgbClr val="24313F"/>
                </a:solidFill>
                <a:latin typeface="Aptos" pitchFamily="34" charset="0"/>
                <a:ea typeface="Aptos" pitchFamily="34" charset="-122"/>
                <a:cs typeface="Aptos" pitchFamily="34" charset="-120"/>
              </a:rPr>
              <a:t>Near-term catalyst: Q3 2026 sales / order update and possible 2027 guidance reset.</a:t>
            </a:r>
            <a:endParaRPr lang="en-US" sz="900" dirty="0"/>
          </a:p>
        </p:txBody>
      </p:sp>
      <p:sp>
        <p:nvSpPr>
          <p:cNvPr id="12" name="Text 10"/>
          <p:cNvSpPr/>
          <p:nvPr/>
        </p:nvSpPr>
        <p:spPr>
          <a:xfrm>
            <a:off x="6446520" y="1417320"/>
            <a:ext cx="1371600" cy="320040"/>
          </a:xfrm>
          <a:prstGeom prst="rect">
            <a:avLst/>
          </a:prstGeom>
          <a:noFill/>
          <a:ln/>
        </p:spPr>
        <p:txBody>
          <a:bodyPr wrap="square" lIns="0" tIns="0" rIns="0" bIns="0" rtlCol="0" anchor="ctr">
            <a:normAutofit/>
          </a:bodyPr>
          <a:lstStyle/>
          <a:p>
            <a:pPr indent="0" marL="0">
              <a:buNone/>
            </a:pPr>
            <a:r>
              <a:rPr lang="en-US" sz="1800" b="1" dirty="0">
                <a:solidFill>
                  <a:srgbClr val="12202F"/>
                </a:solidFill>
              </a:rPr>
              <a:t>CHF 602</a:t>
            </a:r>
            <a:endParaRPr lang="en-US" sz="1800" dirty="0"/>
          </a:p>
        </p:txBody>
      </p:sp>
      <p:sp>
        <p:nvSpPr>
          <p:cNvPr id="13" name="Text 11"/>
          <p:cNvSpPr/>
          <p:nvPr/>
        </p:nvSpPr>
        <p:spPr>
          <a:xfrm>
            <a:off x="6446520" y="1764792"/>
            <a:ext cx="1371600" cy="164592"/>
          </a:xfrm>
          <a:prstGeom prst="rect">
            <a:avLst/>
          </a:prstGeom>
          <a:noFill/>
          <a:ln/>
        </p:spPr>
        <p:txBody>
          <a:bodyPr wrap="square" lIns="0" tIns="0" rIns="0" bIns="0" rtlCol="0" anchor="ctr">
            <a:normAutofit/>
          </a:bodyPr>
          <a:lstStyle/>
          <a:p>
            <a:pPr indent="0" marL="0">
              <a:buNone/>
            </a:pPr>
            <a:r>
              <a:rPr lang="en-US" sz="700" b="1" dirty="0">
                <a:solidFill>
                  <a:srgbClr val="12202F"/>
                </a:solidFill>
              </a:rPr>
              <a:t>Share price</a:t>
            </a:r>
            <a:endParaRPr lang="en-US" sz="700" dirty="0"/>
          </a:p>
        </p:txBody>
      </p:sp>
      <p:sp>
        <p:nvSpPr>
          <p:cNvPr id="14" name="Text 12"/>
          <p:cNvSpPr/>
          <p:nvPr/>
        </p:nvSpPr>
        <p:spPr>
          <a:xfrm>
            <a:off x="6446520" y="1947672"/>
            <a:ext cx="1371600" cy="164592"/>
          </a:xfrm>
          <a:prstGeom prst="rect">
            <a:avLst/>
          </a:prstGeom>
          <a:noFill/>
          <a:ln/>
        </p:spPr>
        <p:txBody>
          <a:bodyPr wrap="square" lIns="0" tIns="0" rIns="0" bIns="0" rtlCol="0" anchor="ctr">
            <a:normAutofit/>
          </a:bodyPr>
          <a:lstStyle/>
          <a:p>
            <a:pPr indent="0" marL="0">
              <a:buNone/>
            </a:pPr>
            <a:r>
              <a:rPr lang="en-US" sz="580" dirty="0">
                <a:solidFill>
                  <a:srgbClr val="64748B"/>
                </a:solidFill>
              </a:rPr>
              <a:t>verified 31 Jul 2026</a:t>
            </a:r>
            <a:endParaRPr lang="en-US" sz="580" dirty="0"/>
          </a:p>
        </p:txBody>
      </p:sp>
      <p:sp>
        <p:nvSpPr>
          <p:cNvPr id="15" name="Text 13"/>
          <p:cNvSpPr/>
          <p:nvPr/>
        </p:nvSpPr>
        <p:spPr>
          <a:xfrm>
            <a:off x="8001000" y="1417320"/>
            <a:ext cx="1371600" cy="320040"/>
          </a:xfrm>
          <a:prstGeom prst="rect">
            <a:avLst/>
          </a:prstGeom>
          <a:noFill/>
          <a:ln/>
        </p:spPr>
        <p:txBody>
          <a:bodyPr wrap="square" lIns="0" tIns="0" rIns="0" bIns="0" rtlCol="0" anchor="ctr">
            <a:normAutofit/>
          </a:bodyPr>
          <a:lstStyle/>
          <a:p>
            <a:pPr indent="0" marL="0">
              <a:buNone/>
            </a:pPr>
            <a:r>
              <a:rPr lang="en-US" sz="1800" b="1" dirty="0">
                <a:solidFill>
                  <a:srgbClr val="2A9D8F"/>
                </a:solidFill>
              </a:rPr>
              <a:t>CHF 740</a:t>
            </a:r>
            <a:endParaRPr lang="en-US" sz="1800" dirty="0"/>
          </a:p>
        </p:txBody>
      </p:sp>
      <p:sp>
        <p:nvSpPr>
          <p:cNvPr id="16" name="Text 14"/>
          <p:cNvSpPr/>
          <p:nvPr/>
        </p:nvSpPr>
        <p:spPr>
          <a:xfrm>
            <a:off x="8001000" y="1764792"/>
            <a:ext cx="1371600" cy="164592"/>
          </a:xfrm>
          <a:prstGeom prst="rect">
            <a:avLst/>
          </a:prstGeom>
          <a:noFill/>
          <a:ln/>
        </p:spPr>
        <p:txBody>
          <a:bodyPr wrap="square" lIns="0" tIns="0" rIns="0" bIns="0" rtlCol="0" anchor="ctr">
            <a:normAutofit/>
          </a:bodyPr>
          <a:lstStyle/>
          <a:p>
            <a:pPr indent="0" marL="0">
              <a:buNone/>
            </a:pPr>
            <a:r>
              <a:rPr lang="en-US" sz="700" b="1" dirty="0">
                <a:solidFill>
                  <a:srgbClr val="12202F"/>
                </a:solidFill>
              </a:rPr>
              <a:t>Target</a:t>
            </a:r>
            <a:endParaRPr lang="en-US" sz="700" dirty="0"/>
          </a:p>
        </p:txBody>
      </p:sp>
      <p:sp>
        <p:nvSpPr>
          <p:cNvPr id="17" name="Text 15"/>
          <p:cNvSpPr/>
          <p:nvPr/>
        </p:nvSpPr>
        <p:spPr>
          <a:xfrm>
            <a:off x="8001000" y="1947672"/>
            <a:ext cx="1371600" cy="164592"/>
          </a:xfrm>
          <a:prstGeom prst="rect">
            <a:avLst/>
          </a:prstGeom>
          <a:noFill/>
          <a:ln/>
        </p:spPr>
        <p:txBody>
          <a:bodyPr wrap="square" lIns="0" tIns="0" rIns="0" bIns="0" rtlCol="0" anchor="ctr">
            <a:normAutofit/>
          </a:bodyPr>
          <a:lstStyle/>
          <a:p>
            <a:pPr indent="0" marL="0">
              <a:buNone/>
            </a:pPr>
            <a:r>
              <a:rPr lang="en-US" sz="580" dirty="0">
                <a:solidFill>
                  <a:srgbClr val="64748B"/>
                </a:solidFill>
              </a:rPr>
              <a:t>~38x 2027E EBITDA</a:t>
            </a:r>
            <a:endParaRPr lang="en-US" sz="580" dirty="0"/>
          </a:p>
        </p:txBody>
      </p:sp>
      <p:sp>
        <p:nvSpPr>
          <p:cNvPr id="18" name="Text 16"/>
          <p:cNvSpPr/>
          <p:nvPr/>
        </p:nvSpPr>
        <p:spPr>
          <a:xfrm>
            <a:off x="9555480" y="1417320"/>
            <a:ext cx="1097280" cy="320040"/>
          </a:xfrm>
          <a:prstGeom prst="rect">
            <a:avLst/>
          </a:prstGeom>
          <a:noFill/>
          <a:ln/>
        </p:spPr>
        <p:txBody>
          <a:bodyPr wrap="square" lIns="0" tIns="0" rIns="0" bIns="0" rtlCol="0" anchor="ctr">
            <a:normAutofit/>
          </a:bodyPr>
          <a:lstStyle/>
          <a:p>
            <a:pPr indent="0" marL="0">
              <a:buNone/>
            </a:pPr>
            <a:r>
              <a:rPr lang="en-US" sz="1800" b="1" dirty="0">
                <a:solidFill>
                  <a:srgbClr val="2A9D8F"/>
                </a:solidFill>
              </a:rPr>
              <a:t>+23%</a:t>
            </a:r>
            <a:endParaRPr lang="en-US" sz="1800" dirty="0"/>
          </a:p>
        </p:txBody>
      </p:sp>
      <p:sp>
        <p:nvSpPr>
          <p:cNvPr id="19" name="Text 17"/>
          <p:cNvSpPr/>
          <p:nvPr/>
        </p:nvSpPr>
        <p:spPr>
          <a:xfrm>
            <a:off x="9555480" y="1764792"/>
            <a:ext cx="1097280" cy="164592"/>
          </a:xfrm>
          <a:prstGeom prst="rect">
            <a:avLst/>
          </a:prstGeom>
          <a:noFill/>
          <a:ln/>
        </p:spPr>
        <p:txBody>
          <a:bodyPr wrap="square" lIns="0" tIns="0" rIns="0" bIns="0" rtlCol="0" anchor="ctr">
            <a:normAutofit/>
          </a:bodyPr>
          <a:lstStyle/>
          <a:p>
            <a:pPr indent="0" marL="0">
              <a:buNone/>
            </a:pPr>
            <a:r>
              <a:rPr lang="en-US" sz="700" b="1" dirty="0">
                <a:solidFill>
                  <a:srgbClr val="12202F"/>
                </a:solidFill>
              </a:rPr>
              <a:t>Upside</a:t>
            </a:r>
            <a:endParaRPr lang="en-US" sz="700" dirty="0"/>
          </a:p>
        </p:txBody>
      </p:sp>
      <p:sp>
        <p:nvSpPr>
          <p:cNvPr id="20" name="Text 18"/>
          <p:cNvSpPr/>
          <p:nvPr/>
        </p:nvSpPr>
        <p:spPr>
          <a:xfrm>
            <a:off x="9555480" y="1947672"/>
            <a:ext cx="1097280" cy="164592"/>
          </a:xfrm>
          <a:prstGeom prst="rect">
            <a:avLst/>
          </a:prstGeom>
          <a:noFill/>
          <a:ln/>
        </p:spPr>
        <p:txBody>
          <a:bodyPr wrap="square" lIns="0" tIns="0" rIns="0" bIns="0" rtlCol="0" anchor="ctr">
            <a:normAutofit/>
          </a:bodyPr>
          <a:lstStyle/>
          <a:p>
            <a:pPr indent="0" marL="0">
              <a:buNone/>
            </a:pPr>
            <a:r>
              <a:rPr lang="en-US" sz="580" dirty="0">
                <a:solidFill>
                  <a:srgbClr val="64748B"/>
                </a:solidFill>
              </a:rPr>
              <a:t>base case</a:t>
            </a:r>
            <a:endParaRPr lang="en-US" sz="580" dirty="0"/>
          </a:p>
        </p:txBody>
      </p:sp>
      <p:sp>
        <p:nvSpPr>
          <p:cNvPr id="21" name="Text 19"/>
          <p:cNvSpPr/>
          <p:nvPr/>
        </p:nvSpPr>
        <p:spPr>
          <a:xfrm>
            <a:off x="10652760" y="1417320"/>
            <a:ext cx="1097280" cy="320040"/>
          </a:xfrm>
          <a:prstGeom prst="rect">
            <a:avLst/>
          </a:prstGeom>
          <a:noFill/>
          <a:ln/>
        </p:spPr>
        <p:txBody>
          <a:bodyPr wrap="square" lIns="0" tIns="0" rIns="0" bIns="0" rtlCol="0" anchor="ctr">
            <a:normAutofit/>
          </a:bodyPr>
          <a:lstStyle/>
          <a:p>
            <a:pPr indent="0" marL="0">
              <a:buNone/>
            </a:pPr>
            <a:r>
              <a:rPr lang="en-US" sz="1800" b="1" dirty="0">
                <a:solidFill>
                  <a:srgbClr val="12202F"/>
                </a:solidFill>
              </a:rPr>
              <a:t>CHF 355-385m</a:t>
            </a:r>
            <a:endParaRPr lang="en-US" sz="1800" dirty="0"/>
          </a:p>
        </p:txBody>
      </p:sp>
      <p:sp>
        <p:nvSpPr>
          <p:cNvPr id="22" name="Text 20"/>
          <p:cNvSpPr/>
          <p:nvPr/>
        </p:nvSpPr>
        <p:spPr>
          <a:xfrm>
            <a:off x="10652760" y="1764792"/>
            <a:ext cx="1097280" cy="164592"/>
          </a:xfrm>
          <a:prstGeom prst="rect">
            <a:avLst/>
          </a:prstGeom>
          <a:noFill/>
          <a:ln/>
        </p:spPr>
        <p:txBody>
          <a:bodyPr wrap="square" lIns="0" tIns="0" rIns="0" bIns="0" rtlCol="0" anchor="ctr">
            <a:normAutofit/>
          </a:bodyPr>
          <a:lstStyle/>
          <a:p>
            <a:pPr indent="0" marL="0">
              <a:buNone/>
            </a:pPr>
            <a:r>
              <a:rPr lang="en-US" sz="700" b="1" dirty="0">
                <a:solidFill>
                  <a:srgbClr val="12202F"/>
                </a:solidFill>
              </a:rPr>
              <a:t>Q3 guide</a:t>
            </a:r>
            <a:endParaRPr lang="en-US" sz="700" dirty="0"/>
          </a:p>
        </p:txBody>
      </p:sp>
      <p:sp>
        <p:nvSpPr>
          <p:cNvPr id="23" name="Text 21"/>
          <p:cNvSpPr/>
          <p:nvPr/>
        </p:nvSpPr>
        <p:spPr>
          <a:xfrm>
            <a:off x="10652760" y="1947672"/>
            <a:ext cx="1097280" cy="164592"/>
          </a:xfrm>
          <a:prstGeom prst="rect">
            <a:avLst/>
          </a:prstGeom>
          <a:noFill/>
          <a:ln/>
        </p:spPr>
        <p:txBody>
          <a:bodyPr wrap="square" lIns="0" tIns="0" rIns="0" bIns="0" rtlCol="0" anchor="ctr">
            <a:normAutofit/>
          </a:bodyPr>
          <a:lstStyle/>
          <a:p>
            <a:pPr indent="0" marL="0">
              <a:buNone/>
            </a:pPr>
            <a:r>
              <a:rPr lang="en-US" sz="580" dirty="0">
                <a:solidFill>
                  <a:srgbClr val="64748B"/>
                </a:solidFill>
              </a:rPr>
              <a:t>sales, company guidance</a:t>
            </a:r>
            <a:endParaRPr lang="en-US" sz="580" dirty="0"/>
          </a:p>
        </p:txBody>
      </p:sp>
      <p:sp>
        <p:nvSpPr>
          <p:cNvPr id="24" name="Shape 22"/>
          <p:cNvSpPr/>
          <p:nvPr/>
        </p:nvSpPr>
        <p:spPr>
          <a:xfrm>
            <a:off x="411480" y="6510528"/>
            <a:ext cx="11384280" cy="0"/>
          </a:xfrm>
          <a:prstGeom prst="line">
            <a:avLst/>
          </a:prstGeom>
          <a:noFill/>
          <a:ln w="7620">
            <a:solidFill>
              <a:srgbClr val="D5DEE6"/>
            </a:solidFill>
            <a:prstDash val="solid"/>
          </a:ln>
        </p:spPr>
      </p:sp>
      <p:sp>
        <p:nvSpPr>
          <p:cNvPr id="25" name="Text 23"/>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VAT H1 2026 report; VAT FY2025 results; MarketScreener consensus; SIX; analyst estimates.</a:t>
            </a:r>
            <a:endParaRPr lang="en-US" sz="580" dirty="0"/>
          </a:p>
        </p:txBody>
      </p:sp>
      <p:sp>
        <p:nvSpPr>
          <p:cNvPr id="26" name="Text 24"/>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2</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AI demand reaches VAT through the semiconductor-equipment value chain</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A chip is a manufactured stack of microscopic electrical switches; VAT is a critical subsystem supplier to the tools that make it.</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Text 3"/>
          <p:cNvSpPr/>
          <p:nvPr/>
        </p:nvSpPr>
        <p:spPr>
          <a:xfrm>
            <a:off x="502920" y="1874520"/>
            <a:ext cx="1993392" cy="822960"/>
          </a:xfrm>
          <a:prstGeom prst="rect">
            <a:avLst/>
          </a:prstGeom>
          <a:solidFill>
            <a:srgbClr val="FFFFFF"/>
          </a:solidFill>
          <a:ln w="10160">
            <a:solidFill>
              <a:srgbClr val="D5DEE6"/>
            </a:solidFill>
          </a:ln>
        </p:spPr>
        <p:txBody>
          <a:bodyPr wrap="square" lIns="635" tIns="635" rIns="635" bIns="635" rtlCol="0" anchor="ctr">
            <a:normAutofit/>
          </a:bodyPr>
          <a:lstStyle/>
          <a:p>
            <a:pPr algn="ctr" indent="0" marL="0">
              <a:buNone/>
            </a:pPr>
            <a:r>
              <a:rPr lang="en-US" sz="850" b="1" dirty="0">
                <a:solidFill>
                  <a:srgbClr val="24313F"/>
                </a:solidFill>
                <a:latin typeface="Aptos" pitchFamily="34" charset="0"/>
                <a:ea typeface="Aptos" pitchFamily="34" charset="-122"/>
                <a:cs typeface="Aptos" pitchFamily="34" charset="-120"/>
              </a:rPr>
              <a:t>AI / devices / cloud</a:t>
            </a:r>
            <a:endParaRPr lang="en-US" sz="850" dirty="0"/>
          </a:p>
          <a:p>
            <a:pPr algn="ctr" indent="0" marL="0">
              <a:buNone/>
            </a:pPr>
            <a:r>
              <a:rPr lang="en-US" sz="850" b="1" dirty="0">
                <a:solidFill>
                  <a:srgbClr val="24313F"/>
                </a:solidFill>
                <a:latin typeface="Aptos" pitchFamily="34" charset="0"/>
                <a:ea typeface="Aptos" pitchFamily="34" charset="-122"/>
                <a:cs typeface="Aptos" pitchFamily="34" charset="-120"/>
              </a:rPr>
              <a:t>Nvidia, AMD, Apple</a:t>
            </a:r>
            <a:endParaRPr lang="en-US" sz="850" dirty="0"/>
          </a:p>
          <a:p>
            <a:pPr algn="ctr" indent="0" marL="0">
              <a:buNone/>
            </a:pPr>
            <a:r>
              <a:rPr lang="en-US" sz="850" b="1" dirty="0">
                <a:solidFill>
                  <a:srgbClr val="24313F"/>
                </a:solidFill>
                <a:latin typeface="Aptos" pitchFamily="34" charset="0"/>
                <a:ea typeface="Aptos" pitchFamily="34" charset="-122"/>
                <a:cs typeface="Aptos" pitchFamily="34" charset="-120"/>
              </a:rPr>
              <a:t>Hyperscalers</a:t>
            </a:r>
            <a:endParaRPr lang="en-US" sz="850" dirty="0"/>
          </a:p>
        </p:txBody>
      </p:sp>
      <p:sp>
        <p:nvSpPr>
          <p:cNvPr id="6" name="Shape 4"/>
          <p:cNvSpPr/>
          <p:nvPr/>
        </p:nvSpPr>
        <p:spPr>
          <a:xfrm>
            <a:off x="2496312" y="2286000"/>
            <a:ext cx="274320" cy="0"/>
          </a:xfrm>
          <a:prstGeom prst="line">
            <a:avLst/>
          </a:prstGeom>
          <a:noFill/>
          <a:ln w="12700">
            <a:solidFill>
              <a:srgbClr val="64748B"/>
            </a:solidFill>
            <a:prstDash val="solid"/>
            <a:headEnd type="none"/>
            <a:tailEnd type="triangle"/>
          </a:ln>
        </p:spPr>
      </p:sp>
      <p:sp>
        <p:nvSpPr>
          <p:cNvPr id="7" name="Text 5"/>
          <p:cNvSpPr/>
          <p:nvPr/>
        </p:nvSpPr>
        <p:spPr>
          <a:xfrm>
            <a:off x="2834640" y="1874520"/>
            <a:ext cx="1993392" cy="822960"/>
          </a:xfrm>
          <a:prstGeom prst="rect">
            <a:avLst/>
          </a:prstGeom>
          <a:solidFill>
            <a:srgbClr val="FFFFFF"/>
          </a:solidFill>
          <a:ln w="10160">
            <a:solidFill>
              <a:srgbClr val="D5DEE6"/>
            </a:solidFill>
          </a:ln>
        </p:spPr>
        <p:txBody>
          <a:bodyPr wrap="square" lIns="635" tIns="635" rIns="635" bIns="635" rtlCol="0" anchor="ctr">
            <a:normAutofit/>
          </a:bodyPr>
          <a:lstStyle/>
          <a:p>
            <a:pPr algn="ctr" indent="0" marL="0">
              <a:buNone/>
            </a:pPr>
            <a:r>
              <a:rPr lang="en-US" sz="850" b="1" dirty="0">
                <a:solidFill>
                  <a:srgbClr val="24313F"/>
                </a:solidFill>
                <a:latin typeface="Aptos" pitchFamily="34" charset="0"/>
                <a:ea typeface="Aptos" pitchFamily="34" charset="-122"/>
                <a:cs typeface="Aptos" pitchFamily="34" charset="-120"/>
              </a:rPr>
              <a:t>Chip designers</a:t>
            </a:r>
            <a:endParaRPr lang="en-US" sz="850" dirty="0"/>
          </a:p>
          <a:p>
            <a:pPr algn="ctr" indent="0" marL="0">
              <a:buNone/>
            </a:pPr>
            <a:r>
              <a:rPr lang="en-US" sz="850" b="1" dirty="0">
                <a:solidFill>
                  <a:srgbClr val="24313F"/>
                </a:solidFill>
                <a:latin typeface="Aptos" pitchFamily="34" charset="0"/>
                <a:ea typeface="Aptos" pitchFamily="34" charset="-122"/>
                <a:cs typeface="Aptos" pitchFamily="34" charset="-120"/>
              </a:rPr>
              <a:t>Nvidia, AMD, Apple</a:t>
            </a:r>
            <a:endParaRPr lang="en-US" sz="850" dirty="0"/>
          </a:p>
          <a:p>
            <a:pPr algn="ctr" indent="0" marL="0">
              <a:buNone/>
            </a:pPr>
            <a:r>
              <a:rPr lang="en-US" sz="850" b="1" dirty="0">
                <a:solidFill>
                  <a:srgbClr val="24313F"/>
                </a:solidFill>
                <a:latin typeface="Aptos" pitchFamily="34" charset="0"/>
                <a:ea typeface="Aptos" pitchFamily="34" charset="-122"/>
                <a:cs typeface="Aptos" pitchFamily="34" charset="-120"/>
              </a:rPr>
              <a:t>architecture/IP</a:t>
            </a:r>
            <a:endParaRPr lang="en-US" sz="850" dirty="0"/>
          </a:p>
        </p:txBody>
      </p:sp>
      <p:sp>
        <p:nvSpPr>
          <p:cNvPr id="8" name="Shape 6"/>
          <p:cNvSpPr/>
          <p:nvPr/>
        </p:nvSpPr>
        <p:spPr>
          <a:xfrm>
            <a:off x="4828032" y="2286000"/>
            <a:ext cx="274320" cy="0"/>
          </a:xfrm>
          <a:prstGeom prst="line">
            <a:avLst/>
          </a:prstGeom>
          <a:noFill/>
          <a:ln w="12700">
            <a:solidFill>
              <a:srgbClr val="64748B"/>
            </a:solidFill>
            <a:prstDash val="solid"/>
            <a:headEnd type="none"/>
            <a:tailEnd type="triangle"/>
          </a:ln>
        </p:spPr>
      </p:sp>
      <p:sp>
        <p:nvSpPr>
          <p:cNvPr id="9" name="Text 7"/>
          <p:cNvSpPr/>
          <p:nvPr/>
        </p:nvSpPr>
        <p:spPr>
          <a:xfrm>
            <a:off x="5166360" y="1874520"/>
            <a:ext cx="1993392" cy="822960"/>
          </a:xfrm>
          <a:prstGeom prst="rect">
            <a:avLst/>
          </a:prstGeom>
          <a:solidFill>
            <a:srgbClr val="FFFFFF"/>
          </a:solidFill>
          <a:ln w="10160">
            <a:solidFill>
              <a:srgbClr val="D5DEE6"/>
            </a:solidFill>
          </a:ln>
        </p:spPr>
        <p:txBody>
          <a:bodyPr wrap="square" lIns="635" tIns="635" rIns="635" bIns="635" rtlCol="0" anchor="ctr">
            <a:normAutofit/>
          </a:bodyPr>
          <a:lstStyle/>
          <a:p>
            <a:pPr algn="ctr" indent="0" marL="0">
              <a:buNone/>
            </a:pPr>
            <a:r>
              <a:rPr lang="en-US" sz="850" b="1" dirty="0">
                <a:solidFill>
                  <a:srgbClr val="24313F"/>
                </a:solidFill>
                <a:latin typeface="Aptos" pitchFamily="34" charset="0"/>
                <a:ea typeface="Aptos" pitchFamily="34" charset="-122"/>
                <a:cs typeface="Aptos" pitchFamily="34" charset="-120"/>
              </a:rPr>
              <a:t>Fabs / memory</a:t>
            </a:r>
            <a:endParaRPr lang="en-US" sz="850" dirty="0"/>
          </a:p>
          <a:p>
            <a:pPr algn="ctr" indent="0" marL="0">
              <a:buNone/>
            </a:pPr>
            <a:r>
              <a:rPr lang="en-US" sz="850" b="1" dirty="0">
                <a:solidFill>
                  <a:srgbClr val="24313F"/>
                </a:solidFill>
                <a:latin typeface="Aptos" pitchFamily="34" charset="0"/>
                <a:ea typeface="Aptos" pitchFamily="34" charset="-122"/>
                <a:cs typeface="Aptos" pitchFamily="34" charset="-120"/>
              </a:rPr>
              <a:t>TSMC, Samsung, Intel</a:t>
            </a:r>
            <a:endParaRPr lang="en-US" sz="850" dirty="0"/>
          </a:p>
          <a:p>
            <a:pPr algn="ctr" indent="0" marL="0">
              <a:buNone/>
            </a:pPr>
            <a:r>
              <a:rPr lang="en-US" sz="850" b="1" dirty="0">
                <a:solidFill>
                  <a:srgbClr val="24313F"/>
                </a:solidFill>
                <a:latin typeface="Aptos" pitchFamily="34" charset="0"/>
                <a:ea typeface="Aptos" pitchFamily="34" charset="-122"/>
                <a:cs typeface="Aptos" pitchFamily="34" charset="-120"/>
              </a:rPr>
              <a:t>Micron, SK Hynix</a:t>
            </a:r>
            <a:endParaRPr lang="en-US" sz="850" dirty="0"/>
          </a:p>
        </p:txBody>
      </p:sp>
      <p:sp>
        <p:nvSpPr>
          <p:cNvPr id="10" name="Shape 8"/>
          <p:cNvSpPr/>
          <p:nvPr/>
        </p:nvSpPr>
        <p:spPr>
          <a:xfrm>
            <a:off x="7159752" y="2286000"/>
            <a:ext cx="274320" cy="0"/>
          </a:xfrm>
          <a:prstGeom prst="line">
            <a:avLst/>
          </a:prstGeom>
          <a:noFill/>
          <a:ln w="12700">
            <a:solidFill>
              <a:srgbClr val="64748B"/>
            </a:solidFill>
            <a:prstDash val="solid"/>
            <a:headEnd type="none"/>
            <a:tailEnd type="triangle"/>
          </a:ln>
        </p:spPr>
      </p:sp>
      <p:sp>
        <p:nvSpPr>
          <p:cNvPr id="11" name="Text 9"/>
          <p:cNvSpPr/>
          <p:nvPr/>
        </p:nvSpPr>
        <p:spPr>
          <a:xfrm>
            <a:off x="7498080" y="1874520"/>
            <a:ext cx="1993392" cy="822960"/>
          </a:xfrm>
          <a:prstGeom prst="rect">
            <a:avLst/>
          </a:prstGeom>
          <a:solidFill>
            <a:srgbClr val="FFFFFF"/>
          </a:solidFill>
          <a:ln w="10160">
            <a:solidFill>
              <a:srgbClr val="D5DEE6"/>
            </a:solidFill>
          </a:ln>
        </p:spPr>
        <p:txBody>
          <a:bodyPr wrap="square" lIns="635" tIns="635" rIns="635" bIns="635" rtlCol="0" anchor="ctr">
            <a:normAutofit/>
          </a:bodyPr>
          <a:lstStyle/>
          <a:p>
            <a:pPr algn="ctr" indent="0" marL="0">
              <a:buNone/>
            </a:pPr>
            <a:r>
              <a:rPr lang="en-US" sz="850" b="1" dirty="0">
                <a:solidFill>
                  <a:srgbClr val="24313F"/>
                </a:solidFill>
                <a:latin typeface="Aptos" pitchFamily="34" charset="0"/>
                <a:ea typeface="Aptos" pitchFamily="34" charset="-122"/>
                <a:cs typeface="Aptos" pitchFamily="34" charset="-120"/>
              </a:rPr>
              <a:t>Equipment OEMs</a:t>
            </a:r>
            <a:endParaRPr lang="en-US" sz="850" dirty="0"/>
          </a:p>
          <a:p>
            <a:pPr algn="ctr" indent="0" marL="0">
              <a:buNone/>
            </a:pPr>
            <a:r>
              <a:rPr lang="en-US" sz="850" b="1" dirty="0">
                <a:solidFill>
                  <a:srgbClr val="24313F"/>
                </a:solidFill>
                <a:latin typeface="Aptos" pitchFamily="34" charset="0"/>
                <a:ea typeface="Aptos" pitchFamily="34" charset="-122"/>
                <a:cs typeface="Aptos" pitchFamily="34" charset="-120"/>
              </a:rPr>
              <a:t>ASML, Applied Materials</a:t>
            </a:r>
            <a:endParaRPr lang="en-US" sz="850" dirty="0"/>
          </a:p>
          <a:p>
            <a:pPr algn="ctr" indent="0" marL="0">
              <a:buNone/>
            </a:pPr>
            <a:r>
              <a:rPr lang="en-US" sz="850" b="1" dirty="0">
                <a:solidFill>
                  <a:srgbClr val="24313F"/>
                </a:solidFill>
                <a:latin typeface="Aptos" pitchFamily="34" charset="0"/>
                <a:ea typeface="Aptos" pitchFamily="34" charset="-122"/>
                <a:cs typeface="Aptos" pitchFamily="34" charset="-120"/>
              </a:rPr>
              <a:t>Lam, TEL, KLA</a:t>
            </a:r>
            <a:endParaRPr lang="en-US" sz="850" dirty="0"/>
          </a:p>
        </p:txBody>
      </p:sp>
      <p:sp>
        <p:nvSpPr>
          <p:cNvPr id="12" name="Shape 10"/>
          <p:cNvSpPr/>
          <p:nvPr/>
        </p:nvSpPr>
        <p:spPr>
          <a:xfrm>
            <a:off x="9491472" y="2286000"/>
            <a:ext cx="274320" cy="0"/>
          </a:xfrm>
          <a:prstGeom prst="line">
            <a:avLst/>
          </a:prstGeom>
          <a:noFill/>
          <a:ln w="12700">
            <a:solidFill>
              <a:srgbClr val="64748B"/>
            </a:solidFill>
            <a:prstDash val="solid"/>
            <a:headEnd type="none"/>
            <a:tailEnd type="triangle"/>
          </a:ln>
        </p:spPr>
      </p:sp>
      <p:sp>
        <p:nvSpPr>
          <p:cNvPr id="13" name="Text 11"/>
          <p:cNvSpPr/>
          <p:nvPr/>
        </p:nvSpPr>
        <p:spPr>
          <a:xfrm>
            <a:off x="9829800" y="1874520"/>
            <a:ext cx="1993392" cy="822960"/>
          </a:xfrm>
          <a:prstGeom prst="rect">
            <a:avLst/>
          </a:prstGeom>
          <a:solidFill>
            <a:srgbClr val="EDF8F6"/>
          </a:solidFill>
          <a:ln w="10160">
            <a:solidFill>
              <a:srgbClr val="2A9D8F"/>
            </a:solidFill>
          </a:ln>
        </p:spPr>
        <p:txBody>
          <a:bodyPr wrap="square" lIns="635" tIns="635" rIns="635" bIns="635" rtlCol="0" anchor="ctr">
            <a:normAutofit/>
          </a:bodyPr>
          <a:lstStyle/>
          <a:p>
            <a:pPr algn="ctr" indent="0" marL="0">
              <a:buNone/>
            </a:pPr>
            <a:r>
              <a:rPr lang="en-US" sz="850" b="1" dirty="0">
                <a:solidFill>
                  <a:srgbClr val="24313F"/>
                </a:solidFill>
                <a:latin typeface="Aptos" pitchFamily="34" charset="0"/>
                <a:ea typeface="Aptos" pitchFamily="34" charset="-122"/>
                <a:cs typeface="Aptos" pitchFamily="34" charset="-120"/>
              </a:rPr>
              <a:t>Critical subsystems</a:t>
            </a:r>
            <a:endParaRPr lang="en-US" sz="850" dirty="0"/>
          </a:p>
          <a:p>
            <a:pPr algn="ctr" indent="0" marL="0">
              <a:buNone/>
            </a:pPr>
            <a:r>
              <a:rPr lang="en-US" sz="850" b="1" dirty="0">
                <a:solidFill>
                  <a:srgbClr val="24313F"/>
                </a:solidFill>
                <a:latin typeface="Aptos" pitchFamily="34" charset="0"/>
                <a:ea typeface="Aptos" pitchFamily="34" charset="-122"/>
                <a:cs typeface="Aptos" pitchFamily="34" charset="-120"/>
              </a:rPr>
              <a:t>VAT vacuum valves</a:t>
            </a:r>
            <a:endParaRPr lang="en-US" sz="850" dirty="0"/>
          </a:p>
          <a:p>
            <a:pPr algn="ctr" indent="0" marL="0">
              <a:buNone/>
            </a:pPr>
            <a:r>
              <a:rPr lang="en-US" sz="850" b="1" dirty="0">
                <a:solidFill>
                  <a:srgbClr val="24313F"/>
                </a:solidFill>
                <a:latin typeface="Aptos" pitchFamily="34" charset="0"/>
                <a:ea typeface="Aptos" pitchFamily="34" charset="-122"/>
                <a:cs typeface="Aptos" pitchFamily="34" charset="-120"/>
              </a:rPr>
              <a:t>MKS, Zeiss, others</a:t>
            </a:r>
            <a:endParaRPr lang="en-US" sz="850" dirty="0"/>
          </a:p>
        </p:txBody>
      </p:sp>
      <p:sp>
        <p:nvSpPr>
          <p:cNvPr id="14" name="Text 12"/>
          <p:cNvSpPr/>
          <p:nvPr/>
        </p:nvSpPr>
        <p:spPr>
          <a:xfrm>
            <a:off x="685800" y="3383280"/>
            <a:ext cx="3017520" cy="914400"/>
          </a:xfrm>
          <a:prstGeom prst="rect">
            <a:avLst/>
          </a:prstGeom>
          <a:solidFill>
            <a:srgbClr val="FFFFFF"/>
          </a:solidFill>
          <a:ln w="10160">
            <a:solidFill>
              <a:srgbClr val="D5DEE6"/>
            </a:solidFill>
          </a:ln>
        </p:spPr>
        <p:txBody>
          <a:bodyPr wrap="square" lIns="1270" tIns="1270" rIns="1270" bIns="1270" rtlCol="0" anchor="ctr">
            <a:normAutofit/>
          </a:bodyPr>
          <a:lstStyle/>
          <a:p>
            <a:pPr algn="l" indent="0" marL="0">
              <a:buNone/>
            </a:pPr>
            <a:r>
              <a:rPr lang="en-US" sz="880" dirty="0">
                <a:solidFill>
                  <a:srgbClr val="24313F"/>
                </a:solidFill>
                <a:latin typeface="Aptos" pitchFamily="34" charset="0"/>
                <a:ea typeface="Aptos" pitchFamily="34" charset="-122"/>
                <a:cs typeface="Aptos" pitchFamily="34" charset="-120"/>
              </a:rPr>
              <a:t>What a chip is</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A chip is a patterned silicon wafer containing billions of transistors - tiny on/off switches that manipulate electrical signals.</a:t>
            </a:r>
            <a:endParaRPr lang="en-US" sz="880" dirty="0"/>
          </a:p>
        </p:txBody>
      </p:sp>
      <p:sp>
        <p:nvSpPr>
          <p:cNvPr id="15" name="Text 13"/>
          <p:cNvSpPr/>
          <p:nvPr/>
        </p:nvSpPr>
        <p:spPr>
          <a:xfrm>
            <a:off x="3977640" y="3383280"/>
            <a:ext cx="3017520" cy="914400"/>
          </a:xfrm>
          <a:prstGeom prst="rect">
            <a:avLst/>
          </a:prstGeom>
          <a:solidFill>
            <a:srgbClr val="FFFFFF"/>
          </a:solidFill>
          <a:ln w="10160">
            <a:solidFill>
              <a:srgbClr val="D5DEE6"/>
            </a:solidFill>
          </a:ln>
        </p:spPr>
        <p:txBody>
          <a:bodyPr wrap="square" lIns="1270" tIns="1270" rIns="1270" bIns="1270" rtlCol="0" anchor="ctr">
            <a:normAutofit/>
          </a:bodyPr>
          <a:lstStyle/>
          <a:p>
            <a:pPr algn="l" indent="0" marL="0">
              <a:buNone/>
            </a:pPr>
            <a:r>
              <a:rPr lang="en-US" sz="880" dirty="0">
                <a:solidFill>
                  <a:srgbClr val="24313F"/>
                </a:solidFill>
                <a:latin typeface="Aptos" pitchFamily="34" charset="0"/>
                <a:ea typeface="Aptos" pitchFamily="34" charset="-122"/>
                <a:cs typeface="Aptos" pitchFamily="34" charset="-120"/>
              </a:rPr>
              <a:t>Logic vs memory</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Logic calculates; memory stores. AI accelerators need both: leading-edge logic plus HBM/DRAM bandwidth.</a:t>
            </a:r>
            <a:endParaRPr lang="en-US" sz="880" dirty="0"/>
          </a:p>
        </p:txBody>
      </p:sp>
      <p:sp>
        <p:nvSpPr>
          <p:cNvPr id="16" name="Text 14"/>
          <p:cNvSpPr/>
          <p:nvPr/>
        </p:nvSpPr>
        <p:spPr>
          <a:xfrm>
            <a:off x="7269480" y="3383280"/>
            <a:ext cx="3017520" cy="914400"/>
          </a:xfrm>
          <a:prstGeom prst="rect">
            <a:avLst/>
          </a:prstGeom>
          <a:solidFill>
            <a:srgbClr val="FFFFFF"/>
          </a:solidFill>
          <a:ln w="10160">
            <a:solidFill>
              <a:srgbClr val="D5DEE6"/>
            </a:solidFill>
          </a:ln>
        </p:spPr>
        <p:txBody>
          <a:bodyPr wrap="square" lIns="1270" tIns="1270" rIns="1270" bIns="1270" rtlCol="0" anchor="ctr">
            <a:normAutofit/>
          </a:bodyPr>
          <a:lstStyle/>
          <a:p>
            <a:pPr algn="l" indent="0" marL="0">
              <a:buNone/>
            </a:pPr>
            <a:r>
              <a:rPr lang="en-US" sz="880" dirty="0">
                <a:solidFill>
                  <a:srgbClr val="24313F"/>
                </a:solidFill>
                <a:latin typeface="Aptos" pitchFamily="34" charset="0"/>
                <a:ea typeface="Aptos" pitchFamily="34" charset="-122"/>
                <a:cs typeface="Aptos" pitchFamily="34" charset="-120"/>
              </a:rPr>
              <a:t>Designers vs manufacturers</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Fabless designers specify chips; foundries and memory makers buy tools to physically manufacture them.</a:t>
            </a:r>
            <a:endParaRPr lang="en-US" sz="880" dirty="0"/>
          </a:p>
        </p:txBody>
      </p:sp>
      <p:sp>
        <p:nvSpPr>
          <p:cNvPr id="17" name="Text 15"/>
          <p:cNvSpPr/>
          <p:nvPr/>
        </p:nvSpPr>
        <p:spPr>
          <a:xfrm>
            <a:off x="685800" y="4800600"/>
            <a:ext cx="9601200" cy="530352"/>
          </a:xfrm>
          <a:prstGeom prst="rect">
            <a:avLst/>
          </a:prstGeom>
          <a:solidFill>
            <a:srgbClr val="FFF8EA"/>
          </a:solidFill>
          <a:ln w="10160">
            <a:solidFill>
              <a:srgbClr val="E9C46A"/>
            </a:solidFill>
          </a:ln>
        </p:spPr>
        <p:txBody>
          <a:bodyPr wrap="square" lIns="1016" tIns="1016" rIns="1016" bIns="1016" rtlCol="0" anchor="ctr">
            <a:normAutofit/>
          </a:bodyPr>
          <a:lstStyle/>
          <a:p>
            <a:pPr algn="l" indent="0" marL="0">
              <a:buNone/>
            </a:pPr>
            <a:r>
              <a:rPr lang="en-US" sz="920" dirty="0">
                <a:solidFill>
                  <a:srgbClr val="24313F"/>
                </a:solidFill>
                <a:latin typeface="Aptos" pitchFamily="34" charset="0"/>
                <a:ea typeface="Aptos" pitchFamily="34" charset="-122"/>
                <a:cs typeface="Aptos" pitchFamily="34" charset="-120"/>
              </a:rPr>
              <a:t>Investor translation</a:t>
            </a:r>
            <a:endParaRPr lang="en-US" sz="920" dirty="0"/>
          </a:p>
          <a:p>
            <a:pPr algn="l" indent="0" marL="0">
              <a:buNone/>
            </a:pPr>
            <a:r>
              <a:rPr lang="en-US" sz="920" dirty="0">
                <a:solidFill>
                  <a:srgbClr val="24313F"/>
                </a:solidFill>
                <a:latin typeface="Aptos" pitchFamily="34" charset="0"/>
                <a:ea typeface="Aptos" pitchFamily="34" charset="-122"/>
                <a:cs typeface="Aptos" pitchFamily="34" charset="-120"/>
              </a:rPr>
              <a:t>AI capex does not pay VAT directly; it raises fab spending, which raises tool orders, which raises demand for qualified vacuum valves.</a:t>
            </a:r>
            <a:endParaRPr lang="en-US" sz="920" dirty="0"/>
          </a:p>
        </p:txBody>
      </p:sp>
      <p:sp>
        <p:nvSpPr>
          <p:cNvPr id="18" name="Shape 16"/>
          <p:cNvSpPr/>
          <p:nvPr/>
        </p:nvSpPr>
        <p:spPr>
          <a:xfrm>
            <a:off x="411480" y="6510528"/>
            <a:ext cx="11384280" cy="0"/>
          </a:xfrm>
          <a:prstGeom prst="line">
            <a:avLst/>
          </a:prstGeom>
          <a:noFill/>
          <a:ln w="7620">
            <a:solidFill>
              <a:srgbClr val="D5DEE6"/>
            </a:solidFill>
            <a:prstDash val="solid"/>
          </a:ln>
        </p:spPr>
      </p:sp>
      <p:sp>
        <p:nvSpPr>
          <p:cNvPr id="19" name="Text 17"/>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VAT Capital Markets Day 2025; VAT H1 2026 report; analyst interpretation. Value-chain diagram is illustrative.</a:t>
            </a:r>
            <a:endParaRPr lang="en-US" sz="580" dirty="0"/>
          </a:p>
        </p:txBody>
      </p:sp>
      <p:sp>
        <p:nvSpPr>
          <p:cNvPr id="20" name="Text 18"/>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3</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Vacuum is required because atomic-scale manufacturing cannot tolerate uncontrolled air</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The more advanced the chip, the more deposition / etch / vacuum-intensive steps are repeated.</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Text 3"/>
          <p:cNvSpPr/>
          <p:nvPr/>
        </p:nvSpPr>
        <p:spPr>
          <a:xfrm>
            <a:off x="548640" y="1481328"/>
            <a:ext cx="1280160" cy="685800"/>
          </a:xfrm>
          <a:prstGeom prst="rect">
            <a:avLst/>
          </a:prstGeom>
          <a:solidFill>
            <a:srgbClr val="EDF8F6"/>
          </a:solidFill>
          <a:ln w="10160">
            <a:solidFill>
              <a:srgbClr val="2A9D8F"/>
            </a:solidFill>
          </a:ln>
        </p:spPr>
        <p:txBody>
          <a:bodyPr wrap="square" lIns="508" tIns="508" rIns="508" bIns="508" rtlCol="0" anchor="ctr">
            <a:normAutofit/>
          </a:bodyPr>
          <a:lstStyle/>
          <a:p>
            <a:pPr algn="ctr" indent="0" marL="0">
              <a:buNone/>
            </a:pPr>
            <a:r>
              <a:rPr lang="en-US" sz="740" b="1" dirty="0">
                <a:solidFill>
                  <a:srgbClr val="24313F"/>
                </a:solidFill>
                <a:latin typeface="Aptos" pitchFamily="34" charset="0"/>
                <a:ea typeface="Aptos" pitchFamily="34" charset="-122"/>
                <a:cs typeface="Aptos" pitchFamily="34" charset="-120"/>
              </a:rPr>
              <a:t>Deposition</a:t>
            </a:r>
            <a:endParaRPr lang="en-US" sz="740" dirty="0"/>
          </a:p>
          <a:p>
            <a:pPr algn="ctr" indent="0" marL="0">
              <a:buNone/>
            </a:pPr>
            <a:r>
              <a:rPr lang="en-US" sz="740" b="1" dirty="0">
                <a:solidFill>
                  <a:srgbClr val="24313F"/>
                </a:solidFill>
                <a:latin typeface="Aptos" pitchFamily="34" charset="0"/>
                <a:ea typeface="Aptos" pitchFamily="34" charset="-122"/>
                <a:cs typeface="Aptos" pitchFamily="34" charset="-120"/>
              </a:rPr>
              <a:t>vacuum-critical</a:t>
            </a:r>
            <a:endParaRPr lang="en-US" sz="740" dirty="0"/>
          </a:p>
        </p:txBody>
      </p:sp>
      <p:sp>
        <p:nvSpPr>
          <p:cNvPr id="6" name="Shape 4"/>
          <p:cNvSpPr/>
          <p:nvPr/>
        </p:nvSpPr>
        <p:spPr>
          <a:xfrm>
            <a:off x="1828800" y="1828800"/>
            <a:ext cx="292608" cy="0"/>
          </a:xfrm>
          <a:prstGeom prst="line">
            <a:avLst/>
          </a:prstGeom>
          <a:noFill/>
          <a:ln w="11430">
            <a:solidFill>
              <a:srgbClr val="64748B"/>
            </a:solidFill>
            <a:prstDash val="solid"/>
            <a:headEnd type="none"/>
            <a:tailEnd type="triangle"/>
          </a:ln>
        </p:spPr>
      </p:sp>
      <p:sp>
        <p:nvSpPr>
          <p:cNvPr id="7" name="Text 5"/>
          <p:cNvSpPr/>
          <p:nvPr/>
        </p:nvSpPr>
        <p:spPr>
          <a:xfrm>
            <a:off x="2176272" y="1481328"/>
            <a:ext cx="1280160" cy="685800"/>
          </a:xfrm>
          <a:prstGeom prst="rect">
            <a:avLst/>
          </a:prstGeom>
          <a:solidFill>
            <a:srgbClr val="FFFFFF"/>
          </a:solidFill>
          <a:ln w="10160">
            <a:solidFill>
              <a:srgbClr val="D5DEE6"/>
            </a:solidFill>
          </a:ln>
        </p:spPr>
        <p:txBody>
          <a:bodyPr wrap="square" lIns="508" tIns="508" rIns="508" bIns="508" rtlCol="0" anchor="ctr">
            <a:normAutofit/>
          </a:bodyPr>
          <a:lstStyle/>
          <a:p>
            <a:pPr algn="ctr" indent="0" marL="0">
              <a:buNone/>
            </a:pPr>
            <a:r>
              <a:rPr lang="en-US" sz="740" dirty="0">
                <a:solidFill>
                  <a:srgbClr val="24313F"/>
                </a:solidFill>
                <a:latin typeface="Aptos" pitchFamily="34" charset="0"/>
                <a:ea typeface="Aptos" pitchFamily="34" charset="-122"/>
                <a:cs typeface="Aptos" pitchFamily="34" charset="-120"/>
              </a:rPr>
              <a:t>Lithography</a:t>
            </a:r>
            <a:endParaRPr lang="en-US" sz="740" dirty="0"/>
          </a:p>
          <a:p>
            <a:pPr algn="ctr" indent="0" marL="0">
              <a:buNone/>
            </a:pPr>
            <a:r>
              <a:rPr lang="en-US" sz="740" dirty="0">
                <a:solidFill>
                  <a:srgbClr val="24313F"/>
                </a:solidFill>
                <a:latin typeface="Aptos" pitchFamily="34" charset="0"/>
                <a:ea typeface="Aptos" pitchFamily="34" charset="-122"/>
                <a:cs typeface="Aptos" pitchFamily="34" charset="-120"/>
              </a:rPr>
              <a:t>controlled environment</a:t>
            </a:r>
            <a:endParaRPr lang="en-US" sz="740" dirty="0"/>
          </a:p>
        </p:txBody>
      </p:sp>
      <p:sp>
        <p:nvSpPr>
          <p:cNvPr id="8" name="Shape 6"/>
          <p:cNvSpPr/>
          <p:nvPr/>
        </p:nvSpPr>
        <p:spPr>
          <a:xfrm>
            <a:off x="3456432" y="1828800"/>
            <a:ext cx="292608" cy="0"/>
          </a:xfrm>
          <a:prstGeom prst="line">
            <a:avLst/>
          </a:prstGeom>
          <a:noFill/>
          <a:ln w="11430">
            <a:solidFill>
              <a:srgbClr val="64748B"/>
            </a:solidFill>
            <a:prstDash val="solid"/>
            <a:headEnd type="none"/>
            <a:tailEnd type="triangle"/>
          </a:ln>
        </p:spPr>
      </p:sp>
      <p:sp>
        <p:nvSpPr>
          <p:cNvPr id="9" name="Text 7"/>
          <p:cNvSpPr/>
          <p:nvPr/>
        </p:nvSpPr>
        <p:spPr>
          <a:xfrm>
            <a:off x="3803904" y="1481328"/>
            <a:ext cx="1280160" cy="685800"/>
          </a:xfrm>
          <a:prstGeom prst="rect">
            <a:avLst/>
          </a:prstGeom>
          <a:solidFill>
            <a:srgbClr val="EDF8F6"/>
          </a:solidFill>
          <a:ln w="10160">
            <a:solidFill>
              <a:srgbClr val="2A9D8F"/>
            </a:solidFill>
          </a:ln>
        </p:spPr>
        <p:txBody>
          <a:bodyPr wrap="square" lIns="508" tIns="508" rIns="508" bIns="508" rtlCol="0" anchor="ctr">
            <a:normAutofit/>
          </a:bodyPr>
          <a:lstStyle/>
          <a:p>
            <a:pPr algn="ctr" indent="0" marL="0">
              <a:buNone/>
            </a:pPr>
            <a:r>
              <a:rPr lang="en-US" sz="740" b="1" dirty="0">
                <a:solidFill>
                  <a:srgbClr val="24313F"/>
                </a:solidFill>
                <a:latin typeface="Aptos" pitchFamily="34" charset="0"/>
                <a:ea typeface="Aptos" pitchFamily="34" charset="-122"/>
                <a:cs typeface="Aptos" pitchFamily="34" charset="-120"/>
              </a:rPr>
              <a:t>Etch</a:t>
            </a:r>
            <a:endParaRPr lang="en-US" sz="740" dirty="0"/>
          </a:p>
          <a:p>
            <a:pPr algn="ctr" indent="0" marL="0">
              <a:buNone/>
            </a:pPr>
            <a:r>
              <a:rPr lang="en-US" sz="740" b="1" dirty="0">
                <a:solidFill>
                  <a:srgbClr val="24313F"/>
                </a:solidFill>
                <a:latin typeface="Aptos" pitchFamily="34" charset="0"/>
                <a:ea typeface="Aptos" pitchFamily="34" charset="-122"/>
                <a:cs typeface="Aptos" pitchFamily="34" charset="-120"/>
              </a:rPr>
              <a:t>vacuum-critical</a:t>
            </a:r>
            <a:endParaRPr lang="en-US" sz="740" dirty="0"/>
          </a:p>
        </p:txBody>
      </p:sp>
      <p:sp>
        <p:nvSpPr>
          <p:cNvPr id="10" name="Shape 8"/>
          <p:cNvSpPr/>
          <p:nvPr/>
        </p:nvSpPr>
        <p:spPr>
          <a:xfrm>
            <a:off x="5084064" y="1828800"/>
            <a:ext cx="292608" cy="0"/>
          </a:xfrm>
          <a:prstGeom prst="line">
            <a:avLst/>
          </a:prstGeom>
          <a:noFill/>
          <a:ln w="11430">
            <a:solidFill>
              <a:srgbClr val="64748B"/>
            </a:solidFill>
            <a:prstDash val="solid"/>
            <a:headEnd type="none"/>
            <a:tailEnd type="triangle"/>
          </a:ln>
        </p:spPr>
      </p:sp>
      <p:sp>
        <p:nvSpPr>
          <p:cNvPr id="11" name="Text 9"/>
          <p:cNvSpPr/>
          <p:nvPr/>
        </p:nvSpPr>
        <p:spPr>
          <a:xfrm>
            <a:off x="5431536" y="1481328"/>
            <a:ext cx="1280160" cy="685800"/>
          </a:xfrm>
          <a:prstGeom prst="rect">
            <a:avLst/>
          </a:prstGeom>
          <a:solidFill>
            <a:srgbClr val="EDF8F6"/>
          </a:solidFill>
          <a:ln w="10160">
            <a:solidFill>
              <a:srgbClr val="2A9D8F"/>
            </a:solidFill>
          </a:ln>
        </p:spPr>
        <p:txBody>
          <a:bodyPr wrap="square" lIns="508" tIns="508" rIns="508" bIns="508" rtlCol="0" anchor="ctr">
            <a:normAutofit/>
          </a:bodyPr>
          <a:lstStyle/>
          <a:p>
            <a:pPr algn="ctr" indent="0" marL="0">
              <a:buNone/>
            </a:pPr>
            <a:r>
              <a:rPr lang="en-US" sz="740" b="1" dirty="0">
                <a:solidFill>
                  <a:srgbClr val="24313F"/>
                </a:solidFill>
                <a:latin typeface="Aptos" pitchFamily="34" charset="0"/>
                <a:ea typeface="Aptos" pitchFamily="34" charset="-122"/>
                <a:cs typeface="Aptos" pitchFamily="34" charset="-120"/>
              </a:rPr>
              <a:t>Implantation</a:t>
            </a:r>
            <a:endParaRPr lang="en-US" sz="740" dirty="0"/>
          </a:p>
          <a:p>
            <a:pPr algn="ctr" indent="0" marL="0">
              <a:buNone/>
            </a:pPr>
            <a:r>
              <a:rPr lang="en-US" sz="740" b="1" dirty="0">
                <a:solidFill>
                  <a:srgbClr val="24313F"/>
                </a:solidFill>
                <a:latin typeface="Aptos" pitchFamily="34" charset="0"/>
                <a:ea typeface="Aptos" pitchFamily="34" charset="-122"/>
                <a:cs typeface="Aptos" pitchFamily="34" charset="-120"/>
              </a:rPr>
              <a:t>vacuum-critical</a:t>
            </a:r>
            <a:endParaRPr lang="en-US" sz="740" dirty="0"/>
          </a:p>
        </p:txBody>
      </p:sp>
      <p:sp>
        <p:nvSpPr>
          <p:cNvPr id="12" name="Shape 10"/>
          <p:cNvSpPr/>
          <p:nvPr/>
        </p:nvSpPr>
        <p:spPr>
          <a:xfrm>
            <a:off x="6711696" y="1828800"/>
            <a:ext cx="292608" cy="0"/>
          </a:xfrm>
          <a:prstGeom prst="line">
            <a:avLst/>
          </a:prstGeom>
          <a:noFill/>
          <a:ln w="11430">
            <a:solidFill>
              <a:srgbClr val="64748B"/>
            </a:solidFill>
            <a:prstDash val="solid"/>
            <a:headEnd type="none"/>
            <a:tailEnd type="triangle"/>
          </a:ln>
        </p:spPr>
      </p:sp>
      <p:sp>
        <p:nvSpPr>
          <p:cNvPr id="13" name="Text 11"/>
          <p:cNvSpPr/>
          <p:nvPr/>
        </p:nvSpPr>
        <p:spPr>
          <a:xfrm>
            <a:off x="7059168" y="1481328"/>
            <a:ext cx="1280160" cy="685800"/>
          </a:xfrm>
          <a:prstGeom prst="rect">
            <a:avLst/>
          </a:prstGeom>
          <a:solidFill>
            <a:srgbClr val="FFFFFF"/>
          </a:solidFill>
          <a:ln w="10160">
            <a:solidFill>
              <a:srgbClr val="D5DEE6"/>
            </a:solidFill>
          </a:ln>
        </p:spPr>
        <p:txBody>
          <a:bodyPr wrap="square" lIns="508" tIns="508" rIns="508" bIns="508" rtlCol="0" anchor="ctr">
            <a:normAutofit/>
          </a:bodyPr>
          <a:lstStyle/>
          <a:p>
            <a:pPr algn="ctr" indent="0" marL="0">
              <a:buNone/>
            </a:pPr>
            <a:r>
              <a:rPr lang="en-US" sz="740" dirty="0">
                <a:solidFill>
                  <a:srgbClr val="24313F"/>
                </a:solidFill>
                <a:latin typeface="Aptos" pitchFamily="34" charset="0"/>
                <a:ea typeface="Aptos" pitchFamily="34" charset="-122"/>
                <a:cs typeface="Aptos" pitchFamily="34" charset="-120"/>
              </a:rPr>
              <a:t>Clean</a:t>
            </a:r>
            <a:endParaRPr lang="en-US" sz="740" dirty="0"/>
          </a:p>
          <a:p>
            <a:pPr algn="ctr" indent="0" marL="0">
              <a:buNone/>
            </a:pPr>
            <a:r>
              <a:rPr lang="en-US" sz="740" dirty="0">
                <a:solidFill>
                  <a:srgbClr val="24313F"/>
                </a:solidFill>
                <a:latin typeface="Aptos" pitchFamily="34" charset="0"/>
                <a:ea typeface="Aptos" pitchFamily="34" charset="-122"/>
                <a:cs typeface="Aptos" pitchFamily="34" charset="-120"/>
              </a:rPr>
              <a:t>controlled environment</a:t>
            </a:r>
            <a:endParaRPr lang="en-US" sz="740" dirty="0"/>
          </a:p>
        </p:txBody>
      </p:sp>
      <p:sp>
        <p:nvSpPr>
          <p:cNvPr id="14" name="Shape 12"/>
          <p:cNvSpPr/>
          <p:nvPr/>
        </p:nvSpPr>
        <p:spPr>
          <a:xfrm>
            <a:off x="8339328" y="1828800"/>
            <a:ext cx="292608" cy="0"/>
          </a:xfrm>
          <a:prstGeom prst="line">
            <a:avLst/>
          </a:prstGeom>
          <a:noFill/>
          <a:ln w="11430">
            <a:solidFill>
              <a:srgbClr val="64748B"/>
            </a:solidFill>
            <a:prstDash val="solid"/>
            <a:headEnd type="none"/>
            <a:tailEnd type="triangle"/>
          </a:ln>
        </p:spPr>
      </p:sp>
      <p:sp>
        <p:nvSpPr>
          <p:cNvPr id="15" name="Text 13"/>
          <p:cNvSpPr/>
          <p:nvPr/>
        </p:nvSpPr>
        <p:spPr>
          <a:xfrm>
            <a:off x="8686800" y="1481328"/>
            <a:ext cx="1280160" cy="685800"/>
          </a:xfrm>
          <a:prstGeom prst="rect">
            <a:avLst/>
          </a:prstGeom>
          <a:solidFill>
            <a:srgbClr val="FFFFFF"/>
          </a:solidFill>
          <a:ln w="10160">
            <a:solidFill>
              <a:srgbClr val="D5DEE6"/>
            </a:solidFill>
          </a:ln>
        </p:spPr>
        <p:txBody>
          <a:bodyPr wrap="square" lIns="508" tIns="508" rIns="508" bIns="508" rtlCol="0" anchor="ctr">
            <a:normAutofit/>
          </a:bodyPr>
          <a:lstStyle/>
          <a:p>
            <a:pPr algn="ctr" indent="0" marL="0">
              <a:buNone/>
            </a:pPr>
            <a:r>
              <a:rPr lang="en-US" sz="740" dirty="0">
                <a:solidFill>
                  <a:srgbClr val="24313F"/>
                </a:solidFill>
                <a:latin typeface="Aptos" pitchFamily="34" charset="0"/>
                <a:ea typeface="Aptos" pitchFamily="34" charset="-122"/>
                <a:cs typeface="Aptos" pitchFamily="34" charset="-120"/>
              </a:rPr>
              <a:t>Inspection</a:t>
            </a:r>
            <a:endParaRPr lang="en-US" sz="740" dirty="0"/>
          </a:p>
          <a:p>
            <a:pPr algn="ctr" indent="0" marL="0">
              <a:buNone/>
            </a:pPr>
            <a:r>
              <a:rPr lang="en-US" sz="740" dirty="0">
                <a:solidFill>
                  <a:srgbClr val="24313F"/>
                </a:solidFill>
                <a:latin typeface="Aptos" pitchFamily="34" charset="0"/>
                <a:ea typeface="Aptos" pitchFamily="34" charset="-122"/>
                <a:cs typeface="Aptos" pitchFamily="34" charset="-120"/>
              </a:rPr>
              <a:t>controlled environment</a:t>
            </a:r>
            <a:endParaRPr lang="en-US" sz="740" dirty="0"/>
          </a:p>
        </p:txBody>
      </p:sp>
      <p:sp>
        <p:nvSpPr>
          <p:cNvPr id="16" name="Shape 14"/>
          <p:cNvSpPr/>
          <p:nvPr/>
        </p:nvSpPr>
        <p:spPr>
          <a:xfrm>
            <a:off x="9966960" y="1828800"/>
            <a:ext cx="292608" cy="0"/>
          </a:xfrm>
          <a:prstGeom prst="line">
            <a:avLst/>
          </a:prstGeom>
          <a:noFill/>
          <a:ln w="11430">
            <a:solidFill>
              <a:srgbClr val="64748B"/>
            </a:solidFill>
            <a:prstDash val="solid"/>
            <a:headEnd type="none"/>
            <a:tailEnd type="triangle"/>
          </a:ln>
        </p:spPr>
      </p:sp>
      <p:sp>
        <p:nvSpPr>
          <p:cNvPr id="17" name="Text 15"/>
          <p:cNvSpPr/>
          <p:nvPr/>
        </p:nvSpPr>
        <p:spPr>
          <a:xfrm>
            <a:off x="10314432" y="1481328"/>
            <a:ext cx="1280160" cy="685800"/>
          </a:xfrm>
          <a:prstGeom prst="rect">
            <a:avLst/>
          </a:prstGeom>
          <a:solidFill>
            <a:srgbClr val="EDF8F6"/>
          </a:solidFill>
          <a:ln w="10160">
            <a:solidFill>
              <a:srgbClr val="2A9D8F"/>
            </a:solidFill>
          </a:ln>
        </p:spPr>
        <p:txBody>
          <a:bodyPr wrap="square" lIns="508" tIns="508" rIns="508" bIns="508" rtlCol="0" anchor="ctr">
            <a:normAutofit/>
          </a:bodyPr>
          <a:lstStyle/>
          <a:p>
            <a:pPr algn="ctr" indent="0" marL="0">
              <a:buNone/>
            </a:pPr>
            <a:r>
              <a:rPr lang="en-US" sz="740" b="1" dirty="0">
                <a:solidFill>
                  <a:srgbClr val="24313F"/>
                </a:solidFill>
                <a:latin typeface="Aptos" pitchFamily="34" charset="0"/>
                <a:ea typeface="Aptos" pitchFamily="34" charset="-122"/>
                <a:cs typeface="Aptos" pitchFamily="34" charset="-120"/>
              </a:rPr>
              <a:t>Repeat layers</a:t>
            </a:r>
            <a:endParaRPr lang="en-US" sz="740" dirty="0"/>
          </a:p>
          <a:p>
            <a:pPr algn="ctr" indent="0" marL="0">
              <a:buNone/>
            </a:pPr>
            <a:r>
              <a:rPr lang="en-US" sz="740" b="1" dirty="0">
                <a:solidFill>
                  <a:srgbClr val="24313F"/>
                </a:solidFill>
                <a:latin typeface="Aptos" pitchFamily="34" charset="0"/>
                <a:ea typeface="Aptos" pitchFamily="34" charset="-122"/>
                <a:cs typeface="Aptos" pitchFamily="34" charset="-120"/>
              </a:rPr>
              <a:t>vacuum-critical</a:t>
            </a:r>
            <a:endParaRPr lang="en-US" sz="740" dirty="0"/>
          </a:p>
        </p:txBody>
      </p:sp>
      <p:sp>
        <p:nvSpPr>
          <p:cNvPr id="18" name="Text 16"/>
          <p:cNvSpPr/>
          <p:nvPr/>
        </p:nvSpPr>
        <p:spPr>
          <a:xfrm>
            <a:off x="685800" y="2743200"/>
            <a:ext cx="2377440" cy="228600"/>
          </a:xfrm>
          <a:prstGeom prst="rect">
            <a:avLst/>
          </a:prstGeom>
          <a:noFill/>
          <a:ln/>
        </p:spPr>
        <p:txBody>
          <a:bodyPr wrap="square" lIns="0" tIns="0" rIns="0" bIns="0" rtlCol="0" anchor="ctr"/>
          <a:lstStyle/>
          <a:p>
            <a:pPr indent="0" marL="0">
              <a:buNone/>
            </a:pPr>
            <a:r>
              <a:rPr lang="en-US" sz="1000" b="1" dirty="0">
                <a:solidFill>
                  <a:srgbClr val="12202F"/>
                </a:solidFill>
              </a:rPr>
              <a:t>Why vacuum matters</a:t>
            </a:r>
            <a:endParaRPr lang="en-US" sz="1000" dirty="0"/>
          </a:p>
        </p:txBody>
      </p:sp>
      <p:sp>
        <p:nvSpPr>
          <p:cNvPr id="19" name="Text 17"/>
          <p:cNvSpPr/>
          <p:nvPr/>
        </p:nvSpPr>
        <p:spPr>
          <a:xfrm>
            <a:off x="685800" y="3090672"/>
            <a:ext cx="5120640" cy="1234440"/>
          </a:xfrm>
          <a:prstGeom prst="rect">
            <a:avLst/>
          </a:prstGeom>
          <a:noFill/>
          <a:ln/>
        </p:spPr>
        <p:txBody>
          <a:bodyPr wrap="square" lIns="508" tIns="508" rIns="508" bIns="508" rtlCol="0" anchor="ctr">
            <a:normAutofit/>
          </a:bodyPr>
          <a:lstStyle/>
          <a:p>
            <a:pPr indent="0" marL="0">
              <a:buNone/>
            </a:pPr>
            <a:r>
              <a:rPr lang="en-US" sz="900" dirty="0">
                <a:solidFill>
                  <a:srgbClr val="24313F"/>
                </a:solidFill>
              </a:rPr>
              <a:t>• Air molecules and particles contaminate wafers</a:t>
            </a:r>
            <a:endParaRPr lang="en-US" sz="900" dirty="0"/>
          </a:p>
          <a:p>
            <a:pPr indent="0" marL="0">
              <a:buNone/>
            </a:pPr>
            <a:r>
              <a:rPr lang="en-US" sz="900" dirty="0">
                <a:solidFill>
                  <a:srgbClr val="24313F"/>
                </a:solidFill>
              </a:rPr>
              <a:t>• Reactive gases must be introduced and removed with precision</a:t>
            </a:r>
            <a:endParaRPr lang="en-US" sz="900" dirty="0"/>
          </a:p>
          <a:p>
            <a:pPr indent="0" marL="0">
              <a:buNone/>
            </a:pPr>
            <a:r>
              <a:rPr lang="en-US" sz="900" dirty="0">
                <a:solidFill>
                  <a:srgbClr val="24313F"/>
                </a:solidFill>
              </a:rPr>
              <a:t>• Pressure stability protects film thickness, etch rate and yield</a:t>
            </a:r>
            <a:endParaRPr lang="en-US" sz="900" dirty="0"/>
          </a:p>
          <a:p>
            <a:pPr indent="0" marL="0">
              <a:buNone/>
            </a:pPr>
            <a:r>
              <a:rPr lang="en-US" sz="900" dirty="0">
                <a:solidFill>
                  <a:srgbClr val="24313F"/>
                </a:solidFill>
              </a:rPr>
              <a:t>• Advanced nodes add more layers, chambers and vacuum steps</a:t>
            </a:r>
            <a:endParaRPr lang="en-US" sz="900" dirty="0"/>
          </a:p>
        </p:txBody>
      </p:sp>
      <p:sp>
        <p:nvSpPr>
          <p:cNvPr id="20" name="Text 18"/>
          <p:cNvSpPr/>
          <p:nvPr/>
        </p:nvSpPr>
        <p:spPr>
          <a:xfrm>
            <a:off x="6400800" y="2816352"/>
            <a:ext cx="4754880" cy="1143000"/>
          </a:xfrm>
          <a:prstGeom prst="rect">
            <a:avLst/>
          </a:prstGeom>
          <a:solidFill>
            <a:srgbClr val="F4FBFA"/>
          </a:solidFill>
          <a:ln w="10160">
            <a:solidFill>
              <a:srgbClr val="2A9D8F"/>
            </a:solidFill>
          </a:ln>
        </p:spPr>
        <p:txBody>
          <a:bodyPr wrap="square" lIns="1524" tIns="1524" rIns="1524" bIns="1524" rtlCol="0" anchor="ctr">
            <a:normAutofit/>
          </a:bodyPr>
          <a:lstStyle/>
          <a:p>
            <a:pPr algn="l" indent="0" marL="0">
              <a:buNone/>
            </a:pPr>
            <a:r>
              <a:rPr lang="en-US" sz="950" dirty="0">
                <a:solidFill>
                  <a:srgbClr val="24313F"/>
                </a:solidFill>
                <a:latin typeface="Aptos" pitchFamily="34" charset="0"/>
                <a:ea typeface="Aptos" pitchFamily="34" charset="-122"/>
                <a:cs typeface="Aptos" pitchFamily="34" charset="-120"/>
              </a:rPr>
              <a:t>Healthcare analogy</a:t>
            </a:r>
            <a:endParaRPr lang="en-US" sz="950" dirty="0"/>
          </a:p>
          <a:p>
            <a:pPr algn="l" indent="0" marL="0">
              <a:buNone/>
            </a:pPr>
            <a:r>
              <a:rPr lang="en-US" sz="950" dirty="0">
                <a:solidFill>
                  <a:srgbClr val="24313F"/>
                </a:solidFill>
                <a:latin typeface="Aptos" pitchFamily="34" charset="0"/>
                <a:ea typeface="Aptos" pitchFamily="34" charset="-122"/>
                <a:cs typeface="Aptos" pitchFamily="34" charset="-120"/>
              </a:rPr>
              <a:t>Vacuum chamber = sterile manufacturing isolator</a:t>
            </a:r>
            <a:endParaRPr lang="en-US" sz="950" dirty="0"/>
          </a:p>
          <a:p>
            <a:pPr algn="l" indent="0" marL="0">
              <a:buNone/>
            </a:pPr>
            <a:r>
              <a:rPr lang="en-US" sz="950" dirty="0">
                <a:solidFill>
                  <a:srgbClr val="24313F"/>
                </a:solidFill>
                <a:latin typeface="Aptos" pitchFamily="34" charset="0"/>
                <a:ea typeface="Aptos" pitchFamily="34" charset="-122"/>
                <a:cs typeface="Aptos" pitchFamily="34" charset="-120"/>
              </a:rPr>
              <a:t>VAT valve = validated sterile flow-control component</a:t>
            </a:r>
            <a:endParaRPr lang="en-US" sz="950" dirty="0"/>
          </a:p>
          <a:p>
            <a:pPr algn="l" indent="0" marL="0">
              <a:buNone/>
            </a:pPr>
            <a:r>
              <a:rPr lang="en-US" sz="950" dirty="0">
                <a:solidFill>
                  <a:srgbClr val="24313F"/>
                </a:solidFill>
                <a:latin typeface="Aptos" pitchFamily="34" charset="0"/>
                <a:ea typeface="Aptos" pitchFamily="34" charset="-122"/>
                <a:cs typeface="Aptos" pitchFamily="34" charset="-120"/>
              </a:rPr>
              <a:t>Failure is low-cost to buy but high-cost to discover.</a:t>
            </a:r>
            <a:endParaRPr lang="en-US" sz="950" dirty="0"/>
          </a:p>
        </p:txBody>
      </p:sp>
      <p:sp>
        <p:nvSpPr>
          <p:cNvPr id="21" name="Text 19"/>
          <p:cNvSpPr/>
          <p:nvPr/>
        </p:nvSpPr>
        <p:spPr>
          <a:xfrm>
            <a:off x="685800" y="4846320"/>
            <a:ext cx="10515600" cy="548640"/>
          </a:xfrm>
          <a:prstGeom prst="rect">
            <a:avLst/>
          </a:prstGeom>
          <a:solidFill>
            <a:srgbClr val="FFFFFF"/>
          </a:solidFill>
          <a:ln w="10160">
            <a:solidFill>
              <a:srgbClr val="D5DEE6"/>
            </a:solidFill>
          </a:ln>
        </p:spPr>
        <p:txBody>
          <a:bodyPr wrap="square" lIns="1270" tIns="1270" rIns="1270" bIns="1270" rtlCol="0" anchor="ctr">
            <a:normAutofit/>
          </a:bodyPr>
          <a:lstStyle/>
          <a:p>
            <a:pPr algn="l" indent="0" marL="0">
              <a:buNone/>
            </a:pPr>
            <a:r>
              <a:rPr lang="en-US" sz="950" dirty="0">
                <a:solidFill>
                  <a:srgbClr val="24313F"/>
                </a:solidFill>
                <a:latin typeface="Aptos" pitchFamily="34" charset="0"/>
                <a:ea typeface="Aptos" pitchFamily="34" charset="-122"/>
                <a:cs typeface="Aptos" pitchFamily="34" charset="-120"/>
              </a:rPr>
              <a:t>Investor implication: vacuum intensity rises with process complexity; VAT grows with the number of process chambers and the content per chamber, not just with wafer starts.</a:t>
            </a:r>
            <a:endParaRPr lang="en-US" sz="950" dirty="0"/>
          </a:p>
        </p:txBody>
      </p:sp>
      <p:sp>
        <p:nvSpPr>
          <p:cNvPr id="22" name="Shape 20"/>
          <p:cNvSpPr/>
          <p:nvPr/>
        </p:nvSpPr>
        <p:spPr>
          <a:xfrm>
            <a:off x="411480" y="6510528"/>
            <a:ext cx="11384280" cy="0"/>
          </a:xfrm>
          <a:prstGeom prst="line">
            <a:avLst/>
          </a:prstGeom>
          <a:noFill/>
          <a:ln w="7620">
            <a:solidFill>
              <a:srgbClr val="D5DEE6"/>
            </a:solidFill>
            <a:prstDash val="solid"/>
          </a:ln>
        </p:spPr>
      </p:sp>
      <p:sp>
        <p:nvSpPr>
          <p:cNvPr id="23" name="Text 21"/>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VAT Capital Markets Day 2025; VAT Annual Report 2024; analyst interpretation. Manufacturing flow is simplified and illustrative.</a:t>
            </a:r>
            <a:endParaRPr lang="en-US" sz="580" dirty="0"/>
          </a:p>
        </p:txBody>
      </p:sp>
      <p:sp>
        <p:nvSpPr>
          <p:cNvPr id="24" name="Text 22"/>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4</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VAT sells precision vacuum flow-control hardware plus a growing aftermarket annuity</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The product is physical, but the economics are driven by qualification, installed base and process-critical uptime.</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Text 3"/>
          <p:cNvSpPr/>
          <p:nvPr/>
        </p:nvSpPr>
        <p:spPr>
          <a:xfrm>
            <a:off x="548640" y="1234440"/>
            <a:ext cx="2468880" cy="658368"/>
          </a:xfrm>
          <a:prstGeom prst="rect">
            <a:avLst/>
          </a:prstGeom>
          <a:solidFill>
            <a:srgbClr val="FFFFFF"/>
          </a:solidFill>
          <a:ln w="10160">
            <a:solidFill>
              <a:srgbClr val="D5DEE6"/>
            </a:solidFill>
          </a:ln>
        </p:spPr>
        <p:txBody>
          <a:bodyPr wrap="square" lIns="889" tIns="889" rIns="889" bIns="889" rtlCol="0" anchor="ctr">
            <a:normAutofit/>
          </a:bodyPr>
          <a:lstStyle/>
          <a:p>
            <a:pPr algn="l" indent="0" marL="0">
              <a:buNone/>
            </a:pPr>
            <a:r>
              <a:rPr lang="en-US" sz="780" dirty="0">
                <a:solidFill>
                  <a:srgbClr val="24313F"/>
                </a:solidFill>
                <a:latin typeface="Aptos" pitchFamily="34" charset="0"/>
                <a:ea typeface="Aptos" pitchFamily="34" charset="-122"/>
                <a:cs typeface="Aptos" pitchFamily="34" charset="-120"/>
              </a:rPr>
              <a:t>Control valves</a:t>
            </a:r>
            <a:endParaRPr lang="en-US" sz="780" dirty="0"/>
          </a:p>
          <a:p>
            <a:pPr algn="l" indent="0" marL="0">
              <a:buNone/>
            </a:pPr>
            <a:r>
              <a:rPr lang="en-US" sz="780" dirty="0">
                <a:solidFill>
                  <a:srgbClr val="24313F"/>
                </a:solidFill>
                <a:latin typeface="Aptos" pitchFamily="34" charset="0"/>
                <a:ea typeface="Aptos" pitchFamily="34" charset="-122"/>
                <a:cs typeface="Aptos" pitchFamily="34" charset="-120"/>
              </a:rPr>
              <a:t>Hold chamber pressure stable during process steps.</a:t>
            </a:r>
            <a:endParaRPr lang="en-US" sz="780" dirty="0"/>
          </a:p>
        </p:txBody>
      </p:sp>
      <p:sp>
        <p:nvSpPr>
          <p:cNvPr id="6" name="Text 4"/>
          <p:cNvSpPr/>
          <p:nvPr/>
        </p:nvSpPr>
        <p:spPr>
          <a:xfrm>
            <a:off x="3337560" y="1234440"/>
            <a:ext cx="2468880" cy="658368"/>
          </a:xfrm>
          <a:prstGeom prst="rect">
            <a:avLst/>
          </a:prstGeom>
          <a:solidFill>
            <a:srgbClr val="FFFFFF"/>
          </a:solidFill>
          <a:ln w="10160">
            <a:solidFill>
              <a:srgbClr val="D5DEE6"/>
            </a:solidFill>
          </a:ln>
        </p:spPr>
        <p:txBody>
          <a:bodyPr wrap="square" lIns="889" tIns="889" rIns="889" bIns="889" rtlCol="0" anchor="ctr">
            <a:normAutofit/>
          </a:bodyPr>
          <a:lstStyle/>
          <a:p>
            <a:pPr algn="l" indent="0" marL="0">
              <a:buNone/>
            </a:pPr>
            <a:r>
              <a:rPr lang="en-US" sz="780" dirty="0">
                <a:solidFill>
                  <a:srgbClr val="24313F"/>
                </a:solidFill>
                <a:latin typeface="Aptos" pitchFamily="34" charset="0"/>
                <a:ea typeface="Aptos" pitchFamily="34" charset="-122"/>
                <a:cs typeface="Aptos" pitchFamily="34" charset="-120"/>
              </a:rPr>
              <a:t>Isolation valves</a:t>
            </a:r>
            <a:endParaRPr lang="en-US" sz="780" dirty="0"/>
          </a:p>
          <a:p>
            <a:pPr algn="l" indent="0" marL="0">
              <a:buNone/>
            </a:pPr>
            <a:r>
              <a:rPr lang="en-US" sz="780" dirty="0">
                <a:solidFill>
                  <a:srgbClr val="24313F"/>
                </a:solidFill>
                <a:latin typeface="Aptos" pitchFamily="34" charset="0"/>
                <a:ea typeface="Aptos" pitchFamily="34" charset="-122"/>
                <a:cs typeface="Aptos" pitchFamily="34" charset="-120"/>
              </a:rPr>
              <a:t>Open/close sections without contaminating the process.</a:t>
            </a:r>
            <a:endParaRPr lang="en-US" sz="780" dirty="0"/>
          </a:p>
        </p:txBody>
      </p:sp>
      <p:sp>
        <p:nvSpPr>
          <p:cNvPr id="7" name="Text 5"/>
          <p:cNvSpPr/>
          <p:nvPr/>
        </p:nvSpPr>
        <p:spPr>
          <a:xfrm>
            <a:off x="6126480" y="1234440"/>
            <a:ext cx="2468880" cy="658368"/>
          </a:xfrm>
          <a:prstGeom prst="rect">
            <a:avLst/>
          </a:prstGeom>
          <a:solidFill>
            <a:srgbClr val="FFFFFF"/>
          </a:solidFill>
          <a:ln w="10160">
            <a:solidFill>
              <a:srgbClr val="D5DEE6"/>
            </a:solidFill>
          </a:ln>
        </p:spPr>
        <p:txBody>
          <a:bodyPr wrap="square" lIns="889" tIns="889" rIns="889" bIns="889" rtlCol="0" anchor="ctr">
            <a:normAutofit/>
          </a:bodyPr>
          <a:lstStyle/>
          <a:p>
            <a:pPr algn="l" indent="0" marL="0">
              <a:buNone/>
            </a:pPr>
            <a:r>
              <a:rPr lang="en-US" sz="780" dirty="0">
                <a:solidFill>
                  <a:srgbClr val="24313F"/>
                </a:solidFill>
                <a:latin typeface="Aptos" pitchFamily="34" charset="0"/>
                <a:ea typeface="Aptos" pitchFamily="34" charset="-122"/>
                <a:cs typeface="Aptos" pitchFamily="34" charset="-120"/>
              </a:rPr>
              <a:t>Transfer / gate valves</a:t>
            </a:r>
            <a:endParaRPr lang="en-US" sz="780" dirty="0"/>
          </a:p>
          <a:p>
            <a:pPr algn="l" indent="0" marL="0">
              <a:buNone/>
            </a:pPr>
            <a:r>
              <a:rPr lang="en-US" sz="780" dirty="0">
                <a:solidFill>
                  <a:srgbClr val="24313F"/>
                </a:solidFill>
                <a:latin typeface="Aptos" pitchFamily="34" charset="0"/>
                <a:ea typeface="Aptos" pitchFamily="34" charset="-122"/>
                <a:cs typeface="Aptos" pitchFamily="34" charset="-120"/>
              </a:rPr>
              <a:t>Move wafers between vacuum modules.</a:t>
            </a:r>
            <a:endParaRPr lang="en-US" sz="780" dirty="0"/>
          </a:p>
        </p:txBody>
      </p:sp>
      <p:sp>
        <p:nvSpPr>
          <p:cNvPr id="8" name="Text 6"/>
          <p:cNvSpPr/>
          <p:nvPr/>
        </p:nvSpPr>
        <p:spPr>
          <a:xfrm>
            <a:off x="8915400" y="1234440"/>
            <a:ext cx="2468880" cy="658368"/>
          </a:xfrm>
          <a:prstGeom prst="rect">
            <a:avLst/>
          </a:prstGeom>
          <a:solidFill>
            <a:srgbClr val="FFFFFF"/>
          </a:solidFill>
          <a:ln w="10160">
            <a:solidFill>
              <a:srgbClr val="D5DEE6"/>
            </a:solidFill>
          </a:ln>
        </p:spPr>
        <p:txBody>
          <a:bodyPr wrap="square" lIns="889" tIns="889" rIns="889" bIns="889" rtlCol="0" anchor="ctr">
            <a:normAutofit/>
          </a:bodyPr>
          <a:lstStyle/>
          <a:p>
            <a:pPr algn="l" indent="0" marL="0">
              <a:buNone/>
            </a:pPr>
            <a:r>
              <a:rPr lang="en-US" sz="780" dirty="0">
                <a:solidFill>
                  <a:srgbClr val="24313F"/>
                </a:solidFill>
                <a:latin typeface="Aptos" pitchFamily="34" charset="0"/>
                <a:ea typeface="Aptos" pitchFamily="34" charset="-122"/>
                <a:cs typeface="Aptos" pitchFamily="34" charset="-120"/>
              </a:rPr>
              <a:t>Gas-inlet valves</a:t>
            </a:r>
            <a:endParaRPr lang="en-US" sz="780" dirty="0"/>
          </a:p>
          <a:p>
            <a:pPr algn="l" indent="0" marL="0">
              <a:buNone/>
            </a:pPr>
            <a:r>
              <a:rPr lang="en-US" sz="780" dirty="0">
                <a:solidFill>
                  <a:srgbClr val="24313F"/>
                </a:solidFill>
                <a:latin typeface="Aptos" pitchFamily="34" charset="0"/>
                <a:ea typeface="Aptos" pitchFamily="34" charset="-122"/>
                <a:cs typeface="Aptos" pitchFamily="34" charset="-120"/>
              </a:rPr>
              <a:t>Meter process gases into chambers.</a:t>
            </a:r>
            <a:endParaRPr lang="en-US" sz="780" dirty="0"/>
          </a:p>
        </p:txBody>
      </p:sp>
      <p:sp>
        <p:nvSpPr>
          <p:cNvPr id="9" name="Text 7"/>
          <p:cNvSpPr/>
          <p:nvPr/>
        </p:nvSpPr>
        <p:spPr>
          <a:xfrm>
            <a:off x="548640" y="2148840"/>
            <a:ext cx="2468880" cy="658368"/>
          </a:xfrm>
          <a:prstGeom prst="rect">
            <a:avLst/>
          </a:prstGeom>
          <a:solidFill>
            <a:srgbClr val="FFFFFF"/>
          </a:solidFill>
          <a:ln w="10160">
            <a:solidFill>
              <a:srgbClr val="D5DEE6"/>
            </a:solidFill>
          </a:ln>
        </p:spPr>
        <p:txBody>
          <a:bodyPr wrap="square" lIns="889" tIns="889" rIns="889" bIns="889" rtlCol="0" anchor="ctr">
            <a:normAutofit/>
          </a:bodyPr>
          <a:lstStyle/>
          <a:p>
            <a:pPr algn="l" indent="0" marL="0">
              <a:buNone/>
            </a:pPr>
            <a:r>
              <a:rPr lang="en-US" sz="780" dirty="0">
                <a:solidFill>
                  <a:srgbClr val="24313F"/>
                </a:solidFill>
                <a:latin typeface="Aptos" pitchFamily="34" charset="0"/>
                <a:ea typeface="Aptos" pitchFamily="34" charset="-122"/>
                <a:cs typeface="Aptos" pitchFamily="34" charset="-120"/>
              </a:rPr>
              <a:t>Integrated modules</a:t>
            </a:r>
            <a:endParaRPr lang="en-US" sz="780" dirty="0"/>
          </a:p>
          <a:p>
            <a:pPr algn="l" indent="0" marL="0">
              <a:buNone/>
            </a:pPr>
            <a:r>
              <a:rPr lang="en-US" sz="780" dirty="0">
                <a:solidFill>
                  <a:srgbClr val="24313F"/>
                </a:solidFill>
                <a:latin typeface="Aptos" pitchFamily="34" charset="0"/>
                <a:ea typeface="Aptos" pitchFamily="34" charset="-122"/>
                <a:cs typeface="Aptos" pitchFamily="34" charset="-120"/>
              </a:rPr>
              <a:t>Combine valves, motion and sensors into customer-specific assemblies.</a:t>
            </a:r>
            <a:endParaRPr lang="en-US" sz="780" dirty="0"/>
          </a:p>
        </p:txBody>
      </p:sp>
      <p:sp>
        <p:nvSpPr>
          <p:cNvPr id="10" name="Text 8"/>
          <p:cNvSpPr/>
          <p:nvPr/>
        </p:nvSpPr>
        <p:spPr>
          <a:xfrm>
            <a:off x="3337560" y="2148840"/>
            <a:ext cx="2468880" cy="658368"/>
          </a:xfrm>
          <a:prstGeom prst="rect">
            <a:avLst/>
          </a:prstGeom>
          <a:solidFill>
            <a:srgbClr val="FFFFFF"/>
          </a:solidFill>
          <a:ln w="10160">
            <a:solidFill>
              <a:srgbClr val="D5DEE6"/>
            </a:solidFill>
          </a:ln>
        </p:spPr>
        <p:txBody>
          <a:bodyPr wrap="square" lIns="889" tIns="889" rIns="889" bIns="889" rtlCol="0" anchor="ctr">
            <a:normAutofit/>
          </a:bodyPr>
          <a:lstStyle/>
          <a:p>
            <a:pPr algn="l" indent="0" marL="0">
              <a:buNone/>
            </a:pPr>
            <a:r>
              <a:rPr lang="en-US" sz="780" dirty="0">
                <a:solidFill>
                  <a:srgbClr val="24313F"/>
                </a:solidFill>
                <a:latin typeface="Aptos" pitchFamily="34" charset="0"/>
                <a:ea typeface="Aptos" pitchFamily="34" charset="-122"/>
                <a:cs typeface="Aptos" pitchFamily="34" charset="-120"/>
              </a:rPr>
              <a:t>Motion components</a:t>
            </a:r>
            <a:endParaRPr lang="en-US" sz="780" dirty="0"/>
          </a:p>
          <a:p>
            <a:pPr algn="l" indent="0" marL="0">
              <a:buNone/>
            </a:pPr>
            <a:r>
              <a:rPr lang="en-US" sz="780" dirty="0">
                <a:solidFill>
                  <a:srgbClr val="24313F"/>
                </a:solidFill>
                <a:latin typeface="Aptos" pitchFamily="34" charset="0"/>
                <a:ea typeface="Aptos" pitchFamily="34" charset="-122"/>
                <a:cs typeface="Aptos" pitchFamily="34" charset="-120"/>
              </a:rPr>
              <a:t>Enable precise movement inside vacuum environments.</a:t>
            </a:r>
            <a:endParaRPr lang="en-US" sz="780" dirty="0"/>
          </a:p>
        </p:txBody>
      </p:sp>
      <p:sp>
        <p:nvSpPr>
          <p:cNvPr id="11" name="Text 9"/>
          <p:cNvSpPr/>
          <p:nvPr/>
        </p:nvSpPr>
        <p:spPr>
          <a:xfrm>
            <a:off x="6126480" y="2148840"/>
            <a:ext cx="2468880" cy="658368"/>
          </a:xfrm>
          <a:prstGeom prst="rect">
            <a:avLst/>
          </a:prstGeom>
          <a:solidFill>
            <a:srgbClr val="EDF8F6"/>
          </a:solidFill>
          <a:ln w="10160">
            <a:solidFill>
              <a:srgbClr val="2A9D8F"/>
            </a:solidFill>
          </a:ln>
        </p:spPr>
        <p:txBody>
          <a:bodyPr wrap="square" lIns="889" tIns="889" rIns="889" bIns="889" rtlCol="0" anchor="ctr">
            <a:normAutofit/>
          </a:bodyPr>
          <a:lstStyle/>
          <a:p>
            <a:pPr algn="l" indent="0" marL="0">
              <a:buNone/>
            </a:pPr>
            <a:r>
              <a:rPr lang="en-US" sz="780" dirty="0">
                <a:solidFill>
                  <a:srgbClr val="24313F"/>
                </a:solidFill>
                <a:latin typeface="Aptos" pitchFamily="34" charset="0"/>
                <a:ea typeface="Aptos" pitchFamily="34" charset="-122"/>
                <a:cs typeface="Aptos" pitchFamily="34" charset="-120"/>
              </a:rPr>
              <a:t>Services / spares</a:t>
            </a:r>
            <a:endParaRPr lang="en-US" sz="780" dirty="0"/>
          </a:p>
          <a:p>
            <a:pPr algn="l" indent="0" marL="0">
              <a:buNone/>
            </a:pPr>
            <a:r>
              <a:rPr lang="en-US" sz="780" dirty="0">
                <a:solidFill>
                  <a:srgbClr val="24313F"/>
                </a:solidFill>
                <a:latin typeface="Aptos" pitchFamily="34" charset="0"/>
                <a:ea typeface="Aptos" pitchFamily="34" charset="-122"/>
                <a:cs typeface="Aptos" pitchFamily="34" charset="-120"/>
              </a:rPr>
              <a:t>Repair, refurbish, replace and upgrade installed valves.</a:t>
            </a:r>
            <a:endParaRPr lang="en-US" sz="780" dirty="0"/>
          </a:p>
        </p:txBody>
      </p:sp>
      <p:sp>
        <p:nvSpPr>
          <p:cNvPr id="12" name="Text 10"/>
          <p:cNvSpPr/>
          <p:nvPr/>
        </p:nvSpPr>
        <p:spPr>
          <a:xfrm>
            <a:off x="8915400" y="2148840"/>
            <a:ext cx="2468880" cy="658368"/>
          </a:xfrm>
          <a:prstGeom prst="rect">
            <a:avLst/>
          </a:prstGeom>
          <a:solidFill>
            <a:srgbClr val="EDF8F6"/>
          </a:solidFill>
          <a:ln w="10160">
            <a:solidFill>
              <a:srgbClr val="2A9D8F"/>
            </a:solidFill>
          </a:ln>
        </p:spPr>
        <p:txBody>
          <a:bodyPr wrap="square" lIns="889" tIns="889" rIns="889" bIns="889" rtlCol="0" anchor="ctr">
            <a:normAutofit/>
          </a:bodyPr>
          <a:lstStyle/>
          <a:p>
            <a:pPr algn="l" indent="0" marL="0">
              <a:buNone/>
            </a:pPr>
            <a:r>
              <a:rPr lang="en-US" sz="780" dirty="0">
                <a:solidFill>
                  <a:srgbClr val="24313F"/>
                </a:solidFill>
                <a:latin typeface="Aptos" pitchFamily="34" charset="0"/>
                <a:ea typeface="Aptos" pitchFamily="34" charset="-122"/>
                <a:cs typeface="Aptos" pitchFamily="34" charset="-120"/>
              </a:rPr>
              <a:t>Consumables</a:t>
            </a:r>
            <a:endParaRPr lang="en-US" sz="780" dirty="0"/>
          </a:p>
          <a:p>
            <a:pPr algn="l" indent="0" marL="0">
              <a:buNone/>
            </a:pPr>
            <a:r>
              <a:rPr lang="en-US" sz="780" dirty="0">
                <a:solidFill>
                  <a:srgbClr val="24313F"/>
                </a:solidFill>
                <a:latin typeface="Aptos" pitchFamily="34" charset="0"/>
                <a:ea typeface="Aptos" pitchFamily="34" charset="-122"/>
                <a:cs typeface="Aptos" pitchFamily="34" charset="-120"/>
              </a:rPr>
              <a:t>Parts that wear with fab utilization.</a:t>
            </a:r>
            <a:endParaRPr lang="en-US" sz="780" dirty="0"/>
          </a:p>
        </p:txBody>
      </p:sp>
      <p:sp>
        <p:nvSpPr>
          <p:cNvPr id="13" name="Text 11"/>
          <p:cNvSpPr/>
          <p:nvPr/>
        </p:nvSpPr>
        <p:spPr>
          <a:xfrm>
            <a:off x="822960" y="3703320"/>
            <a:ext cx="1828800" cy="502920"/>
          </a:xfrm>
          <a:prstGeom prst="rect">
            <a:avLst/>
          </a:prstGeom>
          <a:solidFill>
            <a:srgbClr val="FFFFFF"/>
          </a:solidFill>
          <a:ln w="10160">
            <a:solidFill>
              <a:srgbClr val="D5DEE6"/>
            </a:solidFill>
          </a:ln>
        </p:spPr>
        <p:txBody>
          <a:bodyPr wrap="square" lIns="1016" tIns="1016" rIns="1016" bIns="1016" rtlCol="0" anchor="ctr">
            <a:normAutofit/>
          </a:bodyPr>
          <a:lstStyle/>
          <a:p>
            <a:pPr algn="ctr" indent="0" marL="0">
              <a:buNone/>
            </a:pPr>
            <a:r>
              <a:rPr lang="en-US" sz="850" b="1" dirty="0">
                <a:solidFill>
                  <a:srgbClr val="24313F"/>
                </a:solidFill>
                <a:latin typeface="Aptos" pitchFamily="34" charset="0"/>
                <a:ea typeface="Aptos" pitchFamily="34" charset="-122"/>
                <a:cs typeface="Aptos" pitchFamily="34" charset="-120"/>
              </a:rPr>
              <a:t>New tool order</a:t>
            </a:r>
            <a:endParaRPr lang="en-US" sz="850" dirty="0"/>
          </a:p>
        </p:txBody>
      </p:sp>
      <p:sp>
        <p:nvSpPr>
          <p:cNvPr id="14" name="Shape 12"/>
          <p:cNvSpPr/>
          <p:nvPr/>
        </p:nvSpPr>
        <p:spPr>
          <a:xfrm>
            <a:off x="2651760" y="3959352"/>
            <a:ext cx="411480" cy="0"/>
          </a:xfrm>
          <a:prstGeom prst="line">
            <a:avLst/>
          </a:prstGeom>
          <a:noFill/>
          <a:ln w="13970">
            <a:solidFill>
              <a:srgbClr val="64748B"/>
            </a:solidFill>
            <a:prstDash val="solid"/>
            <a:headEnd type="none"/>
            <a:tailEnd type="triangle"/>
          </a:ln>
        </p:spPr>
      </p:sp>
      <p:sp>
        <p:nvSpPr>
          <p:cNvPr id="15" name="Text 13"/>
          <p:cNvSpPr/>
          <p:nvPr/>
        </p:nvSpPr>
        <p:spPr>
          <a:xfrm>
            <a:off x="3063240" y="3703320"/>
            <a:ext cx="2011680" cy="502920"/>
          </a:xfrm>
          <a:prstGeom prst="rect">
            <a:avLst/>
          </a:prstGeom>
          <a:solidFill>
            <a:srgbClr val="FFFFFF"/>
          </a:solidFill>
          <a:ln w="10160">
            <a:solidFill>
              <a:srgbClr val="D5DEE6"/>
            </a:solidFill>
          </a:ln>
        </p:spPr>
        <p:txBody>
          <a:bodyPr wrap="square" lIns="1016" tIns="1016" rIns="1016" bIns="1016" rtlCol="0" anchor="ctr">
            <a:normAutofit/>
          </a:bodyPr>
          <a:lstStyle/>
          <a:p>
            <a:pPr algn="ctr" indent="0" marL="0">
              <a:buNone/>
            </a:pPr>
            <a:r>
              <a:rPr lang="en-US" sz="850" b="1" dirty="0">
                <a:solidFill>
                  <a:srgbClr val="24313F"/>
                </a:solidFill>
                <a:latin typeface="Aptos" pitchFamily="34" charset="0"/>
                <a:ea typeface="Aptos" pitchFamily="34" charset="-122"/>
                <a:cs typeface="Aptos" pitchFamily="34" charset="-120"/>
              </a:rPr>
              <a:t>Installed valve base</a:t>
            </a:r>
            <a:endParaRPr lang="en-US" sz="850" dirty="0"/>
          </a:p>
        </p:txBody>
      </p:sp>
      <p:sp>
        <p:nvSpPr>
          <p:cNvPr id="16" name="Shape 14"/>
          <p:cNvSpPr/>
          <p:nvPr/>
        </p:nvSpPr>
        <p:spPr>
          <a:xfrm>
            <a:off x="5074920" y="3959352"/>
            <a:ext cx="411480" cy="0"/>
          </a:xfrm>
          <a:prstGeom prst="line">
            <a:avLst/>
          </a:prstGeom>
          <a:noFill/>
          <a:ln w="13970">
            <a:solidFill>
              <a:srgbClr val="64748B"/>
            </a:solidFill>
            <a:prstDash val="solid"/>
            <a:headEnd type="none"/>
            <a:tailEnd type="triangle"/>
          </a:ln>
        </p:spPr>
      </p:sp>
      <p:sp>
        <p:nvSpPr>
          <p:cNvPr id="17" name="Text 15"/>
          <p:cNvSpPr/>
          <p:nvPr/>
        </p:nvSpPr>
        <p:spPr>
          <a:xfrm>
            <a:off x="5486400" y="3703320"/>
            <a:ext cx="2103120" cy="502920"/>
          </a:xfrm>
          <a:prstGeom prst="rect">
            <a:avLst/>
          </a:prstGeom>
          <a:solidFill>
            <a:srgbClr val="EDF8F6"/>
          </a:solidFill>
          <a:ln w="10160">
            <a:solidFill>
              <a:srgbClr val="2A9D8F"/>
            </a:solidFill>
          </a:ln>
        </p:spPr>
        <p:txBody>
          <a:bodyPr wrap="square" lIns="1016" tIns="1016" rIns="1016" bIns="1016" rtlCol="0" anchor="ctr">
            <a:normAutofit/>
          </a:bodyPr>
          <a:lstStyle/>
          <a:p>
            <a:pPr algn="ctr" indent="0" marL="0">
              <a:buNone/>
            </a:pPr>
            <a:r>
              <a:rPr lang="en-US" sz="850" b="1" dirty="0">
                <a:solidFill>
                  <a:srgbClr val="24313F"/>
                </a:solidFill>
                <a:latin typeface="Aptos" pitchFamily="34" charset="0"/>
                <a:ea typeface="Aptos" pitchFamily="34" charset="-122"/>
                <a:cs typeface="Aptos" pitchFamily="34" charset="-120"/>
              </a:rPr>
              <a:t>Utilization-driven service</a:t>
            </a:r>
            <a:endParaRPr lang="en-US" sz="850" dirty="0"/>
          </a:p>
        </p:txBody>
      </p:sp>
      <p:sp>
        <p:nvSpPr>
          <p:cNvPr id="18" name="Shape 16"/>
          <p:cNvSpPr/>
          <p:nvPr/>
        </p:nvSpPr>
        <p:spPr>
          <a:xfrm>
            <a:off x="7589520" y="3959352"/>
            <a:ext cx="411480" cy="0"/>
          </a:xfrm>
          <a:prstGeom prst="line">
            <a:avLst/>
          </a:prstGeom>
          <a:noFill/>
          <a:ln w="13970">
            <a:solidFill>
              <a:srgbClr val="64748B"/>
            </a:solidFill>
            <a:prstDash val="solid"/>
            <a:headEnd type="none"/>
            <a:tailEnd type="triangle"/>
          </a:ln>
        </p:spPr>
      </p:sp>
      <p:sp>
        <p:nvSpPr>
          <p:cNvPr id="19" name="Text 17"/>
          <p:cNvSpPr/>
          <p:nvPr/>
        </p:nvSpPr>
        <p:spPr>
          <a:xfrm>
            <a:off x="8001000" y="3703320"/>
            <a:ext cx="2514600" cy="502920"/>
          </a:xfrm>
          <a:prstGeom prst="rect">
            <a:avLst/>
          </a:prstGeom>
          <a:solidFill>
            <a:srgbClr val="EDF8F6"/>
          </a:solidFill>
          <a:ln w="10160">
            <a:solidFill>
              <a:srgbClr val="2A9D8F"/>
            </a:solidFill>
          </a:ln>
        </p:spPr>
        <p:txBody>
          <a:bodyPr wrap="square" lIns="1016" tIns="1016" rIns="1016" bIns="1016" rtlCol="0" anchor="ctr">
            <a:normAutofit/>
          </a:bodyPr>
          <a:lstStyle/>
          <a:p>
            <a:pPr algn="ctr" indent="0" marL="0">
              <a:buNone/>
            </a:pPr>
            <a:r>
              <a:rPr lang="en-US" sz="850" b="1" dirty="0">
                <a:solidFill>
                  <a:srgbClr val="24313F"/>
                </a:solidFill>
                <a:latin typeface="Aptos" pitchFamily="34" charset="0"/>
                <a:ea typeface="Aptos" pitchFamily="34" charset="-122"/>
                <a:cs typeface="Aptos" pitchFamily="34" charset="-120"/>
              </a:rPr>
              <a:t>Repairs / upgrades / spares</a:t>
            </a:r>
            <a:endParaRPr lang="en-US" sz="850" dirty="0"/>
          </a:p>
        </p:txBody>
      </p:sp>
      <p:sp>
        <p:nvSpPr>
          <p:cNvPr id="20" name="Text 18"/>
          <p:cNvSpPr/>
          <p:nvPr/>
        </p:nvSpPr>
        <p:spPr>
          <a:xfrm>
            <a:off x="777240" y="4855464"/>
            <a:ext cx="5669280" cy="155448"/>
          </a:xfrm>
          <a:prstGeom prst="rect">
            <a:avLst/>
          </a:prstGeom>
          <a:noFill/>
          <a:ln/>
        </p:spPr>
        <p:txBody>
          <a:bodyPr wrap="square" lIns="0" tIns="0" rIns="0" bIns="0" rtlCol="0" anchor="ctr">
            <a:normAutofit/>
          </a:bodyPr>
          <a:lstStyle/>
          <a:p>
            <a:pPr indent="0" marL="0">
              <a:buNone/>
            </a:pPr>
            <a:r>
              <a:rPr lang="en-US" sz="750" b="1" dirty="0">
                <a:solidFill>
                  <a:srgbClr val="12202F"/>
                </a:solidFill>
              </a:rPr>
              <a:t>2025 market-segment revenue mix</a:t>
            </a:r>
            <a:endParaRPr lang="en-US" sz="750" dirty="0"/>
          </a:p>
        </p:txBody>
      </p:sp>
      <p:sp>
        <p:nvSpPr>
          <p:cNvPr id="21" name="Shape 19"/>
          <p:cNvSpPr/>
          <p:nvPr/>
        </p:nvSpPr>
        <p:spPr>
          <a:xfrm>
            <a:off x="777240" y="5074920"/>
            <a:ext cx="3798418" cy="438912"/>
          </a:xfrm>
          <a:prstGeom prst="rect">
            <a:avLst/>
          </a:prstGeom>
          <a:solidFill>
            <a:srgbClr val="2A9D8F"/>
          </a:solidFill>
          <a:ln w="1270">
            <a:solidFill>
              <a:srgbClr val="2A9D8F"/>
            </a:solidFill>
            <a:prstDash val="solid"/>
          </a:ln>
        </p:spPr>
      </p:sp>
      <p:sp>
        <p:nvSpPr>
          <p:cNvPr id="22" name="Shape 20"/>
          <p:cNvSpPr/>
          <p:nvPr/>
        </p:nvSpPr>
        <p:spPr>
          <a:xfrm>
            <a:off x="4575658" y="5074920"/>
            <a:ext cx="1077163" cy="438912"/>
          </a:xfrm>
          <a:prstGeom prst="rect">
            <a:avLst/>
          </a:prstGeom>
          <a:solidFill>
            <a:srgbClr val="3B6EA5"/>
          </a:solidFill>
          <a:ln w="1270">
            <a:solidFill>
              <a:srgbClr val="3B6EA5"/>
            </a:solidFill>
            <a:prstDash val="solid"/>
          </a:ln>
        </p:spPr>
      </p:sp>
      <p:sp>
        <p:nvSpPr>
          <p:cNvPr id="23" name="Shape 21"/>
          <p:cNvSpPr/>
          <p:nvPr/>
        </p:nvSpPr>
        <p:spPr>
          <a:xfrm>
            <a:off x="5652821" y="5074920"/>
            <a:ext cx="793699" cy="438912"/>
          </a:xfrm>
          <a:prstGeom prst="rect">
            <a:avLst/>
          </a:prstGeom>
          <a:solidFill>
            <a:srgbClr val="64748B"/>
          </a:solidFill>
          <a:ln w="1270">
            <a:solidFill>
              <a:srgbClr val="64748B"/>
            </a:solidFill>
            <a:prstDash val="solid"/>
          </a:ln>
        </p:spPr>
      </p:sp>
      <p:sp>
        <p:nvSpPr>
          <p:cNvPr id="24" name="Text 22"/>
          <p:cNvSpPr/>
          <p:nvPr/>
        </p:nvSpPr>
        <p:spPr>
          <a:xfrm>
            <a:off x="777240" y="5577840"/>
            <a:ext cx="5669280" cy="146304"/>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Semi valves 67%   Global Service 19%   Advanced Industrials 14%</a:t>
            </a:r>
            <a:endParaRPr lang="en-US" sz="540" dirty="0"/>
          </a:p>
        </p:txBody>
      </p:sp>
      <p:sp>
        <p:nvSpPr>
          <p:cNvPr id="25" name="Text 23"/>
          <p:cNvSpPr/>
          <p:nvPr/>
        </p:nvSpPr>
        <p:spPr>
          <a:xfrm>
            <a:off x="6858000" y="5074920"/>
            <a:ext cx="4023360" cy="365760"/>
          </a:xfrm>
          <a:prstGeom prst="rect">
            <a:avLst/>
          </a:prstGeom>
          <a:noFill/>
          <a:ln/>
        </p:spPr>
        <p:txBody>
          <a:bodyPr wrap="square" lIns="0" tIns="0" rIns="0" bIns="0" rtlCol="0" anchor="ctr"/>
          <a:lstStyle/>
          <a:p>
            <a:pPr indent="0" marL="0">
              <a:buNone/>
            </a:pPr>
            <a:r>
              <a:rPr lang="en-US" sz="1000" b="1" dirty="0">
                <a:solidFill>
                  <a:srgbClr val="12202F"/>
                </a:solidFill>
              </a:rPr>
              <a:t>Business segment mix: Valves 82% / Global Service 18% of 2025 net sales.</a:t>
            </a:r>
            <a:endParaRPr lang="en-US" sz="1000" dirty="0"/>
          </a:p>
        </p:txBody>
      </p:sp>
      <p:sp>
        <p:nvSpPr>
          <p:cNvPr id="26" name="Text 24"/>
          <p:cNvSpPr/>
          <p:nvPr/>
        </p:nvSpPr>
        <p:spPr>
          <a:xfrm>
            <a:off x="6858000" y="5532120"/>
            <a:ext cx="4023360" cy="274320"/>
          </a:xfrm>
          <a:prstGeom prst="rect">
            <a:avLst/>
          </a:prstGeom>
          <a:noFill/>
          <a:ln/>
        </p:spPr>
        <p:txBody>
          <a:bodyPr wrap="square" lIns="0" tIns="0" rIns="0" bIns="0" rtlCol="0" anchor="ctr"/>
          <a:lstStyle/>
          <a:p>
            <a:pPr indent="0" marL="0">
              <a:buNone/>
            </a:pPr>
            <a:r>
              <a:rPr lang="en-US" sz="800" dirty="0">
                <a:solidFill>
                  <a:srgbClr val="64748B"/>
                </a:solidFill>
              </a:rPr>
              <a:t>More than 80% of sales are semiconductor-related when Global Service exposure is included.</a:t>
            </a:r>
            <a:endParaRPr lang="en-US" sz="800" dirty="0"/>
          </a:p>
        </p:txBody>
      </p:sp>
      <p:sp>
        <p:nvSpPr>
          <p:cNvPr id="27" name="Shape 25"/>
          <p:cNvSpPr/>
          <p:nvPr/>
        </p:nvSpPr>
        <p:spPr>
          <a:xfrm>
            <a:off x="411480" y="6510528"/>
            <a:ext cx="11384280" cy="0"/>
          </a:xfrm>
          <a:prstGeom prst="line">
            <a:avLst/>
          </a:prstGeom>
          <a:noFill/>
          <a:ln w="7620">
            <a:solidFill>
              <a:srgbClr val="D5DEE6"/>
            </a:solidFill>
            <a:prstDash val="solid"/>
          </a:ln>
        </p:spPr>
      </p:sp>
      <p:sp>
        <p:nvSpPr>
          <p:cNvPr id="28" name="Text 26"/>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VAT FY2025 results presentation; VAT H1 2026 segment disclosures; analyst interpretation.</a:t>
            </a:r>
            <a:endParaRPr lang="en-US" sz="580" dirty="0"/>
          </a:p>
        </p:txBody>
      </p:sp>
      <p:sp>
        <p:nvSpPr>
          <p:cNvPr id="29" name="Text 27"/>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5</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A 70%+ market share reflects qualification barriers - not price competition</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The central moat is process risk: a cheap component failure can destroy expensive wafer output.</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Shape 3"/>
          <p:cNvSpPr/>
          <p:nvPr/>
        </p:nvSpPr>
        <p:spPr>
          <a:xfrm>
            <a:off x="4251960" y="1444752"/>
            <a:ext cx="3474720" cy="3474720"/>
          </a:xfrm>
          <a:prstGeom prst="ellipse">
            <a:avLst/>
          </a:prstGeom>
          <a:solidFill>
            <a:srgbClr val="EDF8F6"/>
          </a:solidFill>
          <a:ln w="15240">
            <a:solidFill>
              <a:srgbClr val="2A9D8F"/>
            </a:solidFill>
            <a:prstDash val="solid"/>
          </a:ln>
        </p:spPr>
      </p:sp>
      <p:sp>
        <p:nvSpPr>
          <p:cNvPr id="6" name="Shape 4"/>
          <p:cNvSpPr/>
          <p:nvPr/>
        </p:nvSpPr>
        <p:spPr>
          <a:xfrm>
            <a:off x="4709160" y="1901952"/>
            <a:ext cx="2560320" cy="2560320"/>
          </a:xfrm>
          <a:prstGeom prst="ellipse">
            <a:avLst/>
          </a:prstGeom>
          <a:solidFill>
            <a:srgbClr val="FFFFFF"/>
          </a:solidFill>
          <a:ln w="12700">
            <a:solidFill>
              <a:srgbClr val="2A9D8F"/>
            </a:solidFill>
            <a:prstDash val="solid"/>
          </a:ln>
        </p:spPr>
      </p:sp>
      <p:sp>
        <p:nvSpPr>
          <p:cNvPr id="7" name="Text 5"/>
          <p:cNvSpPr/>
          <p:nvPr/>
        </p:nvSpPr>
        <p:spPr>
          <a:xfrm>
            <a:off x="5257800" y="2578608"/>
            <a:ext cx="1463040" cy="502920"/>
          </a:xfrm>
          <a:prstGeom prst="rect">
            <a:avLst/>
          </a:prstGeom>
          <a:noFill/>
          <a:ln/>
        </p:spPr>
        <p:txBody>
          <a:bodyPr wrap="square" lIns="0" tIns="0" rIns="0" bIns="0" rtlCol="0" anchor="ctr">
            <a:normAutofit/>
          </a:bodyPr>
          <a:lstStyle/>
          <a:p>
            <a:pPr algn="ctr" indent="0" marL="0">
              <a:buNone/>
            </a:pPr>
            <a:r>
              <a:rPr lang="en-US" sz="1400" b="1" dirty="0">
                <a:solidFill>
                  <a:srgbClr val="12202F"/>
                </a:solidFill>
              </a:rPr>
              <a:t>VAT</a:t>
            </a:r>
            <a:endParaRPr lang="en-US" sz="1400" dirty="0"/>
          </a:p>
          <a:p>
            <a:pPr algn="ctr" indent="0" marL="0">
              <a:buNone/>
            </a:pPr>
            <a:r>
              <a:rPr lang="en-US" sz="1400" b="1" dirty="0">
                <a:solidFill>
                  <a:srgbClr val="12202F"/>
                </a:solidFill>
              </a:rPr>
              <a:t>qualification moat</a:t>
            </a:r>
            <a:endParaRPr lang="en-US" sz="1400" dirty="0"/>
          </a:p>
        </p:txBody>
      </p:sp>
      <p:sp>
        <p:nvSpPr>
          <p:cNvPr id="8" name="Text 6"/>
          <p:cNvSpPr/>
          <p:nvPr/>
        </p:nvSpPr>
        <p:spPr>
          <a:xfrm>
            <a:off x="640080" y="1325880"/>
            <a:ext cx="2788920" cy="685800"/>
          </a:xfrm>
          <a:prstGeom prst="rect">
            <a:avLst/>
          </a:prstGeom>
          <a:solidFill>
            <a:srgbClr val="FFFFFF"/>
          </a:solidFill>
          <a:ln w="10160">
            <a:solidFill>
              <a:srgbClr val="D5DEE6"/>
            </a:solidFill>
          </a:ln>
        </p:spPr>
        <p:txBody>
          <a:bodyPr wrap="square" lIns="762" tIns="762" rIns="762" bIns="762" rtlCol="0" anchor="ctr">
            <a:normAutofit/>
          </a:bodyPr>
          <a:lstStyle/>
          <a:p>
            <a:pPr algn="ctr" indent="0" marL="0">
              <a:buNone/>
            </a:pPr>
            <a:r>
              <a:rPr lang="en-US" sz="880" b="1" dirty="0">
                <a:solidFill>
                  <a:srgbClr val="24313F"/>
                </a:solidFill>
                <a:latin typeface="Aptos" pitchFamily="34" charset="0"/>
                <a:ea typeface="Aptos" pitchFamily="34" charset="-122"/>
                <a:cs typeface="Aptos" pitchFamily="34" charset="-120"/>
              </a:rPr>
              <a:t>~71% share</a:t>
            </a:r>
            <a:endParaRPr lang="en-US" sz="880" dirty="0"/>
          </a:p>
          <a:p>
            <a:pPr algn="ctr" indent="0" marL="0">
              <a:buNone/>
            </a:pPr>
            <a:r>
              <a:rPr lang="en-US" sz="880" b="1" dirty="0">
                <a:solidFill>
                  <a:srgbClr val="24313F"/>
                </a:solidFill>
                <a:latin typeface="Aptos" pitchFamily="34" charset="0"/>
                <a:ea typeface="Aptos" pitchFamily="34" charset="-122"/>
                <a:cs typeface="Aptos" pitchFamily="34" charset="-120"/>
              </a:rPr>
              <a:t>semi-related vacuum valves</a:t>
            </a:r>
            <a:endParaRPr lang="en-US" sz="880" dirty="0"/>
          </a:p>
        </p:txBody>
      </p:sp>
      <p:sp>
        <p:nvSpPr>
          <p:cNvPr id="9" name="Text 7"/>
          <p:cNvSpPr/>
          <p:nvPr/>
        </p:nvSpPr>
        <p:spPr>
          <a:xfrm>
            <a:off x="8686800" y="1325880"/>
            <a:ext cx="2788920" cy="685800"/>
          </a:xfrm>
          <a:prstGeom prst="rect">
            <a:avLst/>
          </a:prstGeom>
          <a:solidFill>
            <a:srgbClr val="FFFFFF"/>
          </a:solidFill>
          <a:ln w="10160">
            <a:solidFill>
              <a:srgbClr val="D5DEE6"/>
            </a:solidFill>
          </a:ln>
        </p:spPr>
        <p:txBody>
          <a:bodyPr wrap="square" lIns="762" tIns="762" rIns="762" bIns="762" rtlCol="0" anchor="ctr">
            <a:normAutofit/>
          </a:bodyPr>
          <a:lstStyle/>
          <a:p>
            <a:pPr algn="ctr" indent="0" marL="0">
              <a:buNone/>
            </a:pPr>
            <a:r>
              <a:rPr lang="en-US" sz="880" b="1" dirty="0">
                <a:solidFill>
                  <a:srgbClr val="24313F"/>
                </a:solidFill>
                <a:latin typeface="Aptos" pitchFamily="34" charset="0"/>
                <a:ea typeface="Aptos" pitchFamily="34" charset="-122"/>
                <a:cs typeface="Aptos" pitchFamily="34" charset="-120"/>
              </a:rPr>
              <a:t>&gt;90% share</a:t>
            </a:r>
            <a:endParaRPr lang="en-US" sz="880" dirty="0"/>
          </a:p>
          <a:p>
            <a:pPr algn="ctr" indent="0" marL="0">
              <a:buNone/>
            </a:pPr>
            <a:r>
              <a:rPr lang="en-US" sz="880" b="1" dirty="0">
                <a:solidFill>
                  <a:srgbClr val="24313F"/>
                </a:solidFill>
                <a:latin typeface="Aptos" pitchFamily="34" charset="0"/>
                <a:ea typeface="Aptos" pitchFamily="34" charset="-122"/>
                <a:cs typeface="Aptos" pitchFamily="34" charset="-120"/>
              </a:rPr>
              <a:t>selected leading-edge applications</a:t>
            </a:r>
            <a:endParaRPr lang="en-US" sz="880" dirty="0"/>
          </a:p>
        </p:txBody>
      </p:sp>
      <p:sp>
        <p:nvSpPr>
          <p:cNvPr id="10" name="Text 8"/>
          <p:cNvSpPr/>
          <p:nvPr/>
        </p:nvSpPr>
        <p:spPr>
          <a:xfrm>
            <a:off x="640080" y="2651760"/>
            <a:ext cx="2788920" cy="685800"/>
          </a:xfrm>
          <a:prstGeom prst="rect">
            <a:avLst/>
          </a:prstGeom>
          <a:solidFill>
            <a:srgbClr val="FFFFFF"/>
          </a:solidFill>
          <a:ln w="10160">
            <a:solidFill>
              <a:srgbClr val="D5DEE6"/>
            </a:solidFill>
          </a:ln>
        </p:spPr>
        <p:txBody>
          <a:bodyPr wrap="square" lIns="762" tIns="762" rIns="762" bIns="762" rtlCol="0" anchor="ctr">
            <a:normAutofit/>
          </a:bodyPr>
          <a:lstStyle/>
          <a:p>
            <a:pPr algn="ctr" indent="0" marL="0">
              <a:buNone/>
            </a:pPr>
            <a:r>
              <a:rPr lang="en-US" sz="880" b="1" dirty="0">
                <a:solidFill>
                  <a:srgbClr val="24313F"/>
                </a:solidFill>
                <a:latin typeface="Aptos" pitchFamily="34" charset="0"/>
                <a:ea typeface="Aptos" pitchFamily="34" charset="-122"/>
                <a:cs typeface="Aptos" pitchFamily="34" charset="-120"/>
              </a:rPr>
              <a:t>Multi-year qualification</a:t>
            </a:r>
            <a:endParaRPr lang="en-US" sz="880" dirty="0"/>
          </a:p>
          <a:p>
            <a:pPr algn="ctr" indent="0" marL="0">
              <a:buNone/>
            </a:pPr>
            <a:r>
              <a:rPr lang="en-US" sz="880" b="1" dirty="0">
                <a:solidFill>
                  <a:srgbClr val="24313F"/>
                </a:solidFill>
                <a:latin typeface="Aptos" pitchFamily="34" charset="0"/>
                <a:ea typeface="Aptos" pitchFamily="34" charset="-122"/>
                <a:cs typeface="Aptos" pitchFamily="34" charset="-120"/>
              </a:rPr>
              <a:t>spec-in before tool release</a:t>
            </a:r>
            <a:endParaRPr lang="en-US" sz="880" dirty="0"/>
          </a:p>
        </p:txBody>
      </p:sp>
      <p:sp>
        <p:nvSpPr>
          <p:cNvPr id="11" name="Text 9"/>
          <p:cNvSpPr/>
          <p:nvPr/>
        </p:nvSpPr>
        <p:spPr>
          <a:xfrm>
            <a:off x="8686800" y="2651760"/>
            <a:ext cx="2788920" cy="685800"/>
          </a:xfrm>
          <a:prstGeom prst="rect">
            <a:avLst/>
          </a:prstGeom>
          <a:solidFill>
            <a:srgbClr val="FFFFFF"/>
          </a:solidFill>
          <a:ln w="10160">
            <a:solidFill>
              <a:srgbClr val="D5DEE6"/>
            </a:solidFill>
          </a:ln>
        </p:spPr>
        <p:txBody>
          <a:bodyPr wrap="square" lIns="762" tIns="762" rIns="762" bIns="762" rtlCol="0" anchor="ctr">
            <a:normAutofit/>
          </a:bodyPr>
          <a:lstStyle/>
          <a:p>
            <a:pPr algn="ctr" indent="0" marL="0">
              <a:buNone/>
            </a:pPr>
            <a:r>
              <a:rPr lang="en-US" sz="880" b="1" dirty="0">
                <a:solidFill>
                  <a:srgbClr val="24313F"/>
                </a:solidFill>
                <a:latin typeface="Aptos" pitchFamily="34" charset="0"/>
                <a:ea typeface="Aptos" pitchFamily="34" charset="-122"/>
                <a:cs typeface="Aptos" pitchFamily="34" charset="-120"/>
              </a:rPr>
              <a:t>Co-development</a:t>
            </a:r>
            <a:endParaRPr lang="en-US" sz="880" dirty="0"/>
          </a:p>
          <a:p>
            <a:pPr algn="ctr" indent="0" marL="0">
              <a:buNone/>
            </a:pPr>
            <a:r>
              <a:rPr lang="en-US" sz="880" b="1" dirty="0">
                <a:solidFill>
                  <a:srgbClr val="24313F"/>
                </a:solidFill>
                <a:latin typeface="Aptos" pitchFamily="34" charset="0"/>
                <a:ea typeface="Aptos" pitchFamily="34" charset="-122"/>
                <a:cs typeface="Aptos" pitchFamily="34" charset="-120"/>
              </a:rPr>
              <a:t>with OEM process engineers</a:t>
            </a:r>
            <a:endParaRPr lang="en-US" sz="880" dirty="0"/>
          </a:p>
        </p:txBody>
      </p:sp>
      <p:sp>
        <p:nvSpPr>
          <p:cNvPr id="12" name="Text 10"/>
          <p:cNvSpPr/>
          <p:nvPr/>
        </p:nvSpPr>
        <p:spPr>
          <a:xfrm>
            <a:off x="640080" y="3977640"/>
            <a:ext cx="2788920" cy="685800"/>
          </a:xfrm>
          <a:prstGeom prst="rect">
            <a:avLst/>
          </a:prstGeom>
          <a:solidFill>
            <a:srgbClr val="FFFFFF"/>
          </a:solidFill>
          <a:ln w="10160">
            <a:solidFill>
              <a:srgbClr val="D5DEE6"/>
            </a:solidFill>
          </a:ln>
        </p:spPr>
        <p:txBody>
          <a:bodyPr wrap="square" lIns="762" tIns="762" rIns="762" bIns="762" rtlCol="0" anchor="ctr">
            <a:normAutofit/>
          </a:bodyPr>
          <a:lstStyle/>
          <a:p>
            <a:pPr algn="ctr" indent="0" marL="0">
              <a:buNone/>
            </a:pPr>
            <a:r>
              <a:rPr lang="en-US" sz="880" b="1" dirty="0">
                <a:solidFill>
                  <a:srgbClr val="24313F"/>
                </a:solidFill>
                <a:latin typeface="Aptos" pitchFamily="34" charset="0"/>
                <a:ea typeface="Aptos" pitchFamily="34" charset="-122"/>
                <a:cs typeface="Aptos" pitchFamily="34" charset="-120"/>
              </a:rPr>
              <a:t>Low BOM cost</a:t>
            </a:r>
            <a:endParaRPr lang="en-US" sz="880" dirty="0"/>
          </a:p>
          <a:p>
            <a:pPr algn="ctr" indent="0" marL="0">
              <a:buNone/>
            </a:pPr>
            <a:r>
              <a:rPr lang="en-US" sz="880" b="1" dirty="0">
                <a:solidFill>
                  <a:srgbClr val="24313F"/>
                </a:solidFill>
                <a:latin typeface="Aptos" pitchFamily="34" charset="0"/>
                <a:ea typeface="Aptos" pitchFamily="34" charset="-122"/>
                <a:cs typeface="Aptos" pitchFamily="34" charset="-120"/>
              </a:rPr>
              <a:t>high yield/failure cost</a:t>
            </a:r>
            <a:endParaRPr lang="en-US" sz="880" dirty="0"/>
          </a:p>
        </p:txBody>
      </p:sp>
      <p:sp>
        <p:nvSpPr>
          <p:cNvPr id="13" name="Text 11"/>
          <p:cNvSpPr/>
          <p:nvPr/>
        </p:nvSpPr>
        <p:spPr>
          <a:xfrm>
            <a:off x="8686800" y="3977640"/>
            <a:ext cx="2788920" cy="685800"/>
          </a:xfrm>
          <a:prstGeom prst="rect">
            <a:avLst/>
          </a:prstGeom>
          <a:solidFill>
            <a:srgbClr val="FFFFFF"/>
          </a:solidFill>
          <a:ln w="10160">
            <a:solidFill>
              <a:srgbClr val="D5DEE6"/>
            </a:solidFill>
          </a:ln>
        </p:spPr>
        <p:txBody>
          <a:bodyPr wrap="square" lIns="762" tIns="762" rIns="762" bIns="762" rtlCol="0" anchor="ctr">
            <a:normAutofit/>
          </a:bodyPr>
          <a:lstStyle/>
          <a:p>
            <a:pPr algn="ctr" indent="0" marL="0">
              <a:buNone/>
            </a:pPr>
            <a:r>
              <a:rPr lang="en-US" sz="880" b="1" dirty="0">
                <a:solidFill>
                  <a:srgbClr val="24313F"/>
                </a:solidFill>
                <a:latin typeface="Aptos" pitchFamily="34" charset="0"/>
                <a:ea typeface="Aptos" pitchFamily="34" charset="-122"/>
                <a:cs typeface="Aptos" pitchFamily="34" charset="-120"/>
              </a:rPr>
              <a:t>Installed base</a:t>
            </a:r>
            <a:endParaRPr lang="en-US" sz="880" dirty="0"/>
          </a:p>
          <a:p>
            <a:pPr algn="ctr" indent="0" marL="0">
              <a:buNone/>
            </a:pPr>
            <a:r>
              <a:rPr lang="en-US" sz="880" b="1" dirty="0">
                <a:solidFill>
                  <a:srgbClr val="24313F"/>
                </a:solidFill>
                <a:latin typeface="Aptos" pitchFamily="34" charset="0"/>
                <a:ea typeface="Aptos" pitchFamily="34" charset="-122"/>
                <a:cs typeface="Aptos" pitchFamily="34" charset="-120"/>
              </a:rPr>
              <a:t>service and upgrade pull-through</a:t>
            </a:r>
            <a:endParaRPr lang="en-US" sz="880" dirty="0"/>
          </a:p>
        </p:txBody>
      </p:sp>
      <p:sp>
        <p:nvSpPr>
          <p:cNvPr id="14" name="Text 12"/>
          <p:cNvSpPr/>
          <p:nvPr/>
        </p:nvSpPr>
        <p:spPr>
          <a:xfrm>
            <a:off x="1371600" y="5257800"/>
            <a:ext cx="9326880" cy="713232"/>
          </a:xfrm>
          <a:prstGeom prst="rect">
            <a:avLst/>
          </a:prstGeom>
          <a:solidFill>
            <a:srgbClr val="FFF8EA"/>
          </a:solidFill>
          <a:ln w="10160">
            <a:solidFill>
              <a:srgbClr val="E9C46A"/>
            </a:solidFill>
          </a:ln>
        </p:spPr>
        <p:txBody>
          <a:bodyPr wrap="square" lIns="1270" tIns="1270" rIns="1270" bIns="1270" rtlCol="0" anchor="ctr">
            <a:normAutofit/>
          </a:bodyPr>
          <a:lstStyle/>
          <a:p>
            <a:pPr algn="l" indent="0" marL="0">
              <a:buNone/>
            </a:pPr>
            <a:r>
              <a:rPr lang="en-US" sz="880" dirty="0">
                <a:solidFill>
                  <a:srgbClr val="24313F"/>
                </a:solidFill>
                <a:latin typeface="Aptos" pitchFamily="34" charset="0"/>
                <a:ea typeface="Aptos" pitchFamily="34" charset="-122"/>
                <a:cs typeface="Aptos" pitchFamily="34" charset="-120"/>
              </a:rPr>
              <a:t>Why OEMs do not replace VAT easily</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A toolmaker can theoretically source a valve elsewhere. In practice it would need to re-qualify performance, particles, pressure stability, serviceability and supply continuity - risking customer yield and tool release timing for limited BOM savings.</a:t>
            </a:r>
            <a:endParaRPr lang="en-US" sz="880" dirty="0"/>
          </a:p>
        </p:txBody>
      </p:sp>
      <p:sp>
        <p:nvSpPr>
          <p:cNvPr id="15" name="Shape 13"/>
          <p:cNvSpPr/>
          <p:nvPr/>
        </p:nvSpPr>
        <p:spPr>
          <a:xfrm>
            <a:off x="411480" y="6510528"/>
            <a:ext cx="11384280" cy="0"/>
          </a:xfrm>
          <a:prstGeom prst="line">
            <a:avLst/>
          </a:prstGeom>
          <a:noFill/>
          <a:ln w="7620">
            <a:solidFill>
              <a:srgbClr val="D5DEE6"/>
            </a:solidFill>
            <a:prstDash val="solid"/>
          </a:ln>
        </p:spPr>
      </p:sp>
      <p:sp>
        <p:nvSpPr>
          <p:cNvPr id="16" name="Text 14"/>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VAT FY2025 presentation; S&amp;P Global Ratings update; VAT Annual Report 2024; analyst interpretation.</a:t>
            </a:r>
            <a:endParaRPr lang="en-US" sz="580" dirty="0"/>
          </a:p>
        </p:txBody>
      </p:sp>
      <p:sp>
        <p:nvSpPr>
          <p:cNvPr id="17" name="Text 15"/>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6</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VAT growth = WFE growth x vacuum intensity x content per tool + installed-base service</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Structural drivers are the real debate; the cycle only changes timing.</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Text 3"/>
          <p:cNvSpPr/>
          <p:nvPr/>
        </p:nvSpPr>
        <p:spPr>
          <a:xfrm>
            <a:off x="731520" y="1325880"/>
            <a:ext cx="1645920" cy="502920"/>
          </a:xfrm>
          <a:prstGeom prst="rect">
            <a:avLst/>
          </a:prstGeom>
          <a:solidFill>
            <a:srgbClr val="FFFFFF"/>
          </a:solidFill>
          <a:ln w="10160">
            <a:solidFill>
              <a:srgbClr val="D5DEE6"/>
            </a:solidFill>
          </a:ln>
        </p:spPr>
        <p:txBody>
          <a:bodyPr wrap="square" lIns="1016" tIns="1016" rIns="1016" bIns="1016" rtlCol="0" anchor="ctr">
            <a:normAutofit/>
          </a:bodyPr>
          <a:lstStyle/>
          <a:p>
            <a:pPr algn="ctr" indent="0" marL="0">
              <a:buNone/>
            </a:pPr>
            <a:r>
              <a:rPr lang="en-US" sz="1000" b="1" dirty="0">
                <a:solidFill>
                  <a:srgbClr val="24313F"/>
                </a:solidFill>
                <a:latin typeface="Aptos" pitchFamily="34" charset="0"/>
                <a:ea typeface="Aptos" pitchFamily="34" charset="-122"/>
                <a:cs typeface="Aptos" pitchFamily="34" charset="-120"/>
              </a:rPr>
              <a:t>WFE growth</a:t>
            </a:r>
            <a:endParaRPr lang="en-US" sz="1000" dirty="0"/>
          </a:p>
        </p:txBody>
      </p:sp>
      <p:sp>
        <p:nvSpPr>
          <p:cNvPr id="6" name="Shape 4"/>
          <p:cNvSpPr/>
          <p:nvPr/>
        </p:nvSpPr>
        <p:spPr>
          <a:xfrm>
            <a:off x="2377440" y="1572768"/>
            <a:ext cx="365760" cy="0"/>
          </a:xfrm>
          <a:prstGeom prst="line">
            <a:avLst/>
          </a:prstGeom>
          <a:noFill/>
          <a:ln w="13970">
            <a:solidFill>
              <a:srgbClr val="64748B"/>
            </a:solidFill>
            <a:prstDash val="solid"/>
            <a:headEnd type="none"/>
            <a:tailEnd type="triangle"/>
          </a:ln>
        </p:spPr>
      </p:sp>
      <p:sp>
        <p:nvSpPr>
          <p:cNvPr id="7" name="Text 5"/>
          <p:cNvSpPr/>
          <p:nvPr/>
        </p:nvSpPr>
        <p:spPr>
          <a:xfrm>
            <a:off x="2743200" y="1325880"/>
            <a:ext cx="1828800" cy="502920"/>
          </a:xfrm>
          <a:prstGeom prst="rect">
            <a:avLst/>
          </a:prstGeom>
          <a:solidFill>
            <a:srgbClr val="EDF8F6"/>
          </a:solidFill>
          <a:ln w="10160">
            <a:solidFill>
              <a:srgbClr val="2A9D8F"/>
            </a:solidFill>
          </a:ln>
        </p:spPr>
        <p:txBody>
          <a:bodyPr wrap="square" lIns="1016" tIns="1016" rIns="1016" bIns="1016" rtlCol="0" anchor="ctr">
            <a:normAutofit/>
          </a:bodyPr>
          <a:lstStyle/>
          <a:p>
            <a:pPr algn="ctr" indent="0" marL="0">
              <a:buNone/>
            </a:pPr>
            <a:r>
              <a:rPr lang="en-US" sz="1000" b="1" dirty="0">
                <a:solidFill>
                  <a:srgbClr val="24313F"/>
                </a:solidFill>
                <a:latin typeface="Aptos" pitchFamily="34" charset="0"/>
                <a:ea typeface="Aptos" pitchFamily="34" charset="-122"/>
                <a:cs typeface="Aptos" pitchFamily="34" charset="-120"/>
              </a:rPr>
              <a:t>Vacuum intensity</a:t>
            </a:r>
            <a:endParaRPr lang="en-US" sz="1000" dirty="0"/>
          </a:p>
        </p:txBody>
      </p:sp>
      <p:sp>
        <p:nvSpPr>
          <p:cNvPr id="8" name="Shape 6"/>
          <p:cNvSpPr/>
          <p:nvPr/>
        </p:nvSpPr>
        <p:spPr>
          <a:xfrm>
            <a:off x="4572000" y="1572768"/>
            <a:ext cx="365760" cy="0"/>
          </a:xfrm>
          <a:prstGeom prst="line">
            <a:avLst/>
          </a:prstGeom>
          <a:noFill/>
          <a:ln w="13970">
            <a:solidFill>
              <a:srgbClr val="64748B"/>
            </a:solidFill>
            <a:prstDash val="solid"/>
            <a:headEnd type="none"/>
            <a:tailEnd type="triangle"/>
          </a:ln>
        </p:spPr>
      </p:sp>
      <p:sp>
        <p:nvSpPr>
          <p:cNvPr id="9" name="Text 7"/>
          <p:cNvSpPr/>
          <p:nvPr/>
        </p:nvSpPr>
        <p:spPr>
          <a:xfrm>
            <a:off x="4937760" y="1325880"/>
            <a:ext cx="1508760" cy="502920"/>
          </a:xfrm>
          <a:prstGeom prst="rect">
            <a:avLst/>
          </a:prstGeom>
          <a:solidFill>
            <a:srgbClr val="FFFFFF"/>
          </a:solidFill>
          <a:ln w="10160">
            <a:solidFill>
              <a:srgbClr val="D5DEE6"/>
            </a:solidFill>
          </a:ln>
        </p:spPr>
        <p:txBody>
          <a:bodyPr wrap="square" lIns="1016" tIns="1016" rIns="1016" bIns="1016" rtlCol="0" anchor="ctr">
            <a:normAutofit/>
          </a:bodyPr>
          <a:lstStyle/>
          <a:p>
            <a:pPr algn="ctr" indent="0" marL="0">
              <a:buNone/>
            </a:pPr>
            <a:r>
              <a:rPr lang="en-US" sz="1000" b="1" dirty="0">
                <a:solidFill>
                  <a:srgbClr val="24313F"/>
                </a:solidFill>
                <a:latin typeface="Aptos" pitchFamily="34" charset="0"/>
                <a:ea typeface="Aptos" pitchFamily="34" charset="-122"/>
                <a:cs typeface="Aptos" pitchFamily="34" charset="-120"/>
              </a:rPr>
              <a:t>VAT share</a:t>
            </a:r>
            <a:endParaRPr lang="en-US" sz="1000" dirty="0"/>
          </a:p>
        </p:txBody>
      </p:sp>
      <p:sp>
        <p:nvSpPr>
          <p:cNvPr id="10" name="Shape 8"/>
          <p:cNvSpPr/>
          <p:nvPr/>
        </p:nvSpPr>
        <p:spPr>
          <a:xfrm>
            <a:off x="6446520" y="1572768"/>
            <a:ext cx="365760" cy="0"/>
          </a:xfrm>
          <a:prstGeom prst="line">
            <a:avLst/>
          </a:prstGeom>
          <a:noFill/>
          <a:ln w="13970">
            <a:solidFill>
              <a:srgbClr val="64748B"/>
            </a:solidFill>
            <a:prstDash val="solid"/>
            <a:headEnd type="none"/>
            <a:tailEnd type="triangle"/>
          </a:ln>
        </p:spPr>
      </p:sp>
      <p:sp>
        <p:nvSpPr>
          <p:cNvPr id="11" name="Text 9"/>
          <p:cNvSpPr/>
          <p:nvPr/>
        </p:nvSpPr>
        <p:spPr>
          <a:xfrm>
            <a:off x="6812280" y="1325880"/>
            <a:ext cx="1828800" cy="502920"/>
          </a:xfrm>
          <a:prstGeom prst="rect">
            <a:avLst/>
          </a:prstGeom>
          <a:solidFill>
            <a:srgbClr val="EDF8F6"/>
          </a:solidFill>
          <a:ln w="10160">
            <a:solidFill>
              <a:srgbClr val="2A9D8F"/>
            </a:solidFill>
          </a:ln>
        </p:spPr>
        <p:txBody>
          <a:bodyPr wrap="square" lIns="1016" tIns="1016" rIns="1016" bIns="1016" rtlCol="0" anchor="ctr">
            <a:normAutofit/>
          </a:bodyPr>
          <a:lstStyle/>
          <a:p>
            <a:pPr algn="ctr" indent="0" marL="0">
              <a:buNone/>
            </a:pPr>
            <a:r>
              <a:rPr lang="en-US" sz="1000" b="1" dirty="0">
                <a:solidFill>
                  <a:srgbClr val="24313F"/>
                </a:solidFill>
                <a:latin typeface="Aptos" pitchFamily="34" charset="0"/>
                <a:ea typeface="Aptos" pitchFamily="34" charset="-122"/>
                <a:cs typeface="Aptos" pitchFamily="34" charset="-120"/>
              </a:rPr>
              <a:t>Content per tool</a:t>
            </a:r>
            <a:endParaRPr lang="en-US" sz="1000" dirty="0"/>
          </a:p>
        </p:txBody>
      </p:sp>
      <p:sp>
        <p:nvSpPr>
          <p:cNvPr id="12" name="Text 10"/>
          <p:cNvSpPr/>
          <p:nvPr/>
        </p:nvSpPr>
        <p:spPr>
          <a:xfrm>
            <a:off x="8915400" y="1399032"/>
            <a:ext cx="274320" cy="274320"/>
          </a:xfrm>
          <a:prstGeom prst="rect">
            <a:avLst/>
          </a:prstGeom>
          <a:noFill/>
          <a:ln/>
        </p:spPr>
        <p:txBody>
          <a:bodyPr wrap="square" lIns="0" tIns="0" rIns="0" bIns="0" rtlCol="0" anchor="ctr"/>
          <a:lstStyle/>
          <a:p>
            <a:pPr indent="0" marL="0">
              <a:buNone/>
            </a:pPr>
            <a:r>
              <a:rPr lang="en-US" sz="1800" b="1" dirty="0">
                <a:solidFill>
                  <a:srgbClr val="12202F"/>
                </a:solidFill>
              </a:rPr>
              <a:t>+</a:t>
            </a:r>
            <a:endParaRPr lang="en-US" sz="1800" dirty="0"/>
          </a:p>
        </p:txBody>
      </p:sp>
      <p:sp>
        <p:nvSpPr>
          <p:cNvPr id="13" name="Text 11"/>
          <p:cNvSpPr/>
          <p:nvPr/>
        </p:nvSpPr>
        <p:spPr>
          <a:xfrm>
            <a:off x="9235440" y="1325880"/>
            <a:ext cx="2148840" cy="502920"/>
          </a:xfrm>
          <a:prstGeom prst="rect">
            <a:avLst/>
          </a:prstGeom>
          <a:solidFill>
            <a:srgbClr val="EDF8F6"/>
          </a:solidFill>
          <a:ln w="10160">
            <a:solidFill>
              <a:srgbClr val="2A9D8F"/>
            </a:solidFill>
          </a:ln>
        </p:spPr>
        <p:txBody>
          <a:bodyPr wrap="square" lIns="1016" tIns="1016" rIns="1016" bIns="1016" rtlCol="0" anchor="ctr">
            <a:normAutofit/>
          </a:bodyPr>
          <a:lstStyle/>
          <a:p>
            <a:pPr algn="ctr" indent="0" marL="0">
              <a:buNone/>
            </a:pPr>
            <a:r>
              <a:rPr lang="en-US" sz="1000" b="1" dirty="0">
                <a:solidFill>
                  <a:srgbClr val="24313F"/>
                </a:solidFill>
                <a:latin typeface="Aptos" pitchFamily="34" charset="0"/>
                <a:ea typeface="Aptos" pitchFamily="34" charset="-122"/>
                <a:cs typeface="Aptos" pitchFamily="34" charset="-120"/>
              </a:rPr>
              <a:t>Installed-base service</a:t>
            </a:r>
            <a:endParaRPr lang="en-US" sz="1000" dirty="0"/>
          </a:p>
        </p:txBody>
      </p:sp>
      <p:sp>
        <p:nvSpPr>
          <p:cNvPr id="14" name="Text 12"/>
          <p:cNvSpPr/>
          <p:nvPr/>
        </p:nvSpPr>
        <p:spPr>
          <a:xfrm>
            <a:off x="731520" y="2788920"/>
            <a:ext cx="4892040" cy="1783080"/>
          </a:xfrm>
          <a:prstGeom prst="rect">
            <a:avLst/>
          </a:prstGeom>
          <a:solidFill>
            <a:srgbClr val="FFFFFF"/>
          </a:solidFill>
          <a:ln w="10160">
            <a:solidFill>
              <a:srgbClr val="D5DEE6"/>
            </a:solidFill>
          </a:ln>
        </p:spPr>
        <p:txBody>
          <a:bodyPr wrap="square" lIns="1270" tIns="1270" rIns="1270" bIns="1270" rtlCol="0" anchor="ctr">
            <a:normAutofit/>
          </a:bodyPr>
          <a:lstStyle/>
          <a:p>
            <a:pPr algn="l" indent="0" marL="0">
              <a:buNone/>
            </a:pPr>
            <a:r>
              <a:rPr lang="en-US" sz="880" dirty="0">
                <a:solidFill>
                  <a:srgbClr val="24313F"/>
                </a:solidFill>
                <a:latin typeface="Aptos" pitchFamily="34" charset="0"/>
                <a:ea typeface="Aptos" pitchFamily="34" charset="-122"/>
                <a:cs typeface="Aptos" pitchFamily="34" charset="-120"/>
              </a:rPr>
              <a:t>Structural drivers</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AI accelerators and data-centre capex</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Advanced logic and gate-all-around</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HBM / DRAM and 3D NAND</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More deposition and etch chambers</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Integrated modules and motion content</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Service revenue from installed base</a:t>
            </a:r>
            <a:endParaRPr lang="en-US" sz="880" dirty="0"/>
          </a:p>
        </p:txBody>
      </p:sp>
      <p:sp>
        <p:nvSpPr>
          <p:cNvPr id="15" name="Text 13"/>
          <p:cNvSpPr/>
          <p:nvPr/>
        </p:nvSpPr>
        <p:spPr>
          <a:xfrm>
            <a:off x="6172200" y="2788920"/>
            <a:ext cx="4892040" cy="1783080"/>
          </a:xfrm>
          <a:prstGeom prst="rect">
            <a:avLst/>
          </a:prstGeom>
          <a:solidFill>
            <a:srgbClr val="FFFFFF"/>
          </a:solidFill>
          <a:ln w="10160">
            <a:solidFill>
              <a:srgbClr val="D5DEE6"/>
            </a:solidFill>
          </a:ln>
        </p:spPr>
        <p:txBody>
          <a:bodyPr wrap="square" lIns="1270" tIns="1270" rIns="1270" bIns="1270" rtlCol="0" anchor="ctr">
            <a:normAutofit/>
          </a:bodyPr>
          <a:lstStyle/>
          <a:p>
            <a:pPr algn="l" indent="0" marL="0">
              <a:buNone/>
            </a:pPr>
            <a:r>
              <a:rPr lang="en-US" sz="880" dirty="0">
                <a:solidFill>
                  <a:srgbClr val="24313F"/>
                </a:solidFill>
                <a:latin typeface="Aptos" pitchFamily="34" charset="0"/>
                <a:ea typeface="Aptos" pitchFamily="34" charset="-122"/>
                <a:cs typeface="Aptos" pitchFamily="34" charset="-120"/>
              </a:rPr>
              <a:t>Cyclical drivers</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Foundry and memory capex timing</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Customer inventory and double-ordering risk</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Export-control and China localization</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OEM lead times and supply-chain availability</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FX and temporary production ramp costs</a:t>
            </a:r>
            <a:endParaRPr lang="en-US" sz="880" dirty="0"/>
          </a:p>
        </p:txBody>
      </p:sp>
      <p:sp>
        <p:nvSpPr>
          <p:cNvPr id="16" name="Text 14"/>
          <p:cNvSpPr/>
          <p:nvPr/>
        </p:nvSpPr>
        <p:spPr>
          <a:xfrm>
            <a:off x="731520" y="5230368"/>
            <a:ext cx="10332720" cy="530352"/>
          </a:xfrm>
          <a:prstGeom prst="rect">
            <a:avLst/>
          </a:prstGeom>
          <a:solidFill>
            <a:srgbClr val="FFF8EA"/>
          </a:solidFill>
          <a:ln w="10160">
            <a:solidFill>
              <a:srgbClr val="E9C46A"/>
            </a:solidFill>
          </a:ln>
        </p:spPr>
        <p:txBody>
          <a:bodyPr wrap="square" lIns="1016" tIns="1016" rIns="1016" bIns="1016" rtlCol="0" anchor="ctr">
            <a:normAutofit/>
          </a:bodyPr>
          <a:lstStyle/>
          <a:p>
            <a:pPr algn="l" indent="0" marL="0">
              <a:buNone/>
            </a:pPr>
            <a:r>
              <a:rPr lang="en-US" sz="930" dirty="0">
                <a:solidFill>
                  <a:srgbClr val="24313F"/>
                </a:solidFill>
                <a:latin typeface="Aptos" pitchFamily="34" charset="0"/>
                <a:ea typeface="Aptos" pitchFamily="34" charset="-122"/>
                <a:cs typeface="Aptos" pitchFamily="34" charset="-120"/>
              </a:rPr>
              <a:t>Key point: VAT does not need share gains to grow faster than WFE; it needs the mix of WFE to move toward vacuum-intensive steps.</a:t>
            </a:r>
            <a:endParaRPr lang="en-US" sz="930" dirty="0"/>
          </a:p>
        </p:txBody>
      </p:sp>
      <p:sp>
        <p:nvSpPr>
          <p:cNvPr id="17" name="Shape 15"/>
          <p:cNvSpPr/>
          <p:nvPr/>
        </p:nvSpPr>
        <p:spPr>
          <a:xfrm>
            <a:off x="411480" y="6510528"/>
            <a:ext cx="11384280" cy="0"/>
          </a:xfrm>
          <a:prstGeom prst="line">
            <a:avLst/>
          </a:prstGeom>
          <a:noFill/>
          <a:ln w="7620">
            <a:solidFill>
              <a:srgbClr val="D5DEE6"/>
            </a:solidFill>
            <a:prstDash val="solid"/>
          </a:ln>
        </p:spPr>
      </p:sp>
      <p:sp>
        <p:nvSpPr>
          <p:cNvPr id="18" name="Text 16"/>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VAT Capital Markets Day 2025; TechInsights / industry forecasts cited by VAT; analyst interpretation.</a:t>
            </a:r>
            <a:endParaRPr lang="en-US" sz="580" dirty="0"/>
          </a:p>
        </p:txBody>
      </p:sp>
      <p:sp>
        <p:nvSpPr>
          <p:cNvPr id="19" name="Text 17"/>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7</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Record backlog should convert into an earnings inflection as capacity ramps</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The controversy is whether H1 2026 orders are peak demand or the start of an output catch-up cycle.</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Shape 3"/>
          <p:cNvSpPr/>
          <p:nvPr/>
        </p:nvSpPr>
        <p:spPr>
          <a:xfrm>
            <a:off x="594360" y="2651760"/>
            <a:ext cx="2697480" cy="0"/>
          </a:xfrm>
          <a:prstGeom prst="line">
            <a:avLst/>
          </a:prstGeom>
          <a:noFill/>
          <a:ln w="10160">
            <a:solidFill>
              <a:srgbClr val="D5DEE6"/>
            </a:solidFill>
            <a:prstDash val="solid"/>
          </a:ln>
        </p:spPr>
      </p:sp>
      <p:sp>
        <p:nvSpPr>
          <p:cNvPr id="6" name="Shape 4"/>
          <p:cNvSpPr/>
          <p:nvPr/>
        </p:nvSpPr>
        <p:spPr>
          <a:xfrm>
            <a:off x="594360" y="1456822"/>
            <a:ext cx="466344" cy="1194938"/>
          </a:xfrm>
          <a:prstGeom prst="rect">
            <a:avLst/>
          </a:prstGeom>
          <a:solidFill>
            <a:srgbClr val="64748B"/>
          </a:solidFill>
          <a:ln w="2540">
            <a:solidFill>
              <a:srgbClr val="64748B"/>
            </a:solidFill>
            <a:prstDash val="solid"/>
          </a:ln>
        </p:spPr>
      </p:sp>
      <p:sp>
        <p:nvSpPr>
          <p:cNvPr id="7" name="Shape 5"/>
          <p:cNvSpPr/>
          <p:nvPr/>
        </p:nvSpPr>
        <p:spPr>
          <a:xfrm>
            <a:off x="1152144" y="1968374"/>
            <a:ext cx="466344" cy="683386"/>
          </a:xfrm>
          <a:prstGeom prst="rect">
            <a:avLst/>
          </a:prstGeom>
          <a:solidFill>
            <a:srgbClr val="64748B"/>
          </a:solidFill>
          <a:ln w="2540">
            <a:solidFill>
              <a:srgbClr val="64748B"/>
            </a:solidFill>
            <a:prstDash val="solid"/>
          </a:ln>
        </p:spPr>
      </p:sp>
      <p:sp>
        <p:nvSpPr>
          <p:cNvPr id="8" name="Shape 6"/>
          <p:cNvSpPr/>
          <p:nvPr/>
        </p:nvSpPr>
        <p:spPr>
          <a:xfrm>
            <a:off x="1709928" y="1631619"/>
            <a:ext cx="466344" cy="1020141"/>
          </a:xfrm>
          <a:prstGeom prst="rect">
            <a:avLst/>
          </a:prstGeom>
          <a:solidFill>
            <a:srgbClr val="64748B"/>
          </a:solidFill>
          <a:ln w="2540">
            <a:solidFill>
              <a:srgbClr val="64748B"/>
            </a:solidFill>
            <a:prstDash val="solid"/>
          </a:ln>
        </p:spPr>
      </p:sp>
      <p:sp>
        <p:nvSpPr>
          <p:cNvPr id="9" name="Shape 7"/>
          <p:cNvSpPr/>
          <p:nvPr/>
        </p:nvSpPr>
        <p:spPr>
          <a:xfrm>
            <a:off x="2267712" y="1631619"/>
            <a:ext cx="466344" cy="1020141"/>
          </a:xfrm>
          <a:prstGeom prst="rect">
            <a:avLst/>
          </a:prstGeom>
          <a:solidFill>
            <a:srgbClr val="64748B"/>
          </a:solidFill>
          <a:ln w="2540">
            <a:solidFill>
              <a:srgbClr val="64748B"/>
            </a:solidFill>
            <a:prstDash val="solid"/>
          </a:ln>
        </p:spPr>
      </p:sp>
      <p:sp>
        <p:nvSpPr>
          <p:cNvPr id="10" name="Shape 8"/>
          <p:cNvSpPr/>
          <p:nvPr/>
        </p:nvSpPr>
        <p:spPr>
          <a:xfrm>
            <a:off x="2825496" y="1806415"/>
            <a:ext cx="466344" cy="845345"/>
          </a:xfrm>
          <a:prstGeom prst="rect">
            <a:avLst/>
          </a:prstGeom>
          <a:solidFill>
            <a:srgbClr val="2A9D8F"/>
          </a:solidFill>
          <a:ln w="2540">
            <a:solidFill>
              <a:srgbClr val="2A9D8F"/>
            </a:solidFill>
            <a:prstDash val="solid"/>
          </a:ln>
        </p:spPr>
      </p:sp>
      <p:sp>
        <p:nvSpPr>
          <p:cNvPr id="11" name="Text 9"/>
          <p:cNvSpPr/>
          <p:nvPr/>
        </p:nvSpPr>
        <p:spPr>
          <a:xfrm>
            <a:off x="594360" y="1161288"/>
            <a:ext cx="2697480" cy="182880"/>
          </a:xfrm>
          <a:prstGeom prst="rect">
            <a:avLst/>
          </a:prstGeom>
          <a:noFill/>
          <a:ln/>
        </p:spPr>
        <p:txBody>
          <a:bodyPr wrap="square" lIns="0" tIns="0" rIns="0" bIns="0" rtlCol="0" anchor="ctr">
            <a:normAutofit/>
          </a:bodyPr>
          <a:lstStyle/>
          <a:p>
            <a:pPr indent="0" marL="0">
              <a:buNone/>
            </a:pPr>
            <a:r>
              <a:rPr lang="en-US" sz="750" b="1" dirty="0">
                <a:solidFill>
                  <a:srgbClr val="12202F"/>
                </a:solidFill>
              </a:rPr>
              <a:t>Order intake (CHFm)</a:t>
            </a:r>
            <a:endParaRPr lang="en-US" sz="750" dirty="0"/>
          </a:p>
        </p:txBody>
      </p:sp>
      <p:sp>
        <p:nvSpPr>
          <p:cNvPr id="12" name="Text 10"/>
          <p:cNvSpPr/>
          <p:nvPr/>
        </p:nvSpPr>
        <p:spPr>
          <a:xfrm>
            <a:off x="576072" y="2697480"/>
            <a:ext cx="50292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22</a:t>
            </a:r>
            <a:endParaRPr lang="en-US" sz="540" dirty="0"/>
          </a:p>
        </p:txBody>
      </p:sp>
      <p:sp>
        <p:nvSpPr>
          <p:cNvPr id="13" name="Text 11"/>
          <p:cNvSpPr/>
          <p:nvPr/>
        </p:nvSpPr>
        <p:spPr>
          <a:xfrm>
            <a:off x="1133856" y="2697480"/>
            <a:ext cx="50292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23</a:t>
            </a:r>
            <a:endParaRPr lang="en-US" sz="540" dirty="0"/>
          </a:p>
        </p:txBody>
      </p:sp>
      <p:sp>
        <p:nvSpPr>
          <p:cNvPr id="14" name="Text 12"/>
          <p:cNvSpPr/>
          <p:nvPr/>
        </p:nvSpPr>
        <p:spPr>
          <a:xfrm>
            <a:off x="1691640" y="2697480"/>
            <a:ext cx="50292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24</a:t>
            </a:r>
            <a:endParaRPr lang="en-US" sz="540" dirty="0"/>
          </a:p>
        </p:txBody>
      </p:sp>
      <p:sp>
        <p:nvSpPr>
          <p:cNvPr id="15" name="Text 13"/>
          <p:cNvSpPr/>
          <p:nvPr/>
        </p:nvSpPr>
        <p:spPr>
          <a:xfrm>
            <a:off x="2249424" y="2697480"/>
            <a:ext cx="50292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25</a:t>
            </a:r>
            <a:endParaRPr lang="en-US" sz="540" dirty="0"/>
          </a:p>
        </p:txBody>
      </p:sp>
      <p:sp>
        <p:nvSpPr>
          <p:cNvPr id="16" name="Text 14"/>
          <p:cNvSpPr/>
          <p:nvPr/>
        </p:nvSpPr>
        <p:spPr>
          <a:xfrm>
            <a:off x="2807208" y="2697480"/>
            <a:ext cx="50292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H1</a:t>
            </a:r>
            <a:endParaRPr lang="en-US" sz="540" dirty="0"/>
          </a:p>
          <a:p>
            <a:pPr algn="ctr" indent="0" marL="0">
              <a:buNone/>
            </a:pPr>
            <a:r>
              <a:rPr lang="en-US" sz="540" dirty="0">
                <a:solidFill>
                  <a:srgbClr val="64748B"/>
                </a:solidFill>
              </a:rPr>
              <a:t>26</a:t>
            </a:r>
            <a:endParaRPr lang="en-US" sz="540" dirty="0"/>
          </a:p>
        </p:txBody>
      </p:sp>
      <p:sp>
        <p:nvSpPr>
          <p:cNvPr id="17" name="Shape 15"/>
          <p:cNvSpPr/>
          <p:nvPr/>
        </p:nvSpPr>
        <p:spPr>
          <a:xfrm>
            <a:off x="3611880" y="2651760"/>
            <a:ext cx="2697480" cy="0"/>
          </a:xfrm>
          <a:prstGeom prst="line">
            <a:avLst/>
          </a:prstGeom>
          <a:noFill/>
          <a:ln w="10160">
            <a:solidFill>
              <a:srgbClr val="D5DEE6"/>
            </a:solidFill>
            <a:prstDash val="solid"/>
          </a:ln>
        </p:spPr>
      </p:sp>
      <p:sp>
        <p:nvSpPr>
          <p:cNvPr id="18" name="Shape 16"/>
          <p:cNvSpPr/>
          <p:nvPr/>
        </p:nvSpPr>
        <p:spPr>
          <a:xfrm>
            <a:off x="3611880" y="1641283"/>
            <a:ext cx="466344" cy="1010477"/>
          </a:xfrm>
          <a:prstGeom prst="rect">
            <a:avLst/>
          </a:prstGeom>
          <a:solidFill>
            <a:srgbClr val="64748B"/>
          </a:solidFill>
          <a:ln w="2540">
            <a:solidFill>
              <a:srgbClr val="64748B"/>
            </a:solidFill>
            <a:prstDash val="solid"/>
          </a:ln>
        </p:spPr>
      </p:sp>
      <p:sp>
        <p:nvSpPr>
          <p:cNvPr id="19" name="Shape 17"/>
          <p:cNvSpPr/>
          <p:nvPr/>
        </p:nvSpPr>
        <p:spPr>
          <a:xfrm>
            <a:off x="4169664" y="1871418"/>
            <a:ext cx="466344" cy="780342"/>
          </a:xfrm>
          <a:prstGeom prst="rect">
            <a:avLst/>
          </a:prstGeom>
          <a:solidFill>
            <a:srgbClr val="64748B"/>
          </a:solidFill>
          <a:ln w="2540">
            <a:solidFill>
              <a:srgbClr val="64748B"/>
            </a:solidFill>
            <a:prstDash val="solid"/>
          </a:ln>
        </p:spPr>
      </p:sp>
      <p:sp>
        <p:nvSpPr>
          <p:cNvPr id="20" name="Shape 18"/>
          <p:cNvSpPr/>
          <p:nvPr/>
        </p:nvSpPr>
        <p:spPr>
          <a:xfrm>
            <a:off x="4727448" y="1821158"/>
            <a:ext cx="466344" cy="830602"/>
          </a:xfrm>
          <a:prstGeom prst="rect">
            <a:avLst/>
          </a:prstGeom>
          <a:solidFill>
            <a:srgbClr val="64748B"/>
          </a:solidFill>
          <a:ln w="2540">
            <a:solidFill>
              <a:srgbClr val="64748B"/>
            </a:solidFill>
            <a:prstDash val="solid"/>
          </a:ln>
        </p:spPr>
      </p:sp>
      <p:sp>
        <p:nvSpPr>
          <p:cNvPr id="21" name="Shape 19"/>
          <p:cNvSpPr/>
          <p:nvPr/>
        </p:nvSpPr>
        <p:spPr>
          <a:xfrm>
            <a:off x="5285232" y="1704768"/>
            <a:ext cx="466344" cy="946992"/>
          </a:xfrm>
          <a:prstGeom prst="rect">
            <a:avLst/>
          </a:prstGeom>
          <a:solidFill>
            <a:srgbClr val="64748B"/>
          </a:solidFill>
          <a:ln w="2540">
            <a:solidFill>
              <a:srgbClr val="64748B"/>
            </a:solidFill>
            <a:prstDash val="solid"/>
          </a:ln>
        </p:spPr>
      </p:sp>
      <p:sp>
        <p:nvSpPr>
          <p:cNvPr id="22" name="Shape 20"/>
          <p:cNvSpPr/>
          <p:nvPr/>
        </p:nvSpPr>
        <p:spPr>
          <a:xfrm>
            <a:off x="5843016" y="1482569"/>
            <a:ext cx="466344" cy="1169191"/>
          </a:xfrm>
          <a:prstGeom prst="rect">
            <a:avLst/>
          </a:prstGeom>
          <a:solidFill>
            <a:srgbClr val="2A9D8F"/>
          </a:solidFill>
          <a:ln w="2540">
            <a:solidFill>
              <a:srgbClr val="2A9D8F"/>
            </a:solidFill>
            <a:prstDash val="solid"/>
          </a:ln>
        </p:spPr>
      </p:sp>
      <p:sp>
        <p:nvSpPr>
          <p:cNvPr id="23" name="Text 21"/>
          <p:cNvSpPr/>
          <p:nvPr/>
        </p:nvSpPr>
        <p:spPr>
          <a:xfrm>
            <a:off x="3611880" y="1161288"/>
            <a:ext cx="2697480" cy="182880"/>
          </a:xfrm>
          <a:prstGeom prst="rect">
            <a:avLst/>
          </a:prstGeom>
          <a:noFill/>
          <a:ln/>
        </p:spPr>
        <p:txBody>
          <a:bodyPr wrap="square" lIns="0" tIns="0" rIns="0" bIns="0" rtlCol="0" anchor="ctr">
            <a:normAutofit/>
          </a:bodyPr>
          <a:lstStyle/>
          <a:p>
            <a:pPr indent="0" marL="0">
              <a:buNone/>
            </a:pPr>
            <a:r>
              <a:rPr lang="en-US" sz="750" b="1" dirty="0">
                <a:solidFill>
                  <a:srgbClr val="12202F"/>
                </a:solidFill>
              </a:rPr>
              <a:t>Revenue (CHFm)</a:t>
            </a:r>
            <a:endParaRPr lang="en-US" sz="750" dirty="0"/>
          </a:p>
        </p:txBody>
      </p:sp>
      <p:sp>
        <p:nvSpPr>
          <p:cNvPr id="24" name="Text 22"/>
          <p:cNvSpPr/>
          <p:nvPr/>
        </p:nvSpPr>
        <p:spPr>
          <a:xfrm>
            <a:off x="3593592" y="2697480"/>
            <a:ext cx="50292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22</a:t>
            </a:r>
            <a:endParaRPr lang="en-US" sz="540" dirty="0"/>
          </a:p>
        </p:txBody>
      </p:sp>
      <p:sp>
        <p:nvSpPr>
          <p:cNvPr id="25" name="Text 23"/>
          <p:cNvSpPr/>
          <p:nvPr/>
        </p:nvSpPr>
        <p:spPr>
          <a:xfrm>
            <a:off x="4151376" y="2697480"/>
            <a:ext cx="50292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23</a:t>
            </a:r>
            <a:endParaRPr lang="en-US" sz="540" dirty="0"/>
          </a:p>
        </p:txBody>
      </p:sp>
      <p:sp>
        <p:nvSpPr>
          <p:cNvPr id="26" name="Text 24"/>
          <p:cNvSpPr/>
          <p:nvPr/>
        </p:nvSpPr>
        <p:spPr>
          <a:xfrm>
            <a:off x="4709160" y="2697480"/>
            <a:ext cx="50292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24</a:t>
            </a:r>
            <a:endParaRPr lang="en-US" sz="540" dirty="0"/>
          </a:p>
        </p:txBody>
      </p:sp>
      <p:sp>
        <p:nvSpPr>
          <p:cNvPr id="27" name="Text 25"/>
          <p:cNvSpPr/>
          <p:nvPr/>
        </p:nvSpPr>
        <p:spPr>
          <a:xfrm>
            <a:off x="5266944" y="2697480"/>
            <a:ext cx="50292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25</a:t>
            </a:r>
            <a:endParaRPr lang="en-US" sz="540" dirty="0"/>
          </a:p>
        </p:txBody>
      </p:sp>
      <p:sp>
        <p:nvSpPr>
          <p:cNvPr id="28" name="Text 26"/>
          <p:cNvSpPr/>
          <p:nvPr/>
        </p:nvSpPr>
        <p:spPr>
          <a:xfrm>
            <a:off x="5824728" y="2697480"/>
            <a:ext cx="50292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26E</a:t>
            </a:r>
            <a:endParaRPr lang="en-US" sz="540" dirty="0"/>
          </a:p>
        </p:txBody>
      </p:sp>
      <p:sp>
        <p:nvSpPr>
          <p:cNvPr id="29" name="Shape 27"/>
          <p:cNvSpPr/>
          <p:nvPr/>
        </p:nvSpPr>
        <p:spPr>
          <a:xfrm>
            <a:off x="6629400" y="2651760"/>
            <a:ext cx="2697480" cy="0"/>
          </a:xfrm>
          <a:prstGeom prst="line">
            <a:avLst/>
          </a:prstGeom>
          <a:noFill/>
          <a:ln w="10160">
            <a:solidFill>
              <a:srgbClr val="D5DEE6"/>
            </a:solidFill>
            <a:prstDash val="solid"/>
          </a:ln>
        </p:spPr>
      </p:sp>
      <p:sp>
        <p:nvSpPr>
          <p:cNvPr id="30" name="Shape 28"/>
          <p:cNvSpPr/>
          <p:nvPr/>
        </p:nvSpPr>
        <p:spPr>
          <a:xfrm>
            <a:off x="6629400" y="1738274"/>
            <a:ext cx="466344" cy="913486"/>
          </a:xfrm>
          <a:prstGeom prst="rect">
            <a:avLst/>
          </a:prstGeom>
          <a:solidFill>
            <a:srgbClr val="64748B"/>
          </a:solidFill>
          <a:ln w="2540">
            <a:solidFill>
              <a:srgbClr val="64748B"/>
            </a:solidFill>
            <a:prstDash val="solid"/>
          </a:ln>
        </p:spPr>
      </p:sp>
      <p:sp>
        <p:nvSpPr>
          <p:cNvPr id="31" name="Shape 29"/>
          <p:cNvSpPr/>
          <p:nvPr/>
        </p:nvSpPr>
        <p:spPr>
          <a:xfrm>
            <a:off x="7187184" y="2136822"/>
            <a:ext cx="466344" cy="514938"/>
          </a:xfrm>
          <a:prstGeom prst="rect">
            <a:avLst/>
          </a:prstGeom>
          <a:solidFill>
            <a:srgbClr val="64748B"/>
          </a:solidFill>
          <a:ln w="2540">
            <a:solidFill>
              <a:srgbClr val="64748B"/>
            </a:solidFill>
            <a:prstDash val="solid"/>
          </a:ln>
        </p:spPr>
      </p:sp>
      <p:sp>
        <p:nvSpPr>
          <p:cNvPr id="32" name="Shape 30"/>
          <p:cNvSpPr/>
          <p:nvPr/>
        </p:nvSpPr>
        <p:spPr>
          <a:xfrm>
            <a:off x="7744968" y="1999270"/>
            <a:ext cx="466344" cy="652490"/>
          </a:xfrm>
          <a:prstGeom prst="rect">
            <a:avLst/>
          </a:prstGeom>
          <a:solidFill>
            <a:srgbClr val="64748B"/>
          </a:solidFill>
          <a:ln w="2540">
            <a:solidFill>
              <a:srgbClr val="64748B"/>
            </a:solidFill>
            <a:prstDash val="solid"/>
          </a:ln>
        </p:spPr>
      </p:sp>
      <p:sp>
        <p:nvSpPr>
          <p:cNvPr id="33" name="Shape 31"/>
          <p:cNvSpPr/>
          <p:nvPr/>
        </p:nvSpPr>
        <p:spPr>
          <a:xfrm>
            <a:off x="8302752" y="2115660"/>
            <a:ext cx="466344" cy="536100"/>
          </a:xfrm>
          <a:prstGeom prst="rect">
            <a:avLst/>
          </a:prstGeom>
          <a:solidFill>
            <a:srgbClr val="64748B"/>
          </a:solidFill>
          <a:ln w="2540">
            <a:solidFill>
              <a:srgbClr val="64748B"/>
            </a:solidFill>
            <a:prstDash val="solid"/>
          </a:ln>
        </p:spPr>
      </p:sp>
      <p:sp>
        <p:nvSpPr>
          <p:cNvPr id="34" name="Shape 32"/>
          <p:cNvSpPr/>
          <p:nvPr/>
        </p:nvSpPr>
        <p:spPr>
          <a:xfrm>
            <a:off x="8860536" y="1509021"/>
            <a:ext cx="466344" cy="1142739"/>
          </a:xfrm>
          <a:prstGeom prst="rect">
            <a:avLst/>
          </a:prstGeom>
          <a:solidFill>
            <a:srgbClr val="2A9D8F"/>
          </a:solidFill>
          <a:ln w="2540">
            <a:solidFill>
              <a:srgbClr val="2A9D8F"/>
            </a:solidFill>
            <a:prstDash val="solid"/>
          </a:ln>
        </p:spPr>
      </p:sp>
      <p:sp>
        <p:nvSpPr>
          <p:cNvPr id="35" name="Text 33"/>
          <p:cNvSpPr/>
          <p:nvPr/>
        </p:nvSpPr>
        <p:spPr>
          <a:xfrm>
            <a:off x="6629400" y="1161288"/>
            <a:ext cx="2697480" cy="182880"/>
          </a:xfrm>
          <a:prstGeom prst="rect">
            <a:avLst/>
          </a:prstGeom>
          <a:noFill/>
          <a:ln/>
        </p:spPr>
        <p:txBody>
          <a:bodyPr wrap="square" lIns="0" tIns="0" rIns="0" bIns="0" rtlCol="0" anchor="ctr">
            <a:normAutofit/>
          </a:bodyPr>
          <a:lstStyle/>
          <a:p>
            <a:pPr indent="0" marL="0">
              <a:buNone/>
            </a:pPr>
            <a:r>
              <a:rPr lang="en-US" sz="750" b="1" dirty="0">
                <a:solidFill>
                  <a:srgbClr val="12202F"/>
                </a:solidFill>
              </a:rPr>
              <a:t>Backlog (CHFm)</a:t>
            </a:r>
            <a:endParaRPr lang="en-US" sz="750" dirty="0"/>
          </a:p>
        </p:txBody>
      </p:sp>
      <p:sp>
        <p:nvSpPr>
          <p:cNvPr id="36" name="Text 34"/>
          <p:cNvSpPr/>
          <p:nvPr/>
        </p:nvSpPr>
        <p:spPr>
          <a:xfrm>
            <a:off x="6611112" y="2697480"/>
            <a:ext cx="50292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22</a:t>
            </a:r>
            <a:endParaRPr lang="en-US" sz="540" dirty="0"/>
          </a:p>
        </p:txBody>
      </p:sp>
      <p:sp>
        <p:nvSpPr>
          <p:cNvPr id="37" name="Text 35"/>
          <p:cNvSpPr/>
          <p:nvPr/>
        </p:nvSpPr>
        <p:spPr>
          <a:xfrm>
            <a:off x="7168896" y="2697480"/>
            <a:ext cx="50292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23</a:t>
            </a:r>
            <a:endParaRPr lang="en-US" sz="540" dirty="0"/>
          </a:p>
        </p:txBody>
      </p:sp>
      <p:sp>
        <p:nvSpPr>
          <p:cNvPr id="38" name="Text 36"/>
          <p:cNvSpPr/>
          <p:nvPr/>
        </p:nvSpPr>
        <p:spPr>
          <a:xfrm>
            <a:off x="7726680" y="2697480"/>
            <a:ext cx="50292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24</a:t>
            </a:r>
            <a:endParaRPr lang="en-US" sz="540" dirty="0"/>
          </a:p>
        </p:txBody>
      </p:sp>
      <p:sp>
        <p:nvSpPr>
          <p:cNvPr id="39" name="Text 37"/>
          <p:cNvSpPr/>
          <p:nvPr/>
        </p:nvSpPr>
        <p:spPr>
          <a:xfrm>
            <a:off x="8284464" y="2697480"/>
            <a:ext cx="50292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25</a:t>
            </a:r>
            <a:endParaRPr lang="en-US" sz="540" dirty="0"/>
          </a:p>
        </p:txBody>
      </p:sp>
      <p:sp>
        <p:nvSpPr>
          <p:cNvPr id="40" name="Text 38"/>
          <p:cNvSpPr/>
          <p:nvPr/>
        </p:nvSpPr>
        <p:spPr>
          <a:xfrm>
            <a:off x="8842248" y="2697480"/>
            <a:ext cx="50292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H1</a:t>
            </a:r>
            <a:endParaRPr lang="en-US" sz="540" dirty="0"/>
          </a:p>
          <a:p>
            <a:pPr algn="ctr" indent="0" marL="0">
              <a:buNone/>
            </a:pPr>
            <a:r>
              <a:rPr lang="en-US" sz="540" dirty="0">
                <a:solidFill>
                  <a:srgbClr val="64748B"/>
                </a:solidFill>
              </a:rPr>
              <a:t>26</a:t>
            </a:r>
            <a:endParaRPr lang="en-US" sz="540" dirty="0"/>
          </a:p>
        </p:txBody>
      </p:sp>
      <p:sp>
        <p:nvSpPr>
          <p:cNvPr id="41" name="Shape 39"/>
          <p:cNvSpPr/>
          <p:nvPr/>
        </p:nvSpPr>
        <p:spPr>
          <a:xfrm>
            <a:off x="9738360" y="2651760"/>
            <a:ext cx="1783080" cy="0"/>
          </a:xfrm>
          <a:prstGeom prst="line">
            <a:avLst/>
          </a:prstGeom>
          <a:noFill/>
          <a:ln w="10160">
            <a:solidFill>
              <a:srgbClr val="D5DEE6"/>
            </a:solidFill>
            <a:prstDash val="solid"/>
          </a:ln>
        </p:spPr>
      </p:sp>
      <p:sp>
        <p:nvSpPr>
          <p:cNvPr id="42" name="Shape 40"/>
          <p:cNvSpPr/>
          <p:nvPr/>
        </p:nvSpPr>
        <p:spPr>
          <a:xfrm>
            <a:off x="9738360" y="1417320"/>
            <a:ext cx="0" cy="1234440"/>
          </a:xfrm>
          <a:prstGeom prst="line">
            <a:avLst/>
          </a:prstGeom>
          <a:noFill/>
          <a:ln w="10160">
            <a:solidFill>
              <a:srgbClr val="D5DEE6"/>
            </a:solidFill>
            <a:prstDash val="solid"/>
          </a:ln>
        </p:spPr>
      </p:sp>
      <p:sp>
        <p:nvSpPr>
          <p:cNvPr id="43" name="Shape 41"/>
          <p:cNvSpPr/>
          <p:nvPr/>
        </p:nvSpPr>
        <p:spPr>
          <a:xfrm>
            <a:off x="9738360" y="2178558"/>
            <a:ext cx="445770" cy="288036"/>
          </a:xfrm>
          <a:prstGeom prst="line">
            <a:avLst/>
          </a:prstGeom>
          <a:noFill/>
          <a:ln w="20320">
            <a:solidFill>
              <a:srgbClr val="2A9D8F"/>
            </a:solidFill>
            <a:prstDash val="solid"/>
          </a:ln>
        </p:spPr>
      </p:sp>
      <p:sp>
        <p:nvSpPr>
          <p:cNvPr id="44" name="Shape 42"/>
          <p:cNvSpPr/>
          <p:nvPr/>
        </p:nvSpPr>
        <p:spPr>
          <a:xfrm>
            <a:off x="10184130" y="2466594"/>
            <a:ext cx="445770" cy="-329184"/>
          </a:xfrm>
          <a:prstGeom prst="line">
            <a:avLst/>
          </a:prstGeom>
          <a:noFill/>
          <a:ln w="20320">
            <a:solidFill>
              <a:srgbClr val="2A9D8F"/>
            </a:solidFill>
            <a:prstDash val="solid"/>
          </a:ln>
        </p:spPr>
      </p:sp>
      <p:sp>
        <p:nvSpPr>
          <p:cNvPr id="45" name="Shape 43"/>
          <p:cNvSpPr/>
          <p:nvPr/>
        </p:nvSpPr>
        <p:spPr>
          <a:xfrm>
            <a:off x="10629900" y="2137410"/>
            <a:ext cx="445770" cy="144018"/>
          </a:xfrm>
          <a:prstGeom prst="line">
            <a:avLst/>
          </a:prstGeom>
          <a:noFill/>
          <a:ln w="20320">
            <a:solidFill>
              <a:srgbClr val="2A9D8F"/>
            </a:solidFill>
            <a:prstDash val="solid"/>
          </a:ln>
        </p:spPr>
      </p:sp>
      <p:sp>
        <p:nvSpPr>
          <p:cNvPr id="46" name="Shape 44"/>
          <p:cNvSpPr/>
          <p:nvPr/>
        </p:nvSpPr>
        <p:spPr>
          <a:xfrm>
            <a:off x="11075670" y="2281428"/>
            <a:ext cx="445770" cy="-730377"/>
          </a:xfrm>
          <a:prstGeom prst="line">
            <a:avLst/>
          </a:prstGeom>
          <a:noFill/>
          <a:ln w="20320">
            <a:solidFill>
              <a:srgbClr val="2A9D8F"/>
            </a:solidFill>
            <a:prstDash val="solid"/>
          </a:ln>
        </p:spPr>
      </p:sp>
      <p:sp>
        <p:nvSpPr>
          <p:cNvPr id="47" name="Text 45"/>
          <p:cNvSpPr/>
          <p:nvPr/>
        </p:nvSpPr>
        <p:spPr>
          <a:xfrm>
            <a:off x="9738360" y="1161288"/>
            <a:ext cx="1783080" cy="182880"/>
          </a:xfrm>
          <a:prstGeom prst="rect">
            <a:avLst/>
          </a:prstGeom>
          <a:noFill/>
          <a:ln/>
        </p:spPr>
        <p:txBody>
          <a:bodyPr wrap="square" lIns="0" tIns="0" rIns="0" bIns="0" rtlCol="0" anchor="ctr">
            <a:normAutofit/>
          </a:bodyPr>
          <a:lstStyle/>
          <a:p>
            <a:pPr indent="0" marL="0">
              <a:buNone/>
            </a:pPr>
            <a:r>
              <a:rPr lang="en-US" sz="750" b="1" dirty="0">
                <a:solidFill>
                  <a:srgbClr val="12202F"/>
                </a:solidFill>
              </a:rPr>
              <a:t>Book-to-bill</a:t>
            </a:r>
            <a:endParaRPr lang="en-US" sz="750" dirty="0"/>
          </a:p>
        </p:txBody>
      </p:sp>
      <p:sp>
        <p:nvSpPr>
          <p:cNvPr id="48" name="Text 46"/>
          <p:cNvSpPr/>
          <p:nvPr/>
        </p:nvSpPr>
        <p:spPr>
          <a:xfrm>
            <a:off x="9738360" y="2697480"/>
            <a:ext cx="1783080" cy="146304"/>
          </a:xfrm>
          <a:prstGeom prst="rect">
            <a:avLst/>
          </a:prstGeom>
          <a:noFill/>
          <a:ln/>
        </p:spPr>
        <p:txBody>
          <a:bodyPr wrap="square" lIns="0" tIns="0" rIns="0" bIns="0" rtlCol="0" anchor="ctr">
            <a:normAutofit/>
          </a:bodyPr>
          <a:lstStyle/>
          <a:p>
            <a:pPr algn="ctr" indent="0" marL="0">
              <a:buNone/>
            </a:pPr>
            <a:r>
              <a:rPr lang="en-US" sz="500" dirty="0">
                <a:solidFill>
                  <a:srgbClr val="64748B"/>
                </a:solidFill>
              </a:rPr>
              <a:t>22   23   24   25   H1 26</a:t>
            </a:r>
            <a:endParaRPr lang="en-US" sz="500" dirty="0"/>
          </a:p>
        </p:txBody>
      </p:sp>
      <p:sp>
        <p:nvSpPr>
          <p:cNvPr id="49" name="Text 47"/>
          <p:cNvSpPr/>
          <p:nvPr/>
        </p:nvSpPr>
        <p:spPr>
          <a:xfrm>
            <a:off x="640080" y="3703320"/>
            <a:ext cx="5074920" cy="960120"/>
          </a:xfrm>
          <a:prstGeom prst="rect">
            <a:avLst/>
          </a:prstGeom>
          <a:solidFill>
            <a:srgbClr val="FFFFFF"/>
          </a:solidFill>
          <a:ln w="10160">
            <a:solidFill>
              <a:srgbClr val="D5DEE6"/>
            </a:solidFill>
          </a:ln>
        </p:spPr>
        <p:txBody>
          <a:bodyPr wrap="square" lIns="1270" tIns="1270" rIns="1270" bIns="1270" rtlCol="0" anchor="ctr">
            <a:normAutofit/>
          </a:bodyPr>
          <a:lstStyle/>
          <a:p>
            <a:pPr algn="l" indent="0" marL="0">
              <a:buNone/>
            </a:pPr>
            <a:r>
              <a:rPr lang="en-US" sz="900" dirty="0">
                <a:solidFill>
                  <a:srgbClr val="24313F"/>
                </a:solidFill>
                <a:latin typeface="Aptos" pitchFamily="34" charset="0"/>
                <a:ea typeface="Aptos" pitchFamily="34" charset="-122"/>
                <a:cs typeface="Aptos" pitchFamily="34" charset="-120"/>
              </a:rPr>
              <a:t>MARKET VIEW</a:t>
            </a:r>
            <a:endParaRPr lang="en-US" sz="900" dirty="0"/>
          </a:p>
          <a:p>
            <a:pPr algn="l" indent="0" marL="0">
              <a:buNone/>
            </a:pPr>
            <a:r>
              <a:rPr lang="en-US" sz="900" dirty="0">
                <a:solidFill>
                  <a:srgbClr val="24313F"/>
                </a:solidFill>
                <a:latin typeface="Aptos" pitchFamily="34" charset="0"/>
                <a:ea typeface="Aptos" pitchFamily="34" charset="-122"/>
                <a:cs typeface="Aptos" pitchFamily="34" charset="-120"/>
              </a:rPr>
              <a:t>Orders may reflect peak-cycle AI urgency; the &gt;700 employee ramp can suppress margins; valuation already discounts the 2027 WFE acceleration.</a:t>
            </a:r>
            <a:endParaRPr lang="en-US" sz="900" dirty="0"/>
          </a:p>
        </p:txBody>
      </p:sp>
      <p:sp>
        <p:nvSpPr>
          <p:cNvPr id="50" name="Text 48"/>
          <p:cNvSpPr/>
          <p:nvPr/>
        </p:nvSpPr>
        <p:spPr>
          <a:xfrm>
            <a:off x="6172200" y="3703320"/>
            <a:ext cx="5074920" cy="960120"/>
          </a:xfrm>
          <a:prstGeom prst="rect">
            <a:avLst/>
          </a:prstGeom>
          <a:solidFill>
            <a:srgbClr val="EDF8F6"/>
          </a:solidFill>
          <a:ln w="10160">
            <a:solidFill>
              <a:srgbClr val="2A9D8F"/>
            </a:solidFill>
          </a:ln>
        </p:spPr>
        <p:txBody>
          <a:bodyPr wrap="square" lIns="1270" tIns="1270" rIns="1270" bIns="1270" rtlCol="0" anchor="ctr">
            <a:normAutofit/>
          </a:bodyPr>
          <a:lstStyle/>
          <a:p>
            <a:pPr algn="l" indent="0" marL="0">
              <a:buNone/>
            </a:pPr>
            <a:r>
              <a:rPr lang="en-US" sz="900" dirty="0">
                <a:solidFill>
                  <a:srgbClr val="24313F"/>
                </a:solidFill>
                <a:latin typeface="Aptos" pitchFamily="34" charset="0"/>
                <a:ea typeface="Aptos" pitchFamily="34" charset="-122"/>
                <a:cs typeface="Aptos" pitchFamily="34" charset="-120"/>
              </a:rPr>
              <a:t>OUR VIEW</a:t>
            </a:r>
            <a:endParaRPr lang="en-US" sz="900" dirty="0"/>
          </a:p>
          <a:p>
            <a:pPr algn="l" indent="0" marL="0">
              <a:buNone/>
            </a:pPr>
            <a:r>
              <a:rPr lang="en-US" sz="900" dirty="0">
                <a:solidFill>
                  <a:srgbClr val="24313F"/>
                </a:solidFill>
                <a:latin typeface="Aptos" pitchFamily="34" charset="0"/>
                <a:ea typeface="Aptos" pitchFamily="34" charset="-122"/>
                <a:cs typeface="Aptos" pitchFamily="34" charset="-120"/>
              </a:rPr>
              <a:t>Backlog conversion, &gt;CHF450m/qtr YE26 factory run-rate and H2 operating leverage should pull 2027 revenue / EBITDA above consensus.</a:t>
            </a:r>
            <a:endParaRPr lang="en-US" sz="900" dirty="0"/>
          </a:p>
        </p:txBody>
      </p:sp>
      <p:sp>
        <p:nvSpPr>
          <p:cNvPr id="51" name="Text 49"/>
          <p:cNvSpPr/>
          <p:nvPr/>
        </p:nvSpPr>
        <p:spPr>
          <a:xfrm>
            <a:off x="640080" y="5138928"/>
            <a:ext cx="10607040" cy="603504"/>
          </a:xfrm>
          <a:prstGeom prst="rect">
            <a:avLst/>
          </a:prstGeom>
          <a:solidFill>
            <a:srgbClr val="FFF8EA"/>
          </a:solidFill>
          <a:ln w="10160">
            <a:solidFill>
              <a:srgbClr val="E9C46A"/>
            </a:solidFill>
          </a:ln>
        </p:spPr>
        <p:txBody>
          <a:bodyPr wrap="square" lIns="1016" tIns="1016" rIns="1016" bIns="1016" rtlCol="0" anchor="ctr">
            <a:normAutofit/>
          </a:bodyPr>
          <a:lstStyle/>
          <a:p>
            <a:pPr algn="l" indent="0" marL="0">
              <a:buNone/>
            </a:pPr>
            <a:r>
              <a:rPr lang="en-US" sz="840" dirty="0">
                <a:solidFill>
                  <a:srgbClr val="24313F"/>
                </a:solidFill>
                <a:latin typeface="Aptos" pitchFamily="34" charset="0"/>
                <a:ea typeface="Aptos" pitchFamily="34" charset="-122"/>
                <a:cs typeface="Aptos" pitchFamily="34" charset="-120"/>
              </a:rPr>
              <a:t>Consensus too low: 2027 revenue CHF 1.85bn / EBITDA CHF 676m may understate backlog conversion if the output run-rate is sustained.</a:t>
            </a:r>
            <a:endParaRPr lang="en-US" sz="840" dirty="0"/>
          </a:p>
          <a:p>
            <a:pPr algn="l" indent="0" marL="0">
              <a:buNone/>
            </a:pPr>
            <a:r>
              <a:rPr lang="en-US" sz="840" dirty="0">
                <a:solidFill>
                  <a:srgbClr val="24313F"/>
                </a:solidFill>
                <a:latin typeface="Aptos" pitchFamily="34" charset="0"/>
                <a:ea typeface="Aptos" pitchFamily="34" charset="-122"/>
                <a:cs typeface="Aptos" pitchFamily="34" charset="-120"/>
              </a:rPr>
              <a:t>Consensus too high: near-term margin recovery could be uneven if temporary hires, FX and supply-chain frictions persist.</a:t>
            </a:r>
            <a:endParaRPr lang="en-US" sz="840" dirty="0"/>
          </a:p>
        </p:txBody>
      </p:sp>
      <p:sp>
        <p:nvSpPr>
          <p:cNvPr id="52" name="Shape 50"/>
          <p:cNvSpPr/>
          <p:nvPr/>
        </p:nvSpPr>
        <p:spPr>
          <a:xfrm>
            <a:off x="411480" y="6510528"/>
            <a:ext cx="11384280" cy="0"/>
          </a:xfrm>
          <a:prstGeom prst="line">
            <a:avLst/>
          </a:prstGeom>
          <a:noFill/>
          <a:ln w="7620">
            <a:solidFill>
              <a:srgbClr val="D5DEE6"/>
            </a:solidFill>
            <a:prstDash val="solid"/>
          </a:ln>
        </p:spPr>
      </p:sp>
      <p:sp>
        <p:nvSpPr>
          <p:cNvPr id="53" name="Text 51"/>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VAT annual reports 2022-2025; VAT H1 2026 report; MarketScreener consensus; analyst estimates for FY26E/27E.</a:t>
            </a:r>
            <a:endParaRPr lang="en-US" sz="580" dirty="0"/>
          </a:p>
        </p:txBody>
      </p:sp>
      <p:sp>
        <p:nvSpPr>
          <p:cNvPr id="54" name="Text 52"/>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8</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Valuation is demanding, but upgrade risk supports a Buy at CHF 602</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The stock is attractive only if earnings revisions continue; the target reconciles to 2027E EBITDA and scenario risk.</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Text 3"/>
          <p:cNvSpPr/>
          <p:nvPr/>
        </p:nvSpPr>
        <p:spPr>
          <a:xfrm>
            <a:off x="685800" y="1325880"/>
            <a:ext cx="1280160" cy="320040"/>
          </a:xfrm>
          <a:prstGeom prst="rect">
            <a:avLst/>
          </a:prstGeom>
          <a:noFill/>
          <a:ln/>
        </p:spPr>
        <p:txBody>
          <a:bodyPr wrap="square" lIns="0" tIns="0" rIns="0" bIns="0" rtlCol="0" anchor="ctr">
            <a:normAutofit/>
          </a:bodyPr>
          <a:lstStyle/>
          <a:p>
            <a:pPr indent="0" marL="0">
              <a:buNone/>
            </a:pPr>
            <a:r>
              <a:rPr lang="en-US" sz="1800" b="1" dirty="0">
                <a:solidFill>
                  <a:srgbClr val="12202F"/>
                </a:solidFill>
              </a:rPr>
              <a:t>CHF 602</a:t>
            </a:r>
            <a:endParaRPr lang="en-US" sz="1800" dirty="0"/>
          </a:p>
        </p:txBody>
      </p:sp>
      <p:sp>
        <p:nvSpPr>
          <p:cNvPr id="6" name="Text 4"/>
          <p:cNvSpPr/>
          <p:nvPr/>
        </p:nvSpPr>
        <p:spPr>
          <a:xfrm>
            <a:off x="685800" y="1673352"/>
            <a:ext cx="1280160" cy="164592"/>
          </a:xfrm>
          <a:prstGeom prst="rect">
            <a:avLst/>
          </a:prstGeom>
          <a:noFill/>
          <a:ln/>
        </p:spPr>
        <p:txBody>
          <a:bodyPr wrap="square" lIns="0" tIns="0" rIns="0" bIns="0" rtlCol="0" anchor="ctr">
            <a:normAutofit/>
          </a:bodyPr>
          <a:lstStyle/>
          <a:p>
            <a:pPr indent="0" marL="0">
              <a:buNone/>
            </a:pPr>
            <a:r>
              <a:rPr lang="en-US" sz="700" b="1" dirty="0">
                <a:solidFill>
                  <a:srgbClr val="12202F"/>
                </a:solidFill>
              </a:rPr>
              <a:t>Share price</a:t>
            </a:r>
            <a:endParaRPr lang="en-US" sz="700" dirty="0"/>
          </a:p>
        </p:txBody>
      </p:sp>
      <p:sp>
        <p:nvSpPr>
          <p:cNvPr id="7" name="Text 5"/>
          <p:cNvSpPr/>
          <p:nvPr/>
        </p:nvSpPr>
        <p:spPr>
          <a:xfrm>
            <a:off x="685800" y="1856232"/>
            <a:ext cx="1280160" cy="164592"/>
          </a:xfrm>
          <a:prstGeom prst="rect">
            <a:avLst/>
          </a:prstGeom>
          <a:noFill/>
          <a:ln/>
        </p:spPr>
        <p:txBody>
          <a:bodyPr wrap="square" lIns="0" tIns="0" rIns="0" bIns="0" rtlCol="0" anchor="ctr">
            <a:normAutofit/>
          </a:bodyPr>
          <a:lstStyle/>
          <a:p>
            <a:pPr indent="0" marL="0">
              <a:buNone/>
            </a:pPr>
            <a:r>
              <a:rPr lang="en-US" sz="580" dirty="0">
                <a:solidFill>
                  <a:srgbClr val="64748B"/>
                </a:solidFill>
              </a:rPr>
              <a:t>31 Jul 2026</a:t>
            </a:r>
            <a:endParaRPr lang="en-US" sz="580" dirty="0"/>
          </a:p>
        </p:txBody>
      </p:sp>
      <p:sp>
        <p:nvSpPr>
          <p:cNvPr id="8" name="Text 6"/>
          <p:cNvSpPr/>
          <p:nvPr/>
        </p:nvSpPr>
        <p:spPr>
          <a:xfrm>
            <a:off x="2148840" y="1325880"/>
            <a:ext cx="1280160" cy="320040"/>
          </a:xfrm>
          <a:prstGeom prst="rect">
            <a:avLst/>
          </a:prstGeom>
          <a:noFill/>
          <a:ln/>
        </p:spPr>
        <p:txBody>
          <a:bodyPr wrap="square" lIns="0" tIns="0" rIns="0" bIns="0" rtlCol="0" anchor="ctr">
            <a:normAutofit/>
          </a:bodyPr>
          <a:lstStyle/>
          <a:p>
            <a:pPr indent="0" marL="0">
              <a:buNone/>
            </a:pPr>
            <a:r>
              <a:rPr lang="en-US" sz="1800" b="1" dirty="0">
                <a:solidFill>
                  <a:srgbClr val="12202F"/>
                </a:solidFill>
              </a:rPr>
              <a:t>CHF 18.1bn</a:t>
            </a:r>
            <a:endParaRPr lang="en-US" sz="1800" dirty="0"/>
          </a:p>
        </p:txBody>
      </p:sp>
      <p:sp>
        <p:nvSpPr>
          <p:cNvPr id="9" name="Text 7"/>
          <p:cNvSpPr/>
          <p:nvPr/>
        </p:nvSpPr>
        <p:spPr>
          <a:xfrm>
            <a:off x="2148840" y="1673352"/>
            <a:ext cx="1280160" cy="164592"/>
          </a:xfrm>
          <a:prstGeom prst="rect">
            <a:avLst/>
          </a:prstGeom>
          <a:noFill/>
          <a:ln/>
        </p:spPr>
        <p:txBody>
          <a:bodyPr wrap="square" lIns="0" tIns="0" rIns="0" bIns="0" rtlCol="0" anchor="ctr">
            <a:normAutofit/>
          </a:bodyPr>
          <a:lstStyle/>
          <a:p>
            <a:pPr indent="0" marL="0">
              <a:buNone/>
            </a:pPr>
            <a:r>
              <a:rPr lang="en-US" sz="700" b="1" dirty="0">
                <a:solidFill>
                  <a:srgbClr val="12202F"/>
                </a:solidFill>
              </a:rPr>
              <a:t>Market cap</a:t>
            </a:r>
            <a:endParaRPr lang="en-US" sz="700" dirty="0"/>
          </a:p>
        </p:txBody>
      </p:sp>
      <p:sp>
        <p:nvSpPr>
          <p:cNvPr id="10" name="Text 8"/>
          <p:cNvSpPr/>
          <p:nvPr/>
        </p:nvSpPr>
        <p:spPr>
          <a:xfrm>
            <a:off x="2148840" y="1856232"/>
            <a:ext cx="1280160" cy="164592"/>
          </a:xfrm>
          <a:prstGeom prst="rect">
            <a:avLst/>
          </a:prstGeom>
          <a:noFill/>
          <a:ln/>
        </p:spPr>
        <p:txBody>
          <a:bodyPr wrap="square" lIns="0" tIns="0" rIns="0" bIns="0" rtlCol="0" anchor="ctr">
            <a:normAutofit/>
          </a:bodyPr>
          <a:lstStyle/>
          <a:p>
            <a:pPr indent="0" marL="0">
              <a:buNone/>
            </a:pPr>
            <a:r>
              <a:rPr lang="en-US" sz="580" dirty="0">
                <a:solidFill>
                  <a:srgbClr val="64748B"/>
                </a:solidFill>
              </a:rPr>
              <a:t>30.0m shares</a:t>
            </a:r>
            <a:endParaRPr lang="en-US" sz="580" dirty="0"/>
          </a:p>
        </p:txBody>
      </p:sp>
      <p:sp>
        <p:nvSpPr>
          <p:cNvPr id="11" name="Text 9"/>
          <p:cNvSpPr/>
          <p:nvPr/>
        </p:nvSpPr>
        <p:spPr>
          <a:xfrm>
            <a:off x="3611880" y="1325880"/>
            <a:ext cx="1371600" cy="320040"/>
          </a:xfrm>
          <a:prstGeom prst="rect">
            <a:avLst/>
          </a:prstGeom>
          <a:noFill/>
          <a:ln/>
        </p:spPr>
        <p:txBody>
          <a:bodyPr wrap="square" lIns="0" tIns="0" rIns="0" bIns="0" rtlCol="0" anchor="ctr">
            <a:normAutofit/>
          </a:bodyPr>
          <a:lstStyle/>
          <a:p>
            <a:pPr indent="0" marL="0">
              <a:buNone/>
            </a:pPr>
            <a:r>
              <a:rPr lang="en-US" sz="1800" b="1" dirty="0">
                <a:solidFill>
                  <a:srgbClr val="2A9D8F"/>
                </a:solidFill>
              </a:rPr>
              <a:t>CHF 676m</a:t>
            </a:r>
            <a:endParaRPr lang="en-US" sz="1800" dirty="0"/>
          </a:p>
        </p:txBody>
      </p:sp>
      <p:sp>
        <p:nvSpPr>
          <p:cNvPr id="12" name="Text 10"/>
          <p:cNvSpPr/>
          <p:nvPr/>
        </p:nvSpPr>
        <p:spPr>
          <a:xfrm>
            <a:off x="3611880" y="1673352"/>
            <a:ext cx="1371600" cy="164592"/>
          </a:xfrm>
          <a:prstGeom prst="rect">
            <a:avLst/>
          </a:prstGeom>
          <a:noFill/>
          <a:ln/>
        </p:spPr>
        <p:txBody>
          <a:bodyPr wrap="square" lIns="0" tIns="0" rIns="0" bIns="0" rtlCol="0" anchor="ctr">
            <a:normAutofit/>
          </a:bodyPr>
          <a:lstStyle/>
          <a:p>
            <a:pPr indent="0" marL="0">
              <a:buNone/>
            </a:pPr>
            <a:r>
              <a:rPr lang="en-US" sz="700" b="1" dirty="0">
                <a:solidFill>
                  <a:srgbClr val="12202F"/>
                </a:solidFill>
              </a:rPr>
              <a:t>2027E EBITDA</a:t>
            </a:r>
            <a:endParaRPr lang="en-US" sz="700" dirty="0"/>
          </a:p>
        </p:txBody>
      </p:sp>
      <p:sp>
        <p:nvSpPr>
          <p:cNvPr id="13" name="Text 11"/>
          <p:cNvSpPr/>
          <p:nvPr/>
        </p:nvSpPr>
        <p:spPr>
          <a:xfrm>
            <a:off x="3611880" y="1856232"/>
            <a:ext cx="1371600" cy="164592"/>
          </a:xfrm>
          <a:prstGeom prst="rect">
            <a:avLst/>
          </a:prstGeom>
          <a:noFill/>
          <a:ln/>
        </p:spPr>
        <p:txBody>
          <a:bodyPr wrap="square" lIns="0" tIns="0" rIns="0" bIns="0" rtlCol="0" anchor="ctr">
            <a:normAutofit/>
          </a:bodyPr>
          <a:lstStyle/>
          <a:p>
            <a:pPr indent="0" marL="0">
              <a:buNone/>
            </a:pPr>
            <a:r>
              <a:rPr lang="en-US" sz="580" dirty="0">
                <a:solidFill>
                  <a:srgbClr val="64748B"/>
                </a:solidFill>
              </a:rPr>
              <a:t>consensus</a:t>
            </a:r>
            <a:endParaRPr lang="en-US" sz="580" dirty="0"/>
          </a:p>
        </p:txBody>
      </p:sp>
      <p:sp>
        <p:nvSpPr>
          <p:cNvPr id="14" name="Text 12"/>
          <p:cNvSpPr/>
          <p:nvPr/>
        </p:nvSpPr>
        <p:spPr>
          <a:xfrm>
            <a:off x="5166360" y="1325880"/>
            <a:ext cx="1371600" cy="320040"/>
          </a:xfrm>
          <a:prstGeom prst="rect">
            <a:avLst/>
          </a:prstGeom>
          <a:noFill/>
          <a:ln/>
        </p:spPr>
        <p:txBody>
          <a:bodyPr wrap="square" lIns="0" tIns="0" rIns="0" bIns="0" rtlCol="0" anchor="ctr">
            <a:normAutofit/>
          </a:bodyPr>
          <a:lstStyle/>
          <a:p>
            <a:pPr indent="0" marL="0">
              <a:buNone/>
            </a:pPr>
            <a:r>
              <a:rPr lang="en-US" sz="1800" b="1" dirty="0">
                <a:solidFill>
                  <a:srgbClr val="12202F"/>
                </a:solidFill>
              </a:rPr>
              <a:t>~27x</a:t>
            </a:r>
            <a:endParaRPr lang="en-US" sz="1800" dirty="0"/>
          </a:p>
        </p:txBody>
      </p:sp>
      <p:sp>
        <p:nvSpPr>
          <p:cNvPr id="15" name="Text 13"/>
          <p:cNvSpPr/>
          <p:nvPr/>
        </p:nvSpPr>
        <p:spPr>
          <a:xfrm>
            <a:off x="5166360" y="1673352"/>
            <a:ext cx="1371600" cy="164592"/>
          </a:xfrm>
          <a:prstGeom prst="rect">
            <a:avLst/>
          </a:prstGeom>
          <a:noFill/>
          <a:ln/>
        </p:spPr>
        <p:txBody>
          <a:bodyPr wrap="square" lIns="0" tIns="0" rIns="0" bIns="0" rtlCol="0" anchor="ctr">
            <a:normAutofit/>
          </a:bodyPr>
          <a:lstStyle/>
          <a:p>
            <a:pPr indent="0" marL="0">
              <a:buNone/>
            </a:pPr>
            <a:r>
              <a:rPr lang="en-US" sz="700" b="1" dirty="0">
                <a:solidFill>
                  <a:srgbClr val="12202F"/>
                </a:solidFill>
              </a:rPr>
              <a:t>Implied EV/EBITDA</a:t>
            </a:r>
            <a:endParaRPr lang="en-US" sz="700" dirty="0"/>
          </a:p>
        </p:txBody>
      </p:sp>
      <p:sp>
        <p:nvSpPr>
          <p:cNvPr id="16" name="Text 14"/>
          <p:cNvSpPr/>
          <p:nvPr/>
        </p:nvSpPr>
        <p:spPr>
          <a:xfrm>
            <a:off x="5166360" y="1856232"/>
            <a:ext cx="1371600" cy="164592"/>
          </a:xfrm>
          <a:prstGeom prst="rect">
            <a:avLst/>
          </a:prstGeom>
          <a:noFill/>
          <a:ln/>
        </p:spPr>
        <p:txBody>
          <a:bodyPr wrap="square" lIns="0" tIns="0" rIns="0" bIns="0" rtlCol="0" anchor="ctr">
            <a:normAutofit/>
          </a:bodyPr>
          <a:lstStyle/>
          <a:p>
            <a:pPr indent="0" marL="0">
              <a:buNone/>
            </a:pPr>
            <a:r>
              <a:rPr lang="en-US" sz="580" dirty="0">
                <a:solidFill>
                  <a:srgbClr val="64748B"/>
                </a:solidFill>
              </a:rPr>
              <a:t>2027E, current</a:t>
            </a:r>
            <a:endParaRPr lang="en-US" sz="580" dirty="0"/>
          </a:p>
        </p:txBody>
      </p:sp>
      <p:sp>
        <p:nvSpPr>
          <p:cNvPr id="17" name="Shape 15"/>
          <p:cNvSpPr/>
          <p:nvPr/>
        </p:nvSpPr>
        <p:spPr>
          <a:xfrm>
            <a:off x="777240" y="4434840"/>
            <a:ext cx="3840480" cy="0"/>
          </a:xfrm>
          <a:prstGeom prst="line">
            <a:avLst/>
          </a:prstGeom>
          <a:noFill/>
          <a:ln w="10160">
            <a:solidFill>
              <a:srgbClr val="D5DEE6"/>
            </a:solidFill>
            <a:prstDash val="solid"/>
          </a:ln>
        </p:spPr>
      </p:sp>
      <p:sp>
        <p:nvSpPr>
          <p:cNvPr id="18" name="Shape 16"/>
          <p:cNvSpPr/>
          <p:nvPr/>
        </p:nvSpPr>
        <p:spPr>
          <a:xfrm>
            <a:off x="777240" y="3756259"/>
            <a:ext cx="1219200" cy="678581"/>
          </a:xfrm>
          <a:prstGeom prst="rect">
            <a:avLst/>
          </a:prstGeom>
          <a:solidFill>
            <a:srgbClr val="B94A48"/>
          </a:solidFill>
          <a:ln w="2540">
            <a:solidFill>
              <a:srgbClr val="B94A48"/>
            </a:solidFill>
            <a:prstDash val="solid"/>
          </a:ln>
        </p:spPr>
      </p:sp>
      <p:sp>
        <p:nvSpPr>
          <p:cNvPr id="19" name="Shape 17"/>
          <p:cNvSpPr/>
          <p:nvPr/>
        </p:nvSpPr>
        <p:spPr>
          <a:xfrm>
            <a:off x="2087880" y="3366436"/>
            <a:ext cx="1219200" cy="1068404"/>
          </a:xfrm>
          <a:prstGeom prst="rect">
            <a:avLst/>
          </a:prstGeom>
          <a:solidFill>
            <a:srgbClr val="2A9D8F"/>
          </a:solidFill>
          <a:ln w="2540">
            <a:solidFill>
              <a:srgbClr val="2A9D8F"/>
            </a:solidFill>
            <a:prstDash val="solid"/>
          </a:ln>
        </p:spPr>
      </p:sp>
      <p:sp>
        <p:nvSpPr>
          <p:cNvPr id="20" name="Shape 18"/>
          <p:cNvSpPr/>
          <p:nvPr/>
        </p:nvSpPr>
        <p:spPr>
          <a:xfrm>
            <a:off x="3398520" y="3135429"/>
            <a:ext cx="1219200" cy="1299411"/>
          </a:xfrm>
          <a:prstGeom prst="rect">
            <a:avLst/>
          </a:prstGeom>
          <a:solidFill>
            <a:srgbClr val="3B6EA5"/>
          </a:solidFill>
          <a:ln w="2540">
            <a:solidFill>
              <a:srgbClr val="3B6EA5"/>
            </a:solidFill>
            <a:prstDash val="solid"/>
          </a:ln>
        </p:spPr>
      </p:sp>
      <p:sp>
        <p:nvSpPr>
          <p:cNvPr id="21" name="Text 19"/>
          <p:cNvSpPr/>
          <p:nvPr/>
        </p:nvSpPr>
        <p:spPr>
          <a:xfrm>
            <a:off x="777240" y="2807208"/>
            <a:ext cx="3840480" cy="182880"/>
          </a:xfrm>
          <a:prstGeom prst="rect">
            <a:avLst/>
          </a:prstGeom>
          <a:noFill/>
          <a:ln/>
        </p:spPr>
        <p:txBody>
          <a:bodyPr wrap="square" lIns="0" tIns="0" rIns="0" bIns="0" rtlCol="0" anchor="ctr">
            <a:normAutofit/>
          </a:bodyPr>
          <a:lstStyle/>
          <a:p>
            <a:pPr indent="0" marL="0">
              <a:buNone/>
            </a:pPr>
            <a:r>
              <a:rPr lang="en-US" sz="750" b="1" dirty="0">
                <a:solidFill>
                  <a:srgbClr val="12202F"/>
                </a:solidFill>
              </a:rPr>
              <a:t>Scenario value per share (CHF)</a:t>
            </a:r>
            <a:endParaRPr lang="en-US" sz="750" dirty="0"/>
          </a:p>
        </p:txBody>
      </p:sp>
      <p:sp>
        <p:nvSpPr>
          <p:cNvPr id="22" name="Text 20"/>
          <p:cNvSpPr/>
          <p:nvPr/>
        </p:nvSpPr>
        <p:spPr>
          <a:xfrm>
            <a:off x="758952" y="4480560"/>
            <a:ext cx="125577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Bear</a:t>
            </a:r>
            <a:endParaRPr lang="en-US" sz="540" dirty="0"/>
          </a:p>
        </p:txBody>
      </p:sp>
      <p:sp>
        <p:nvSpPr>
          <p:cNvPr id="23" name="Text 21"/>
          <p:cNvSpPr/>
          <p:nvPr/>
        </p:nvSpPr>
        <p:spPr>
          <a:xfrm>
            <a:off x="2069592" y="4480560"/>
            <a:ext cx="125577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Base</a:t>
            </a:r>
            <a:endParaRPr lang="en-US" sz="540" dirty="0"/>
          </a:p>
        </p:txBody>
      </p:sp>
      <p:sp>
        <p:nvSpPr>
          <p:cNvPr id="24" name="Text 22"/>
          <p:cNvSpPr/>
          <p:nvPr/>
        </p:nvSpPr>
        <p:spPr>
          <a:xfrm>
            <a:off x="3380232" y="4480560"/>
            <a:ext cx="125577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Bull</a:t>
            </a:r>
            <a:endParaRPr lang="en-US" sz="540" dirty="0"/>
          </a:p>
        </p:txBody>
      </p:sp>
      <p:sp>
        <p:nvSpPr>
          <p:cNvPr id="25" name="Text 23"/>
          <p:cNvSpPr/>
          <p:nvPr/>
        </p:nvSpPr>
        <p:spPr>
          <a:xfrm>
            <a:off x="5074920" y="2788920"/>
            <a:ext cx="3337560" cy="1325880"/>
          </a:xfrm>
          <a:prstGeom prst="rect">
            <a:avLst/>
          </a:prstGeom>
          <a:solidFill>
            <a:srgbClr val="FFFFFF"/>
          </a:solidFill>
          <a:ln w="10160">
            <a:solidFill>
              <a:srgbClr val="D5DEE6"/>
            </a:solidFill>
          </a:ln>
        </p:spPr>
        <p:txBody>
          <a:bodyPr wrap="square" lIns="1270" tIns="1270" rIns="1270" bIns="1270" rtlCol="0" anchor="ctr">
            <a:normAutofit/>
          </a:bodyPr>
          <a:lstStyle/>
          <a:p>
            <a:pPr algn="l" indent="0" marL="0">
              <a:buNone/>
            </a:pPr>
            <a:r>
              <a:rPr lang="en-US" sz="850" dirty="0">
                <a:solidFill>
                  <a:srgbClr val="24313F"/>
                </a:solidFill>
                <a:latin typeface="Aptos" pitchFamily="34" charset="0"/>
                <a:ea typeface="Aptos" pitchFamily="34" charset="-122"/>
                <a:cs typeface="Aptos" pitchFamily="34" charset="-120"/>
              </a:rPr>
              <a:t>Base case valuation</a:t>
            </a:r>
            <a:endParaRPr lang="en-US" sz="850" dirty="0"/>
          </a:p>
          <a:p>
            <a:pPr algn="l" indent="0" marL="0">
              <a:buNone/>
            </a:pPr>
            <a:r>
              <a:rPr lang="en-US" sz="850" dirty="0">
                <a:solidFill>
                  <a:srgbClr val="24313F"/>
                </a:solidFill>
                <a:latin typeface="Aptos" pitchFamily="34" charset="0"/>
                <a:ea typeface="Aptos" pitchFamily="34" charset="-122"/>
                <a:cs typeface="Aptos" pitchFamily="34" charset="-120"/>
              </a:rPr>
              <a:t>CHF 740 TP = ~33x FY27E EBITDA of CHF 676m, less net debt / plus cash adjustments, divided by 30.0m shares. Premium justified by market share, margins and vacuum-intensity outgrowth; not by cheapness.</a:t>
            </a:r>
            <a:endParaRPr lang="en-US" sz="850" dirty="0"/>
          </a:p>
        </p:txBody>
      </p:sp>
      <p:sp>
        <p:nvSpPr>
          <p:cNvPr id="26" name="Text 24"/>
          <p:cNvSpPr/>
          <p:nvPr/>
        </p:nvSpPr>
        <p:spPr>
          <a:xfrm>
            <a:off x="8732520" y="2788920"/>
            <a:ext cx="2651760" cy="1325880"/>
          </a:xfrm>
          <a:prstGeom prst="rect">
            <a:avLst/>
          </a:prstGeom>
          <a:solidFill>
            <a:srgbClr val="FFF8EA"/>
          </a:solidFill>
          <a:ln w="10160">
            <a:solidFill>
              <a:srgbClr val="E9C46A"/>
            </a:solidFill>
          </a:ln>
        </p:spPr>
        <p:txBody>
          <a:bodyPr wrap="square" lIns="1016" tIns="1016" rIns="1016" bIns="1016" rtlCol="0" anchor="ctr">
            <a:normAutofit/>
          </a:bodyPr>
          <a:lstStyle/>
          <a:p>
            <a:pPr algn="l" indent="0" marL="0">
              <a:buNone/>
            </a:pPr>
            <a:r>
              <a:rPr lang="en-US" sz="780" dirty="0">
                <a:solidFill>
                  <a:srgbClr val="24313F"/>
                </a:solidFill>
                <a:latin typeface="Aptos" pitchFamily="34" charset="0"/>
                <a:ea typeface="Aptos" pitchFamily="34" charset="-122"/>
                <a:cs typeface="Aptos" pitchFamily="34" charset="-120"/>
              </a:rPr>
              <a:t>Catalysts: Q3 2026 trading update; 2027 guidance review; H2 margin recovery; WFE estimate revisions; capacity run-rate proof points.</a:t>
            </a:r>
            <a:endParaRPr lang="en-US" sz="780" dirty="0"/>
          </a:p>
          <a:p>
            <a:pPr algn="l" indent="0" marL="0">
              <a:buNone/>
            </a:pPr>
            <a:r>
              <a:rPr lang="en-US" sz="780" dirty="0">
                <a:solidFill>
                  <a:srgbClr val="24313F"/>
                </a:solidFill>
                <a:latin typeface="Aptos" pitchFamily="34" charset="0"/>
                <a:ea typeface="Aptos" pitchFamily="34" charset="-122"/>
                <a:cs typeface="Aptos" pitchFamily="34" charset="-120"/>
              </a:rPr>
              <a:t>Risks: WFE rollover / double ordering; China/export controls; capacity ramp execution / margin dilution.</a:t>
            </a:r>
            <a:endParaRPr lang="en-US" sz="780" dirty="0"/>
          </a:p>
        </p:txBody>
      </p:sp>
      <p:sp>
        <p:nvSpPr>
          <p:cNvPr id="27" name="Text 25"/>
          <p:cNvSpPr/>
          <p:nvPr/>
        </p:nvSpPr>
        <p:spPr>
          <a:xfrm>
            <a:off x="731520" y="5257800"/>
            <a:ext cx="10515600" cy="594360"/>
          </a:xfrm>
          <a:prstGeom prst="rect">
            <a:avLst/>
          </a:prstGeom>
          <a:solidFill>
            <a:srgbClr val="EDF8F6"/>
          </a:solidFill>
          <a:ln w="10160">
            <a:solidFill>
              <a:srgbClr val="2A9D8F"/>
            </a:solidFill>
          </a:ln>
        </p:spPr>
        <p:txBody>
          <a:bodyPr wrap="square" lIns="635" tIns="635" rIns="635" bIns="635" rtlCol="0" anchor="ctr">
            <a:normAutofit/>
          </a:bodyPr>
          <a:lstStyle/>
          <a:p>
            <a:pPr algn="ctr" indent="0" marL="0">
              <a:buNone/>
            </a:pPr>
            <a:r>
              <a:rPr lang="en-US" sz="1200" b="1" dirty="0">
                <a:solidFill>
                  <a:srgbClr val="24313F"/>
                </a:solidFill>
                <a:latin typeface="Aptos" pitchFamily="34" charset="0"/>
                <a:ea typeface="Aptos" pitchFamily="34" charset="-122"/>
                <a:cs typeface="Aptos" pitchFamily="34" charset="-120"/>
              </a:rPr>
              <a:t>Conclusion: VAT is not simply a cyclical valve manufacturer; it is the dominant process-control supplier enabling increasingly vacuum-intensive semiconductor manufacturing.</a:t>
            </a:r>
            <a:endParaRPr lang="en-US" sz="1200" dirty="0"/>
          </a:p>
        </p:txBody>
      </p:sp>
      <p:sp>
        <p:nvSpPr>
          <p:cNvPr id="28" name="Shape 26"/>
          <p:cNvSpPr/>
          <p:nvPr/>
        </p:nvSpPr>
        <p:spPr>
          <a:xfrm>
            <a:off x="411480" y="6510528"/>
            <a:ext cx="11384280" cy="0"/>
          </a:xfrm>
          <a:prstGeom prst="line">
            <a:avLst/>
          </a:prstGeom>
          <a:noFill/>
          <a:ln w="7620">
            <a:solidFill>
              <a:srgbClr val="D5DEE6"/>
            </a:solidFill>
            <a:prstDash val="solid"/>
          </a:ln>
        </p:spPr>
      </p:sp>
      <p:sp>
        <p:nvSpPr>
          <p:cNvPr id="29" name="Text 27"/>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SIX / LSEG; MarketScreener consensus; VAT disclosures; analyst estimates. Scenario valuation is analytical estimate, not company guidance.</a:t>
            </a:r>
            <a:endParaRPr lang="en-US" sz="580" dirty="0"/>
          </a:p>
        </p:txBody>
      </p:sp>
      <p:sp>
        <p:nvSpPr>
          <p:cNvPr id="30" name="Text 28"/>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9</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731520"/>
            <a:ext cx="3840480" cy="548640"/>
          </a:xfrm>
          <a:prstGeom prst="rect">
            <a:avLst/>
          </a:prstGeom>
          <a:noFill/>
          <a:ln/>
        </p:spPr>
        <p:txBody>
          <a:bodyPr wrap="square" lIns="0" tIns="0" rIns="0" bIns="0" rtlCol="0" anchor="ctr"/>
          <a:lstStyle/>
          <a:p>
            <a:pPr indent="0" marL="0">
              <a:buNone/>
            </a:pPr>
            <a:r>
              <a:rPr lang="en-US" sz="2800" b="1" dirty="0">
                <a:solidFill>
                  <a:srgbClr val="12202F"/>
                </a:solidFill>
              </a:rPr>
              <a:t>Appendix</a:t>
            </a:r>
            <a:endParaRPr lang="en-US" sz="2800" dirty="0"/>
          </a:p>
        </p:txBody>
      </p:sp>
      <p:sp>
        <p:nvSpPr>
          <p:cNvPr id="3" name="Text 1"/>
          <p:cNvSpPr/>
          <p:nvPr/>
        </p:nvSpPr>
        <p:spPr>
          <a:xfrm>
            <a:off x="612648" y="1417320"/>
            <a:ext cx="6858000" cy="274320"/>
          </a:xfrm>
          <a:prstGeom prst="rect">
            <a:avLst/>
          </a:prstGeom>
          <a:noFill/>
          <a:ln/>
        </p:spPr>
        <p:txBody>
          <a:bodyPr wrap="square" lIns="0" tIns="0" rIns="0" bIns="0" rtlCol="0" anchor="ctr"/>
          <a:lstStyle/>
          <a:p>
            <a:pPr indent="0" marL="0">
              <a:buNone/>
            </a:pPr>
            <a:r>
              <a:rPr lang="en-US" sz="1200" dirty="0">
                <a:solidFill>
                  <a:srgbClr val="64748B"/>
                </a:solidFill>
              </a:rPr>
              <a:t>Supporting industry primer, company diligence, financial model, valuation and Q&amp;A</a:t>
            </a:r>
            <a:endParaRPr lang="en-US" sz="1200" dirty="0"/>
          </a:p>
        </p:txBody>
      </p:sp>
      <p:sp>
        <p:nvSpPr>
          <p:cNvPr id="4" name="Shape 2"/>
          <p:cNvSpPr/>
          <p:nvPr/>
        </p:nvSpPr>
        <p:spPr>
          <a:xfrm>
            <a:off x="411480" y="6510528"/>
            <a:ext cx="11384280" cy="0"/>
          </a:xfrm>
          <a:prstGeom prst="line">
            <a:avLst/>
          </a:prstGeom>
          <a:noFill/>
          <a:ln w="7620">
            <a:solidFill>
              <a:srgbClr val="D5DEE6"/>
            </a:solidFill>
            <a:prstDash val="solid"/>
          </a:ln>
        </p:spPr>
      </p:sp>
      <p:sp>
        <p:nvSpPr>
          <p:cNvPr id="5" name="Text 3"/>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Analyst presentation structure.</a:t>
            </a:r>
            <a:endParaRPr lang="en-US" sz="580" dirty="0"/>
          </a:p>
        </p:txBody>
      </p:sp>
      <p:sp>
        <p:nvSpPr>
          <p:cNvPr id="6" name="Text 4"/>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10</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A1. VAT sits at the critical-subsystem layer, one step below tool OEMs</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VAT is exposed to WFE cycles, not directly to consumer replacement cycles.</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Text 3"/>
          <p:cNvSpPr/>
          <p:nvPr/>
        </p:nvSpPr>
        <p:spPr>
          <a:xfrm>
            <a:off x="594360" y="1234440"/>
            <a:ext cx="2011680" cy="411480"/>
          </a:xfrm>
          <a:prstGeom prst="rect">
            <a:avLst/>
          </a:prstGeom>
          <a:solidFill>
            <a:srgbClr val="12202F"/>
          </a:solidFill>
          <a:ln w="10160">
            <a:solidFill>
              <a:srgbClr val="D5DEE6"/>
            </a:solidFill>
          </a:ln>
        </p:spPr>
        <p:txBody>
          <a:bodyPr wrap="square" lIns="1016" tIns="1016" rIns="1016" bIns="1016" rtlCol="0" anchor="ctr">
            <a:normAutofit/>
          </a:bodyPr>
          <a:lstStyle/>
          <a:p>
            <a:pPr algn="ctr" indent="0" marL="0">
              <a:buNone/>
            </a:pPr>
            <a:r>
              <a:rPr lang="en-US" sz="820" b="1" dirty="0">
                <a:solidFill>
                  <a:srgbClr val="FFFFFF"/>
                </a:solidFill>
                <a:latin typeface="Aptos" pitchFamily="34" charset="0"/>
                <a:ea typeface="Aptos" pitchFamily="34" charset="-122"/>
                <a:cs typeface="Aptos" pitchFamily="34" charset="-120"/>
              </a:rPr>
              <a:t>Layer</a:t>
            </a:r>
            <a:endParaRPr lang="en-US" sz="820" dirty="0"/>
          </a:p>
        </p:txBody>
      </p:sp>
      <p:sp>
        <p:nvSpPr>
          <p:cNvPr id="6" name="Text 4"/>
          <p:cNvSpPr/>
          <p:nvPr/>
        </p:nvSpPr>
        <p:spPr>
          <a:xfrm>
            <a:off x="2606040" y="1234440"/>
            <a:ext cx="4389120" cy="411480"/>
          </a:xfrm>
          <a:prstGeom prst="rect">
            <a:avLst/>
          </a:prstGeom>
          <a:solidFill>
            <a:srgbClr val="12202F"/>
          </a:solidFill>
          <a:ln w="10160">
            <a:solidFill>
              <a:srgbClr val="D5DEE6"/>
            </a:solidFill>
          </a:ln>
        </p:spPr>
        <p:txBody>
          <a:bodyPr wrap="square" lIns="1016" tIns="1016" rIns="1016" bIns="1016"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Selected companies</a:t>
            </a:r>
            <a:endParaRPr lang="en-US" sz="800" dirty="0"/>
          </a:p>
        </p:txBody>
      </p:sp>
      <p:sp>
        <p:nvSpPr>
          <p:cNvPr id="7" name="Text 5"/>
          <p:cNvSpPr/>
          <p:nvPr/>
        </p:nvSpPr>
        <p:spPr>
          <a:xfrm>
            <a:off x="6995160" y="1234440"/>
            <a:ext cx="4526280" cy="411480"/>
          </a:xfrm>
          <a:prstGeom prst="rect">
            <a:avLst/>
          </a:prstGeom>
          <a:solidFill>
            <a:srgbClr val="12202F"/>
          </a:solidFill>
          <a:ln w="10160">
            <a:solidFill>
              <a:srgbClr val="D5DEE6"/>
            </a:solidFill>
          </a:ln>
        </p:spPr>
        <p:txBody>
          <a:bodyPr wrap="square" lIns="1016" tIns="1016" rIns="1016" bIns="1016"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Key economic driver</a:t>
            </a:r>
            <a:endParaRPr lang="en-US" sz="800" dirty="0"/>
          </a:p>
        </p:txBody>
      </p:sp>
      <p:sp>
        <p:nvSpPr>
          <p:cNvPr id="8" name="Text 6"/>
          <p:cNvSpPr/>
          <p:nvPr/>
        </p:nvSpPr>
        <p:spPr>
          <a:xfrm>
            <a:off x="594360" y="1709928"/>
            <a:ext cx="2011680" cy="411480"/>
          </a:xfrm>
          <a:prstGeom prst="rect">
            <a:avLst/>
          </a:prstGeom>
          <a:solidFill>
            <a:srgbClr val="FFFFFF"/>
          </a:solidFill>
          <a:ln w="10160">
            <a:solidFill>
              <a:srgbClr val="D5DEE6"/>
            </a:solidFill>
          </a:ln>
        </p:spPr>
        <p:txBody>
          <a:bodyPr wrap="square" lIns="1016" tIns="1016" rIns="1016" bIns="1016" rtlCol="0" anchor="ctr">
            <a:normAutofit/>
          </a:bodyPr>
          <a:lstStyle/>
          <a:p>
            <a:pPr algn="ctr" indent="0" marL="0">
              <a:buNone/>
            </a:pPr>
            <a:r>
              <a:rPr lang="en-US" sz="820" dirty="0">
                <a:solidFill>
                  <a:srgbClr val="24313F"/>
                </a:solidFill>
                <a:latin typeface="Aptos" pitchFamily="34" charset="0"/>
                <a:ea typeface="Aptos" pitchFamily="34" charset="-122"/>
                <a:cs typeface="Aptos" pitchFamily="34" charset="-120"/>
              </a:rPr>
              <a:t>End demand</a:t>
            </a:r>
            <a:endParaRPr lang="en-US" sz="820" dirty="0"/>
          </a:p>
        </p:txBody>
      </p:sp>
      <p:sp>
        <p:nvSpPr>
          <p:cNvPr id="9" name="Text 7"/>
          <p:cNvSpPr/>
          <p:nvPr/>
        </p:nvSpPr>
        <p:spPr>
          <a:xfrm>
            <a:off x="2606040" y="1709928"/>
            <a:ext cx="4389120" cy="411480"/>
          </a:xfrm>
          <a:prstGeom prst="rect">
            <a:avLst/>
          </a:prstGeom>
          <a:solidFill>
            <a:srgbClr val="FFFFFF"/>
          </a:solidFill>
          <a:ln w="10160">
            <a:solidFill>
              <a:srgbClr val="D5DEE6"/>
            </a:solidFill>
          </a:ln>
        </p:spPr>
        <p:txBody>
          <a:bodyPr wrap="square" lIns="1016" tIns="1016" rIns="1016" bIns="1016" rtlCol="0" anchor="ctr">
            <a:normAutofit/>
          </a:bodyPr>
          <a:lstStyle/>
          <a:p>
            <a:pPr algn="ctr" indent="0" marL="0">
              <a:buNone/>
            </a:pPr>
            <a:r>
              <a:rPr lang="en-US" sz="800" dirty="0">
                <a:solidFill>
                  <a:srgbClr val="24313F"/>
                </a:solidFill>
                <a:latin typeface="Aptos" pitchFamily="34" charset="0"/>
                <a:ea typeface="Aptos" pitchFamily="34" charset="-122"/>
                <a:cs typeface="Aptos" pitchFamily="34" charset="-120"/>
              </a:rPr>
              <a:t>AI data centers, smartphones, autos</a:t>
            </a:r>
            <a:endParaRPr lang="en-US" sz="800" dirty="0"/>
          </a:p>
        </p:txBody>
      </p:sp>
      <p:sp>
        <p:nvSpPr>
          <p:cNvPr id="10" name="Text 8"/>
          <p:cNvSpPr/>
          <p:nvPr/>
        </p:nvSpPr>
        <p:spPr>
          <a:xfrm>
            <a:off x="6995160" y="1709928"/>
            <a:ext cx="4526280" cy="411480"/>
          </a:xfrm>
          <a:prstGeom prst="rect">
            <a:avLst/>
          </a:prstGeom>
          <a:solidFill>
            <a:srgbClr val="FFFFFF"/>
          </a:solidFill>
          <a:ln w="10160">
            <a:solidFill>
              <a:srgbClr val="D5DEE6"/>
            </a:solidFill>
          </a:ln>
        </p:spPr>
        <p:txBody>
          <a:bodyPr wrap="square" lIns="1016" tIns="1016" rIns="1016" bIns="1016" rtlCol="0" anchor="ctr">
            <a:normAutofit/>
          </a:bodyPr>
          <a:lstStyle/>
          <a:p>
            <a:pPr algn="ctr" indent="0" marL="0">
              <a:buNone/>
            </a:pPr>
            <a:r>
              <a:rPr lang="en-US" sz="800" dirty="0">
                <a:solidFill>
                  <a:srgbClr val="24313F"/>
                </a:solidFill>
                <a:latin typeface="Aptos" pitchFamily="34" charset="0"/>
                <a:ea typeface="Aptos" pitchFamily="34" charset="-122"/>
                <a:cs typeface="Aptos" pitchFamily="34" charset="-120"/>
              </a:rPr>
              <a:t>Compute / storage demand</a:t>
            </a:r>
            <a:endParaRPr lang="en-US" sz="800" dirty="0"/>
          </a:p>
        </p:txBody>
      </p:sp>
      <p:sp>
        <p:nvSpPr>
          <p:cNvPr id="11" name="Text 9"/>
          <p:cNvSpPr/>
          <p:nvPr/>
        </p:nvSpPr>
        <p:spPr>
          <a:xfrm>
            <a:off x="594360" y="2185416"/>
            <a:ext cx="2011680" cy="411480"/>
          </a:xfrm>
          <a:prstGeom prst="rect">
            <a:avLst/>
          </a:prstGeom>
          <a:solidFill>
            <a:srgbClr val="FFFFFF"/>
          </a:solidFill>
          <a:ln w="10160">
            <a:solidFill>
              <a:srgbClr val="D5DEE6"/>
            </a:solidFill>
          </a:ln>
        </p:spPr>
        <p:txBody>
          <a:bodyPr wrap="square" lIns="1016" tIns="1016" rIns="1016" bIns="1016" rtlCol="0" anchor="ctr">
            <a:normAutofit/>
          </a:bodyPr>
          <a:lstStyle/>
          <a:p>
            <a:pPr algn="ctr" indent="0" marL="0">
              <a:buNone/>
            </a:pPr>
            <a:r>
              <a:rPr lang="en-US" sz="820" dirty="0">
                <a:solidFill>
                  <a:srgbClr val="24313F"/>
                </a:solidFill>
                <a:latin typeface="Aptos" pitchFamily="34" charset="0"/>
                <a:ea typeface="Aptos" pitchFamily="34" charset="-122"/>
                <a:cs typeface="Aptos" pitchFamily="34" charset="-120"/>
              </a:rPr>
              <a:t>Designers</a:t>
            </a:r>
            <a:endParaRPr lang="en-US" sz="820" dirty="0"/>
          </a:p>
        </p:txBody>
      </p:sp>
      <p:sp>
        <p:nvSpPr>
          <p:cNvPr id="12" name="Text 10"/>
          <p:cNvSpPr/>
          <p:nvPr/>
        </p:nvSpPr>
        <p:spPr>
          <a:xfrm>
            <a:off x="2606040" y="2185416"/>
            <a:ext cx="4389120" cy="411480"/>
          </a:xfrm>
          <a:prstGeom prst="rect">
            <a:avLst/>
          </a:prstGeom>
          <a:solidFill>
            <a:srgbClr val="FFFFFF"/>
          </a:solidFill>
          <a:ln w="10160">
            <a:solidFill>
              <a:srgbClr val="D5DEE6"/>
            </a:solidFill>
          </a:ln>
        </p:spPr>
        <p:txBody>
          <a:bodyPr wrap="square" lIns="1016" tIns="1016" rIns="1016" bIns="1016" rtlCol="0" anchor="ctr">
            <a:normAutofit/>
          </a:bodyPr>
          <a:lstStyle/>
          <a:p>
            <a:pPr algn="ctr" indent="0" marL="0">
              <a:buNone/>
            </a:pPr>
            <a:r>
              <a:rPr lang="en-US" sz="800" dirty="0">
                <a:solidFill>
                  <a:srgbClr val="24313F"/>
                </a:solidFill>
                <a:latin typeface="Aptos" pitchFamily="34" charset="0"/>
                <a:ea typeface="Aptos" pitchFamily="34" charset="-122"/>
                <a:cs typeface="Aptos" pitchFamily="34" charset="-120"/>
              </a:rPr>
              <a:t>Nvidia, AMD, Apple, Qualcomm</a:t>
            </a:r>
            <a:endParaRPr lang="en-US" sz="800" dirty="0"/>
          </a:p>
        </p:txBody>
      </p:sp>
      <p:sp>
        <p:nvSpPr>
          <p:cNvPr id="13" name="Text 11"/>
          <p:cNvSpPr/>
          <p:nvPr/>
        </p:nvSpPr>
        <p:spPr>
          <a:xfrm>
            <a:off x="6995160" y="2185416"/>
            <a:ext cx="4526280" cy="411480"/>
          </a:xfrm>
          <a:prstGeom prst="rect">
            <a:avLst/>
          </a:prstGeom>
          <a:solidFill>
            <a:srgbClr val="FFFFFF"/>
          </a:solidFill>
          <a:ln w="10160">
            <a:solidFill>
              <a:srgbClr val="D5DEE6"/>
            </a:solidFill>
          </a:ln>
        </p:spPr>
        <p:txBody>
          <a:bodyPr wrap="square" lIns="1016" tIns="1016" rIns="1016" bIns="1016" rtlCol="0" anchor="ctr">
            <a:normAutofit/>
          </a:bodyPr>
          <a:lstStyle/>
          <a:p>
            <a:pPr algn="ctr" indent="0" marL="0">
              <a:buNone/>
            </a:pPr>
            <a:r>
              <a:rPr lang="en-US" sz="800" dirty="0">
                <a:solidFill>
                  <a:srgbClr val="24313F"/>
                </a:solidFill>
                <a:latin typeface="Aptos" pitchFamily="34" charset="0"/>
                <a:ea typeface="Aptos" pitchFamily="34" charset="-122"/>
                <a:cs typeface="Aptos" pitchFamily="34" charset="-120"/>
              </a:rPr>
              <a:t>Chip architecture / demand</a:t>
            </a:r>
            <a:endParaRPr lang="en-US" sz="800" dirty="0"/>
          </a:p>
        </p:txBody>
      </p:sp>
      <p:sp>
        <p:nvSpPr>
          <p:cNvPr id="14" name="Text 12"/>
          <p:cNvSpPr/>
          <p:nvPr/>
        </p:nvSpPr>
        <p:spPr>
          <a:xfrm>
            <a:off x="594360" y="2660904"/>
            <a:ext cx="2011680" cy="411480"/>
          </a:xfrm>
          <a:prstGeom prst="rect">
            <a:avLst/>
          </a:prstGeom>
          <a:solidFill>
            <a:srgbClr val="FFFFFF"/>
          </a:solidFill>
          <a:ln w="10160">
            <a:solidFill>
              <a:srgbClr val="D5DEE6"/>
            </a:solidFill>
          </a:ln>
        </p:spPr>
        <p:txBody>
          <a:bodyPr wrap="square" lIns="1016" tIns="1016" rIns="1016" bIns="1016" rtlCol="0" anchor="ctr">
            <a:normAutofit/>
          </a:bodyPr>
          <a:lstStyle/>
          <a:p>
            <a:pPr algn="ctr" indent="0" marL="0">
              <a:buNone/>
            </a:pPr>
            <a:r>
              <a:rPr lang="en-US" sz="820" dirty="0">
                <a:solidFill>
                  <a:srgbClr val="24313F"/>
                </a:solidFill>
                <a:latin typeface="Aptos" pitchFamily="34" charset="0"/>
                <a:ea typeface="Aptos" pitchFamily="34" charset="-122"/>
                <a:cs typeface="Aptos" pitchFamily="34" charset="-120"/>
              </a:rPr>
              <a:t>Fabs and memory</a:t>
            </a:r>
            <a:endParaRPr lang="en-US" sz="820" dirty="0"/>
          </a:p>
        </p:txBody>
      </p:sp>
      <p:sp>
        <p:nvSpPr>
          <p:cNvPr id="15" name="Text 13"/>
          <p:cNvSpPr/>
          <p:nvPr/>
        </p:nvSpPr>
        <p:spPr>
          <a:xfrm>
            <a:off x="2606040" y="2660904"/>
            <a:ext cx="4389120" cy="411480"/>
          </a:xfrm>
          <a:prstGeom prst="rect">
            <a:avLst/>
          </a:prstGeom>
          <a:solidFill>
            <a:srgbClr val="FFFFFF"/>
          </a:solidFill>
          <a:ln w="10160">
            <a:solidFill>
              <a:srgbClr val="D5DEE6"/>
            </a:solidFill>
          </a:ln>
        </p:spPr>
        <p:txBody>
          <a:bodyPr wrap="square" lIns="1016" tIns="1016" rIns="1016" bIns="1016" rtlCol="0" anchor="ctr">
            <a:normAutofit/>
          </a:bodyPr>
          <a:lstStyle/>
          <a:p>
            <a:pPr algn="ctr" indent="0" marL="0">
              <a:buNone/>
            </a:pPr>
            <a:r>
              <a:rPr lang="en-US" sz="800" dirty="0">
                <a:solidFill>
                  <a:srgbClr val="24313F"/>
                </a:solidFill>
                <a:latin typeface="Aptos" pitchFamily="34" charset="0"/>
                <a:ea typeface="Aptos" pitchFamily="34" charset="-122"/>
                <a:cs typeface="Aptos" pitchFamily="34" charset="-120"/>
              </a:rPr>
              <a:t>TSMC, Samsung, Intel, Micron, SK Hynix</a:t>
            </a:r>
            <a:endParaRPr lang="en-US" sz="800" dirty="0"/>
          </a:p>
        </p:txBody>
      </p:sp>
      <p:sp>
        <p:nvSpPr>
          <p:cNvPr id="16" name="Text 14"/>
          <p:cNvSpPr/>
          <p:nvPr/>
        </p:nvSpPr>
        <p:spPr>
          <a:xfrm>
            <a:off x="6995160" y="2660904"/>
            <a:ext cx="4526280" cy="411480"/>
          </a:xfrm>
          <a:prstGeom prst="rect">
            <a:avLst/>
          </a:prstGeom>
          <a:solidFill>
            <a:srgbClr val="FFFFFF"/>
          </a:solidFill>
          <a:ln w="10160">
            <a:solidFill>
              <a:srgbClr val="D5DEE6"/>
            </a:solidFill>
          </a:ln>
        </p:spPr>
        <p:txBody>
          <a:bodyPr wrap="square" lIns="1016" tIns="1016" rIns="1016" bIns="1016" rtlCol="0" anchor="ctr">
            <a:normAutofit/>
          </a:bodyPr>
          <a:lstStyle/>
          <a:p>
            <a:pPr algn="ctr" indent="0" marL="0">
              <a:buNone/>
            </a:pPr>
            <a:r>
              <a:rPr lang="en-US" sz="800" dirty="0">
                <a:solidFill>
                  <a:srgbClr val="24313F"/>
                </a:solidFill>
                <a:latin typeface="Aptos" pitchFamily="34" charset="0"/>
                <a:ea typeface="Aptos" pitchFamily="34" charset="-122"/>
                <a:cs typeface="Aptos" pitchFamily="34" charset="-120"/>
              </a:rPr>
              <a:t>Capex, yield, wafer starts</a:t>
            </a:r>
            <a:endParaRPr lang="en-US" sz="800" dirty="0"/>
          </a:p>
        </p:txBody>
      </p:sp>
      <p:sp>
        <p:nvSpPr>
          <p:cNvPr id="17" name="Text 15"/>
          <p:cNvSpPr/>
          <p:nvPr/>
        </p:nvSpPr>
        <p:spPr>
          <a:xfrm>
            <a:off x="594360" y="3136392"/>
            <a:ext cx="2011680" cy="411480"/>
          </a:xfrm>
          <a:prstGeom prst="rect">
            <a:avLst/>
          </a:prstGeom>
          <a:solidFill>
            <a:srgbClr val="FFFFFF"/>
          </a:solidFill>
          <a:ln w="10160">
            <a:solidFill>
              <a:srgbClr val="D5DEE6"/>
            </a:solidFill>
          </a:ln>
        </p:spPr>
        <p:txBody>
          <a:bodyPr wrap="square" lIns="1016" tIns="1016" rIns="1016" bIns="1016" rtlCol="0" anchor="ctr">
            <a:normAutofit/>
          </a:bodyPr>
          <a:lstStyle/>
          <a:p>
            <a:pPr algn="ctr" indent="0" marL="0">
              <a:buNone/>
            </a:pPr>
            <a:r>
              <a:rPr lang="en-US" sz="820" dirty="0">
                <a:solidFill>
                  <a:srgbClr val="24313F"/>
                </a:solidFill>
                <a:latin typeface="Aptos" pitchFamily="34" charset="0"/>
                <a:ea typeface="Aptos" pitchFamily="34" charset="-122"/>
                <a:cs typeface="Aptos" pitchFamily="34" charset="-120"/>
              </a:rPr>
              <a:t>Equipment OEMs</a:t>
            </a:r>
            <a:endParaRPr lang="en-US" sz="820" dirty="0"/>
          </a:p>
        </p:txBody>
      </p:sp>
      <p:sp>
        <p:nvSpPr>
          <p:cNvPr id="18" name="Text 16"/>
          <p:cNvSpPr/>
          <p:nvPr/>
        </p:nvSpPr>
        <p:spPr>
          <a:xfrm>
            <a:off x="2606040" y="3136392"/>
            <a:ext cx="4389120" cy="411480"/>
          </a:xfrm>
          <a:prstGeom prst="rect">
            <a:avLst/>
          </a:prstGeom>
          <a:solidFill>
            <a:srgbClr val="FFFFFF"/>
          </a:solidFill>
          <a:ln w="10160">
            <a:solidFill>
              <a:srgbClr val="D5DEE6"/>
            </a:solidFill>
          </a:ln>
        </p:spPr>
        <p:txBody>
          <a:bodyPr wrap="square" lIns="1016" tIns="1016" rIns="1016" bIns="1016" rtlCol="0" anchor="ctr">
            <a:normAutofit/>
          </a:bodyPr>
          <a:lstStyle/>
          <a:p>
            <a:pPr algn="ctr" indent="0" marL="0">
              <a:buNone/>
            </a:pPr>
            <a:r>
              <a:rPr lang="en-US" sz="800" dirty="0">
                <a:solidFill>
                  <a:srgbClr val="24313F"/>
                </a:solidFill>
                <a:latin typeface="Aptos" pitchFamily="34" charset="0"/>
                <a:ea typeface="Aptos" pitchFamily="34" charset="-122"/>
                <a:cs typeface="Aptos" pitchFamily="34" charset="-120"/>
              </a:rPr>
              <a:t>ASML, Applied, Lam, TEL, KLA</a:t>
            </a:r>
            <a:endParaRPr lang="en-US" sz="800" dirty="0"/>
          </a:p>
        </p:txBody>
      </p:sp>
      <p:sp>
        <p:nvSpPr>
          <p:cNvPr id="19" name="Text 17"/>
          <p:cNvSpPr/>
          <p:nvPr/>
        </p:nvSpPr>
        <p:spPr>
          <a:xfrm>
            <a:off x="6995160" y="3136392"/>
            <a:ext cx="4526280" cy="411480"/>
          </a:xfrm>
          <a:prstGeom prst="rect">
            <a:avLst/>
          </a:prstGeom>
          <a:solidFill>
            <a:srgbClr val="FFFFFF"/>
          </a:solidFill>
          <a:ln w="10160">
            <a:solidFill>
              <a:srgbClr val="D5DEE6"/>
            </a:solidFill>
          </a:ln>
        </p:spPr>
        <p:txBody>
          <a:bodyPr wrap="square" lIns="1016" tIns="1016" rIns="1016" bIns="1016" rtlCol="0" anchor="ctr">
            <a:normAutofit/>
          </a:bodyPr>
          <a:lstStyle/>
          <a:p>
            <a:pPr algn="ctr" indent="0" marL="0">
              <a:buNone/>
            </a:pPr>
            <a:r>
              <a:rPr lang="en-US" sz="800" dirty="0">
                <a:solidFill>
                  <a:srgbClr val="24313F"/>
                </a:solidFill>
                <a:latin typeface="Aptos" pitchFamily="34" charset="0"/>
                <a:ea typeface="Aptos" pitchFamily="34" charset="-122"/>
                <a:cs typeface="Aptos" pitchFamily="34" charset="-120"/>
              </a:rPr>
              <a:t>WFE spend, capacity, R&amp;D</a:t>
            </a:r>
            <a:endParaRPr lang="en-US" sz="800" dirty="0"/>
          </a:p>
        </p:txBody>
      </p:sp>
      <p:sp>
        <p:nvSpPr>
          <p:cNvPr id="20" name="Text 18"/>
          <p:cNvSpPr/>
          <p:nvPr/>
        </p:nvSpPr>
        <p:spPr>
          <a:xfrm>
            <a:off x="594360" y="3611880"/>
            <a:ext cx="2011680" cy="411480"/>
          </a:xfrm>
          <a:prstGeom prst="rect">
            <a:avLst/>
          </a:prstGeom>
          <a:solidFill>
            <a:srgbClr val="EDF8F6"/>
          </a:solidFill>
          <a:ln w="10160">
            <a:solidFill>
              <a:srgbClr val="2A9D8F"/>
            </a:solidFill>
          </a:ln>
        </p:spPr>
        <p:txBody>
          <a:bodyPr wrap="square" lIns="1016" tIns="1016" rIns="1016" bIns="1016" rtlCol="0" anchor="ctr">
            <a:normAutofit/>
          </a:bodyPr>
          <a:lstStyle/>
          <a:p>
            <a:pPr algn="ctr" indent="0" marL="0">
              <a:buNone/>
            </a:pPr>
            <a:r>
              <a:rPr lang="en-US" sz="820" b="1" dirty="0">
                <a:solidFill>
                  <a:srgbClr val="24313F"/>
                </a:solidFill>
                <a:latin typeface="Aptos" pitchFamily="34" charset="0"/>
                <a:ea typeface="Aptos" pitchFamily="34" charset="-122"/>
                <a:cs typeface="Aptos" pitchFamily="34" charset="-120"/>
              </a:rPr>
              <a:t>Critical subsystems</a:t>
            </a:r>
            <a:endParaRPr lang="en-US" sz="820" dirty="0"/>
          </a:p>
        </p:txBody>
      </p:sp>
      <p:sp>
        <p:nvSpPr>
          <p:cNvPr id="21" name="Text 19"/>
          <p:cNvSpPr/>
          <p:nvPr/>
        </p:nvSpPr>
        <p:spPr>
          <a:xfrm>
            <a:off x="2606040" y="3611880"/>
            <a:ext cx="4389120" cy="411480"/>
          </a:xfrm>
          <a:prstGeom prst="rect">
            <a:avLst/>
          </a:prstGeom>
          <a:solidFill>
            <a:srgbClr val="EDF8F6"/>
          </a:solidFill>
          <a:ln w="10160">
            <a:solidFill>
              <a:srgbClr val="2A9D8F"/>
            </a:solidFill>
          </a:ln>
        </p:spPr>
        <p:txBody>
          <a:bodyPr wrap="square" lIns="1016" tIns="1016" rIns="1016" bIns="1016" rtlCol="0" anchor="ctr">
            <a:normAutofit/>
          </a:bodyPr>
          <a:lstStyle/>
          <a:p>
            <a:pPr algn="ctr" indent="0" marL="0">
              <a:buNone/>
            </a:pPr>
            <a:r>
              <a:rPr lang="en-US" sz="800" dirty="0">
                <a:solidFill>
                  <a:srgbClr val="24313F"/>
                </a:solidFill>
                <a:latin typeface="Aptos" pitchFamily="34" charset="0"/>
                <a:ea typeface="Aptos" pitchFamily="34" charset="-122"/>
                <a:cs typeface="Aptos" pitchFamily="34" charset="-120"/>
              </a:rPr>
              <a:t>VAT, MKS, Zeiss, Edwards</a:t>
            </a:r>
            <a:endParaRPr lang="en-US" sz="800" dirty="0"/>
          </a:p>
        </p:txBody>
      </p:sp>
      <p:sp>
        <p:nvSpPr>
          <p:cNvPr id="22" name="Text 20"/>
          <p:cNvSpPr/>
          <p:nvPr/>
        </p:nvSpPr>
        <p:spPr>
          <a:xfrm>
            <a:off x="6995160" y="3611880"/>
            <a:ext cx="4526280" cy="411480"/>
          </a:xfrm>
          <a:prstGeom prst="rect">
            <a:avLst/>
          </a:prstGeom>
          <a:solidFill>
            <a:srgbClr val="EDF8F6"/>
          </a:solidFill>
          <a:ln w="10160">
            <a:solidFill>
              <a:srgbClr val="2A9D8F"/>
            </a:solidFill>
          </a:ln>
        </p:spPr>
        <p:txBody>
          <a:bodyPr wrap="square" lIns="1016" tIns="1016" rIns="1016" bIns="1016" rtlCol="0" anchor="ctr">
            <a:normAutofit/>
          </a:bodyPr>
          <a:lstStyle/>
          <a:p>
            <a:pPr algn="ctr" indent="0" marL="0">
              <a:buNone/>
            </a:pPr>
            <a:r>
              <a:rPr lang="en-US" sz="800" dirty="0">
                <a:solidFill>
                  <a:srgbClr val="24313F"/>
                </a:solidFill>
                <a:latin typeface="Aptos" pitchFamily="34" charset="0"/>
                <a:ea typeface="Aptos" pitchFamily="34" charset="-122"/>
                <a:cs typeface="Aptos" pitchFamily="34" charset="-120"/>
              </a:rPr>
              <a:t>Tool specifications, vacuum intensity</a:t>
            </a:r>
            <a:endParaRPr lang="en-US" sz="800" dirty="0"/>
          </a:p>
        </p:txBody>
      </p:sp>
      <p:sp>
        <p:nvSpPr>
          <p:cNvPr id="23" name="Text 21"/>
          <p:cNvSpPr/>
          <p:nvPr/>
        </p:nvSpPr>
        <p:spPr>
          <a:xfrm>
            <a:off x="685800" y="4983480"/>
            <a:ext cx="10515600" cy="548640"/>
          </a:xfrm>
          <a:prstGeom prst="rect">
            <a:avLst/>
          </a:prstGeom>
          <a:solidFill>
            <a:srgbClr val="FFF8EA"/>
          </a:solidFill>
          <a:ln w="10160">
            <a:solidFill>
              <a:srgbClr val="E9C46A"/>
            </a:solidFill>
          </a:ln>
        </p:spPr>
        <p:txBody>
          <a:bodyPr wrap="square" lIns="1016" tIns="1016" rIns="1016" bIns="1016" rtlCol="0" anchor="ctr">
            <a:normAutofit/>
          </a:bodyPr>
          <a:lstStyle/>
          <a:p>
            <a:pPr algn="l" indent="0" marL="0">
              <a:buNone/>
            </a:pPr>
            <a:r>
              <a:rPr lang="en-US" sz="900" dirty="0">
                <a:solidFill>
                  <a:srgbClr val="24313F"/>
                </a:solidFill>
                <a:latin typeface="Aptos" pitchFamily="34" charset="0"/>
                <a:ea typeface="Aptos" pitchFamily="34" charset="-122"/>
                <a:cs typeface="Aptos" pitchFamily="34" charset="-120"/>
              </a:rPr>
              <a:t>Pitch relevance: VAT is not a direct AI-chip winner like Nvidia; it is a bottleneck supplier inside the capex layer that expands when fabs add advanced manufacturing capacity.</a:t>
            </a:r>
            <a:endParaRPr lang="en-US" sz="900" dirty="0"/>
          </a:p>
        </p:txBody>
      </p:sp>
      <p:sp>
        <p:nvSpPr>
          <p:cNvPr id="24" name="Shape 22"/>
          <p:cNvSpPr/>
          <p:nvPr/>
        </p:nvSpPr>
        <p:spPr>
          <a:xfrm>
            <a:off x="411480" y="6510528"/>
            <a:ext cx="11384280" cy="0"/>
          </a:xfrm>
          <a:prstGeom prst="line">
            <a:avLst/>
          </a:prstGeom>
          <a:noFill/>
          <a:ln w="7620">
            <a:solidFill>
              <a:srgbClr val="D5DEE6"/>
            </a:solidFill>
            <a:prstDash val="solid"/>
          </a:ln>
        </p:spPr>
      </p:sp>
      <p:sp>
        <p:nvSpPr>
          <p:cNvPr id="25" name="Text 23"/>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VAT Capital Markets Day 2025; company disclosures; analyst interpretation. Illustrative examples, not exhaustive.</a:t>
            </a:r>
            <a:endParaRPr lang="en-US" sz="580" dirty="0"/>
          </a:p>
        </p:txBody>
      </p:sp>
      <p:sp>
        <p:nvSpPr>
          <p:cNvPr id="26" name="Text 24"/>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11</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A2. Chip manufacturing is a repeated layer-building process</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Vacuum intensity rises where the process modifies materials at atomic scale.</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Text 3"/>
          <p:cNvSpPr/>
          <p:nvPr/>
        </p:nvSpPr>
        <p:spPr>
          <a:xfrm>
            <a:off x="731520" y="1371600"/>
            <a:ext cx="2331720" cy="685800"/>
          </a:xfrm>
          <a:prstGeom prst="rect">
            <a:avLst/>
          </a:prstGeom>
          <a:solidFill>
            <a:srgbClr val="FFFFFF"/>
          </a:solidFill>
          <a:ln w="10160">
            <a:solidFill>
              <a:srgbClr val="D5DEE6"/>
            </a:solidFill>
          </a:ln>
        </p:spPr>
        <p:txBody>
          <a:bodyPr wrap="square" lIns="1016" tIns="1016" rIns="1016" bIns="1016" rtlCol="0" anchor="ctr">
            <a:normAutofit/>
          </a:bodyPr>
          <a:lstStyle/>
          <a:p>
            <a:pPr algn="l" indent="0" marL="0">
              <a:buNone/>
            </a:pPr>
            <a:r>
              <a:rPr lang="en-US" sz="820" dirty="0">
                <a:solidFill>
                  <a:srgbClr val="24313F"/>
                </a:solidFill>
                <a:latin typeface="Aptos" pitchFamily="34" charset="0"/>
                <a:ea typeface="Aptos" pitchFamily="34" charset="-122"/>
                <a:cs typeface="Aptos" pitchFamily="34" charset="-120"/>
              </a:rPr>
              <a:t>1. Wafer prep</a:t>
            </a:r>
            <a:endParaRPr lang="en-US" sz="820" dirty="0"/>
          </a:p>
          <a:p>
            <a:pPr algn="l" indent="0" marL="0">
              <a:buNone/>
            </a:pPr>
            <a:r>
              <a:rPr lang="en-US" sz="820" dirty="0">
                <a:solidFill>
                  <a:srgbClr val="24313F"/>
                </a:solidFill>
                <a:latin typeface="Aptos" pitchFamily="34" charset="0"/>
                <a:ea typeface="Aptos" pitchFamily="34" charset="-122"/>
                <a:cs typeface="Aptos" pitchFamily="34" charset="-120"/>
              </a:rPr>
              <a:t>Polished silicon wafer</a:t>
            </a:r>
            <a:endParaRPr lang="en-US" sz="820" dirty="0"/>
          </a:p>
        </p:txBody>
      </p:sp>
      <p:sp>
        <p:nvSpPr>
          <p:cNvPr id="6" name="Text 4"/>
          <p:cNvSpPr/>
          <p:nvPr/>
        </p:nvSpPr>
        <p:spPr>
          <a:xfrm>
            <a:off x="3520440" y="1371600"/>
            <a:ext cx="2331720" cy="685800"/>
          </a:xfrm>
          <a:prstGeom prst="rect">
            <a:avLst/>
          </a:prstGeom>
          <a:solidFill>
            <a:srgbClr val="EDF8F6"/>
          </a:solidFill>
          <a:ln w="10160">
            <a:solidFill>
              <a:srgbClr val="2A9D8F"/>
            </a:solidFill>
          </a:ln>
        </p:spPr>
        <p:txBody>
          <a:bodyPr wrap="square" lIns="1016" tIns="1016" rIns="1016" bIns="1016" rtlCol="0" anchor="ctr">
            <a:normAutofit/>
          </a:bodyPr>
          <a:lstStyle/>
          <a:p>
            <a:pPr algn="l" indent="0" marL="0">
              <a:buNone/>
            </a:pPr>
            <a:r>
              <a:rPr lang="en-US" sz="820" dirty="0">
                <a:solidFill>
                  <a:srgbClr val="24313F"/>
                </a:solidFill>
                <a:latin typeface="Aptos" pitchFamily="34" charset="0"/>
                <a:ea typeface="Aptos" pitchFamily="34" charset="-122"/>
                <a:cs typeface="Aptos" pitchFamily="34" charset="-120"/>
              </a:rPr>
              <a:t>2. Deposition</a:t>
            </a:r>
            <a:endParaRPr lang="en-US" sz="820" dirty="0"/>
          </a:p>
          <a:p>
            <a:pPr algn="l" indent="0" marL="0">
              <a:buNone/>
            </a:pPr>
            <a:r>
              <a:rPr lang="en-US" sz="820" dirty="0">
                <a:solidFill>
                  <a:srgbClr val="24313F"/>
                </a:solidFill>
                <a:latin typeface="Aptos" pitchFamily="34" charset="0"/>
                <a:ea typeface="Aptos" pitchFamily="34" charset="-122"/>
                <a:cs typeface="Aptos" pitchFamily="34" charset="-120"/>
              </a:rPr>
              <a:t>Add thin material films</a:t>
            </a:r>
            <a:endParaRPr lang="en-US" sz="820" dirty="0"/>
          </a:p>
        </p:txBody>
      </p:sp>
      <p:sp>
        <p:nvSpPr>
          <p:cNvPr id="7" name="Text 5"/>
          <p:cNvSpPr/>
          <p:nvPr/>
        </p:nvSpPr>
        <p:spPr>
          <a:xfrm>
            <a:off x="6309360" y="1371600"/>
            <a:ext cx="2331720" cy="685800"/>
          </a:xfrm>
          <a:prstGeom prst="rect">
            <a:avLst/>
          </a:prstGeom>
          <a:solidFill>
            <a:srgbClr val="FFFFFF"/>
          </a:solidFill>
          <a:ln w="10160">
            <a:solidFill>
              <a:srgbClr val="D5DEE6"/>
            </a:solidFill>
          </a:ln>
        </p:spPr>
        <p:txBody>
          <a:bodyPr wrap="square" lIns="1016" tIns="1016" rIns="1016" bIns="1016" rtlCol="0" anchor="ctr">
            <a:normAutofit/>
          </a:bodyPr>
          <a:lstStyle/>
          <a:p>
            <a:pPr algn="l" indent="0" marL="0">
              <a:buNone/>
            </a:pPr>
            <a:r>
              <a:rPr lang="en-US" sz="820" dirty="0">
                <a:solidFill>
                  <a:srgbClr val="24313F"/>
                </a:solidFill>
                <a:latin typeface="Aptos" pitchFamily="34" charset="0"/>
                <a:ea typeface="Aptos" pitchFamily="34" charset="-122"/>
                <a:cs typeface="Aptos" pitchFamily="34" charset="-120"/>
              </a:rPr>
              <a:t>3. Lithography</a:t>
            </a:r>
            <a:endParaRPr lang="en-US" sz="820" dirty="0"/>
          </a:p>
          <a:p>
            <a:pPr algn="l" indent="0" marL="0">
              <a:buNone/>
            </a:pPr>
            <a:r>
              <a:rPr lang="en-US" sz="820" dirty="0">
                <a:solidFill>
                  <a:srgbClr val="24313F"/>
                </a:solidFill>
                <a:latin typeface="Aptos" pitchFamily="34" charset="0"/>
                <a:ea typeface="Aptos" pitchFamily="34" charset="-122"/>
                <a:cs typeface="Aptos" pitchFamily="34" charset="-120"/>
              </a:rPr>
              <a:t>Pattern with light</a:t>
            </a:r>
            <a:endParaRPr lang="en-US" sz="820" dirty="0"/>
          </a:p>
        </p:txBody>
      </p:sp>
      <p:sp>
        <p:nvSpPr>
          <p:cNvPr id="8" name="Text 6"/>
          <p:cNvSpPr/>
          <p:nvPr/>
        </p:nvSpPr>
        <p:spPr>
          <a:xfrm>
            <a:off x="9098280" y="1371600"/>
            <a:ext cx="2331720" cy="685800"/>
          </a:xfrm>
          <a:prstGeom prst="rect">
            <a:avLst/>
          </a:prstGeom>
          <a:solidFill>
            <a:srgbClr val="EDF8F6"/>
          </a:solidFill>
          <a:ln w="10160">
            <a:solidFill>
              <a:srgbClr val="2A9D8F"/>
            </a:solidFill>
          </a:ln>
        </p:spPr>
        <p:txBody>
          <a:bodyPr wrap="square" lIns="1016" tIns="1016" rIns="1016" bIns="1016" rtlCol="0" anchor="ctr">
            <a:normAutofit/>
          </a:bodyPr>
          <a:lstStyle/>
          <a:p>
            <a:pPr algn="l" indent="0" marL="0">
              <a:buNone/>
            </a:pPr>
            <a:r>
              <a:rPr lang="en-US" sz="820" dirty="0">
                <a:solidFill>
                  <a:srgbClr val="24313F"/>
                </a:solidFill>
                <a:latin typeface="Aptos" pitchFamily="34" charset="0"/>
                <a:ea typeface="Aptos" pitchFamily="34" charset="-122"/>
                <a:cs typeface="Aptos" pitchFamily="34" charset="-120"/>
              </a:rPr>
              <a:t>4. Etch</a:t>
            </a:r>
            <a:endParaRPr lang="en-US" sz="820" dirty="0"/>
          </a:p>
          <a:p>
            <a:pPr algn="l" indent="0" marL="0">
              <a:buNone/>
            </a:pPr>
            <a:r>
              <a:rPr lang="en-US" sz="820" dirty="0">
                <a:solidFill>
                  <a:srgbClr val="24313F"/>
                </a:solidFill>
                <a:latin typeface="Aptos" pitchFamily="34" charset="0"/>
                <a:ea typeface="Aptos" pitchFamily="34" charset="-122"/>
                <a:cs typeface="Aptos" pitchFamily="34" charset="-120"/>
              </a:rPr>
              <a:t>Remove selected material</a:t>
            </a:r>
            <a:endParaRPr lang="en-US" sz="820" dirty="0"/>
          </a:p>
        </p:txBody>
      </p:sp>
      <p:sp>
        <p:nvSpPr>
          <p:cNvPr id="9" name="Text 7"/>
          <p:cNvSpPr/>
          <p:nvPr/>
        </p:nvSpPr>
        <p:spPr>
          <a:xfrm>
            <a:off x="731520" y="2514600"/>
            <a:ext cx="2331720" cy="685800"/>
          </a:xfrm>
          <a:prstGeom prst="rect">
            <a:avLst/>
          </a:prstGeom>
          <a:solidFill>
            <a:srgbClr val="EDF8F6"/>
          </a:solidFill>
          <a:ln w="10160">
            <a:solidFill>
              <a:srgbClr val="2A9D8F"/>
            </a:solidFill>
          </a:ln>
        </p:spPr>
        <p:txBody>
          <a:bodyPr wrap="square" lIns="1016" tIns="1016" rIns="1016" bIns="1016" rtlCol="0" anchor="ctr">
            <a:normAutofit/>
          </a:bodyPr>
          <a:lstStyle/>
          <a:p>
            <a:pPr algn="l" indent="0" marL="0">
              <a:buNone/>
            </a:pPr>
            <a:r>
              <a:rPr lang="en-US" sz="820" dirty="0">
                <a:solidFill>
                  <a:srgbClr val="24313F"/>
                </a:solidFill>
                <a:latin typeface="Aptos" pitchFamily="34" charset="0"/>
                <a:ea typeface="Aptos" pitchFamily="34" charset="-122"/>
                <a:cs typeface="Aptos" pitchFamily="34" charset="-120"/>
              </a:rPr>
              <a:t>5. Implant / anneal</a:t>
            </a:r>
            <a:endParaRPr lang="en-US" sz="820" dirty="0"/>
          </a:p>
          <a:p>
            <a:pPr algn="l" indent="0" marL="0">
              <a:buNone/>
            </a:pPr>
            <a:r>
              <a:rPr lang="en-US" sz="820" dirty="0">
                <a:solidFill>
                  <a:srgbClr val="24313F"/>
                </a:solidFill>
                <a:latin typeface="Aptos" pitchFamily="34" charset="0"/>
                <a:ea typeface="Aptos" pitchFamily="34" charset="-122"/>
                <a:cs typeface="Aptos" pitchFamily="34" charset="-120"/>
              </a:rPr>
              <a:t>Modify electrical properties</a:t>
            </a:r>
            <a:endParaRPr lang="en-US" sz="820" dirty="0"/>
          </a:p>
        </p:txBody>
      </p:sp>
      <p:sp>
        <p:nvSpPr>
          <p:cNvPr id="10" name="Text 8"/>
          <p:cNvSpPr/>
          <p:nvPr/>
        </p:nvSpPr>
        <p:spPr>
          <a:xfrm>
            <a:off x="3520440" y="2514600"/>
            <a:ext cx="2331720" cy="685800"/>
          </a:xfrm>
          <a:prstGeom prst="rect">
            <a:avLst/>
          </a:prstGeom>
          <a:solidFill>
            <a:srgbClr val="FFFFFF"/>
          </a:solidFill>
          <a:ln w="10160">
            <a:solidFill>
              <a:srgbClr val="D5DEE6"/>
            </a:solidFill>
          </a:ln>
        </p:spPr>
        <p:txBody>
          <a:bodyPr wrap="square" lIns="1016" tIns="1016" rIns="1016" bIns="1016" rtlCol="0" anchor="ctr">
            <a:normAutofit/>
          </a:bodyPr>
          <a:lstStyle/>
          <a:p>
            <a:pPr algn="l" indent="0" marL="0">
              <a:buNone/>
            </a:pPr>
            <a:r>
              <a:rPr lang="en-US" sz="820" dirty="0">
                <a:solidFill>
                  <a:srgbClr val="24313F"/>
                </a:solidFill>
                <a:latin typeface="Aptos" pitchFamily="34" charset="0"/>
                <a:ea typeface="Aptos" pitchFamily="34" charset="-122"/>
                <a:cs typeface="Aptos" pitchFamily="34" charset="-120"/>
              </a:rPr>
              <a:t>6. Clean / inspect</a:t>
            </a:r>
            <a:endParaRPr lang="en-US" sz="820" dirty="0"/>
          </a:p>
          <a:p>
            <a:pPr algn="l" indent="0" marL="0">
              <a:buNone/>
            </a:pPr>
            <a:r>
              <a:rPr lang="en-US" sz="820" dirty="0">
                <a:solidFill>
                  <a:srgbClr val="24313F"/>
                </a:solidFill>
                <a:latin typeface="Aptos" pitchFamily="34" charset="0"/>
                <a:ea typeface="Aptos" pitchFamily="34" charset="-122"/>
                <a:cs typeface="Aptos" pitchFamily="34" charset="-120"/>
              </a:rPr>
              <a:t>Remove residue and measure defects</a:t>
            </a:r>
            <a:endParaRPr lang="en-US" sz="820" dirty="0"/>
          </a:p>
        </p:txBody>
      </p:sp>
      <p:sp>
        <p:nvSpPr>
          <p:cNvPr id="11" name="Text 9"/>
          <p:cNvSpPr/>
          <p:nvPr/>
        </p:nvSpPr>
        <p:spPr>
          <a:xfrm>
            <a:off x="6309360" y="2514600"/>
            <a:ext cx="2331720" cy="685800"/>
          </a:xfrm>
          <a:prstGeom prst="rect">
            <a:avLst/>
          </a:prstGeom>
          <a:solidFill>
            <a:srgbClr val="FFFFFF"/>
          </a:solidFill>
          <a:ln w="10160">
            <a:solidFill>
              <a:srgbClr val="D5DEE6"/>
            </a:solidFill>
          </a:ln>
        </p:spPr>
        <p:txBody>
          <a:bodyPr wrap="square" lIns="1016" tIns="1016" rIns="1016" bIns="1016" rtlCol="0" anchor="ctr">
            <a:normAutofit/>
          </a:bodyPr>
          <a:lstStyle/>
          <a:p>
            <a:pPr algn="l" indent="0" marL="0">
              <a:buNone/>
            </a:pPr>
            <a:r>
              <a:rPr lang="en-US" sz="820" dirty="0">
                <a:solidFill>
                  <a:srgbClr val="24313F"/>
                </a:solidFill>
                <a:latin typeface="Aptos" pitchFamily="34" charset="0"/>
                <a:ea typeface="Aptos" pitchFamily="34" charset="-122"/>
                <a:cs typeface="Aptos" pitchFamily="34" charset="-120"/>
              </a:rPr>
              <a:t>7. Repeat</a:t>
            </a:r>
            <a:endParaRPr lang="en-US" sz="820" dirty="0"/>
          </a:p>
          <a:p>
            <a:pPr algn="l" indent="0" marL="0">
              <a:buNone/>
            </a:pPr>
            <a:r>
              <a:rPr lang="en-US" sz="820" dirty="0">
                <a:solidFill>
                  <a:srgbClr val="24313F"/>
                </a:solidFill>
                <a:latin typeface="Aptos" pitchFamily="34" charset="0"/>
                <a:ea typeface="Aptos" pitchFamily="34" charset="-122"/>
                <a:cs typeface="Aptos" pitchFamily="34" charset="-120"/>
              </a:rPr>
              <a:t>Build dozens of layers</a:t>
            </a:r>
            <a:endParaRPr lang="en-US" sz="820" dirty="0"/>
          </a:p>
        </p:txBody>
      </p:sp>
      <p:sp>
        <p:nvSpPr>
          <p:cNvPr id="12" name="Text 10"/>
          <p:cNvSpPr/>
          <p:nvPr/>
        </p:nvSpPr>
        <p:spPr>
          <a:xfrm>
            <a:off x="731520" y="4983480"/>
            <a:ext cx="10424160" cy="548640"/>
          </a:xfrm>
          <a:prstGeom prst="rect">
            <a:avLst/>
          </a:prstGeom>
          <a:solidFill>
            <a:srgbClr val="FFFFFF"/>
          </a:solidFill>
          <a:ln w="10160">
            <a:solidFill>
              <a:srgbClr val="D5DEE6"/>
            </a:solidFill>
          </a:ln>
        </p:spPr>
        <p:txBody>
          <a:bodyPr wrap="square" lIns="1016" tIns="1016" rIns="1016" bIns="1016" rtlCol="0" anchor="ctr">
            <a:normAutofit/>
          </a:bodyPr>
          <a:lstStyle/>
          <a:p>
            <a:pPr algn="l" indent="0" marL="0">
              <a:buNone/>
            </a:pPr>
            <a:r>
              <a:rPr lang="en-US" sz="900" dirty="0">
                <a:solidFill>
                  <a:srgbClr val="24313F"/>
                </a:solidFill>
                <a:latin typeface="Aptos" pitchFamily="34" charset="0"/>
                <a:ea typeface="Aptos" pitchFamily="34" charset="-122"/>
                <a:cs typeface="Aptos" pitchFamily="34" charset="-120"/>
              </a:rPr>
              <a:t>Where VAT matters most: vacuum chambers in deposition, etch, certain lithography/inspection environments, wafer transfer and gas-flow control.</a:t>
            </a:r>
            <a:endParaRPr lang="en-US" sz="900" dirty="0"/>
          </a:p>
        </p:txBody>
      </p:sp>
      <p:sp>
        <p:nvSpPr>
          <p:cNvPr id="13" name="Shape 11"/>
          <p:cNvSpPr/>
          <p:nvPr/>
        </p:nvSpPr>
        <p:spPr>
          <a:xfrm>
            <a:off x="411480" y="6510528"/>
            <a:ext cx="11384280" cy="0"/>
          </a:xfrm>
          <a:prstGeom prst="line">
            <a:avLst/>
          </a:prstGeom>
          <a:noFill/>
          <a:ln w="7620">
            <a:solidFill>
              <a:srgbClr val="D5DEE6"/>
            </a:solidFill>
            <a:prstDash val="solid"/>
          </a:ln>
        </p:spPr>
      </p:sp>
      <p:sp>
        <p:nvSpPr>
          <p:cNvPr id="14" name="Text 12"/>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VAT Capital Markets Day 2025; semiconductor manufacturing primers; analyst interpretation. Simplified diagram.</a:t>
            </a:r>
            <a:endParaRPr lang="en-US" sz="580" dirty="0"/>
          </a:p>
        </p:txBody>
      </p:sp>
      <p:sp>
        <p:nvSpPr>
          <p:cNvPr id="15" name="Text 13"/>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12</a:t>
            </a:r>
            <a:endParaRPr lang="en-US" sz="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A3. Deposition, lithography and etch drive the highest-intensity tool content</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VAT content rises where chambers, gases and particle control become more demanding.</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Text 3"/>
          <p:cNvSpPr/>
          <p:nvPr/>
        </p:nvSpPr>
        <p:spPr>
          <a:xfrm>
            <a:off x="685800" y="1463040"/>
            <a:ext cx="3246120" cy="1965960"/>
          </a:xfrm>
          <a:prstGeom prst="rect">
            <a:avLst/>
          </a:prstGeom>
          <a:solidFill>
            <a:srgbClr val="EDF8F6"/>
          </a:solidFill>
          <a:ln w="10160">
            <a:solidFill>
              <a:srgbClr val="2A9D8F"/>
            </a:solidFill>
          </a:ln>
        </p:spPr>
        <p:txBody>
          <a:bodyPr wrap="square" lIns="1270" tIns="1270" rIns="1270" bIns="1270" rtlCol="0" anchor="ctr">
            <a:normAutofit/>
          </a:bodyPr>
          <a:lstStyle/>
          <a:p>
            <a:pPr algn="l" indent="0" marL="0">
              <a:buNone/>
            </a:pPr>
            <a:r>
              <a:rPr lang="en-US" sz="900" dirty="0">
                <a:solidFill>
                  <a:srgbClr val="24313F"/>
                </a:solidFill>
                <a:latin typeface="Aptos" pitchFamily="34" charset="0"/>
                <a:ea typeface="Aptos" pitchFamily="34" charset="-122"/>
                <a:cs typeface="Aptos" pitchFamily="34" charset="-120"/>
              </a:rPr>
              <a:t>Deposition</a:t>
            </a:r>
            <a:endParaRPr lang="en-US" sz="900" dirty="0"/>
          </a:p>
          <a:p>
            <a:pPr algn="l" indent="0" marL="0">
              <a:buNone/>
            </a:pPr>
            <a:r>
              <a:rPr lang="en-US" sz="900" dirty="0">
                <a:solidFill>
                  <a:srgbClr val="24313F"/>
                </a:solidFill>
                <a:latin typeface="Aptos" pitchFamily="34" charset="0"/>
                <a:ea typeface="Aptos" pitchFamily="34" charset="-122"/>
                <a:cs typeface="Aptos" pitchFamily="34" charset="-120"/>
              </a:rPr>
              <a:t>Adds ultra-thin films; ALD / CVD require controlled gases and pressure stability.</a:t>
            </a:r>
            <a:endParaRPr lang="en-US" sz="900" dirty="0"/>
          </a:p>
          <a:p>
            <a:pPr algn="l" indent="0" marL="0">
              <a:buNone/>
            </a:pPr>
            <a:r>
              <a:rPr lang="en-US" sz="900" dirty="0">
                <a:solidFill>
                  <a:srgbClr val="24313F"/>
                </a:solidFill>
                <a:latin typeface="Aptos" pitchFamily="34" charset="0"/>
                <a:ea typeface="Aptos" pitchFamily="34" charset="-122"/>
                <a:cs typeface="Aptos" pitchFamily="34" charset="-120"/>
              </a:rPr>
              <a:t>VAT relevance: control and gas-inlet valves.</a:t>
            </a:r>
            <a:endParaRPr lang="en-US" sz="900" dirty="0"/>
          </a:p>
        </p:txBody>
      </p:sp>
      <p:sp>
        <p:nvSpPr>
          <p:cNvPr id="6" name="Text 4"/>
          <p:cNvSpPr/>
          <p:nvPr/>
        </p:nvSpPr>
        <p:spPr>
          <a:xfrm>
            <a:off x="4416552" y="1463040"/>
            <a:ext cx="3246120" cy="1965960"/>
          </a:xfrm>
          <a:prstGeom prst="rect">
            <a:avLst/>
          </a:prstGeom>
          <a:solidFill>
            <a:srgbClr val="FFFFFF"/>
          </a:solidFill>
          <a:ln w="10160">
            <a:solidFill>
              <a:srgbClr val="D5DEE6"/>
            </a:solidFill>
          </a:ln>
        </p:spPr>
        <p:txBody>
          <a:bodyPr wrap="square" lIns="1270" tIns="1270" rIns="1270" bIns="1270" rtlCol="0" anchor="ctr">
            <a:normAutofit/>
          </a:bodyPr>
          <a:lstStyle/>
          <a:p>
            <a:pPr algn="l" indent="0" marL="0">
              <a:buNone/>
            </a:pPr>
            <a:r>
              <a:rPr lang="en-US" sz="900" dirty="0">
                <a:solidFill>
                  <a:srgbClr val="24313F"/>
                </a:solidFill>
                <a:latin typeface="Aptos" pitchFamily="34" charset="0"/>
                <a:ea typeface="Aptos" pitchFamily="34" charset="-122"/>
                <a:cs typeface="Aptos" pitchFamily="34" charset="-120"/>
              </a:rPr>
              <a:t>Lithography</a:t>
            </a:r>
            <a:endParaRPr lang="en-US" sz="900" dirty="0"/>
          </a:p>
          <a:p>
            <a:pPr algn="l" indent="0" marL="0">
              <a:buNone/>
            </a:pPr>
            <a:r>
              <a:rPr lang="en-US" sz="900" dirty="0">
                <a:solidFill>
                  <a:srgbClr val="24313F"/>
                </a:solidFill>
                <a:latin typeface="Aptos" pitchFamily="34" charset="0"/>
                <a:ea typeface="Aptos" pitchFamily="34" charset="-122"/>
                <a:cs typeface="Aptos" pitchFamily="34" charset="-120"/>
              </a:rPr>
              <a:t>Patterns wafer using light; EUV ecosystem requires extreme contamination control.</a:t>
            </a:r>
            <a:endParaRPr lang="en-US" sz="900" dirty="0"/>
          </a:p>
          <a:p>
            <a:pPr algn="l" indent="0" marL="0">
              <a:buNone/>
            </a:pPr>
            <a:r>
              <a:rPr lang="en-US" sz="900" dirty="0">
                <a:solidFill>
                  <a:srgbClr val="24313F"/>
                </a:solidFill>
                <a:latin typeface="Aptos" pitchFamily="34" charset="0"/>
                <a:ea typeface="Aptos" pitchFamily="34" charset="-122"/>
                <a:cs typeface="Aptos" pitchFamily="34" charset="-120"/>
              </a:rPr>
              <a:t>VAT relevance: vacuum modules, motion and isolation.</a:t>
            </a:r>
            <a:endParaRPr lang="en-US" sz="900" dirty="0"/>
          </a:p>
        </p:txBody>
      </p:sp>
      <p:sp>
        <p:nvSpPr>
          <p:cNvPr id="7" name="Text 5"/>
          <p:cNvSpPr/>
          <p:nvPr/>
        </p:nvSpPr>
        <p:spPr>
          <a:xfrm>
            <a:off x="8147304" y="1463040"/>
            <a:ext cx="3246120" cy="1965960"/>
          </a:xfrm>
          <a:prstGeom prst="rect">
            <a:avLst/>
          </a:prstGeom>
          <a:solidFill>
            <a:srgbClr val="EDF8F6"/>
          </a:solidFill>
          <a:ln w="10160">
            <a:solidFill>
              <a:srgbClr val="2A9D8F"/>
            </a:solidFill>
          </a:ln>
        </p:spPr>
        <p:txBody>
          <a:bodyPr wrap="square" lIns="1270" tIns="1270" rIns="1270" bIns="1270" rtlCol="0" anchor="ctr">
            <a:normAutofit/>
          </a:bodyPr>
          <a:lstStyle/>
          <a:p>
            <a:pPr algn="l" indent="0" marL="0">
              <a:buNone/>
            </a:pPr>
            <a:r>
              <a:rPr lang="en-US" sz="900" dirty="0">
                <a:solidFill>
                  <a:srgbClr val="24313F"/>
                </a:solidFill>
                <a:latin typeface="Aptos" pitchFamily="34" charset="0"/>
                <a:ea typeface="Aptos" pitchFamily="34" charset="-122"/>
                <a:cs typeface="Aptos" pitchFamily="34" charset="-120"/>
              </a:rPr>
              <a:t>Etch</a:t>
            </a:r>
            <a:endParaRPr lang="en-US" sz="900" dirty="0"/>
          </a:p>
          <a:p>
            <a:pPr algn="l" indent="0" marL="0">
              <a:buNone/>
            </a:pPr>
            <a:r>
              <a:rPr lang="en-US" sz="900" dirty="0">
                <a:solidFill>
                  <a:srgbClr val="24313F"/>
                </a:solidFill>
                <a:latin typeface="Aptos" pitchFamily="34" charset="0"/>
                <a:ea typeface="Aptos" pitchFamily="34" charset="-122"/>
                <a:cs typeface="Aptos" pitchFamily="34" charset="-120"/>
              </a:rPr>
              <a:t>Removes material selectively; plasma / cryo-etch require stable vacuum and gas management.</a:t>
            </a:r>
            <a:endParaRPr lang="en-US" sz="900" dirty="0"/>
          </a:p>
          <a:p>
            <a:pPr algn="l" indent="0" marL="0">
              <a:buNone/>
            </a:pPr>
            <a:r>
              <a:rPr lang="en-US" sz="900" dirty="0">
                <a:solidFill>
                  <a:srgbClr val="24313F"/>
                </a:solidFill>
                <a:latin typeface="Aptos" pitchFamily="34" charset="0"/>
                <a:ea typeface="Aptos" pitchFamily="34" charset="-122"/>
                <a:cs typeface="Aptos" pitchFamily="34" charset="-120"/>
              </a:rPr>
              <a:t>VAT relevance: control, isolation and exhaust-path valves.</a:t>
            </a:r>
            <a:endParaRPr lang="en-US" sz="900" dirty="0"/>
          </a:p>
        </p:txBody>
      </p:sp>
      <p:sp>
        <p:nvSpPr>
          <p:cNvPr id="8" name="Text 6"/>
          <p:cNvSpPr/>
          <p:nvPr/>
        </p:nvSpPr>
        <p:spPr>
          <a:xfrm>
            <a:off x="685800" y="4800600"/>
            <a:ext cx="10515600" cy="530352"/>
          </a:xfrm>
          <a:prstGeom prst="rect">
            <a:avLst/>
          </a:prstGeom>
          <a:solidFill>
            <a:srgbClr val="FFF8EA"/>
          </a:solidFill>
          <a:ln w="10160">
            <a:solidFill>
              <a:srgbClr val="E9C46A"/>
            </a:solidFill>
          </a:ln>
        </p:spPr>
        <p:txBody>
          <a:bodyPr wrap="square" lIns="1016" tIns="1016" rIns="1016" bIns="1016" rtlCol="0" anchor="ctr">
            <a:normAutofit/>
          </a:bodyPr>
          <a:lstStyle/>
          <a:p>
            <a:pPr algn="l" indent="0" marL="0">
              <a:buNone/>
            </a:pPr>
            <a:r>
              <a:rPr lang="en-US" sz="920" dirty="0">
                <a:solidFill>
                  <a:srgbClr val="24313F"/>
                </a:solidFill>
                <a:latin typeface="Aptos" pitchFamily="34" charset="0"/>
                <a:ea typeface="Aptos" pitchFamily="34" charset="-122"/>
                <a:cs typeface="Aptos" pitchFamily="34" charset="-120"/>
              </a:rPr>
              <a:t>GAA and sub-2nm nodes increase steps and chamber count; VAT says 2nm technology should allow it to outgrow WFE by up to 2x in relevant markets.</a:t>
            </a:r>
            <a:endParaRPr lang="en-US" sz="920" dirty="0"/>
          </a:p>
        </p:txBody>
      </p:sp>
      <p:sp>
        <p:nvSpPr>
          <p:cNvPr id="9" name="Shape 7"/>
          <p:cNvSpPr/>
          <p:nvPr/>
        </p:nvSpPr>
        <p:spPr>
          <a:xfrm>
            <a:off x="411480" y="6510528"/>
            <a:ext cx="11384280" cy="0"/>
          </a:xfrm>
          <a:prstGeom prst="line">
            <a:avLst/>
          </a:prstGeom>
          <a:noFill/>
          <a:ln w="7620">
            <a:solidFill>
              <a:srgbClr val="D5DEE6"/>
            </a:solidFill>
            <a:prstDash val="solid"/>
          </a:ln>
        </p:spPr>
      </p:sp>
      <p:sp>
        <p:nvSpPr>
          <p:cNvPr id="10" name="Text 8"/>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VAT Capital Markets Day 2025; VAT H1 2026 report; analyst interpretation.</a:t>
            </a:r>
            <a:endParaRPr lang="en-US" sz="580" dirty="0"/>
          </a:p>
        </p:txBody>
      </p:sp>
      <p:sp>
        <p:nvSpPr>
          <p:cNvPr id="11" name="Text 9"/>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13</a:t>
            </a:r>
            <a:endParaRPr lang="en-US" sz="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A4. Logic, DRAM, HBM and NAND explained in investment terms</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Different chips pull different WFE categories, but advanced logic and HBM are most relevant to the AI capex cycle.</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Text 3"/>
          <p:cNvSpPr/>
          <p:nvPr/>
        </p:nvSpPr>
        <p:spPr>
          <a:xfrm>
            <a:off x="685800" y="1417320"/>
            <a:ext cx="4983480" cy="1024128"/>
          </a:xfrm>
          <a:prstGeom prst="rect">
            <a:avLst/>
          </a:prstGeom>
          <a:solidFill>
            <a:srgbClr val="EDF8F6"/>
          </a:solidFill>
          <a:ln w="10160">
            <a:solidFill>
              <a:srgbClr val="2A9D8F"/>
            </a:solidFill>
          </a:ln>
        </p:spPr>
        <p:txBody>
          <a:bodyPr wrap="square" lIns="1270" tIns="1270" rIns="1270" bIns="1270" rtlCol="0" anchor="ctr">
            <a:normAutofit/>
          </a:bodyPr>
          <a:lstStyle/>
          <a:p>
            <a:pPr algn="l" indent="0" marL="0">
              <a:buNone/>
            </a:pPr>
            <a:r>
              <a:rPr lang="en-US" sz="860" dirty="0">
                <a:solidFill>
                  <a:srgbClr val="24313F"/>
                </a:solidFill>
                <a:latin typeface="Aptos" pitchFamily="34" charset="0"/>
                <a:ea typeface="Aptos" pitchFamily="34" charset="-122"/>
                <a:cs typeface="Aptos" pitchFamily="34" charset="-120"/>
              </a:rPr>
              <a:t>Logic</a:t>
            </a:r>
            <a:endParaRPr lang="en-US" sz="860" dirty="0"/>
          </a:p>
          <a:p>
            <a:pPr algn="l" indent="0" marL="0">
              <a:buNone/>
            </a:pPr>
            <a:r>
              <a:rPr lang="en-US" sz="860" dirty="0">
                <a:solidFill>
                  <a:srgbClr val="24313F"/>
                </a:solidFill>
                <a:latin typeface="Aptos" pitchFamily="34" charset="0"/>
                <a:ea typeface="Aptos" pitchFamily="34" charset="-122"/>
                <a:cs typeface="Aptos" pitchFamily="34" charset="-120"/>
              </a:rPr>
              <a:t>Computes instructions; leading-edge nodes used in AI accelerators and CPUs.</a:t>
            </a:r>
            <a:endParaRPr lang="en-US" sz="860" dirty="0"/>
          </a:p>
          <a:p>
            <a:pPr algn="l" indent="0" marL="0">
              <a:buNone/>
            </a:pPr>
            <a:r>
              <a:rPr lang="en-US" sz="860" dirty="0">
                <a:solidFill>
                  <a:srgbClr val="24313F"/>
                </a:solidFill>
                <a:latin typeface="Aptos" pitchFamily="34" charset="0"/>
                <a:ea typeface="Aptos" pitchFamily="34" charset="-122"/>
                <a:cs typeface="Aptos" pitchFamily="34" charset="-120"/>
              </a:rPr>
              <a:t>Drivers: 2nm, GAA, EUV, dense deposition / etch.</a:t>
            </a:r>
            <a:endParaRPr lang="en-US" sz="860" dirty="0"/>
          </a:p>
        </p:txBody>
      </p:sp>
      <p:sp>
        <p:nvSpPr>
          <p:cNvPr id="6" name="Text 4"/>
          <p:cNvSpPr/>
          <p:nvPr/>
        </p:nvSpPr>
        <p:spPr>
          <a:xfrm>
            <a:off x="6172200" y="1417320"/>
            <a:ext cx="4983480" cy="1024128"/>
          </a:xfrm>
          <a:prstGeom prst="rect">
            <a:avLst/>
          </a:prstGeom>
          <a:solidFill>
            <a:srgbClr val="FFFFFF"/>
          </a:solidFill>
          <a:ln w="10160">
            <a:solidFill>
              <a:srgbClr val="D5DEE6"/>
            </a:solidFill>
          </a:ln>
        </p:spPr>
        <p:txBody>
          <a:bodyPr wrap="square" lIns="1270" tIns="1270" rIns="1270" bIns="1270" rtlCol="0" anchor="ctr">
            <a:normAutofit/>
          </a:bodyPr>
          <a:lstStyle/>
          <a:p>
            <a:pPr algn="l" indent="0" marL="0">
              <a:buNone/>
            </a:pPr>
            <a:r>
              <a:rPr lang="en-US" sz="860" dirty="0">
                <a:solidFill>
                  <a:srgbClr val="24313F"/>
                </a:solidFill>
                <a:latin typeface="Aptos" pitchFamily="34" charset="0"/>
                <a:ea typeface="Aptos" pitchFamily="34" charset="-122"/>
                <a:cs typeface="Aptos" pitchFamily="34" charset="-120"/>
              </a:rPr>
              <a:t>DRAM</a:t>
            </a:r>
            <a:endParaRPr lang="en-US" sz="860" dirty="0"/>
          </a:p>
          <a:p>
            <a:pPr algn="l" indent="0" marL="0">
              <a:buNone/>
            </a:pPr>
            <a:r>
              <a:rPr lang="en-US" sz="860" dirty="0">
                <a:solidFill>
                  <a:srgbClr val="24313F"/>
                </a:solidFill>
                <a:latin typeface="Aptos" pitchFamily="34" charset="0"/>
                <a:ea typeface="Aptos" pitchFamily="34" charset="-122"/>
                <a:cs typeface="Aptos" pitchFamily="34" charset="-120"/>
              </a:rPr>
              <a:t>Volatile memory; stores active data for processors.</a:t>
            </a:r>
            <a:endParaRPr lang="en-US" sz="860" dirty="0"/>
          </a:p>
          <a:p>
            <a:pPr algn="l" indent="0" marL="0">
              <a:buNone/>
            </a:pPr>
            <a:r>
              <a:rPr lang="en-US" sz="860" dirty="0">
                <a:solidFill>
                  <a:srgbClr val="24313F"/>
                </a:solidFill>
                <a:latin typeface="Aptos" pitchFamily="34" charset="0"/>
                <a:ea typeface="Aptos" pitchFamily="34" charset="-122"/>
                <a:cs typeface="Aptos" pitchFamily="34" charset="-120"/>
              </a:rPr>
              <a:t>Drivers: AI servers, bandwidth, process migration.</a:t>
            </a:r>
            <a:endParaRPr lang="en-US" sz="860" dirty="0"/>
          </a:p>
        </p:txBody>
      </p:sp>
      <p:sp>
        <p:nvSpPr>
          <p:cNvPr id="7" name="Text 5"/>
          <p:cNvSpPr/>
          <p:nvPr/>
        </p:nvSpPr>
        <p:spPr>
          <a:xfrm>
            <a:off x="685800" y="2926080"/>
            <a:ext cx="4983480" cy="1024128"/>
          </a:xfrm>
          <a:prstGeom prst="rect">
            <a:avLst/>
          </a:prstGeom>
          <a:solidFill>
            <a:srgbClr val="EDF8F6"/>
          </a:solidFill>
          <a:ln w="10160">
            <a:solidFill>
              <a:srgbClr val="2A9D8F"/>
            </a:solidFill>
          </a:ln>
        </p:spPr>
        <p:txBody>
          <a:bodyPr wrap="square" lIns="1270" tIns="1270" rIns="1270" bIns="1270" rtlCol="0" anchor="ctr">
            <a:normAutofit/>
          </a:bodyPr>
          <a:lstStyle/>
          <a:p>
            <a:pPr algn="l" indent="0" marL="0">
              <a:buNone/>
            </a:pPr>
            <a:r>
              <a:rPr lang="en-US" sz="860" dirty="0">
                <a:solidFill>
                  <a:srgbClr val="24313F"/>
                </a:solidFill>
                <a:latin typeface="Aptos" pitchFamily="34" charset="0"/>
                <a:ea typeface="Aptos" pitchFamily="34" charset="-122"/>
                <a:cs typeface="Aptos" pitchFamily="34" charset="-120"/>
              </a:rPr>
              <a:t>HBM</a:t>
            </a:r>
            <a:endParaRPr lang="en-US" sz="860" dirty="0"/>
          </a:p>
          <a:p>
            <a:pPr algn="l" indent="0" marL="0">
              <a:buNone/>
            </a:pPr>
            <a:r>
              <a:rPr lang="en-US" sz="860" dirty="0">
                <a:solidFill>
                  <a:srgbClr val="24313F"/>
                </a:solidFill>
                <a:latin typeface="Aptos" pitchFamily="34" charset="0"/>
                <a:ea typeface="Aptos" pitchFamily="34" charset="-122"/>
                <a:cs typeface="Aptos" pitchFamily="34" charset="-120"/>
              </a:rPr>
              <a:t>Stacked DRAM close to GPU/accelerator; solves memory bandwidth bottleneck.</a:t>
            </a:r>
            <a:endParaRPr lang="en-US" sz="860" dirty="0"/>
          </a:p>
          <a:p>
            <a:pPr algn="l" indent="0" marL="0">
              <a:buNone/>
            </a:pPr>
            <a:r>
              <a:rPr lang="en-US" sz="860" dirty="0">
                <a:solidFill>
                  <a:srgbClr val="24313F"/>
                </a:solidFill>
                <a:latin typeface="Aptos" pitchFamily="34" charset="0"/>
                <a:ea typeface="Aptos" pitchFamily="34" charset="-122"/>
                <a:cs typeface="Aptos" pitchFamily="34" charset="-120"/>
              </a:rPr>
              <a:t>Drivers: AI accelerator attach rate, advanced packaging.</a:t>
            </a:r>
            <a:endParaRPr lang="en-US" sz="860" dirty="0"/>
          </a:p>
        </p:txBody>
      </p:sp>
      <p:sp>
        <p:nvSpPr>
          <p:cNvPr id="8" name="Text 6"/>
          <p:cNvSpPr/>
          <p:nvPr/>
        </p:nvSpPr>
        <p:spPr>
          <a:xfrm>
            <a:off x="6172200" y="2926080"/>
            <a:ext cx="4983480" cy="1024128"/>
          </a:xfrm>
          <a:prstGeom prst="rect">
            <a:avLst/>
          </a:prstGeom>
          <a:solidFill>
            <a:srgbClr val="FFFFFF"/>
          </a:solidFill>
          <a:ln w="10160">
            <a:solidFill>
              <a:srgbClr val="D5DEE6"/>
            </a:solidFill>
          </a:ln>
        </p:spPr>
        <p:txBody>
          <a:bodyPr wrap="square" lIns="1270" tIns="1270" rIns="1270" bIns="1270" rtlCol="0" anchor="ctr">
            <a:normAutofit/>
          </a:bodyPr>
          <a:lstStyle/>
          <a:p>
            <a:pPr algn="l" indent="0" marL="0">
              <a:buNone/>
            </a:pPr>
            <a:r>
              <a:rPr lang="en-US" sz="860" dirty="0">
                <a:solidFill>
                  <a:srgbClr val="24313F"/>
                </a:solidFill>
                <a:latin typeface="Aptos" pitchFamily="34" charset="0"/>
                <a:ea typeface="Aptos" pitchFamily="34" charset="-122"/>
                <a:cs typeface="Aptos" pitchFamily="34" charset="-120"/>
              </a:rPr>
              <a:t>NAND</a:t>
            </a:r>
            <a:endParaRPr lang="en-US" sz="860" dirty="0"/>
          </a:p>
          <a:p>
            <a:pPr algn="l" indent="0" marL="0">
              <a:buNone/>
            </a:pPr>
            <a:r>
              <a:rPr lang="en-US" sz="860" dirty="0">
                <a:solidFill>
                  <a:srgbClr val="24313F"/>
                </a:solidFill>
                <a:latin typeface="Aptos" pitchFamily="34" charset="0"/>
                <a:ea typeface="Aptos" pitchFamily="34" charset="-122"/>
                <a:cs typeface="Aptos" pitchFamily="34" charset="-120"/>
              </a:rPr>
              <a:t>Non-volatile storage; 3D layers increase vertical complexity.</a:t>
            </a:r>
            <a:endParaRPr lang="en-US" sz="860" dirty="0"/>
          </a:p>
          <a:p>
            <a:pPr algn="l" indent="0" marL="0">
              <a:buNone/>
            </a:pPr>
            <a:r>
              <a:rPr lang="en-US" sz="860" dirty="0">
                <a:solidFill>
                  <a:srgbClr val="24313F"/>
                </a:solidFill>
                <a:latin typeface="Aptos" pitchFamily="34" charset="0"/>
                <a:ea typeface="Aptos" pitchFamily="34" charset="-122"/>
                <a:cs typeface="Aptos" pitchFamily="34" charset="-120"/>
              </a:rPr>
              <a:t>Drivers: storage demand, layer count, memory capex cycle.</a:t>
            </a:r>
            <a:endParaRPr lang="en-US" sz="860" dirty="0"/>
          </a:p>
        </p:txBody>
      </p:sp>
      <p:sp>
        <p:nvSpPr>
          <p:cNvPr id="9" name="Text 7"/>
          <p:cNvSpPr/>
          <p:nvPr/>
        </p:nvSpPr>
        <p:spPr>
          <a:xfrm>
            <a:off x="685800" y="5029200"/>
            <a:ext cx="10424160" cy="475488"/>
          </a:xfrm>
          <a:prstGeom prst="rect">
            <a:avLst/>
          </a:prstGeom>
          <a:solidFill>
            <a:srgbClr val="FFF8EA"/>
          </a:solidFill>
          <a:ln w="10160">
            <a:solidFill>
              <a:srgbClr val="E9C46A"/>
            </a:solidFill>
          </a:ln>
        </p:spPr>
        <p:txBody>
          <a:bodyPr wrap="square" lIns="1016" tIns="1016" rIns="1016" bIns="1016" rtlCol="0" anchor="ctr">
            <a:normAutofit/>
          </a:bodyPr>
          <a:lstStyle/>
          <a:p>
            <a:pPr algn="l" indent="0" marL="0">
              <a:buNone/>
            </a:pPr>
            <a:r>
              <a:rPr lang="en-US" sz="890" dirty="0">
                <a:solidFill>
                  <a:srgbClr val="24313F"/>
                </a:solidFill>
                <a:latin typeface="Aptos" pitchFamily="34" charset="0"/>
                <a:ea typeface="Aptos" pitchFamily="34" charset="-122"/>
                <a:cs typeface="Aptos" pitchFamily="34" charset="-120"/>
              </a:rPr>
              <a:t>VAT exposure is disclosed by semiconductor-related demand rather than precise logic/memory split. The pitch does not rely on unsupported node-level revenue attribution.</a:t>
            </a:r>
            <a:endParaRPr lang="en-US" sz="890" dirty="0"/>
          </a:p>
        </p:txBody>
      </p:sp>
      <p:sp>
        <p:nvSpPr>
          <p:cNvPr id="10" name="Shape 8"/>
          <p:cNvSpPr/>
          <p:nvPr/>
        </p:nvSpPr>
        <p:spPr>
          <a:xfrm>
            <a:off x="411480" y="6510528"/>
            <a:ext cx="11384280" cy="0"/>
          </a:xfrm>
          <a:prstGeom prst="line">
            <a:avLst/>
          </a:prstGeom>
          <a:noFill/>
          <a:ln w="7620">
            <a:solidFill>
              <a:srgbClr val="D5DEE6"/>
            </a:solidFill>
            <a:prstDash val="solid"/>
          </a:ln>
        </p:spPr>
      </p:sp>
      <p:sp>
        <p:nvSpPr>
          <p:cNvPr id="11" name="Text 9"/>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VAT disclosures; industry primers; analyst interpretation.</a:t>
            </a:r>
            <a:endParaRPr lang="en-US" sz="580" dirty="0"/>
          </a:p>
        </p:txBody>
      </p:sp>
      <p:sp>
        <p:nvSpPr>
          <p:cNvPr id="12" name="Text 10"/>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14</a:t>
            </a:r>
            <a:endParaRPr lang="en-US" sz="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A5. Product portfolio: valves are the core; modules and motion expand share of wallet</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Adjacencies matter because OEMs increasingly prefer integrated, qualified assemblies.</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Text 3"/>
          <p:cNvSpPr/>
          <p:nvPr/>
        </p:nvSpPr>
        <p:spPr>
          <a:xfrm>
            <a:off x="685800" y="1280160"/>
            <a:ext cx="2468880" cy="777240"/>
          </a:xfrm>
          <a:prstGeom prst="rect">
            <a:avLst/>
          </a:prstGeom>
          <a:solidFill>
            <a:srgbClr val="FFFFFF"/>
          </a:solidFill>
          <a:ln w="10160">
            <a:solidFill>
              <a:srgbClr val="D5DEE6"/>
            </a:solidFill>
          </a:ln>
        </p:spPr>
        <p:txBody>
          <a:bodyPr wrap="square" lIns="889" tIns="889" rIns="889" bIns="889" rtlCol="0" anchor="ctr">
            <a:normAutofit/>
          </a:bodyPr>
          <a:lstStyle/>
          <a:p>
            <a:pPr algn="l" indent="0" marL="0">
              <a:buNone/>
            </a:pPr>
            <a:r>
              <a:rPr lang="en-US" sz="780" dirty="0">
                <a:solidFill>
                  <a:srgbClr val="24313F"/>
                </a:solidFill>
                <a:latin typeface="Aptos" pitchFamily="34" charset="0"/>
                <a:ea typeface="Aptos" pitchFamily="34" charset="-122"/>
                <a:cs typeface="Aptos" pitchFamily="34" charset="-120"/>
              </a:rPr>
              <a:t>Control valves</a:t>
            </a:r>
            <a:endParaRPr lang="en-US" sz="780" dirty="0"/>
          </a:p>
          <a:p>
            <a:pPr algn="l" indent="0" marL="0">
              <a:buNone/>
            </a:pPr>
            <a:r>
              <a:rPr lang="en-US" sz="780" dirty="0">
                <a:solidFill>
                  <a:srgbClr val="24313F"/>
                </a:solidFill>
                <a:latin typeface="Aptos" pitchFamily="34" charset="0"/>
                <a:ea typeface="Aptos" pitchFamily="34" charset="-122"/>
                <a:cs typeface="Aptos" pitchFamily="34" charset="-120"/>
              </a:rPr>
              <a:t>Hold chamber pressure stable during process steps.</a:t>
            </a:r>
            <a:endParaRPr lang="en-US" sz="780" dirty="0"/>
          </a:p>
        </p:txBody>
      </p:sp>
      <p:sp>
        <p:nvSpPr>
          <p:cNvPr id="6" name="Text 4"/>
          <p:cNvSpPr/>
          <p:nvPr/>
        </p:nvSpPr>
        <p:spPr>
          <a:xfrm>
            <a:off x="3474720" y="1280160"/>
            <a:ext cx="2468880" cy="777240"/>
          </a:xfrm>
          <a:prstGeom prst="rect">
            <a:avLst/>
          </a:prstGeom>
          <a:solidFill>
            <a:srgbClr val="FFFFFF"/>
          </a:solidFill>
          <a:ln w="10160">
            <a:solidFill>
              <a:srgbClr val="D5DEE6"/>
            </a:solidFill>
          </a:ln>
        </p:spPr>
        <p:txBody>
          <a:bodyPr wrap="square" lIns="889" tIns="889" rIns="889" bIns="889" rtlCol="0" anchor="ctr">
            <a:normAutofit/>
          </a:bodyPr>
          <a:lstStyle/>
          <a:p>
            <a:pPr algn="l" indent="0" marL="0">
              <a:buNone/>
            </a:pPr>
            <a:r>
              <a:rPr lang="en-US" sz="780" dirty="0">
                <a:solidFill>
                  <a:srgbClr val="24313F"/>
                </a:solidFill>
                <a:latin typeface="Aptos" pitchFamily="34" charset="0"/>
                <a:ea typeface="Aptos" pitchFamily="34" charset="-122"/>
                <a:cs typeface="Aptos" pitchFamily="34" charset="-120"/>
              </a:rPr>
              <a:t>Isolation valves</a:t>
            </a:r>
            <a:endParaRPr lang="en-US" sz="780" dirty="0"/>
          </a:p>
          <a:p>
            <a:pPr algn="l" indent="0" marL="0">
              <a:buNone/>
            </a:pPr>
            <a:r>
              <a:rPr lang="en-US" sz="780" dirty="0">
                <a:solidFill>
                  <a:srgbClr val="24313F"/>
                </a:solidFill>
                <a:latin typeface="Aptos" pitchFamily="34" charset="0"/>
                <a:ea typeface="Aptos" pitchFamily="34" charset="-122"/>
                <a:cs typeface="Aptos" pitchFamily="34" charset="-120"/>
              </a:rPr>
              <a:t>Open/close sections without contaminating the process.</a:t>
            </a:r>
            <a:endParaRPr lang="en-US" sz="780" dirty="0"/>
          </a:p>
        </p:txBody>
      </p:sp>
      <p:sp>
        <p:nvSpPr>
          <p:cNvPr id="7" name="Text 5"/>
          <p:cNvSpPr/>
          <p:nvPr/>
        </p:nvSpPr>
        <p:spPr>
          <a:xfrm>
            <a:off x="6263640" y="1280160"/>
            <a:ext cx="2468880" cy="777240"/>
          </a:xfrm>
          <a:prstGeom prst="rect">
            <a:avLst/>
          </a:prstGeom>
          <a:solidFill>
            <a:srgbClr val="FFFFFF"/>
          </a:solidFill>
          <a:ln w="10160">
            <a:solidFill>
              <a:srgbClr val="D5DEE6"/>
            </a:solidFill>
          </a:ln>
        </p:spPr>
        <p:txBody>
          <a:bodyPr wrap="square" lIns="889" tIns="889" rIns="889" bIns="889" rtlCol="0" anchor="ctr">
            <a:normAutofit/>
          </a:bodyPr>
          <a:lstStyle/>
          <a:p>
            <a:pPr algn="l" indent="0" marL="0">
              <a:buNone/>
            </a:pPr>
            <a:r>
              <a:rPr lang="en-US" sz="780" dirty="0">
                <a:solidFill>
                  <a:srgbClr val="24313F"/>
                </a:solidFill>
                <a:latin typeface="Aptos" pitchFamily="34" charset="0"/>
                <a:ea typeface="Aptos" pitchFamily="34" charset="-122"/>
                <a:cs typeface="Aptos" pitchFamily="34" charset="-120"/>
              </a:rPr>
              <a:t>Transfer / gate valves</a:t>
            </a:r>
            <a:endParaRPr lang="en-US" sz="780" dirty="0"/>
          </a:p>
          <a:p>
            <a:pPr algn="l" indent="0" marL="0">
              <a:buNone/>
            </a:pPr>
            <a:r>
              <a:rPr lang="en-US" sz="780" dirty="0">
                <a:solidFill>
                  <a:srgbClr val="24313F"/>
                </a:solidFill>
                <a:latin typeface="Aptos" pitchFamily="34" charset="0"/>
                <a:ea typeface="Aptos" pitchFamily="34" charset="-122"/>
                <a:cs typeface="Aptos" pitchFamily="34" charset="-120"/>
              </a:rPr>
              <a:t>Move wafers between vacuum modules.</a:t>
            </a:r>
            <a:endParaRPr lang="en-US" sz="780" dirty="0"/>
          </a:p>
        </p:txBody>
      </p:sp>
      <p:sp>
        <p:nvSpPr>
          <p:cNvPr id="8" name="Text 6"/>
          <p:cNvSpPr/>
          <p:nvPr/>
        </p:nvSpPr>
        <p:spPr>
          <a:xfrm>
            <a:off x="9052560" y="1280160"/>
            <a:ext cx="2468880" cy="777240"/>
          </a:xfrm>
          <a:prstGeom prst="rect">
            <a:avLst/>
          </a:prstGeom>
          <a:solidFill>
            <a:srgbClr val="FFFFFF"/>
          </a:solidFill>
          <a:ln w="10160">
            <a:solidFill>
              <a:srgbClr val="D5DEE6"/>
            </a:solidFill>
          </a:ln>
        </p:spPr>
        <p:txBody>
          <a:bodyPr wrap="square" lIns="889" tIns="889" rIns="889" bIns="889" rtlCol="0" anchor="ctr">
            <a:normAutofit/>
          </a:bodyPr>
          <a:lstStyle/>
          <a:p>
            <a:pPr algn="l" indent="0" marL="0">
              <a:buNone/>
            </a:pPr>
            <a:r>
              <a:rPr lang="en-US" sz="780" dirty="0">
                <a:solidFill>
                  <a:srgbClr val="24313F"/>
                </a:solidFill>
                <a:latin typeface="Aptos" pitchFamily="34" charset="0"/>
                <a:ea typeface="Aptos" pitchFamily="34" charset="-122"/>
                <a:cs typeface="Aptos" pitchFamily="34" charset="-120"/>
              </a:rPr>
              <a:t>Gas-inlet valves</a:t>
            </a:r>
            <a:endParaRPr lang="en-US" sz="780" dirty="0"/>
          </a:p>
          <a:p>
            <a:pPr algn="l" indent="0" marL="0">
              <a:buNone/>
            </a:pPr>
            <a:r>
              <a:rPr lang="en-US" sz="780" dirty="0">
                <a:solidFill>
                  <a:srgbClr val="24313F"/>
                </a:solidFill>
                <a:latin typeface="Aptos" pitchFamily="34" charset="0"/>
                <a:ea typeface="Aptos" pitchFamily="34" charset="-122"/>
                <a:cs typeface="Aptos" pitchFamily="34" charset="-120"/>
              </a:rPr>
              <a:t>Meter process gases into chambers.</a:t>
            </a:r>
            <a:endParaRPr lang="en-US" sz="780" dirty="0"/>
          </a:p>
        </p:txBody>
      </p:sp>
      <p:sp>
        <p:nvSpPr>
          <p:cNvPr id="9" name="Text 7"/>
          <p:cNvSpPr/>
          <p:nvPr/>
        </p:nvSpPr>
        <p:spPr>
          <a:xfrm>
            <a:off x="685800" y="2286000"/>
            <a:ext cx="2468880" cy="777240"/>
          </a:xfrm>
          <a:prstGeom prst="rect">
            <a:avLst/>
          </a:prstGeom>
          <a:solidFill>
            <a:srgbClr val="EDF8F6"/>
          </a:solidFill>
          <a:ln w="10160">
            <a:solidFill>
              <a:srgbClr val="2A9D8F"/>
            </a:solidFill>
          </a:ln>
        </p:spPr>
        <p:txBody>
          <a:bodyPr wrap="square" lIns="889" tIns="889" rIns="889" bIns="889" rtlCol="0" anchor="ctr">
            <a:normAutofit/>
          </a:bodyPr>
          <a:lstStyle/>
          <a:p>
            <a:pPr algn="l" indent="0" marL="0">
              <a:buNone/>
            </a:pPr>
            <a:r>
              <a:rPr lang="en-US" sz="780" dirty="0">
                <a:solidFill>
                  <a:srgbClr val="24313F"/>
                </a:solidFill>
                <a:latin typeface="Aptos" pitchFamily="34" charset="0"/>
                <a:ea typeface="Aptos" pitchFamily="34" charset="-122"/>
                <a:cs typeface="Aptos" pitchFamily="34" charset="-120"/>
              </a:rPr>
              <a:t>Integrated modules</a:t>
            </a:r>
            <a:endParaRPr lang="en-US" sz="780" dirty="0"/>
          </a:p>
          <a:p>
            <a:pPr algn="l" indent="0" marL="0">
              <a:buNone/>
            </a:pPr>
            <a:r>
              <a:rPr lang="en-US" sz="780" dirty="0">
                <a:solidFill>
                  <a:srgbClr val="24313F"/>
                </a:solidFill>
                <a:latin typeface="Aptos" pitchFamily="34" charset="0"/>
                <a:ea typeface="Aptos" pitchFamily="34" charset="-122"/>
                <a:cs typeface="Aptos" pitchFamily="34" charset="-120"/>
              </a:rPr>
              <a:t>Combine valves, motion and sensors into customer-specific assemblies.</a:t>
            </a:r>
            <a:endParaRPr lang="en-US" sz="780" dirty="0"/>
          </a:p>
        </p:txBody>
      </p:sp>
      <p:sp>
        <p:nvSpPr>
          <p:cNvPr id="10" name="Text 8"/>
          <p:cNvSpPr/>
          <p:nvPr/>
        </p:nvSpPr>
        <p:spPr>
          <a:xfrm>
            <a:off x="3474720" y="2286000"/>
            <a:ext cx="2468880" cy="777240"/>
          </a:xfrm>
          <a:prstGeom prst="rect">
            <a:avLst/>
          </a:prstGeom>
          <a:solidFill>
            <a:srgbClr val="EDF8F6"/>
          </a:solidFill>
          <a:ln w="10160">
            <a:solidFill>
              <a:srgbClr val="2A9D8F"/>
            </a:solidFill>
          </a:ln>
        </p:spPr>
        <p:txBody>
          <a:bodyPr wrap="square" lIns="889" tIns="889" rIns="889" bIns="889" rtlCol="0" anchor="ctr">
            <a:normAutofit/>
          </a:bodyPr>
          <a:lstStyle/>
          <a:p>
            <a:pPr algn="l" indent="0" marL="0">
              <a:buNone/>
            </a:pPr>
            <a:r>
              <a:rPr lang="en-US" sz="780" dirty="0">
                <a:solidFill>
                  <a:srgbClr val="24313F"/>
                </a:solidFill>
                <a:latin typeface="Aptos" pitchFamily="34" charset="0"/>
                <a:ea typeface="Aptos" pitchFamily="34" charset="-122"/>
                <a:cs typeface="Aptos" pitchFamily="34" charset="-120"/>
              </a:rPr>
              <a:t>Motion components</a:t>
            </a:r>
            <a:endParaRPr lang="en-US" sz="780" dirty="0"/>
          </a:p>
          <a:p>
            <a:pPr algn="l" indent="0" marL="0">
              <a:buNone/>
            </a:pPr>
            <a:r>
              <a:rPr lang="en-US" sz="780" dirty="0">
                <a:solidFill>
                  <a:srgbClr val="24313F"/>
                </a:solidFill>
                <a:latin typeface="Aptos" pitchFamily="34" charset="0"/>
                <a:ea typeface="Aptos" pitchFamily="34" charset="-122"/>
                <a:cs typeface="Aptos" pitchFamily="34" charset="-120"/>
              </a:rPr>
              <a:t>Enable precise movement inside vacuum environments.</a:t>
            </a:r>
            <a:endParaRPr lang="en-US" sz="780" dirty="0"/>
          </a:p>
        </p:txBody>
      </p:sp>
      <p:sp>
        <p:nvSpPr>
          <p:cNvPr id="11" name="Text 9"/>
          <p:cNvSpPr/>
          <p:nvPr/>
        </p:nvSpPr>
        <p:spPr>
          <a:xfrm>
            <a:off x="6263640" y="2286000"/>
            <a:ext cx="2468880" cy="777240"/>
          </a:xfrm>
          <a:prstGeom prst="rect">
            <a:avLst/>
          </a:prstGeom>
          <a:solidFill>
            <a:srgbClr val="EDF8F6"/>
          </a:solidFill>
          <a:ln w="10160">
            <a:solidFill>
              <a:srgbClr val="2A9D8F"/>
            </a:solidFill>
          </a:ln>
        </p:spPr>
        <p:txBody>
          <a:bodyPr wrap="square" lIns="889" tIns="889" rIns="889" bIns="889" rtlCol="0" anchor="ctr">
            <a:normAutofit/>
          </a:bodyPr>
          <a:lstStyle/>
          <a:p>
            <a:pPr algn="l" indent="0" marL="0">
              <a:buNone/>
            </a:pPr>
            <a:r>
              <a:rPr lang="en-US" sz="780" dirty="0">
                <a:solidFill>
                  <a:srgbClr val="24313F"/>
                </a:solidFill>
                <a:latin typeface="Aptos" pitchFamily="34" charset="0"/>
                <a:ea typeface="Aptos" pitchFamily="34" charset="-122"/>
                <a:cs typeface="Aptos" pitchFamily="34" charset="-120"/>
              </a:rPr>
              <a:t>Services / spares</a:t>
            </a:r>
            <a:endParaRPr lang="en-US" sz="780" dirty="0"/>
          </a:p>
          <a:p>
            <a:pPr algn="l" indent="0" marL="0">
              <a:buNone/>
            </a:pPr>
            <a:r>
              <a:rPr lang="en-US" sz="780" dirty="0">
                <a:solidFill>
                  <a:srgbClr val="24313F"/>
                </a:solidFill>
                <a:latin typeface="Aptos" pitchFamily="34" charset="0"/>
                <a:ea typeface="Aptos" pitchFamily="34" charset="-122"/>
                <a:cs typeface="Aptos" pitchFamily="34" charset="-120"/>
              </a:rPr>
              <a:t>Repair, refurbish, replace and upgrade installed valves.</a:t>
            </a:r>
            <a:endParaRPr lang="en-US" sz="780" dirty="0"/>
          </a:p>
        </p:txBody>
      </p:sp>
      <p:sp>
        <p:nvSpPr>
          <p:cNvPr id="12" name="Text 10"/>
          <p:cNvSpPr/>
          <p:nvPr/>
        </p:nvSpPr>
        <p:spPr>
          <a:xfrm>
            <a:off x="9052560" y="2286000"/>
            <a:ext cx="2468880" cy="777240"/>
          </a:xfrm>
          <a:prstGeom prst="rect">
            <a:avLst/>
          </a:prstGeom>
          <a:solidFill>
            <a:srgbClr val="EDF8F6"/>
          </a:solidFill>
          <a:ln w="10160">
            <a:solidFill>
              <a:srgbClr val="2A9D8F"/>
            </a:solidFill>
          </a:ln>
        </p:spPr>
        <p:txBody>
          <a:bodyPr wrap="square" lIns="889" tIns="889" rIns="889" bIns="889" rtlCol="0" anchor="ctr">
            <a:normAutofit/>
          </a:bodyPr>
          <a:lstStyle/>
          <a:p>
            <a:pPr algn="l" indent="0" marL="0">
              <a:buNone/>
            </a:pPr>
            <a:r>
              <a:rPr lang="en-US" sz="780" dirty="0">
                <a:solidFill>
                  <a:srgbClr val="24313F"/>
                </a:solidFill>
                <a:latin typeface="Aptos" pitchFamily="34" charset="0"/>
                <a:ea typeface="Aptos" pitchFamily="34" charset="-122"/>
                <a:cs typeface="Aptos" pitchFamily="34" charset="-120"/>
              </a:rPr>
              <a:t>Consumables</a:t>
            </a:r>
            <a:endParaRPr lang="en-US" sz="780" dirty="0"/>
          </a:p>
          <a:p>
            <a:pPr algn="l" indent="0" marL="0">
              <a:buNone/>
            </a:pPr>
            <a:r>
              <a:rPr lang="en-US" sz="780" dirty="0">
                <a:solidFill>
                  <a:srgbClr val="24313F"/>
                </a:solidFill>
                <a:latin typeface="Aptos" pitchFamily="34" charset="0"/>
                <a:ea typeface="Aptos" pitchFamily="34" charset="-122"/>
                <a:cs typeface="Aptos" pitchFamily="34" charset="-120"/>
              </a:rPr>
              <a:t>Parts that wear with fab utilization.</a:t>
            </a:r>
            <a:endParaRPr lang="en-US" sz="780" dirty="0"/>
          </a:p>
        </p:txBody>
      </p:sp>
      <p:sp>
        <p:nvSpPr>
          <p:cNvPr id="13" name="Text 11"/>
          <p:cNvSpPr/>
          <p:nvPr/>
        </p:nvSpPr>
        <p:spPr>
          <a:xfrm>
            <a:off x="685800" y="4892040"/>
            <a:ext cx="10515600" cy="566928"/>
          </a:xfrm>
          <a:prstGeom prst="rect">
            <a:avLst/>
          </a:prstGeom>
          <a:solidFill>
            <a:srgbClr val="FFFFFF"/>
          </a:solidFill>
          <a:ln w="10160">
            <a:solidFill>
              <a:srgbClr val="D5DEE6"/>
            </a:solidFill>
          </a:ln>
        </p:spPr>
        <p:txBody>
          <a:bodyPr wrap="square" lIns="1016" tIns="1016" rIns="1016" bIns="1016" rtlCol="0" anchor="ctr">
            <a:normAutofit/>
          </a:bodyPr>
          <a:lstStyle/>
          <a:p>
            <a:pPr algn="l" indent="0" marL="0">
              <a:buNone/>
            </a:pPr>
            <a:r>
              <a:rPr lang="en-US" sz="900" dirty="0">
                <a:solidFill>
                  <a:srgbClr val="24313F"/>
                </a:solidFill>
                <a:latin typeface="Aptos" pitchFamily="34" charset="0"/>
                <a:ea typeface="Aptos" pitchFamily="34" charset="-122"/>
                <a:cs typeface="Aptos" pitchFamily="34" charset="-120"/>
              </a:rPr>
              <a:t>Specification wins are the leading indicator. VAT reported 150 spec wins in 2025, up 14%, with roughly 25% of H1 2026 spec wins from adjacencies.</a:t>
            </a:r>
            <a:endParaRPr lang="en-US" sz="900" dirty="0"/>
          </a:p>
        </p:txBody>
      </p:sp>
      <p:sp>
        <p:nvSpPr>
          <p:cNvPr id="14" name="Shape 12"/>
          <p:cNvSpPr/>
          <p:nvPr/>
        </p:nvSpPr>
        <p:spPr>
          <a:xfrm>
            <a:off x="411480" y="6510528"/>
            <a:ext cx="11384280" cy="0"/>
          </a:xfrm>
          <a:prstGeom prst="line">
            <a:avLst/>
          </a:prstGeom>
          <a:noFill/>
          <a:ln w="7620">
            <a:solidFill>
              <a:srgbClr val="D5DEE6"/>
            </a:solidFill>
            <a:prstDash val="solid"/>
          </a:ln>
        </p:spPr>
      </p:sp>
      <p:sp>
        <p:nvSpPr>
          <p:cNvPr id="15" name="Text 13"/>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VAT FY2025 results presentation; VAT H1 2026 report; analyst interpretation.</a:t>
            </a:r>
            <a:endParaRPr lang="en-US" sz="580" dirty="0"/>
          </a:p>
        </p:txBody>
      </p:sp>
      <p:sp>
        <p:nvSpPr>
          <p:cNvPr id="16" name="Text 14"/>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15</a:t>
            </a:r>
            <a:endParaRPr lang="en-US" sz="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A6. Customer exposure is concentrated by design, but qualification embeds VAT in OEM roadmaps</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The relevant customers are equipment OEMs; the ultimate demand is foundry and memory fab capex.</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Text 3"/>
          <p:cNvSpPr/>
          <p:nvPr/>
        </p:nvSpPr>
        <p:spPr>
          <a:xfrm>
            <a:off x="685800" y="1325880"/>
            <a:ext cx="5074920" cy="1143000"/>
          </a:xfrm>
          <a:prstGeom prst="rect">
            <a:avLst/>
          </a:prstGeom>
          <a:solidFill>
            <a:srgbClr val="FFFFFF"/>
          </a:solidFill>
          <a:ln w="10160">
            <a:solidFill>
              <a:srgbClr val="D5DEE6"/>
            </a:solidFill>
          </a:ln>
        </p:spPr>
        <p:txBody>
          <a:bodyPr wrap="square" lIns="1270" tIns="1270" rIns="1270" bIns="1270" rtlCol="0" anchor="ctr">
            <a:normAutofit/>
          </a:bodyPr>
          <a:lstStyle/>
          <a:p>
            <a:pPr algn="l" indent="0" marL="0">
              <a:buNone/>
            </a:pPr>
            <a:r>
              <a:rPr lang="en-US" sz="900" dirty="0">
                <a:solidFill>
                  <a:srgbClr val="24313F"/>
                </a:solidFill>
                <a:latin typeface="Aptos" pitchFamily="34" charset="0"/>
                <a:ea typeface="Aptos" pitchFamily="34" charset="-122"/>
                <a:cs typeface="Aptos" pitchFamily="34" charset="-120"/>
              </a:rPr>
              <a:t>Direct customers</a:t>
            </a:r>
            <a:endParaRPr lang="en-US" sz="900" dirty="0"/>
          </a:p>
          <a:p>
            <a:pPr algn="l" indent="0" marL="0">
              <a:buNone/>
            </a:pPr>
            <a:r>
              <a:rPr lang="en-US" sz="900" dirty="0">
                <a:solidFill>
                  <a:srgbClr val="24313F"/>
                </a:solidFill>
                <a:latin typeface="Aptos" pitchFamily="34" charset="0"/>
                <a:ea typeface="Aptos" pitchFamily="34" charset="-122"/>
                <a:cs typeface="Aptos" pitchFamily="34" charset="-120"/>
              </a:rPr>
              <a:t>Tool OEMs: ASML, Applied Materials, Lam Research, Tokyo Electron, KLA and other vacuum tool suppliers. VAT generally sells into tool platforms, not directly to Nvidia or hyperscalers.</a:t>
            </a:r>
            <a:endParaRPr lang="en-US" sz="900" dirty="0"/>
          </a:p>
        </p:txBody>
      </p:sp>
      <p:sp>
        <p:nvSpPr>
          <p:cNvPr id="6" name="Text 4"/>
          <p:cNvSpPr/>
          <p:nvPr/>
        </p:nvSpPr>
        <p:spPr>
          <a:xfrm>
            <a:off x="6172200" y="1325880"/>
            <a:ext cx="5074920" cy="1143000"/>
          </a:xfrm>
          <a:prstGeom prst="rect">
            <a:avLst/>
          </a:prstGeom>
          <a:solidFill>
            <a:srgbClr val="FFFFFF"/>
          </a:solidFill>
          <a:ln w="10160">
            <a:solidFill>
              <a:srgbClr val="D5DEE6"/>
            </a:solidFill>
          </a:ln>
        </p:spPr>
        <p:txBody>
          <a:bodyPr wrap="square" lIns="1270" tIns="1270" rIns="1270" bIns="1270" rtlCol="0" anchor="ctr">
            <a:normAutofit/>
          </a:bodyPr>
          <a:lstStyle/>
          <a:p>
            <a:pPr algn="l" indent="0" marL="0">
              <a:buNone/>
            </a:pPr>
            <a:r>
              <a:rPr lang="en-US" sz="900" dirty="0">
                <a:solidFill>
                  <a:srgbClr val="24313F"/>
                </a:solidFill>
                <a:latin typeface="Aptos" pitchFamily="34" charset="0"/>
                <a:ea typeface="Aptos" pitchFamily="34" charset="-122"/>
                <a:cs typeface="Aptos" pitchFamily="34" charset="-120"/>
              </a:rPr>
              <a:t>Ultimate customers</a:t>
            </a:r>
            <a:endParaRPr lang="en-US" sz="900" dirty="0"/>
          </a:p>
          <a:p>
            <a:pPr algn="l" indent="0" marL="0">
              <a:buNone/>
            </a:pPr>
            <a:r>
              <a:rPr lang="en-US" sz="900" dirty="0">
                <a:solidFill>
                  <a:srgbClr val="24313F"/>
                </a:solidFill>
                <a:latin typeface="Aptos" pitchFamily="34" charset="0"/>
                <a:ea typeface="Aptos" pitchFamily="34" charset="-122"/>
                <a:cs typeface="Aptos" pitchFamily="34" charset="-120"/>
              </a:rPr>
              <a:t>Fabs and memory makers: TSMC, Samsung, Intel, Micron, SK Hynix and Chinese domestic fabs. Their capex plans drive WFE, tool orders and VAT order intake.</a:t>
            </a:r>
            <a:endParaRPr lang="en-US" sz="900" dirty="0"/>
          </a:p>
        </p:txBody>
      </p:sp>
      <p:sp>
        <p:nvSpPr>
          <p:cNvPr id="7" name="Shape 5"/>
          <p:cNvSpPr/>
          <p:nvPr/>
        </p:nvSpPr>
        <p:spPr>
          <a:xfrm>
            <a:off x="777240" y="4754880"/>
            <a:ext cx="3200400" cy="0"/>
          </a:xfrm>
          <a:prstGeom prst="line">
            <a:avLst/>
          </a:prstGeom>
          <a:noFill/>
          <a:ln w="10160">
            <a:solidFill>
              <a:srgbClr val="D5DEE6"/>
            </a:solidFill>
            <a:prstDash val="solid"/>
          </a:ln>
        </p:spPr>
      </p:sp>
      <p:sp>
        <p:nvSpPr>
          <p:cNvPr id="8" name="Shape 6"/>
          <p:cNvSpPr/>
          <p:nvPr/>
        </p:nvSpPr>
        <p:spPr>
          <a:xfrm>
            <a:off x="777240" y="3670173"/>
            <a:ext cx="1005840" cy="1084707"/>
          </a:xfrm>
          <a:prstGeom prst="rect">
            <a:avLst/>
          </a:prstGeom>
          <a:solidFill>
            <a:srgbClr val="2A9D8F"/>
          </a:solidFill>
          <a:ln w="2540">
            <a:solidFill>
              <a:srgbClr val="2A9D8F"/>
            </a:solidFill>
            <a:prstDash val="solid"/>
          </a:ln>
        </p:spPr>
      </p:sp>
      <p:sp>
        <p:nvSpPr>
          <p:cNvPr id="9" name="Shape 7"/>
          <p:cNvSpPr/>
          <p:nvPr/>
        </p:nvSpPr>
        <p:spPr>
          <a:xfrm>
            <a:off x="1874520" y="4531995"/>
            <a:ext cx="1005840" cy="222885"/>
          </a:xfrm>
          <a:prstGeom prst="rect">
            <a:avLst/>
          </a:prstGeom>
          <a:solidFill>
            <a:srgbClr val="3B6EA5"/>
          </a:solidFill>
          <a:ln w="2540">
            <a:solidFill>
              <a:srgbClr val="3B6EA5"/>
            </a:solidFill>
            <a:prstDash val="solid"/>
          </a:ln>
        </p:spPr>
      </p:sp>
      <p:sp>
        <p:nvSpPr>
          <p:cNvPr id="10" name="Shape 8"/>
          <p:cNvSpPr/>
          <p:nvPr/>
        </p:nvSpPr>
        <p:spPr>
          <a:xfrm>
            <a:off x="2971800" y="4576572"/>
            <a:ext cx="1005840" cy="178308"/>
          </a:xfrm>
          <a:prstGeom prst="rect">
            <a:avLst/>
          </a:prstGeom>
          <a:solidFill>
            <a:srgbClr val="64748B"/>
          </a:solidFill>
          <a:ln w="2540">
            <a:solidFill>
              <a:srgbClr val="64748B"/>
            </a:solidFill>
            <a:prstDash val="solid"/>
          </a:ln>
        </p:spPr>
      </p:sp>
      <p:sp>
        <p:nvSpPr>
          <p:cNvPr id="11" name="Text 9"/>
          <p:cNvSpPr/>
          <p:nvPr/>
        </p:nvSpPr>
        <p:spPr>
          <a:xfrm>
            <a:off x="777240" y="3310128"/>
            <a:ext cx="3200400" cy="182880"/>
          </a:xfrm>
          <a:prstGeom prst="rect">
            <a:avLst/>
          </a:prstGeom>
          <a:noFill/>
          <a:ln/>
        </p:spPr>
        <p:txBody>
          <a:bodyPr wrap="square" lIns="0" tIns="0" rIns="0" bIns="0" rtlCol="0" anchor="ctr">
            <a:normAutofit/>
          </a:bodyPr>
          <a:lstStyle/>
          <a:p>
            <a:pPr indent="0" marL="0">
              <a:buNone/>
            </a:pPr>
            <a:r>
              <a:rPr lang="en-US" sz="750" b="1" dirty="0">
                <a:solidFill>
                  <a:srgbClr val="12202F"/>
                </a:solidFill>
              </a:rPr>
              <a:t>2025 region mix (% sales)</a:t>
            </a:r>
            <a:endParaRPr lang="en-US" sz="750" dirty="0"/>
          </a:p>
        </p:txBody>
      </p:sp>
      <p:sp>
        <p:nvSpPr>
          <p:cNvPr id="12" name="Text 10"/>
          <p:cNvSpPr/>
          <p:nvPr/>
        </p:nvSpPr>
        <p:spPr>
          <a:xfrm>
            <a:off x="758952" y="4800600"/>
            <a:ext cx="104241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APAC</a:t>
            </a:r>
            <a:endParaRPr lang="en-US" sz="540" dirty="0"/>
          </a:p>
        </p:txBody>
      </p:sp>
      <p:sp>
        <p:nvSpPr>
          <p:cNvPr id="13" name="Text 11"/>
          <p:cNvSpPr/>
          <p:nvPr/>
        </p:nvSpPr>
        <p:spPr>
          <a:xfrm>
            <a:off x="1856232" y="4800600"/>
            <a:ext cx="104241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Americas</a:t>
            </a:r>
            <a:endParaRPr lang="en-US" sz="540" dirty="0"/>
          </a:p>
        </p:txBody>
      </p:sp>
      <p:sp>
        <p:nvSpPr>
          <p:cNvPr id="14" name="Text 12"/>
          <p:cNvSpPr/>
          <p:nvPr/>
        </p:nvSpPr>
        <p:spPr>
          <a:xfrm>
            <a:off x="2953512" y="4800600"/>
            <a:ext cx="104241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EMEA</a:t>
            </a:r>
            <a:endParaRPr lang="en-US" sz="540" dirty="0"/>
          </a:p>
        </p:txBody>
      </p:sp>
      <p:sp>
        <p:nvSpPr>
          <p:cNvPr id="15" name="Shape 13"/>
          <p:cNvSpPr/>
          <p:nvPr/>
        </p:nvSpPr>
        <p:spPr>
          <a:xfrm>
            <a:off x="4526280" y="4754880"/>
            <a:ext cx="3200400" cy="0"/>
          </a:xfrm>
          <a:prstGeom prst="line">
            <a:avLst/>
          </a:prstGeom>
          <a:noFill/>
          <a:ln w="10160">
            <a:solidFill>
              <a:srgbClr val="D5DEE6"/>
            </a:solidFill>
            <a:prstDash val="solid"/>
          </a:ln>
        </p:spPr>
      </p:sp>
      <p:sp>
        <p:nvSpPr>
          <p:cNvPr id="16" name="Shape 14"/>
          <p:cNvSpPr/>
          <p:nvPr/>
        </p:nvSpPr>
        <p:spPr>
          <a:xfrm>
            <a:off x="4526280" y="3759327"/>
            <a:ext cx="1005840" cy="995553"/>
          </a:xfrm>
          <a:prstGeom prst="rect">
            <a:avLst/>
          </a:prstGeom>
          <a:solidFill>
            <a:srgbClr val="2A9D8F"/>
          </a:solidFill>
          <a:ln w="2540">
            <a:solidFill>
              <a:srgbClr val="2A9D8F"/>
            </a:solidFill>
            <a:prstDash val="solid"/>
          </a:ln>
        </p:spPr>
      </p:sp>
      <p:sp>
        <p:nvSpPr>
          <p:cNvPr id="17" name="Shape 15"/>
          <p:cNvSpPr/>
          <p:nvPr/>
        </p:nvSpPr>
        <p:spPr>
          <a:xfrm>
            <a:off x="5623560" y="4472559"/>
            <a:ext cx="1005840" cy="282321"/>
          </a:xfrm>
          <a:prstGeom prst="rect">
            <a:avLst/>
          </a:prstGeom>
          <a:solidFill>
            <a:srgbClr val="3B6EA5"/>
          </a:solidFill>
          <a:ln w="2540">
            <a:solidFill>
              <a:srgbClr val="3B6EA5"/>
            </a:solidFill>
            <a:prstDash val="solid"/>
          </a:ln>
        </p:spPr>
      </p:sp>
      <p:sp>
        <p:nvSpPr>
          <p:cNvPr id="18" name="Shape 16"/>
          <p:cNvSpPr/>
          <p:nvPr/>
        </p:nvSpPr>
        <p:spPr>
          <a:xfrm>
            <a:off x="6720840" y="4546854"/>
            <a:ext cx="1005840" cy="208026"/>
          </a:xfrm>
          <a:prstGeom prst="rect">
            <a:avLst/>
          </a:prstGeom>
          <a:solidFill>
            <a:srgbClr val="64748B"/>
          </a:solidFill>
          <a:ln w="2540">
            <a:solidFill>
              <a:srgbClr val="64748B"/>
            </a:solidFill>
            <a:prstDash val="solid"/>
          </a:ln>
        </p:spPr>
      </p:sp>
      <p:sp>
        <p:nvSpPr>
          <p:cNvPr id="19" name="Text 17"/>
          <p:cNvSpPr/>
          <p:nvPr/>
        </p:nvSpPr>
        <p:spPr>
          <a:xfrm>
            <a:off x="4526280" y="3310128"/>
            <a:ext cx="3200400" cy="182880"/>
          </a:xfrm>
          <a:prstGeom prst="rect">
            <a:avLst/>
          </a:prstGeom>
          <a:noFill/>
          <a:ln/>
        </p:spPr>
        <p:txBody>
          <a:bodyPr wrap="square" lIns="0" tIns="0" rIns="0" bIns="0" rtlCol="0" anchor="ctr">
            <a:normAutofit/>
          </a:bodyPr>
          <a:lstStyle/>
          <a:p>
            <a:pPr indent="0" marL="0">
              <a:buNone/>
            </a:pPr>
            <a:r>
              <a:rPr lang="en-US" sz="750" b="1" dirty="0">
                <a:solidFill>
                  <a:srgbClr val="12202F"/>
                </a:solidFill>
              </a:rPr>
              <a:t>2025 market mix (% sales)</a:t>
            </a:r>
            <a:endParaRPr lang="en-US" sz="750" dirty="0"/>
          </a:p>
        </p:txBody>
      </p:sp>
      <p:sp>
        <p:nvSpPr>
          <p:cNvPr id="20" name="Text 18"/>
          <p:cNvSpPr/>
          <p:nvPr/>
        </p:nvSpPr>
        <p:spPr>
          <a:xfrm>
            <a:off x="4507992" y="4800600"/>
            <a:ext cx="104241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Semi</a:t>
            </a:r>
            <a:endParaRPr lang="en-US" sz="540" dirty="0"/>
          </a:p>
        </p:txBody>
      </p:sp>
      <p:sp>
        <p:nvSpPr>
          <p:cNvPr id="21" name="Text 19"/>
          <p:cNvSpPr/>
          <p:nvPr/>
        </p:nvSpPr>
        <p:spPr>
          <a:xfrm>
            <a:off x="5605272" y="4800600"/>
            <a:ext cx="104241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Service</a:t>
            </a:r>
            <a:endParaRPr lang="en-US" sz="540" dirty="0"/>
          </a:p>
        </p:txBody>
      </p:sp>
      <p:sp>
        <p:nvSpPr>
          <p:cNvPr id="22" name="Text 20"/>
          <p:cNvSpPr/>
          <p:nvPr/>
        </p:nvSpPr>
        <p:spPr>
          <a:xfrm>
            <a:off x="6702552" y="4800600"/>
            <a:ext cx="104241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Adv.</a:t>
            </a:r>
            <a:endParaRPr lang="en-US" sz="540" dirty="0"/>
          </a:p>
          <a:p>
            <a:pPr algn="ctr" indent="0" marL="0">
              <a:buNone/>
            </a:pPr>
            <a:r>
              <a:rPr lang="en-US" sz="540" dirty="0">
                <a:solidFill>
                  <a:srgbClr val="64748B"/>
                </a:solidFill>
              </a:rPr>
              <a:t>Ind.</a:t>
            </a:r>
            <a:endParaRPr lang="en-US" sz="540" dirty="0"/>
          </a:p>
        </p:txBody>
      </p:sp>
      <p:sp>
        <p:nvSpPr>
          <p:cNvPr id="23" name="Shape 21"/>
          <p:cNvSpPr/>
          <p:nvPr/>
        </p:nvSpPr>
        <p:spPr>
          <a:xfrm>
            <a:off x="8275320" y="4754880"/>
            <a:ext cx="2286000" cy="0"/>
          </a:xfrm>
          <a:prstGeom prst="line">
            <a:avLst/>
          </a:prstGeom>
          <a:noFill/>
          <a:ln w="10160">
            <a:solidFill>
              <a:srgbClr val="D5DEE6"/>
            </a:solidFill>
            <a:prstDash val="solid"/>
          </a:ln>
        </p:spPr>
      </p:sp>
      <p:sp>
        <p:nvSpPr>
          <p:cNvPr id="24" name="Shape 22"/>
          <p:cNvSpPr/>
          <p:nvPr/>
        </p:nvSpPr>
        <p:spPr>
          <a:xfrm>
            <a:off x="8275320" y="3803904"/>
            <a:ext cx="1097280" cy="950976"/>
          </a:xfrm>
          <a:prstGeom prst="rect">
            <a:avLst/>
          </a:prstGeom>
          <a:solidFill>
            <a:srgbClr val="C27C2C"/>
          </a:solidFill>
          <a:ln w="2540">
            <a:solidFill>
              <a:srgbClr val="C27C2C"/>
            </a:solidFill>
            <a:prstDash val="solid"/>
          </a:ln>
        </p:spPr>
      </p:sp>
      <p:sp>
        <p:nvSpPr>
          <p:cNvPr id="25" name="Shape 23"/>
          <p:cNvSpPr/>
          <p:nvPr/>
        </p:nvSpPr>
        <p:spPr>
          <a:xfrm>
            <a:off x="9464040" y="3922776"/>
            <a:ext cx="1097280" cy="832104"/>
          </a:xfrm>
          <a:prstGeom prst="rect">
            <a:avLst/>
          </a:prstGeom>
          <a:solidFill>
            <a:srgbClr val="C27C2C"/>
          </a:solidFill>
          <a:ln w="2540">
            <a:solidFill>
              <a:srgbClr val="C27C2C"/>
            </a:solidFill>
            <a:prstDash val="solid"/>
          </a:ln>
        </p:spPr>
      </p:sp>
      <p:sp>
        <p:nvSpPr>
          <p:cNvPr id="26" name="Text 24"/>
          <p:cNvSpPr/>
          <p:nvPr/>
        </p:nvSpPr>
        <p:spPr>
          <a:xfrm>
            <a:off x="8275320" y="3310128"/>
            <a:ext cx="2286000" cy="182880"/>
          </a:xfrm>
          <a:prstGeom prst="rect">
            <a:avLst/>
          </a:prstGeom>
          <a:noFill/>
          <a:ln/>
        </p:spPr>
        <p:txBody>
          <a:bodyPr wrap="square" lIns="0" tIns="0" rIns="0" bIns="0" rtlCol="0" anchor="ctr">
            <a:normAutofit/>
          </a:bodyPr>
          <a:lstStyle/>
          <a:p>
            <a:pPr indent="0" marL="0">
              <a:buNone/>
            </a:pPr>
            <a:r>
              <a:rPr lang="en-US" sz="750" b="1" dirty="0">
                <a:solidFill>
                  <a:srgbClr val="12202F"/>
                </a:solidFill>
              </a:rPr>
              <a:t>China exposure (% sales)</a:t>
            </a:r>
            <a:endParaRPr lang="en-US" sz="750" dirty="0"/>
          </a:p>
        </p:txBody>
      </p:sp>
      <p:sp>
        <p:nvSpPr>
          <p:cNvPr id="27" name="Text 25"/>
          <p:cNvSpPr/>
          <p:nvPr/>
        </p:nvSpPr>
        <p:spPr>
          <a:xfrm>
            <a:off x="8257032" y="4800600"/>
            <a:ext cx="113385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China</a:t>
            </a:r>
            <a:endParaRPr lang="en-US" sz="540" dirty="0"/>
          </a:p>
          <a:p>
            <a:pPr algn="ctr" indent="0" marL="0">
              <a:buNone/>
            </a:pPr>
            <a:r>
              <a:rPr lang="en-US" sz="540" dirty="0">
                <a:solidFill>
                  <a:srgbClr val="64748B"/>
                </a:solidFill>
              </a:rPr>
              <a:t>25</a:t>
            </a:r>
            <a:endParaRPr lang="en-US" sz="540" dirty="0"/>
          </a:p>
        </p:txBody>
      </p:sp>
      <p:sp>
        <p:nvSpPr>
          <p:cNvPr id="28" name="Text 26"/>
          <p:cNvSpPr/>
          <p:nvPr/>
        </p:nvSpPr>
        <p:spPr>
          <a:xfrm>
            <a:off x="9445752" y="4800600"/>
            <a:ext cx="113385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China</a:t>
            </a:r>
            <a:endParaRPr lang="en-US" sz="540" dirty="0"/>
          </a:p>
          <a:p>
            <a:pPr algn="ctr" indent="0" marL="0">
              <a:buNone/>
            </a:pPr>
            <a:r>
              <a:rPr lang="en-US" sz="540" dirty="0">
                <a:solidFill>
                  <a:srgbClr val="64748B"/>
                </a:solidFill>
              </a:rPr>
              <a:t>H1 26</a:t>
            </a:r>
            <a:endParaRPr lang="en-US" sz="540" dirty="0"/>
          </a:p>
        </p:txBody>
      </p:sp>
      <p:sp>
        <p:nvSpPr>
          <p:cNvPr id="29" name="Shape 27"/>
          <p:cNvSpPr/>
          <p:nvPr/>
        </p:nvSpPr>
        <p:spPr>
          <a:xfrm>
            <a:off x="411480" y="6510528"/>
            <a:ext cx="11384280" cy="0"/>
          </a:xfrm>
          <a:prstGeom prst="line">
            <a:avLst/>
          </a:prstGeom>
          <a:noFill/>
          <a:ln w="7620">
            <a:solidFill>
              <a:srgbClr val="D5DEE6"/>
            </a:solidFill>
            <a:prstDash val="solid"/>
          </a:ln>
        </p:spPr>
      </p:sp>
      <p:sp>
        <p:nvSpPr>
          <p:cNvPr id="30" name="Text 28"/>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VAT FY2025 results presentation; VAT H1 2026 report. Customer names are selected industry examples.</a:t>
            </a:r>
            <a:endParaRPr lang="en-US" sz="580" dirty="0"/>
          </a:p>
        </p:txBody>
      </p:sp>
      <p:sp>
        <p:nvSpPr>
          <p:cNvPr id="31" name="Text 29"/>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16</a:t>
            </a:r>
            <a:endParaRPr lang="en-US" sz="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A7. Competitor landscape: VAT is structurally larger than the next seven competitors combined</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The market is fragmented below VAT; this supports pricing discipline and specification continuity.</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Shape 3"/>
          <p:cNvSpPr/>
          <p:nvPr/>
        </p:nvSpPr>
        <p:spPr>
          <a:xfrm>
            <a:off x="640080" y="4572000"/>
            <a:ext cx="10607040" cy="0"/>
          </a:xfrm>
          <a:prstGeom prst="line">
            <a:avLst/>
          </a:prstGeom>
          <a:noFill/>
          <a:ln w="10160">
            <a:solidFill>
              <a:srgbClr val="D5DEE6"/>
            </a:solidFill>
            <a:prstDash val="solid"/>
          </a:ln>
        </p:spPr>
      </p:sp>
      <p:sp>
        <p:nvSpPr>
          <p:cNvPr id="6" name="Shape 4"/>
          <p:cNvSpPr/>
          <p:nvPr/>
        </p:nvSpPr>
        <p:spPr>
          <a:xfrm>
            <a:off x="640080" y="1672133"/>
            <a:ext cx="978408" cy="2899867"/>
          </a:xfrm>
          <a:prstGeom prst="rect">
            <a:avLst/>
          </a:prstGeom>
          <a:solidFill>
            <a:srgbClr val="2A9D8F"/>
          </a:solidFill>
          <a:ln w="2540">
            <a:solidFill>
              <a:srgbClr val="2A9D8F"/>
            </a:solidFill>
            <a:prstDash val="solid"/>
          </a:ln>
        </p:spPr>
      </p:sp>
      <p:sp>
        <p:nvSpPr>
          <p:cNvPr id="7" name="Shape 5"/>
          <p:cNvSpPr/>
          <p:nvPr/>
        </p:nvSpPr>
        <p:spPr>
          <a:xfrm>
            <a:off x="1709928" y="4326941"/>
            <a:ext cx="978408" cy="245059"/>
          </a:xfrm>
          <a:prstGeom prst="rect">
            <a:avLst/>
          </a:prstGeom>
          <a:solidFill>
            <a:srgbClr val="64748B"/>
          </a:solidFill>
          <a:ln w="2540">
            <a:solidFill>
              <a:srgbClr val="64748B"/>
            </a:solidFill>
            <a:prstDash val="solid"/>
          </a:ln>
        </p:spPr>
      </p:sp>
      <p:sp>
        <p:nvSpPr>
          <p:cNvPr id="8" name="Shape 6"/>
          <p:cNvSpPr/>
          <p:nvPr/>
        </p:nvSpPr>
        <p:spPr>
          <a:xfrm>
            <a:off x="2779776" y="4326941"/>
            <a:ext cx="978408" cy="245059"/>
          </a:xfrm>
          <a:prstGeom prst="rect">
            <a:avLst/>
          </a:prstGeom>
          <a:solidFill>
            <a:srgbClr val="64748B"/>
          </a:solidFill>
          <a:ln w="2540">
            <a:solidFill>
              <a:srgbClr val="64748B"/>
            </a:solidFill>
            <a:prstDash val="solid"/>
          </a:ln>
        </p:spPr>
      </p:sp>
      <p:sp>
        <p:nvSpPr>
          <p:cNvPr id="9" name="Shape 7"/>
          <p:cNvSpPr/>
          <p:nvPr/>
        </p:nvSpPr>
        <p:spPr>
          <a:xfrm>
            <a:off x="3849624" y="4449470"/>
            <a:ext cx="978408" cy="122530"/>
          </a:xfrm>
          <a:prstGeom prst="rect">
            <a:avLst/>
          </a:prstGeom>
          <a:solidFill>
            <a:srgbClr val="64748B"/>
          </a:solidFill>
          <a:ln w="2540">
            <a:solidFill>
              <a:srgbClr val="64748B"/>
            </a:solidFill>
            <a:prstDash val="solid"/>
          </a:ln>
        </p:spPr>
      </p:sp>
      <p:sp>
        <p:nvSpPr>
          <p:cNvPr id="10" name="Shape 8"/>
          <p:cNvSpPr/>
          <p:nvPr/>
        </p:nvSpPr>
        <p:spPr>
          <a:xfrm>
            <a:off x="4919472" y="4449470"/>
            <a:ext cx="978408" cy="122530"/>
          </a:xfrm>
          <a:prstGeom prst="rect">
            <a:avLst/>
          </a:prstGeom>
          <a:solidFill>
            <a:srgbClr val="64748B"/>
          </a:solidFill>
          <a:ln w="2540">
            <a:solidFill>
              <a:srgbClr val="64748B"/>
            </a:solidFill>
            <a:prstDash val="solid"/>
          </a:ln>
        </p:spPr>
      </p:sp>
      <p:sp>
        <p:nvSpPr>
          <p:cNvPr id="11" name="Shape 9"/>
          <p:cNvSpPr/>
          <p:nvPr/>
        </p:nvSpPr>
        <p:spPr>
          <a:xfrm>
            <a:off x="5989320" y="4490314"/>
            <a:ext cx="978408" cy="81686"/>
          </a:xfrm>
          <a:prstGeom prst="rect">
            <a:avLst/>
          </a:prstGeom>
          <a:solidFill>
            <a:srgbClr val="64748B"/>
          </a:solidFill>
          <a:ln w="2540">
            <a:solidFill>
              <a:srgbClr val="64748B"/>
            </a:solidFill>
            <a:prstDash val="solid"/>
          </a:ln>
        </p:spPr>
      </p:sp>
      <p:sp>
        <p:nvSpPr>
          <p:cNvPr id="12" name="Shape 10"/>
          <p:cNvSpPr/>
          <p:nvPr/>
        </p:nvSpPr>
        <p:spPr>
          <a:xfrm>
            <a:off x="7059168" y="4490314"/>
            <a:ext cx="978408" cy="81686"/>
          </a:xfrm>
          <a:prstGeom prst="rect">
            <a:avLst/>
          </a:prstGeom>
          <a:solidFill>
            <a:srgbClr val="64748B"/>
          </a:solidFill>
          <a:ln w="2540">
            <a:solidFill>
              <a:srgbClr val="64748B"/>
            </a:solidFill>
            <a:prstDash val="solid"/>
          </a:ln>
        </p:spPr>
      </p:sp>
      <p:sp>
        <p:nvSpPr>
          <p:cNvPr id="13" name="Shape 11"/>
          <p:cNvSpPr/>
          <p:nvPr/>
        </p:nvSpPr>
        <p:spPr>
          <a:xfrm>
            <a:off x="8129016" y="4490314"/>
            <a:ext cx="978408" cy="81686"/>
          </a:xfrm>
          <a:prstGeom prst="rect">
            <a:avLst/>
          </a:prstGeom>
          <a:solidFill>
            <a:srgbClr val="64748B"/>
          </a:solidFill>
          <a:ln w="2540">
            <a:solidFill>
              <a:srgbClr val="64748B"/>
            </a:solidFill>
            <a:prstDash val="solid"/>
          </a:ln>
        </p:spPr>
      </p:sp>
      <p:sp>
        <p:nvSpPr>
          <p:cNvPr id="14" name="Shape 12"/>
          <p:cNvSpPr/>
          <p:nvPr/>
        </p:nvSpPr>
        <p:spPr>
          <a:xfrm>
            <a:off x="9198864" y="4531157"/>
            <a:ext cx="978408" cy="40843"/>
          </a:xfrm>
          <a:prstGeom prst="rect">
            <a:avLst/>
          </a:prstGeom>
          <a:solidFill>
            <a:srgbClr val="64748B"/>
          </a:solidFill>
          <a:ln w="2540">
            <a:solidFill>
              <a:srgbClr val="64748B"/>
            </a:solidFill>
            <a:prstDash val="solid"/>
          </a:ln>
        </p:spPr>
      </p:sp>
      <p:sp>
        <p:nvSpPr>
          <p:cNvPr id="15" name="Shape 13"/>
          <p:cNvSpPr/>
          <p:nvPr/>
        </p:nvSpPr>
        <p:spPr>
          <a:xfrm>
            <a:off x="10268712" y="4326941"/>
            <a:ext cx="978408" cy="245059"/>
          </a:xfrm>
          <a:prstGeom prst="rect">
            <a:avLst/>
          </a:prstGeom>
          <a:solidFill>
            <a:srgbClr val="64748B"/>
          </a:solidFill>
          <a:ln w="2540">
            <a:solidFill>
              <a:srgbClr val="64748B"/>
            </a:solidFill>
            <a:prstDash val="solid"/>
          </a:ln>
        </p:spPr>
      </p:sp>
      <p:sp>
        <p:nvSpPr>
          <p:cNvPr id="16" name="Text 14"/>
          <p:cNvSpPr/>
          <p:nvPr/>
        </p:nvSpPr>
        <p:spPr>
          <a:xfrm>
            <a:off x="640080" y="1252728"/>
            <a:ext cx="10607040" cy="182880"/>
          </a:xfrm>
          <a:prstGeom prst="rect">
            <a:avLst/>
          </a:prstGeom>
          <a:noFill/>
          <a:ln/>
        </p:spPr>
        <p:txBody>
          <a:bodyPr wrap="square" lIns="0" tIns="0" rIns="0" bIns="0" rtlCol="0" anchor="ctr">
            <a:normAutofit/>
          </a:bodyPr>
          <a:lstStyle/>
          <a:p>
            <a:pPr indent="0" marL="0">
              <a:buNone/>
            </a:pPr>
            <a:r>
              <a:rPr lang="en-US" sz="750" b="1" dirty="0">
                <a:solidFill>
                  <a:srgbClr val="12202F"/>
                </a:solidFill>
              </a:rPr>
              <a:t>Semi-related vacuum valve market share, 2025 (%)</a:t>
            </a:r>
            <a:endParaRPr lang="en-US" sz="750" dirty="0"/>
          </a:p>
        </p:txBody>
      </p:sp>
      <p:sp>
        <p:nvSpPr>
          <p:cNvPr id="17" name="Text 15"/>
          <p:cNvSpPr/>
          <p:nvPr/>
        </p:nvSpPr>
        <p:spPr>
          <a:xfrm rot="2100000">
            <a:off x="621792" y="4617720"/>
            <a:ext cx="1014984"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VAT</a:t>
            </a:r>
            <a:endParaRPr lang="en-US" sz="540" dirty="0"/>
          </a:p>
        </p:txBody>
      </p:sp>
      <p:sp>
        <p:nvSpPr>
          <p:cNvPr id="18" name="Text 16"/>
          <p:cNvSpPr/>
          <p:nvPr/>
        </p:nvSpPr>
        <p:spPr>
          <a:xfrm rot="2100000">
            <a:off x="1691640" y="4617720"/>
            <a:ext cx="1014984"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MKS</a:t>
            </a:r>
            <a:endParaRPr lang="en-US" sz="540" dirty="0"/>
          </a:p>
        </p:txBody>
      </p:sp>
      <p:sp>
        <p:nvSpPr>
          <p:cNvPr id="19" name="Text 17"/>
          <p:cNvSpPr/>
          <p:nvPr/>
        </p:nvSpPr>
        <p:spPr>
          <a:xfrm rot="2100000">
            <a:off x="2761488" y="4617720"/>
            <a:ext cx="1014984"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V-TEX</a:t>
            </a:r>
            <a:endParaRPr lang="en-US" sz="540" dirty="0"/>
          </a:p>
        </p:txBody>
      </p:sp>
      <p:sp>
        <p:nvSpPr>
          <p:cNvPr id="20" name="Text 18"/>
          <p:cNvSpPr/>
          <p:nvPr/>
        </p:nvSpPr>
        <p:spPr>
          <a:xfrm rot="2100000">
            <a:off x="3831336" y="4617720"/>
            <a:ext cx="1014984"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KITZ</a:t>
            </a:r>
            <a:endParaRPr lang="en-US" sz="540" dirty="0"/>
          </a:p>
        </p:txBody>
      </p:sp>
      <p:sp>
        <p:nvSpPr>
          <p:cNvPr id="21" name="Text 19"/>
          <p:cNvSpPr/>
          <p:nvPr/>
        </p:nvSpPr>
        <p:spPr>
          <a:xfrm rot="2100000">
            <a:off x="4901184" y="4617720"/>
            <a:ext cx="1014984"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PRESYS</a:t>
            </a:r>
            <a:endParaRPr lang="en-US" sz="540" dirty="0"/>
          </a:p>
        </p:txBody>
      </p:sp>
      <p:sp>
        <p:nvSpPr>
          <p:cNvPr id="22" name="Text 20"/>
          <p:cNvSpPr/>
          <p:nvPr/>
        </p:nvSpPr>
        <p:spPr>
          <a:xfrm rot="2100000">
            <a:off x="5971032" y="4617720"/>
            <a:ext cx="1014984"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CKD</a:t>
            </a:r>
            <a:endParaRPr lang="en-US" sz="540" dirty="0"/>
          </a:p>
        </p:txBody>
      </p:sp>
      <p:sp>
        <p:nvSpPr>
          <p:cNvPr id="23" name="Text 21"/>
          <p:cNvSpPr/>
          <p:nvPr/>
        </p:nvSpPr>
        <p:spPr>
          <a:xfrm rot="2100000">
            <a:off x="7040880" y="4617720"/>
            <a:ext cx="1014984"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ULVAC</a:t>
            </a:r>
            <a:endParaRPr lang="en-US" sz="540" dirty="0"/>
          </a:p>
        </p:txBody>
      </p:sp>
      <p:sp>
        <p:nvSpPr>
          <p:cNvPr id="24" name="Text 22"/>
          <p:cNvSpPr/>
          <p:nvPr/>
        </p:nvSpPr>
        <p:spPr>
          <a:xfrm rot="2100000">
            <a:off x="8110728" y="4617720"/>
            <a:ext cx="1014984"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HVA</a:t>
            </a:r>
            <a:endParaRPr lang="en-US" sz="540" dirty="0"/>
          </a:p>
        </p:txBody>
      </p:sp>
      <p:sp>
        <p:nvSpPr>
          <p:cNvPr id="25" name="Text 23"/>
          <p:cNvSpPr/>
          <p:nvPr/>
        </p:nvSpPr>
        <p:spPr>
          <a:xfrm rot="2100000">
            <a:off x="9180576" y="4617720"/>
            <a:ext cx="1014984"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SMC</a:t>
            </a:r>
            <a:endParaRPr lang="en-US" sz="540" dirty="0"/>
          </a:p>
        </p:txBody>
      </p:sp>
      <p:sp>
        <p:nvSpPr>
          <p:cNvPr id="26" name="Text 24"/>
          <p:cNvSpPr/>
          <p:nvPr/>
        </p:nvSpPr>
        <p:spPr>
          <a:xfrm rot="2100000">
            <a:off x="10250424" y="4617720"/>
            <a:ext cx="1014984"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Other</a:t>
            </a:r>
            <a:endParaRPr lang="en-US" sz="540" dirty="0"/>
          </a:p>
        </p:txBody>
      </p:sp>
      <p:sp>
        <p:nvSpPr>
          <p:cNvPr id="27" name="Text 25"/>
          <p:cNvSpPr/>
          <p:nvPr/>
        </p:nvSpPr>
        <p:spPr>
          <a:xfrm>
            <a:off x="777240" y="5257800"/>
            <a:ext cx="10332720" cy="502920"/>
          </a:xfrm>
          <a:prstGeom prst="rect">
            <a:avLst/>
          </a:prstGeom>
          <a:solidFill>
            <a:srgbClr val="FFF8EA"/>
          </a:solidFill>
          <a:ln w="10160">
            <a:solidFill>
              <a:srgbClr val="E9C46A"/>
            </a:solidFill>
          </a:ln>
        </p:spPr>
        <p:txBody>
          <a:bodyPr wrap="square" lIns="1016" tIns="1016" rIns="1016" bIns="1016" rtlCol="0" anchor="ctr">
            <a:normAutofit/>
          </a:bodyPr>
          <a:lstStyle/>
          <a:p>
            <a:pPr algn="l" indent="0" marL="0">
              <a:buNone/>
            </a:pPr>
            <a:r>
              <a:rPr lang="en-US" sz="880" dirty="0">
                <a:solidFill>
                  <a:srgbClr val="24313F"/>
                </a:solidFill>
                <a:latin typeface="Aptos" pitchFamily="34" charset="0"/>
                <a:ea typeface="Aptos" pitchFamily="34" charset="-122"/>
                <a:cs typeface="Aptos" pitchFamily="34" charset="-120"/>
              </a:rPr>
              <a:t>Diligence focus: whether China localization or OEM second-sourcing can erode the 70%+ share. Current evidence suggests pressure is greater at mature nodes than leading edge.</a:t>
            </a:r>
            <a:endParaRPr lang="en-US" sz="880" dirty="0"/>
          </a:p>
        </p:txBody>
      </p:sp>
      <p:sp>
        <p:nvSpPr>
          <p:cNvPr id="28" name="Shape 26"/>
          <p:cNvSpPr/>
          <p:nvPr/>
        </p:nvSpPr>
        <p:spPr>
          <a:xfrm>
            <a:off x="411480" y="6510528"/>
            <a:ext cx="11384280" cy="0"/>
          </a:xfrm>
          <a:prstGeom prst="line">
            <a:avLst/>
          </a:prstGeom>
          <a:noFill/>
          <a:ln w="7620">
            <a:solidFill>
              <a:srgbClr val="D5DEE6"/>
            </a:solidFill>
            <a:prstDash val="solid"/>
          </a:ln>
        </p:spPr>
      </p:sp>
      <p:sp>
        <p:nvSpPr>
          <p:cNvPr id="29" name="Text 27"/>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VAT FY2025 results presentation; TechInsights data cited by VAT.</a:t>
            </a:r>
            <a:endParaRPr lang="en-US" sz="580" dirty="0"/>
          </a:p>
        </p:txBody>
      </p:sp>
      <p:sp>
        <p:nvSpPr>
          <p:cNvPr id="30" name="Text 28"/>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17</a:t>
            </a:r>
            <a:endParaRPr lang="en-US" sz="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A8. Spec wins are the cleanest leading indicator of future content</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Qualification begins before revenue; therefore spec wins precede platform ramp and share-of-wallet gains.</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Shape 3"/>
          <p:cNvSpPr/>
          <p:nvPr/>
        </p:nvSpPr>
        <p:spPr>
          <a:xfrm>
            <a:off x="777240" y="3429000"/>
            <a:ext cx="4846320" cy="0"/>
          </a:xfrm>
          <a:prstGeom prst="line">
            <a:avLst/>
          </a:prstGeom>
          <a:noFill/>
          <a:ln w="10160">
            <a:solidFill>
              <a:srgbClr val="D5DEE6"/>
            </a:solidFill>
            <a:prstDash val="solid"/>
          </a:ln>
        </p:spPr>
      </p:sp>
      <p:sp>
        <p:nvSpPr>
          <p:cNvPr id="6" name="Shape 4"/>
          <p:cNvSpPr/>
          <p:nvPr/>
        </p:nvSpPr>
        <p:spPr>
          <a:xfrm>
            <a:off x="777240" y="1508760"/>
            <a:ext cx="0" cy="1920240"/>
          </a:xfrm>
          <a:prstGeom prst="line">
            <a:avLst/>
          </a:prstGeom>
          <a:noFill/>
          <a:ln w="10160">
            <a:solidFill>
              <a:srgbClr val="D5DEE6"/>
            </a:solidFill>
            <a:prstDash val="solid"/>
          </a:ln>
        </p:spPr>
      </p:sp>
      <p:sp>
        <p:nvSpPr>
          <p:cNvPr id="7" name="Shape 5"/>
          <p:cNvSpPr/>
          <p:nvPr/>
        </p:nvSpPr>
        <p:spPr>
          <a:xfrm>
            <a:off x="777240" y="3068955"/>
            <a:ext cx="807720" cy="-264033"/>
          </a:xfrm>
          <a:prstGeom prst="line">
            <a:avLst/>
          </a:prstGeom>
          <a:noFill/>
          <a:ln w="20320">
            <a:solidFill>
              <a:srgbClr val="2A9D8F"/>
            </a:solidFill>
            <a:prstDash val="solid"/>
          </a:ln>
        </p:spPr>
      </p:sp>
      <p:sp>
        <p:nvSpPr>
          <p:cNvPr id="8" name="Shape 6"/>
          <p:cNvSpPr/>
          <p:nvPr/>
        </p:nvSpPr>
        <p:spPr>
          <a:xfrm>
            <a:off x="1584960" y="2804922"/>
            <a:ext cx="807720" cy="-144018"/>
          </a:xfrm>
          <a:prstGeom prst="line">
            <a:avLst/>
          </a:prstGeom>
          <a:noFill/>
          <a:ln w="20320">
            <a:solidFill>
              <a:srgbClr val="2A9D8F"/>
            </a:solidFill>
            <a:prstDash val="solid"/>
          </a:ln>
        </p:spPr>
      </p:sp>
      <p:sp>
        <p:nvSpPr>
          <p:cNvPr id="9" name="Shape 7"/>
          <p:cNvSpPr/>
          <p:nvPr/>
        </p:nvSpPr>
        <p:spPr>
          <a:xfrm>
            <a:off x="2392680" y="2660904"/>
            <a:ext cx="807720" cy="312039"/>
          </a:xfrm>
          <a:prstGeom prst="line">
            <a:avLst/>
          </a:prstGeom>
          <a:noFill/>
          <a:ln w="20320">
            <a:solidFill>
              <a:srgbClr val="2A9D8F"/>
            </a:solidFill>
            <a:prstDash val="solid"/>
          </a:ln>
        </p:spPr>
      </p:sp>
      <p:sp>
        <p:nvSpPr>
          <p:cNvPr id="10" name="Shape 8"/>
          <p:cNvSpPr/>
          <p:nvPr/>
        </p:nvSpPr>
        <p:spPr>
          <a:xfrm>
            <a:off x="3200400" y="2972943"/>
            <a:ext cx="807720" cy="-504063"/>
          </a:xfrm>
          <a:prstGeom prst="line">
            <a:avLst/>
          </a:prstGeom>
          <a:noFill/>
          <a:ln w="20320">
            <a:solidFill>
              <a:srgbClr val="2A9D8F"/>
            </a:solidFill>
            <a:prstDash val="solid"/>
          </a:ln>
        </p:spPr>
      </p:sp>
      <p:sp>
        <p:nvSpPr>
          <p:cNvPr id="11" name="Shape 9"/>
          <p:cNvSpPr/>
          <p:nvPr/>
        </p:nvSpPr>
        <p:spPr>
          <a:xfrm>
            <a:off x="4008120" y="2468880"/>
            <a:ext cx="807720" cy="-288036"/>
          </a:xfrm>
          <a:prstGeom prst="line">
            <a:avLst/>
          </a:prstGeom>
          <a:noFill/>
          <a:ln w="20320">
            <a:solidFill>
              <a:srgbClr val="2A9D8F"/>
            </a:solidFill>
            <a:prstDash val="solid"/>
          </a:ln>
        </p:spPr>
      </p:sp>
      <p:sp>
        <p:nvSpPr>
          <p:cNvPr id="12" name="Shape 10"/>
          <p:cNvSpPr/>
          <p:nvPr/>
        </p:nvSpPr>
        <p:spPr>
          <a:xfrm>
            <a:off x="4815840" y="2180844"/>
            <a:ext cx="807720" cy="-432054"/>
          </a:xfrm>
          <a:prstGeom prst="line">
            <a:avLst/>
          </a:prstGeom>
          <a:noFill/>
          <a:ln w="20320">
            <a:solidFill>
              <a:srgbClr val="2A9D8F"/>
            </a:solidFill>
            <a:prstDash val="solid"/>
          </a:ln>
        </p:spPr>
      </p:sp>
      <p:sp>
        <p:nvSpPr>
          <p:cNvPr id="13" name="Text 11"/>
          <p:cNvSpPr/>
          <p:nvPr/>
        </p:nvSpPr>
        <p:spPr>
          <a:xfrm>
            <a:off x="777240" y="1252728"/>
            <a:ext cx="4846320" cy="182880"/>
          </a:xfrm>
          <a:prstGeom prst="rect">
            <a:avLst/>
          </a:prstGeom>
          <a:noFill/>
          <a:ln/>
        </p:spPr>
        <p:txBody>
          <a:bodyPr wrap="square" lIns="0" tIns="0" rIns="0" bIns="0" rtlCol="0" anchor="ctr">
            <a:normAutofit/>
          </a:bodyPr>
          <a:lstStyle/>
          <a:p>
            <a:pPr indent="0" marL="0">
              <a:buNone/>
            </a:pPr>
            <a:r>
              <a:rPr lang="en-US" sz="750" b="1" dirty="0">
                <a:solidFill>
                  <a:srgbClr val="12202F"/>
                </a:solidFill>
              </a:rPr>
              <a:t>VAT spec wins (#)</a:t>
            </a:r>
            <a:endParaRPr lang="en-US" sz="750" dirty="0"/>
          </a:p>
        </p:txBody>
      </p:sp>
      <p:sp>
        <p:nvSpPr>
          <p:cNvPr id="14" name="Text 12"/>
          <p:cNvSpPr/>
          <p:nvPr/>
        </p:nvSpPr>
        <p:spPr>
          <a:xfrm>
            <a:off x="777240" y="3474720"/>
            <a:ext cx="4846320" cy="146304"/>
          </a:xfrm>
          <a:prstGeom prst="rect">
            <a:avLst/>
          </a:prstGeom>
          <a:noFill/>
          <a:ln/>
        </p:spPr>
        <p:txBody>
          <a:bodyPr wrap="square" lIns="0" tIns="0" rIns="0" bIns="0" rtlCol="0" anchor="ctr">
            <a:normAutofit/>
          </a:bodyPr>
          <a:lstStyle/>
          <a:p>
            <a:pPr algn="ctr" indent="0" marL="0">
              <a:buNone/>
            </a:pPr>
            <a:r>
              <a:rPr lang="en-US" sz="500" dirty="0">
                <a:solidFill>
                  <a:srgbClr val="64748B"/>
                </a:solidFill>
              </a:rPr>
              <a:t>19   20   21   22   23   24   25</a:t>
            </a:r>
            <a:endParaRPr lang="en-US" sz="500" dirty="0"/>
          </a:p>
        </p:txBody>
      </p:sp>
      <p:sp>
        <p:nvSpPr>
          <p:cNvPr id="15" name="Text 13"/>
          <p:cNvSpPr/>
          <p:nvPr/>
        </p:nvSpPr>
        <p:spPr>
          <a:xfrm>
            <a:off x="6217920" y="1234440"/>
            <a:ext cx="4572000" cy="2331720"/>
          </a:xfrm>
          <a:prstGeom prst="rect">
            <a:avLst/>
          </a:prstGeom>
          <a:solidFill>
            <a:srgbClr val="FFFFFF"/>
          </a:solidFill>
          <a:ln w="10160">
            <a:solidFill>
              <a:srgbClr val="D5DEE6"/>
            </a:solidFill>
          </a:ln>
        </p:spPr>
        <p:txBody>
          <a:bodyPr wrap="square" lIns="1270" tIns="1270" rIns="1270" bIns="1270" rtlCol="0" anchor="ctr">
            <a:normAutofit/>
          </a:bodyPr>
          <a:lstStyle/>
          <a:p>
            <a:pPr algn="l" indent="0" marL="0">
              <a:buNone/>
            </a:pPr>
            <a:r>
              <a:rPr lang="en-US" sz="900" dirty="0">
                <a:solidFill>
                  <a:srgbClr val="24313F"/>
                </a:solidFill>
                <a:latin typeface="Aptos" pitchFamily="34" charset="0"/>
                <a:ea typeface="Aptos" pitchFamily="34" charset="-122"/>
                <a:cs typeface="Aptos" pitchFamily="34" charset="-120"/>
              </a:rPr>
              <a:t>Switching-cost sequence</a:t>
            </a:r>
            <a:endParaRPr lang="en-US" sz="900" dirty="0"/>
          </a:p>
          <a:p>
            <a:pPr algn="l" indent="0" marL="0">
              <a:buNone/>
            </a:pPr>
            <a:r>
              <a:rPr lang="en-US" sz="900" dirty="0">
                <a:solidFill>
                  <a:srgbClr val="24313F"/>
                </a:solidFill>
                <a:latin typeface="Aptos" pitchFamily="34" charset="0"/>
                <a:ea typeface="Aptos" pitchFamily="34" charset="-122"/>
                <a:cs typeface="Aptos" pitchFamily="34" charset="-120"/>
              </a:rPr>
              <a:t>1. Process requirement defined</a:t>
            </a:r>
            <a:endParaRPr lang="en-US" sz="900" dirty="0"/>
          </a:p>
          <a:p>
            <a:pPr algn="l" indent="0" marL="0">
              <a:buNone/>
            </a:pPr>
            <a:r>
              <a:rPr lang="en-US" sz="900" dirty="0">
                <a:solidFill>
                  <a:srgbClr val="24313F"/>
                </a:solidFill>
                <a:latin typeface="Aptos" pitchFamily="34" charset="0"/>
                <a:ea typeface="Aptos" pitchFamily="34" charset="-122"/>
                <a:cs typeface="Aptos" pitchFamily="34" charset="-120"/>
              </a:rPr>
              <a:t>2. Valve / module co-developed</a:t>
            </a:r>
            <a:endParaRPr lang="en-US" sz="900" dirty="0"/>
          </a:p>
          <a:p>
            <a:pPr algn="l" indent="0" marL="0">
              <a:buNone/>
            </a:pPr>
            <a:r>
              <a:rPr lang="en-US" sz="900" dirty="0">
                <a:solidFill>
                  <a:srgbClr val="24313F"/>
                </a:solidFill>
                <a:latin typeface="Aptos" pitchFamily="34" charset="0"/>
                <a:ea typeface="Aptos" pitchFamily="34" charset="-122"/>
                <a:cs typeface="Aptos" pitchFamily="34" charset="-120"/>
              </a:rPr>
              <a:t>3. Tool platform qualified</a:t>
            </a:r>
            <a:endParaRPr lang="en-US" sz="900" dirty="0"/>
          </a:p>
          <a:p>
            <a:pPr algn="l" indent="0" marL="0">
              <a:buNone/>
            </a:pPr>
            <a:r>
              <a:rPr lang="en-US" sz="900" dirty="0">
                <a:solidFill>
                  <a:srgbClr val="24313F"/>
                </a:solidFill>
                <a:latin typeface="Aptos" pitchFamily="34" charset="0"/>
                <a:ea typeface="Aptos" pitchFamily="34" charset="-122"/>
                <a:cs typeface="Aptos" pitchFamily="34" charset="-120"/>
              </a:rPr>
              <a:t>4. Fab customer validates yield</a:t>
            </a:r>
            <a:endParaRPr lang="en-US" sz="900" dirty="0"/>
          </a:p>
          <a:p>
            <a:pPr algn="l" indent="0" marL="0">
              <a:buNone/>
            </a:pPr>
            <a:r>
              <a:rPr lang="en-US" sz="900" dirty="0">
                <a:solidFill>
                  <a:srgbClr val="24313F"/>
                </a:solidFill>
                <a:latin typeface="Aptos" pitchFamily="34" charset="0"/>
                <a:ea typeface="Aptos" pitchFamily="34" charset="-122"/>
                <a:cs typeface="Aptos" pitchFamily="34" charset="-120"/>
              </a:rPr>
              <a:t>5. Tool scales into volume production</a:t>
            </a:r>
            <a:endParaRPr lang="en-US" sz="900" dirty="0"/>
          </a:p>
          <a:p>
            <a:pPr algn="l" indent="0" marL="0">
              <a:buNone/>
            </a:pPr>
            <a:r>
              <a:rPr lang="en-US" sz="900" dirty="0">
                <a:solidFill>
                  <a:srgbClr val="24313F"/>
                </a:solidFill>
                <a:latin typeface="Aptos" pitchFamily="34" charset="0"/>
                <a:ea typeface="Aptos" pitchFamily="34" charset="-122"/>
                <a:cs typeface="Aptos" pitchFamily="34" charset="-120"/>
              </a:rPr>
              <a:t>6. Installed base generates service pull-through</a:t>
            </a:r>
            <a:endParaRPr lang="en-US" sz="900" dirty="0"/>
          </a:p>
        </p:txBody>
      </p:sp>
      <p:sp>
        <p:nvSpPr>
          <p:cNvPr id="16" name="Text 14"/>
          <p:cNvSpPr/>
          <p:nvPr/>
        </p:nvSpPr>
        <p:spPr>
          <a:xfrm>
            <a:off x="777240" y="4754880"/>
            <a:ext cx="10149840" cy="566928"/>
          </a:xfrm>
          <a:prstGeom prst="rect">
            <a:avLst/>
          </a:prstGeom>
          <a:solidFill>
            <a:srgbClr val="EDF8F6"/>
          </a:solidFill>
          <a:ln w="10160">
            <a:solidFill>
              <a:srgbClr val="2A9D8F"/>
            </a:solidFill>
          </a:ln>
        </p:spPr>
        <p:txBody>
          <a:bodyPr wrap="square" lIns="1016" tIns="1016" rIns="1016" bIns="1016" rtlCol="0" anchor="ctr">
            <a:normAutofit/>
          </a:bodyPr>
          <a:lstStyle/>
          <a:p>
            <a:pPr algn="l" indent="0" marL="0">
              <a:buNone/>
            </a:pPr>
            <a:r>
              <a:rPr lang="en-US" sz="900" dirty="0">
                <a:solidFill>
                  <a:srgbClr val="24313F"/>
                </a:solidFill>
                <a:latin typeface="Aptos" pitchFamily="34" charset="0"/>
                <a:ea typeface="Aptos" pitchFamily="34" charset="-122"/>
                <a:cs typeface="Aptos" pitchFamily="34" charset="-120"/>
              </a:rPr>
              <a:t>A spec loss today may not hit revenue immediately; a spec win today can influence multiple years of tool shipments and service.</a:t>
            </a:r>
            <a:endParaRPr lang="en-US" sz="900" dirty="0"/>
          </a:p>
        </p:txBody>
      </p:sp>
      <p:sp>
        <p:nvSpPr>
          <p:cNvPr id="17" name="Shape 15"/>
          <p:cNvSpPr/>
          <p:nvPr/>
        </p:nvSpPr>
        <p:spPr>
          <a:xfrm>
            <a:off x="411480" y="6510528"/>
            <a:ext cx="11384280" cy="0"/>
          </a:xfrm>
          <a:prstGeom prst="line">
            <a:avLst/>
          </a:prstGeom>
          <a:noFill/>
          <a:ln w="7620">
            <a:solidFill>
              <a:srgbClr val="D5DEE6"/>
            </a:solidFill>
            <a:prstDash val="solid"/>
          </a:ln>
        </p:spPr>
      </p:sp>
      <p:sp>
        <p:nvSpPr>
          <p:cNvPr id="18" name="Text 16"/>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VAT FY2025 results presentation; analyst interpretation.</a:t>
            </a:r>
            <a:endParaRPr lang="en-US" sz="580" dirty="0"/>
          </a:p>
        </p:txBody>
      </p:sp>
      <p:sp>
        <p:nvSpPr>
          <p:cNvPr id="19" name="Text 17"/>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18</a:t>
            </a:r>
            <a:endParaRPr lang="en-US" sz="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A9. WFE expectations have moved up materially since early 2026</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VAT’s 2027 guidance is under review because WFE assumptions are now materially higher.</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Shape 3"/>
          <p:cNvSpPr/>
          <p:nvPr/>
        </p:nvSpPr>
        <p:spPr>
          <a:xfrm>
            <a:off x="777240" y="3291840"/>
            <a:ext cx="5212080" cy="0"/>
          </a:xfrm>
          <a:prstGeom prst="line">
            <a:avLst/>
          </a:prstGeom>
          <a:noFill/>
          <a:ln w="10160">
            <a:solidFill>
              <a:srgbClr val="D5DEE6"/>
            </a:solidFill>
            <a:prstDash val="solid"/>
          </a:ln>
        </p:spPr>
      </p:sp>
      <p:sp>
        <p:nvSpPr>
          <p:cNvPr id="6" name="Shape 4"/>
          <p:cNvSpPr/>
          <p:nvPr/>
        </p:nvSpPr>
        <p:spPr>
          <a:xfrm>
            <a:off x="777240" y="2137530"/>
            <a:ext cx="969264" cy="1154310"/>
          </a:xfrm>
          <a:prstGeom prst="rect">
            <a:avLst/>
          </a:prstGeom>
          <a:solidFill>
            <a:srgbClr val="64748B"/>
          </a:solidFill>
          <a:ln w="2540">
            <a:solidFill>
              <a:srgbClr val="64748B"/>
            </a:solidFill>
            <a:prstDash val="solid"/>
          </a:ln>
        </p:spPr>
      </p:sp>
      <p:sp>
        <p:nvSpPr>
          <p:cNvPr id="7" name="Shape 5"/>
          <p:cNvSpPr/>
          <p:nvPr/>
        </p:nvSpPr>
        <p:spPr>
          <a:xfrm>
            <a:off x="1837944" y="2009274"/>
            <a:ext cx="969264" cy="1282566"/>
          </a:xfrm>
          <a:prstGeom prst="rect">
            <a:avLst/>
          </a:prstGeom>
          <a:solidFill>
            <a:srgbClr val="64748B"/>
          </a:solidFill>
          <a:ln w="2540">
            <a:solidFill>
              <a:srgbClr val="64748B"/>
            </a:solidFill>
            <a:prstDash val="solid"/>
          </a:ln>
        </p:spPr>
      </p:sp>
      <p:sp>
        <p:nvSpPr>
          <p:cNvPr id="8" name="Shape 6"/>
          <p:cNvSpPr/>
          <p:nvPr/>
        </p:nvSpPr>
        <p:spPr>
          <a:xfrm>
            <a:off x="2898648" y="1861285"/>
            <a:ext cx="969264" cy="1430555"/>
          </a:xfrm>
          <a:prstGeom prst="rect">
            <a:avLst/>
          </a:prstGeom>
          <a:solidFill>
            <a:srgbClr val="2A9D8F"/>
          </a:solidFill>
          <a:ln w="2540">
            <a:solidFill>
              <a:srgbClr val="2A9D8F"/>
            </a:solidFill>
            <a:prstDash val="solid"/>
          </a:ln>
        </p:spPr>
      </p:sp>
      <p:sp>
        <p:nvSpPr>
          <p:cNvPr id="9" name="Shape 7"/>
          <p:cNvSpPr/>
          <p:nvPr/>
        </p:nvSpPr>
        <p:spPr>
          <a:xfrm>
            <a:off x="3959352" y="1811956"/>
            <a:ext cx="969264" cy="1479884"/>
          </a:xfrm>
          <a:prstGeom prst="rect">
            <a:avLst/>
          </a:prstGeom>
          <a:solidFill>
            <a:srgbClr val="64748B"/>
          </a:solidFill>
          <a:ln w="2540">
            <a:solidFill>
              <a:srgbClr val="64748B"/>
            </a:solidFill>
            <a:prstDash val="solid"/>
          </a:ln>
        </p:spPr>
      </p:sp>
      <p:sp>
        <p:nvSpPr>
          <p:cNvPr id="10" name="Shape 8"/>
          <p:cNvSpPr/>
          <p:nvPr/>
        </p:nvSpPr>
        <p:spPr>
          <a:xfrm>
            <a:off x="5020056" y="1515979"/>
            <a:ext cx="969264" cy="1775861"/>
          </a:xfrm>
          <a:prstGeom prst="rect">
            <a:avLst/>
          </a:prstGeom>
          <a:solidFill>
            <a:srgbClr val="2A9D8F"/>
          </a:solidFill>
          <a:ln w="2540">
            <a:solidFill>
              <a:srgbClr val="2A9D8F"/>
            </a:solidFill>
            <a:prstDash val="solid"/>
          </a:ln>
        </p:spPr>
      </p:sp>
      <p:sp>
        <p:nvSpPr>
          <p:cNvPr id="11" name="Text 9"/>
          <p:cNvSpPr/>
          <p:nvPr/>
        </p:nvSpPr>
        <p:spPr>
          <a:xfrm>
            <a:off x="777240" y="1161288"/>
            <a:ext cx="5212080" cy="182880"/>
          </a:xfrm>
          <a:prstGeom prst="rect">
            <a:avLst/>
          </a:prstGeom>
          <a:noFill/>
          <a:ln/>
        </p:spPr>
        <p:txBody>
          <a:bodyPr wrap="square" lIns="0" tIns="0" rIns="0" bIns="0" rtlCol="0" anchor="ctr">
            <a:normAutofit/>
          </a:bodyPr>
          <a:lstStyle/>
          <a:p>
            <a:pPr indent="0" marL="0">
              <a:buNone/>
            </a:pPr>
            <a:r>
              <a:rPr lang="en-US" sz="750" b="1" dirty="0">
                <a:solidFill>
                  <a:srgbClr val="12202F"/>
                </a:solidFill>
              </a:rPr>
              <a:t>WFE market estimates (US$bn)</a:t>
            </a:r>
            <a:endParaRPr lang="en-US" sz="750" dirty="0"/>
          </a:p>
        </p:txBody>
      </p:sp>
      <p:sp>
        <p:nvSpPr>
          <p:cNvPr id="12" name="Text 10"/>
          <p:cNvSpPr/>
          <p:nvPr/>
        </p:nvSpPr>
        <p:spPr>
          <a:xfrm>
            <a:off x="758952" y="3337560"/>
            <a:ext cx="100584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25A</a:t>
            </a:r>
            <a:endParaRPr lang="en-US" sz="540" dirty="0"/>
          </a:p>
        </p:txBody>
      </p:sp>
      <p:sp>
        <p:nvSpPr>
          <p:cNvPr id="13" name="Text 11"/>
          <p:cNvSpPr/>
          <p:nvPr/>
        </p:nvSpPr>
        <p:spPr>
          <a:xfrm>
            <a:off x="1819656" y="3337560"/>
            <a:ext cx="100584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26E</a:t>
            </a:r>
            <a:endParaRPr lang="en-US" sz="540" dirty="0"/>
          </a:p>
          <a:p>
            <a:pPr algn="ctr" indent="0" marL="0">
              <a:buNone/>
            </a:pPr>
            <a:r>
              <a:rPr lang="en-US" sz="540" dirty="0">
                <a:solidFill>
                  <a:srgbClr val="64748B"/>
                </a:solidFill>
              </a:rPr>
              <a:t>old</a:t>
            </a:r>
            <a:endParaRPr lang="en-US" sz="540" dirty="0"/>
          </a:p>
        </p:txBody>
      </p:sp>
      <p:sp>
        <p:nvSpPr>
          <p:cNvPr id="14" name="Text 12"/>
          <p:cNvSpPr/>
          <p:nvPr/>
        </p:nvSpPr>
        <p:spPr>
          <a:xfrm>
            <a:off x="2880360" y="3337560"/>
            <a:ext cx="100584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26E</a:t>
            </a:r>
            <a:endParaRPr lang="en-US" sz="540" dirty="0"/>
          </a:p>
          <a:p>
            <a:pPr algn="ctr" indent="0" marL="0">
              <a:buNone/>
            </a:pPr>
            <a:r>
              <a:rPr lang="en-US" sz="540" dirty="0">
                <a:solidFill>
                  <a:srgbClr val="64748B"/>
                </a:solidFill>
              </a:rPr>
              <a:t>new</a:t>
            </a:r>
            <a:endParaRPr lang="en-US" sz="540" dirty="0"/>
          </a:p>
        </p:txBody>
      </p:sp>
      <p:sp>
        <p:nvSpPr>
          <p:cNvPr id="15" name="Text 13"/>
          <p:cNvSpPr/>
          <p:nvPr/>
        </p:nvSpPr>
        <p:spPr>
          <a:xfrm>
            <a:off x="3941064" y="3337560"/>
            <a:ext cx="100584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27E</a:t>
            </a:r>
            <a:endParaRPr lang="en-US" sz="540" dirty="0"/>
          </a:p>
          <a:p>
            <a:pPr algn="ctr" indent="0" marL="0">
              <a:buNone/>
            </a:pPr>
            <a:r>
              <a:rPr lang="en-US" sz="540" dirty="0">
                <a:solidFill>
                  <a:srgbClr val="64748B"/>
                </a:solidFill>
              </a:rPr>
              <a:t>old</a:t>
            </a:r>
            <a:endParaRPr lang="en-US" sz="540" dirty="0"/>
          </a:p>
        </p:txBody>
      </p:sp>
      <p:sp>
        <p:nvSpPr>
          <p:cNvPr id="16" name="Text 14"/>
          <p:cNvSpPr/>
          <p:nvPr/>
        </p:nvSpPr>
        <p:spPr>
          <a:xfrm>
            <a:off x="5001768" y="3337560"/>
            <a:ext cx="1005840"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27E</a:t>
            </a:r>
            <a:endParaRPr lang="en-US" sz="540" dirty="0"/>
          </a:p>
          <a:p>
            <a:pPr algn="ctr" indent="0" marL="0">
              <a:buNone/>
            </a:pPr>
            <a:r>
              <a:rPr lang="en-US" sz="540" dirty="0">
                <a:solidFill>
                  <a:srgbClr val="64748B"/>
                </a:solidFill>
              </a:rPr>
              <a:t>new</a:t>
            </a:r>
            <a:endParaRPr lang="en-US" sz="540" dirty="0"/>
          </a:p>
        </p:txBody>
      </p:sp>
      <p:sp>
        <p:nvSpPr>
          <p:cNvPr id="17" name="Shape 15"/>
          <p:cNvSpPr/>
          <p:nvPr/>
        </p:nvSpPr>
        <p:spPr>
          <a:xfrm>
            <a:off x="6446520" y="3291840"/>
            <a:ext cx="4663440" cy="0"/>
          </a:xfrm>
          <a:prstGeom prst="line">
            <a:avLst/>
          </a:prstGeom>
          <a:noFill/>
          <a:ln w="10160">
            <a:solidFill>
              <a:srgbClr val="D5DEE6"/>
            </a:solidFill>
            <a:prstDash val="solid"/>
          </a:ln>
        </p:spPr>
      </p:sp>
      <p:sp>
        <p:nvSpPr>
          <p:cNvPr id="18" name="Shape 16"/>
          <p:cNvSpPr/>
          <p:nvPr/>
        </p:nvSpPr>
        <p:spPr>
          <a:xfrm>
            <a:off x="6446520" y="1729740"/>
            <a:ext cx="859536" cy="1562100"/>
          </a:xfrm>
          <a:prstGeom prst="rect">
            <a:avLst/>
          </a:prstGeom>
          <a:solidFill>
            <a:srgbClr val="2A9D8F"/>
          </a:solidFill>
          <a:ln w="2540">
            <a:solidFill>
              <a:srgbClr val="2A9D8F"/>
            </a:solidFill>
            <a:prstDash val="solid"/>
          </a:ln>
        </p:spPr>
      </p:sp>
      <p:sp>
        <p:nvSpPr>
          <p:cNvPr id="19" name="Shape 17"/>
          <p:cNvSpPr/>
          <p:nvPr/>
        </p:nvSpPr>
        <p:spPr>
          <a:xfrm>
            <a:off x="7397496" y="1854708"/>
            <a:ext cx="859536" cy="1437132"/>
          </a:xfrm>
          <a:prstGeom prst="rect">
            <a:avLst/>
          </a:prstGeom>
          <a:solidFill>
            <a:srgbClr val="2A9D8F"/>
          </a:solidFill>
          <a:ln w="2540">
            <a:solidFill>
              <a:srgbClr val="2A9D8F"/>
            </a:solidFill>
            <a:prstDash val="solid"/>
          </a:ln>
        </p:spPr>
      </p:sp>
      <p:sp>
        <p:nvSpPr>
          <p:cNvPr id="20" name="Shape 18"/>
          <p:cNvSpPr/>
          <p:nvPr/>
        </p:nvSpPr>
        <p:spPr>
          <a:xfrm>
            <a:off x="8348472" y="2729484"/>
            <a:ext cx="859536" cy="562356"/>
          </a:xfrm>
          <a:prstGeom prst="rect">
            <a:avLst/>
          </a:prstGeom>
          <a:solidFill>
            <a:srgbClr val="2A9D8F"/>
          </a:solidFill>
          <a:ln w="2540">
            <a:solidFill>
              <a:srgbClr val="2A9D8F"/>
            </a:solidFill>
            <a:prstDash val="solid"/>
          </a:ln>
        </p:spPr>
      </p:sp>
      <p:sp>
        <p:nvSpPr>
          <p:cNvPr id="21" name="Shape 19"/>
          <p:cNvSpPr/>
          <p:nvPr/>
        </p:nvSpPr>
        <p:spPr>
          <a:xfrm>
            <a:off x="9299448" y="2542032"/>
            <a:ext cx="859536" cy="749808"/>
          </a:xfrm>
          <a:prstGeom prst="rect">
            <a:avLst/>
          </a:prstGeom>
          <a:solidFill>
            <a:srgbClr val="64748B"/>
          </a:solidFill>
          <a:ln w="2540">
            <a:solidFill>
              <a:srgbClr val="64748B"/>
            </a:solidFill>
            <a:prstDash val="solid"/>
          </a:ln>
        </p:spPr>
      </p:sp>
      <p:sp>
        <p:nvSpPr>
          <p:cNvPr id="22" name="Shape 20"/>
          <p:cNvSpPr/>
          <p:nvPr/>
        </p:nvSpPr>
        <p:spPr>
          <a:xfrm>
            <a:off x="10250424" y="1667256"/>
            <a:ext cx="859536" cy="1624584"/>
          </a:xfrm>
          <a:prstGeom prst="rect">
            <a:avLst/>
          </a:prstGeom>
          <a:solidFill>
            <a:srgbClr val="64748B"/>
          </a:solidFill>
          <a:ln w="2540">
            <a:solidFill>
              <a:srgbClr val="64748B"/>
            </a:solidFill>
            <a:prstDash val="solid"/>
          </a:ln>
        </p:spPr>
      </p:sp>
      <p:sp>
        <p:nvSpPr>
          <p:cNvPr id="23" name="Text 21"/>
          <p:cNvSpPr/>
          <p:nvPr/>
        </p:nvSpPr>
        <p:spPr>
          <a:xfrm>
            <a:off x="6446520" y="1161288"/>
            <a:ext cx="4663440" cy="182880"/>
          </a:xfrm>
          <a:prstGeom prst="rect">
            <a:avLst/>
          </a:prstGeom>
          <a:noFill/>
          <a:ln/>
        </p:spPr>
        <p:txBody>
          <a:bodyPr wrap="square" lIns="0" tIns="0" rIns="0" bIns="0" rtlCol="0" anchor="ctr">
            <a:normAutofit/>
          </a:bodyPr>
          <a:lstStyle/>
          <a:p>
            <a:pPr indent="0" marL="0">
              <a:buNone/>
            </a:pPr>
            <a:r>
              <a:rPr lang="en-US" sz="750" b="1" dirty="0">
                <a:solidFill>
                  <a:srgbClr val="12202F"/>
                </a:solidFill>
              </a:rPr>
              <a:t>2025 WFE composition (US$bn)</a:t>
            </a:r>
            <a:endParaRPr lang="en-US" sz="750" dirty="0"/>
          </a:p>
        </p:txBody>
      </p:sp>
      <p:sp>
        <p:nvSpPr>
          <p:cNvPr id="24" name="Text 22"/>
          <p:cNvSpPr/>
          <p:nvPr/>
        </p:nvSpPr>
        <p:spPr>
          <a:xfrm>
            <a:off x="6428232" y="3337560"/>
            <a:ext cx="896112"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Dep.</a:t>
            </a:r>
            <a:endParaRPr lang="en-US" sz="540" dirty="0"/>
          </a:p>
        </p:txBody>
      </p:sp>
      <p:sp>
        <p:nvSpPr>
          <p:cNvPr id="25" name="Text 23"/>
          <p:cNvSpPr/>
          <p:nvPr/>
        </p:nvSpPr>
        <p:spPr>
          <a:xfrm>
            <a:off x="7379208" y="3337560"/>
            <a:ext cx="896112"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Dry</a:t>
            </a:r>
            <a:endParaRPr lang="en-US" sz="540" dirty="0"/>
          </a:p>
          <a:p>
            <a:pPr algn="ctr" indent="0" marL="0">
              <a:buNone/>
            </a:pPr>
            <a:r>
              <a:rPr lang="en-US" sz="540" dirty="0">
                <a:solidFill>
                  <a:srgbClr val="64748B"/>
                </a:solidFill>
              </a:rPr>
              <a:t>etch</a:t>
            </a:r>
            <a:endParaRPr lang="en-US" sz="540" dirty="0"/>
          </a:p>
        </p:txBody>
      </p:sp>
      <p:sp>
        <p:nvSpPr>
          <p:cNvPr id="26" name="Text 24"/>
          <p:cNvSpPr/>
          <p:nvPr/>
        </p:nvSpPr>
        <p:spPr>
          <a:xfrm>
            <a:off x="8330184" y="3337560"/>
            <a:ext cx="896112"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Other</a:t>
            </a:r>
            <a:endParaRPr lang="en-US" sz="540" dirty="0"/>
          </a:p>
          <a:p>
            <a:pPr algn="ctr" indent="0" marL="0">
              <a:buNone/>
            </a:pPr>
            <a:r>
              <a:rPr lang="en-US" sz="540" dirty="0">
                <a:solidFill>
                  <a:srgbClr val="64748B"/>
                </a:solidFill>
              </a:rPr>
              <a:t>vac.</a:t>
            </a:r>
            <a:endParaRPr lang="en-US" sz="540" dirty="0"/>
          </a:p>
        </p:txBody>
      </p:sp>
      <p:sp>
        <p:nvSpPr>
          <p:cNvPr id="27" name="Text 25"/>
          <p:cNvSpPr/>
          <p:nvPr/>
        </p:nvSpPr>
        <p:spPr>
          <a:xfrm>
            <a:off x="9281160" y="3337560"/>
            <a:ext cx="896112"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EUV</a:t>
            </a:r>
            <a:endParaRPr lang="en-US" sz="540" dirty="0"/>
          </a:p>
          <a:p>
            <a:pPr algn="ctr" indent="0" marL="0">
              <a:buNone/>
            </a:pPr>
            <a:r>
              <a:rPr lang="en-US" sz="540" dirty="0">
                <a:solidFill>
                  <a:srgbClr val="64748B"/>
                </a:solidFill>
              </a:rPr>
              <a:t>non-vac.</a:t>
            </a:r>
            <a:endParaRPr lang="en-US" sz="540" dirty="0"/>
          </a:p>
        </p:txBody>
      </p:sp>
      <p:sp>
        <p:nvSpPr>
          <p:cNvPr id="28" name="Text 26"/>
          <p:cNvSpPr/>
          <p:nvPr/>
        </p:nvSpPr>
        <p:spPr>
          <a:xfrm>
            <a:off x="10232136" y="3337560"/>
            <a:ext cx="896112"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Other</a:t>
            </a:r>
            <a:endParaRPr lang="en-US" sz="540" dirty="0"/>
          </a:p>
          <a:p>
            <a:pPr algn="ctr" indent="0" marL="0">
              <a:buNone/>
            </a:pPr>
            <a:r>
              <a:rPr lang="en-US" sz="540" dirty="0">
                <a:solidFill>
                  <a:srgbClr val="64748B"/>
                </a:solidFill>
              </a:rPr>
              <a:t>non-vac.</a:t>
            </a:r>
            <a:endParaRPr lang="en-US" sz="540" dirty="0"/>
          </a:p>
        </p:txBody>
      </p:sp>
      <p:sp>
        <p:nvSpPr>
          <p:cNvPr id="29" name="Text 27"/>
          <p:cNvSpPr/>
          <p:nvPr/>
        </p:nvSpPr>
        <p:spPr>
          <a:xfrm>
            <a:off x="777240" y="4709160"/>
            <a:ext cx="10332720" cy="566928"/>
          </a:xfrm>
          <a:prstGeom prst="rect">
            <a:avLst/>
          </a:prstGeom>
          <a:solidFill>
            <a:srgbClr val="EDF8F6"/>
          </a:solidFill>
          <a:ln w="10160">
            <a:solidFill>
              <a:srgbClr val="2A9D8F"/>
            </a:solidFill>
          </a:ln>
        </p:spPr>
        <p:txBody>
          <a:bodyPr wrap="square" lIns="1016" tIns="1016" rIns="1016" bIns="1016" rtlCol="0" anchor="ctr">
            <a:normAutofit/>
          </a:bodyPr>
          <a:lstStyle/>
          <a:p>
            <a:pPr algn="l" indent="0" marL="0">
              <a:buNone/>
            </a:pPr>
            <a:r>
              <a:rPr lang="en-US" sz="900" dirty="0">
                <a:solidFill>
                  <a:srgbClr val="24313F"/>
                </a:solidFill>
                <a:latin typeface="Aptos" pitchFamily="34" charset="0"/>
                <a:ea typeface="Aptos" pitchFamily="34" charset="-122"/>
                <a:cs typeface="Aptos" pitchFamily="34" charset="-120"/>
              </a:rPr>
              <a:t>VAT-specific implication: company reported vacuum-related WFE grew 21% in 2025 and vacuum-related share rose to 61% from 56% in 2024.</a:t>
            </a:r>
            <a:endParaRPr lang="en-US" sz="900" dirty="0"/>
          </a:p>
        </p:txBody>
      </p:sp>
      <p:sp>
        <p:nvSpPr>
          <p:cNvPr id="30" name="Shape 28"/>
          <p:cNvSpPr/>
          <p:nvPr/>
        </p:nvSpPr>
        <p:spPr>
          <a:xfrm>
            <a:off x="411480" y="6510528"/>
            <a:ext cx="11384280" cy="0"/>
          </a:xfrm>
          <a:prstGeom prst="line">
            <a:avLst/>
          </a:prstGeom>
          <a:noFill/>
          <a:ln w="7620">
            <a:solidFill>
              <a:srgbClr val="D5DEE6"/>
            </a:solidFill>
            <a:prstDash val="solid"/>
          </a:ln>
        </p:spPr>
      </p:sp>
      <p:sp>
        <p:nvSpPr>
          <p:cNvPr id="31" name="Text 29"/>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VAT H1 2026 report; VAT FY2025 results presentation; TechInsights data cited by VAT.</a:t>
            </a:r>
            <a:endParaRPr lang="en-US" sz="580" dirty="0"/>
          </a:p>
        </p:txBody>
      </p:sp>
      <p:sp>
        <p:nvSpPr>
          <p:cNvPr id="32" name="Text 30"/>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19</a:t>
            </a:r>
            <a:endParaRPr lang="en-US" sz="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A10. Orders, backlog and book-to-bill show a sharp 2026 inflection</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The core diligence item is backlog quality and cancellability, not simply the headline backlog number.</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Shape 3"/>
          <p:cNvSpPr/>
          <p:nvPr/>
        </p:nvSpPr>
        <p:spPr>
          <a:xfrm>
            <a:off x="685800" y="2834640"/>
            <a:ext cx="3474720" cy="0"/>
          </a:xfrm>
          <a:prstGeom prst="line">
            <a:avLst/>
          </a:prstGeom>
          <a:noFill/>
          <a:ln w="10160">
            <a:solidFill>
              <a:srgbClr val="D5DEE6"/>
            </a:solidFill>
            <a:prstDash val="solid"/>
          </a:ln>
        </p:spPr>
      </p:sp>
      <p:sp>
        <p:nvSpPr>
          <p:cNvPr id="6" name="Shape 4"/>
          <p:cNvSpPr/>
          <p:nvPr/>
        </p:nvSpPr>
        <p:spPr>
          <a:xfrm>
            <a:off x="685800" y="1445877"/>
            <a:ext cx="502920" cy="1388763"/>
          </a:xfrm>
          <a:prstGeom prst="rect">
            <a:avLst/>
          </a:prstGeom>
          <a:solidFill>
            <a:srgbClr val="64748B"/>
          </a:solidFill>
          <a:ln w="2540">
            <a:solidFill>
              <a:srgbClr val="64748B"/>
            </a:solidFill>
            <a:prstDash val="solid"/>
          </a:ln>
        </p:spPr>
      </p:sp>
      <p:sp>
        <p:nvSpPr>
          <p:cNvPr id="7" name="Shape 5"/>
          <p:cNvSpPr/>
          <p:nvPr/>
        </p:nvSpPr>
        <p:spPr>
          <a:xfrm>
            <a:off x="1280160" y="1472887"/>
            <a:ext cx="502920" cy="1361753"/>
          </a:xfrm>
          <a:prstGeom prst="rect">
            <a:avLst/>
          </a:prstGeom>
          <a:solidFill>
            <a:srgbClr val="64748B"/>
          </a:solidFill>
          <a:ln w="2540">
            <a:solidFill>
              <a:srgbClr val="64748B"/>
            </a:solidFill>
            <a:prstDash val="solid"/>
          </a:ln>
        </p:spPr>
      </p:sp>
      <p:sp>
        <p:nvSpPr>
          <p:cNvPr id="8" name="Shape 6"/>
          <p:cNvSpPr/>
          <p:nvPr/>
        </p:nvSpPr>
        <p:spPr>
          <a:xfrm>
            <a:off x="1874520" y="2055853"/>
            <a:ext cx="502920" cy="778787"/>
          </a:xfrm>
          <a:prstGeom prst="rect">
            <a:avLst/>
          </a:prstGeom>
          <a:solidFill>
            <a:srgbClr val="64748B"/>
          </a:solidFill>
          <a:ln w="2540">
            <a:solidFill>
              <a:srgbClr val="64748B"/>
            </a:solidFill>
            <a:prstDash val="solid"/>
          </a:ln>
        </p:spPr>
      </p:sp>
      <p:sp>
        <p:nvSpPr>
          <p:cNvPr id="9" name="Shape 7"/>
          <p:cNvSpPr/>
          <p:nvPr/>
        </p:nvSpPr>
        <p:spPr>
          <a:xfrm>
            <a:off x="2468880" y="1672086"/>
            <a:ext cx="502920" cy="1162554"/>
          </a:xfrm>
          <a:prstGeom prst="rect">
            <a:avLst/>
          </a:prstGeom>
          <a:solidFill>
            <a:srgbClr val="64748B"/>
          </a:solidFill>
          <a:ln w="2540">
            <a:solidFill>
              <a:srgbClr val="64748B"/>
            </a:solidFill>
            <a:prstDash val="solid"/>
          </a:ln>
        </p:spPr>
      </p:sp>
      <p:sp>
        <p:nvSpPr>
          <p:cNvPr id="10" name="Shape 8"/>
          <p:cNvSpPr/>
          <p:nvPr/>
        </p:nvSpPr>
        <p:spPr>
          <a:xfrm>
            <a:off x="3063240" y="1672086"/>
            <a:ext cx="502920" cy="1162554"/>
          </a:xfrm>
          <a:prstGeom prst="rect">
            <a:avLst/>
          </a:prstGeom>
          <a:solidFill>
            <a:srgbClr val="64748B"/>
          </a:solidFill>
          <a:ln w="2540">
            <a:solidFill>
              <a:srgbClr val="64748B"/>
            </a:solidFill>
            <a:prstDash val="solid"/>
          </a:ln>
        </p:spPr>
      </p:sp>
      <p:sp>
        <p:nvSpPr>
          <p:cNvPr id="11" name="Shape 9"/>
          <p:cNvSpPr/>
          <p:nvPr/>
        </p:nvSpPr>
        <p:spPr>
          <a:xfrm>
            <a:off x="3657600" y="1871284"/>
            <a:ext cx="502920" cy="963356"/>
          </a:xfrm>
          <a:prstGeom prst="rect">
            <a:avLst/>
          </a:prstGeom>
          <a:solidFill>
            <a:srgbClr val="2A9D8F"/>
          </a:solidFill>
          <a:ln w="2540">
            <a:solidFill>
              <a:srgbClr val="2A9D8F"/>
            </a:solidFill>
            <a:prstDash val="solid"/>
          </a:ln>
        </p:spPr>
      </p:sp>
      <p:sp>
        <p:nvSpPr>
          <p:cNvPr id="12" name="Text 10"/>
          <p:cNvSpPr/>
          <p:nvPr/>
        </p:nvSpPr>
        <p:spPr>
          <a:xfrm>
            <a:off x="685800" y="1115568"/>
            <a:ext cx="3474720" cy="182880"/>
          </a:xfrm>
          <a:prstGeom prst="rect">
            <a:avLst/>
          </a:prstGeom>
          <a:noFill/>
          <a:ln/>
        </p:spPr>
        <p:txBody>
          <a:bodyPr wrap="square" lIns="0" tIns="0" rIns="0" bIns="0" rtlCol="0" anchor="ctr">
            <a:normAutofit/>
          </a:bodyPr>
          <a:lstStyle/>
          <a:p>
            <a:pPr indent="0" marL="0">
              <a:buNone/>
            </a:pPr>
            <a:r>
              <a:rPr lang="en-US" sz="750" b="1" dirty="0">
                <a:solidFill>
                  <a:srgbClr val="12202F"/>
                </a:solidFill>
              </a:rPr>
              <a:t>Order intake (CHFm)</a:t>
            </a:r>
            <a:endParaRPr lang="en-US" sz="750" dirty="0"/>
          </a:p>
        </p:txBody>
      </p:sp>
      <p:sp>
        <p:nvSpPr>
          <p:cNvPr id="13" name="Text 11"/>
          <p:cNvSpPr/>
          <p:nvPr/>
        </p:nvSpPr>
        <p:spPr>
          <a:xfrm>
            <a:off x="667512" y="2880360"/>
            <a:ext cx="53949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21</a:t>
            </a:r>
            <a:endParaRPr lang="en-US" sz="540" dirty="0"/>
          </a:p>
        </p:txBody>
      </p:sp>
      <p:sp>
        <p:nvSpPr>
          <p:cNvPr id="14" name="Text 12"/>
          <p:cNvSpPr/>
          <p:nvPr/>
        </p:nvSpPr>
        <p:spPr>
          <a:xfrm>
            <a:off x="1261872" y="2880360"/>
            <a:ext cx="53949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22</a:t>
            </a:r>
            <a:endParaRPr lang="en-US" sz="540" dirty="0"/>
          </a:p>
        </p:txBody>
      </p:sp>
      <p:sp>
        <p:nvSpPr>
          <p:cNvPr id="15" name="Text 13"/>
          <p:cNvSpPr/>
          <p:nvPr/>
        </p:nvSpPr>
        <p:spPr>
          <a:xfrm>
            <a:off x="1856232" y="2880360"/>
            <a:ext cx="53949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23</a:t>
            </a:r>
            <a:endParaRPr lang="en-US" sz="540" dirty="0"/>
          </a:p>
        </p:txBody>
      </p:sp>
      <p:sp>
        <p:nvSpPr>
          <p:cNvPr id="16" name="Text 14"/>
          <p:cNvSpPr/>
          <p:nvPr/>
        </p:nvSpPr>
        <p:spPr>
          <a:xfrm>
            <a:off x="2450592" y="2880360"/>
            <a:ext cx="53949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24</a:t>
            </a:r>
            <a:endParaRPr lang="en-US" sz="540" dirty="0"/>
          </a:p>
        </p:txBody>
      </p:sp>
      <p:sp>
        <p:nvSpPr>
          <p:cNvPr id="17" name="Text 15"/>
          <p:cNvSpPr/>
          <p:nvPr/>
        </p:nvSpPr>
        <p:spPr>
          <a:xfrm>
            <a:off x="3044952" y="2880360"/>
            <a:ext cx="53949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25</a:t>
            </a:r>
            <a:endParaRPr lang="en-US" sz="540" dirty="0"/>
          </a:p>
        </p:txBody>
      </p:sp>
      <p:sp>
        <p:nvSpPr>
          <p:cNvPr id="18" name="Text 16"/>
          <p:cNvSpPr/>
          <p:nvPr/>
        </p:nvSpPr>
        <p:spPr>
          <a:xfrm>
            <a:off x="3639312" y="2880360"/>
            <a:ext cx="53949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H1</a:t>
            </a:r>
            <a:endParaRPr lang="en-US" sz="540" dirty="0"/>
          </a:p>
          <a:p>
            <a:pPr algn="ctr" indent="0" marL="0">
              <a:buNone/>
            </a:pPr>
            <a:r>
              <a:rPr lang="en-US" sz="540" dirty="0">
                <a:solidFill>
                  <a:srgbClr val="64748B"/>
                </a:solidFill>
              </a:rPr>
              <a:t>26</a:t>
            </a:r>
            <a:endParaRPr lang="en-US" sz="540" dirty="0"/>
          </a:p>
        </p:txBody>
      </p:sp>
      <p:sp>
        <p:nvSpPr>
          <p:cNvPr id="19" name="Shape 17"/>
          <p:cNvSpPr/>
          <p:nvPr/>
        </p:nvSpPr>
        <p:spPr>
          <a:xfrm>
            <a:off x="4526280" y="2834640"/>
            <a:ext cx="3474720" cy="0"/>
          </a:xfrm>
          <a:prstGeom prst="line">
            <a:avLst/>
          </a:prstGeom>
          <a:noFill/>
          <a:ln w="10160">
            <a:solidFill>
              <a:srgbClr val="D5DEE6"/>
            </a:solidFill>
            <a:prstDash val="solid"/>
          </a:ln>
        </p:spPr>
      </p:sp>
      <p:sp>
        <p:nvSpPr>
          <p:cNvPr id="20" name="Shape 18"/>
          <p:cNvSpPr/>
          <p:nvPr/>
        </p:nvSpPr>
        <p:spPr>
          <a:xfrm>
            <a:off x="4526280" y="1871124"/>
            <a:ext cx="502920" cy="963516"/>
          </a:xfrm>
          <a:prstGeom prst="rect">
            <a:avLst/>
          </a:prstGeom>
          <a:solidFill>
            <a:srgbClr val="64748B"/>
          </a:solidFill>
          <a:ln w="2540">
            <a:solidFill>
              <a:srgbClr val="64748B"/>
            </a:solidFill>
            <a:prstDash val="solid"/>
          </a:ln>
        </p:spPr>
      </p:sp>
      <p:sp>
        <p:nvSpPr>
          <p:cNvPr id="21" name="Shape 19"/>
          <p:cNvSpPr/>
          <p:nvPr/>
        </p:nvSpPr>
        <p:spPr>
          <a:xfrm>
            <a:off x="5120640" y="1751990"/>
            <a:ext cx="502920" cy="1082650"/>
          </a:xfrm>
          <a:prstGeom prst="rect">
            <a:avLst/>
          </a:prstGeom>
          <a:solidFill>
            <a:srgbClr val="64748B"/>
          </a:solidFill>
          <a:ln w="2540">
            <a:solidFill>
              <a:srgbClr val="64748B"/>
            </a:solidFill>
            <a:prstDash val="solid"/>
          </a:ln>
        </p:spPr>
      </p:sp>
      <p:sp>
        <p:nvSpPr>
          <p:cNvPr id="22" name="Shape 20"/>
          <p:cNvSpPr/>
          <p:nvPr/>
        </p:nvSpPr>
        <p:spPr>
          <a:xfrm>
            <a:off x="5715000" y="2224343"/>
            <a:ext cx="502920" cy="610297"/>
          </a:xfrm>
          <a:prstGeom prst="rect">
            <a:avLst/>
          </a:prstGeom>
          <a:solidFill>
            <a:srgbClr val="64748B"/>
          </a:solidFill>
          <a:ln w="2540">
            <a:solidFill>
              <a:srgbClr val="64748B"/>
            </a:solidFill>
            <a:prstDash val="solid"/>
          </a:ln>
        </p:spPr>
      </p:sp>
      <p:sp>
        <p:nvSpPr>
          <p:cNvPr id="23" name="Shape 21"/>
          <p:cNvSpPr/>
          <p:nvPr/>
        </p:nvSpPr>
        <p:spPr>
          <a:xfrm>
            <a:off x="6309360" y="2061319"/>
            <a:ext cx="502920" cy="773321"/>
          </a:xfrm>
          <a:prstGeom prst="rect">
            <a:avLst/>
          </a:prstGeom>
          <a:solidFill>
            <a:srgbClr val="64748B"/>
          </a:solidFill>
          <a:ln w="2540">
            <a:solidFill>
              <a:srgbClr val="64748B"/>
            </a:solidFill>
            <a:prstDash val="solid"/>
          </a:ln>
        </p:spPr>
      </p:sp>
      <p:sp>
        <p:nvSpPr>
          <p:cNvPr id="24" name="Shape 22"/>
          <p:cNvSpPr/>
          <p:nvPr/>
        </p:nvSpPr>
        <p:spPr>
          <a:xfrm>
            <a:off x="6903720" y="2199263"/>
            <a:ext cx="502920" cy="635377"/>
          </a:xfrm>
          <a:prstGeom prst="rect">
            <a:avLst/>
          </a:prstGeom>
          <a:solidFill>
            <a:srgbClr val="64748B"/>
          </a:solidFill>
          <a:ln w="2540">
            <a:solidFill>
              <a:srgbClr val="64748B"/>
            </a:solidFill>
            <a:prstDash val="solid"/>
          </a:ln>
        </p:spPr>
      </p:sp>
      <p:sp>
        <p:nvSpPr>
          <p:cNvPr id="25" name="Shape 23"/>
          <p:cNvSpPr/>
          <p:nvPr/>
        </p:nvSpPr>
        <p:spPr>
          <a:xfrm>
            <a:off x="7498080" y="1480283"/>
            <a:ext cx="502920" cy="1354357"/>
          </a:xfrm>
          <a:prstGeom prst="rect">
            <a:avLst/>
          </a:prstGeom>
          <a:solidFill>
            <a:srgbClr val="2A9D8F"/>
          </a:solidFill>
          <a:ln w="2540">
            <a:solidFill>
              <a:srgbClr val="2A9D8F"/>
            </a:solidFill>
            <a:prstDash val="solid"/>
          </a:ln>
        </p:spPr>
      </p:sp>
      <p:sp>
        <p:nvSpPr>
          <p:cNvPr id="26" name="Text 24"/>
          <p:cNvSpPr/>
          <p:nvPr/>
        </p:nvSpPr>
        <p:spPr>
          <a:xfrm>
            <a:off x="4526280" y="1115568"/>
            <a:ext cx="3474720" cy="182880"/>
          </a:xfrm>
          <a:prstGeom prst="rect">
            <a:avLst/>
          </a:prstGeom>
          <a:noFill/>
          <a:ln/>
        </p:spPr>
        <p:txBody>
          <a:bodyPr wrap="square" lIns="0" tIns="0" rIns="0" bIns="0" rtlCol="0" anchor="ctr">
            <a:normAutofit/>
          </a:bodyPr>
          <a:lstStyle/>
          <a:p>
            <a:pPr indent="0" marL="0">
              <a:buNone/>
            </a:pPr>
            <a:r>
              <a:rPr lang="en-US" sz="750" b="1" dirty="0">
                <a:solidFill>
                  <a:srgbClr val="12202F"/>
                </a:solidFill>
              </a:rPr>
              <a:t>Order backlog (CHFm)</a:t>
            </a:r>
            <a:endParaRPr lang="en-US" sz="750" dirty="0"/>
          </a:p>
        </p:txBody>
      </p:sp>
      <p:sp>
        <p:nvSpPr>
          <p:cNvPr id="27" name="Text 25"/>
          <p:cNvSpPr/>
          <p:nvPr/>
        </p:nvSpPr>
        <p:spPr>
          <a:xfrm>
            <a:off x="4507992" y="2880360"/>
            <a:ext cx="53949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21</a:t>
            </a:r>
            <a:endParaRPr lang="en-US" sz="540" dirty="0"/>
          </a:p>
        </p:txBody>
      </p:sp>
      <p:sp>
        <p:nvSpPr>
          <p:cNvPr id="28" name="Text 26"/>
          <p:cNvSpPr/>
          <p:nvPr/>
        </p:nvSpPr>
        <p:spPr>
          <a:xfrm>
            <a:off x="5102352" y="2880360"/>
            <a:ext cx="53949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22</a:t>
            </a:r>
            <a:endParaRPr lang="en-US" sz="540" dirty="0"/>
          </a:p>
        </p:txBody>
      </p:sp>
      <p:sp>
        <p:nvSpPr>
          <p:cNvPr id="29" name="Text 27"/>
          <p:cNvSpPr/>
          <p:nvPr/>
        </p:nvSpPr>
        <p:spPr>
          <a:xfrm>
            <a:off x="5696712" y="2880360"/>
            <a:ext cx="53949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23</a:t>
            </a:r>
            <a:endParaRPr lang="en-US" sz="540" dirty="0"/>
          </a:p>
        </p:txBody>
      </p:sp>
      <p:sp>
        <p:nvSpPr>
          <p:cNvPr id="30" name="Text 28"/>
          <p:cNvSpPr/>
          <p:nvPr/>
        </p:nvSpPr>
        <p:spPr>
          <a:xfrm>
            <a:off x="6291072" y="2880360"/>
            <a:ext cx="53949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24</a:t>
            </a:r>
            <a:endParaRPr lang="en-US" sz="540" dirty="0"/>
          </a:p>
        </p:txBody>
      </p:sp>
      <p:sp>
        <p:nvSpPr>
          <p:cNvPr id="31" name="Text 29"/>
          <p:cNvSpPr/>
          <p:nvPr/>
        </p:nvSpPr>
        <p:spPr>
          <a:xfrm>
            <a:off x="6885432" y="2880360"/>
            <a:ext cx="53949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25</a:t>
            </a:r>
            <a:endParaRPr lang="en-US" sz="540" dirty="0"/>
          </a:p>
        </p:txBody>
      </p:sp>
      <p:sp>
        <p:nvSpPr>
          <p:cNvPr id="32" name="Text 30"/>
          <p:cNvSpPr/>
          <p:nvPr/>
        </p:nvSpPr>
        <p:spPr>
          <a:xfrm>
            <a:off x="7479792" y="2880360"/>
            <a:ext cx="53949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H1</a:t>
            </a:r>
            <a:endParaRPr lang="en-US" sz="540" dirty="0"/>
          </a:p>
          <a:p>
            <a:pPr algn="ctr" indent="0" marL="0">
              <a:buNone/>
            </a:pPr>
            <a:r>
              <a:rPr lang="en-US" sz="540" dirty="0">
                <a:solidFill>
                  <a:srgbClr val="64748B"/>
                </a:solidFill>
              </a:rPr>
              <a:t>26</a:t>
            </a:r>
            <a:endParaRPr lang="en-US" sz="540" dirty="0"/>
          </a:p>
        </p:txBody>
      </p:sp>
      <p:sp>
        <p:nvSpPr>
          <p:cNvPr id="33" name="Shape 31"/>
          <p:cNvSpPr/>
          <p:nvPr/>
        </p:nvSpPr>
        <p:spPr>
          <a:xfrm>
            <a:off x="8412480" y="2834640"/>
            <a:ext cx="2651760" cy="0"/>
          </a:xfrm>
          <a:prstGeom prst="line">
            <a:avLst/>
          </a:prstGeom>
          <a:noFill/>
          <a:ln w="10160">
            <a:solidFill>
              <a:srgbClr val="D5DEE6"/>
            </a:solidFill>
            <a:prstDash val="solid"/>
          </a:ln>
        </p:spPr>
      </p:sp>
      <p:sp>
        <p:nvSpPr>
          <p:cNvPr id="34" name="Shape 32"/>
          <p:cNvSpPr/>
          <p:nvPr/>
        </p:nvSpPr>
        <p:spPr>
          <a:xfrm>
            <a:off x="8412480" y="1371600"/>
            <a:ext cx="0" cy="1463040"/>
          </a:xfrm>
          <a:prstGeom prst="line">
            <a:avLst/>
          </a:prstGeom>
          <a:noFill/>
          <a:ln w="10160">
            <a:solidFill>
              <a:srgbClr val="D5DEE6"/>
            </a:solidFill>
            <a:prstDash val="solid"/>
          </a:ln>
        </p:spPr>
      </p:sp>
      <p:sp>
        <p:nvSpPr>
          <p:cNvPr id="35" name="Shape 33"/>
          <p:cNvSpPr/>
          <p:nvPr/>
        </p:nvSpPr>
        <p:spPr>
          <a:xfrm>
            <a:off x="8412480" y="1895856"/>
            <a:ext cx="530352" cy="377952"/>
          </a:xfrm>
          <a:prstGeom prst="line">
            <a:avLst/>
          </a:prstGeom>
          <a:noFill/>
          <a:ln w="20320">
            <a:solidFill>
              <a:srgbClr val="2A9D8F"/>
            </a:solidFill>
            <a:prstDash val="solid"/>
          </a:ln>
        </p:spPr>
      </p:sp>
      <p:sp>
        <p:nvSpPr>
          <p:cNvPr id="36" name="Shape 34"/>
          <p:cNvSpPr/>
          <p:nvPr/>
        </p:nvSpPr>
        <p:spPr>
          <a:xfrm>
            <a:off x="8942832" y="2273808"/>
            <a:ext cx="530352" cy="341376"/>
          </a:xfrm>
          <a:prstGeom prst="line">
            <a:avLst/>
          </a:prstGeom>
          <a:noFill/>
          <a:ln w="20320">
            <a:solidFill>
              <a:srgbClr val="2A9D8F"/>
            </a:solidFill>
            <a:prstDash val="solid"/>
          </a:ln>
        </p:spPr>
      </p:sp>
      <p:sp>
        <p:nvSpPr>
          <p:cNvPr id="37" name="Shape 35"/>
          <p:cNvSpPr/>
          <p:nvPr/>
        </p:nvSpPr>
        <p:spPr>
          <a:xfrm>
            <a:off x="9473184" y="2615184"/>
            <a:ext cx="530352" cy="-390144"/>
          </a:xfrm>
          <a:prstGeom prst="line">
            <a:avLst/>
          </a:prstGeom>
          <a:noFill/>
          <a:ln w="20320">
            <a:solidFill>
              <a:srgbClr val="2A9D8F"/>
            </a:solidFill>
            <a:prstDash val="solid"/>
          </a:ln>
        </p:spPr>
      </p:sp>
      <p:sp>
        <p:nvSpPr>
          <p:cNvPr id="38" name="Shape 36"/>
          <p:cNvSpPr/>
          <p:nvPr/>
        </p:nvSpPr>
        <p:spPr>
          <a:xfrm>
            <a:off x="10003536" y="2225040"/>
            <a:ext cx="530352" cy="170688"/>
          </a:xfrm>
          <a:prstGeom prst="line">
            <a:avLst/>
          </a:prstGeom>
          <a:noFill/>
          <a:ln w="20320">
            <a:solidFill>
              <a:srgbClr val="2A9D8F"/>
            </a:solidFill>
            <a:prstDash val="solid"/>
          </a:ln>
        </p:spPr>
      </p:sp>
      <p:sp>
        <p:nvSpPr>
          <p:cNvPr id="39" name="Shape 37"/>
          <p:cNvSpPr/>
          <p:nvPr/>
        </p:nvSpPr>
        <p:spPr>
          <a:xfrm>
            <a:off x="10533888" y="2395728"/>
            <a:ext cx="530352" cy="-865632"/>
          </a:xfrm>
          <a:prstGeom prst="line">
            <a:avLst/>
          </a:prstGeom>
          <a:noFill/>
          <a:ln w="20320">
            <a:solidFill>
              <a:srgbClr val="2A9D8F"/>
            </a:solidFill>
            <a:prstDash val="solid"/>
          </a:ln>
        </p:spPr>
      </p:sp>
      <p:sp>
        <p:nvSpPr>
          <p:cNvPr id="40" name="Text 38"/>
          <p:cNvSpPr/>
          <p:nvPr/>
        </p:nvSpPr>
        <p:spPr>
          <a:xfrm>
            <a:off x="8412480" y="1115568"/>
            <a:ext cx="2651760" cy="182880"/>
          </a:xfrm>
          <a:prstGeom prst="rect">
            <a:avLst/>
          </a:prstGeom>
          <a:noFill/>
          <a:ln/>
        </p:spPr>
        <p:txBody>
          <a:bodyPr wrap="square" lIns="0" tIns="0" rIns="0" bIns="0" rtlCol="0" anchor="ctr">
            <a:normAutofit/>
          </a:bodyPr>
          <a:lstStyle/>
          <a:p>
            <a:pPr indent="0" marL="0">
              <a:buNone/>
            </a:pPr>
            <a:r>
              <a:rPr lang="en-US" sz="750" b="1" dirty="0">
                <a:solidFill>
                  <a:srgbClr val="12202F"/>
                </a:solidFill>
              </a:rPr>
              <a:t>Book-to-bill (x)</a:t>
            </a:r>
            <a:endParaRPr lang="en-US" sz="750" dirty="0"/>
          </a:p>
        </p:txBody>
      </p:sp>
      <p:sp>
        <p:nvSpPr>
          <p:cNvPr id="41" name="Text 39"/>
          <p:cNvSpPr/>
          <p:nvPr/>
        </p:nvSpPr>
        <p:spPr>
          <a:xfrm>
            <a:off x="8412480" y="2880360"/>
            <a:ext cx="2651760" cy="146304"/>
          </a:xfrm>
          <a:prstGeom prst="rect">
            <a:avLst/>
          </a:prstGeom>
          <a:noFill/>
          <a:ln/>
        </p:spPr>
        <p:txBody>
          <a:bodyPr wrap="square" lIns="0" tIns="0" rIns="0" bIns="0" rtlCol="0" anchor="ctr">
            <a:normAutofit/>
          </a:bodyPr>
          <a:lstStyle/>
          <a:p>
            <a:pPr algn="ctr" indent="0" marL="0">
              <a:buNone/>
            </a:pPr>
            <a:r>
              <a:rPr lang="en-US" sz="500" dirty="0">
                <a:solidFill>
                  <a:srgbClr val="64748B"/>
                </a:solidFill>
              </a:rPr>
              <a:t>21   22   23   24   25   H1 26</a:t>
            </a:r>
            <a:endParaRPr lang="en-US" sz="500" dirty="0"/>
          </a:p>
        </p:txBody>
      </p:sp>
      <p:sp>
        <p:nvSpPr>
          <p:cNvPr id="42" name="Text 40"/>
          <p:cNvSpPr/>
          <p:nvPr/>
        </p:nvSpPr>
        <p:spPr>
          <a:xfrm>
            <a:off x="777240" y="4754880"/>
            <a:ext cx="10332720" cy="548640"/>
          </a:xfrm>
          <a:prstGeom prst="rect">
            <a:avLst/>
          </a:prstGeom>
          <a:solidFill>
            <a:srgbClr val="FFFFFF"/>
          </a:solidFill>
          <a:ln w="10160">
            <a:solidFill>
              <a:srgbClr val="D5DEE6"/>
            </a:solidFill>
          </a:ln>
        </p:spPr>
        <p:txBody>
          <a:bodyPr wrap="square" lIns="1016" tIns="1016" rIns="1016" bIns="1016" rtlCol="0" anchor="ctr">
            <a:normAutofit/>
          </a:bodyPr>
          <a:lstStyle/>
          <a:p>
            <a:pPr algn="l" indent="0" marL="0">
              <a:buNone/>
            </a:pPr>
            <a:r>
              <a:rPr lang="en-US" sz="900" dirty="0">
                <a:solidFill>
                  <a:srgbClr val="24313F"/>
                </a:solidFill>
                <a:latin typeface="Aptos" pitchFamily="34" charset="0"/>
                <a:ea typeface="Aptos" pitchFamily="34" charset="-122"/>
                <a:cs typeface="Aptos" pitchFamily="34" charset="-120"/>
              </a:rPr>
              <a:t>Monitoring framework: sequential order intake, service orders, cancellation commentary, customer deposits / inventories, lead times, and quarterly factory output run-rate.</a:t>
            </a:r>
            <a:endParaRPr lang="en-US" sz="900" dirty="0"/>
          </a:p>
        </p:txBody>
      </p:sp>
      <p:sp>
        <p:nvSpPr>
          <p:cNvPr id="43" name="Shape 41"/>
          <p:cNvSpPr/>
          <p:nvPr/>
        </p:nvSpPr>
        <p:spPr>
          <a:xfrm>
            <a:off x="411480" y="6510528"/>
            <a:ext cx="11384280" cy="0"/>
          </a:xfrm>
          <a:prstGeom prst="line">
            <a:avLst/>
          </a:prstGeom>
          <a:noFill/>
          <a:ln w="7620">
            <a:solidFill>
              <a:srgbClr val="D5DEE6"/>
            </a:solidFill>
            <a:prstDash val="solid"/>
          </a:ln>
        </p:spPr>
      </p:sp>
      <p:sp>
        <p:nvSpPr>
          <p:cNvPr id="44" name="Text 42"/>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VAT annual reports; VAT H1 2026 report; analyst calculations.</a:t>
            </a:r>
            <a:endParaRPr lang="en-US" sz="580" dirty="0"/>
          </a:p>
        </p:txBody>
      </p:sp>
      <p:sp>
        <p:nvSpPr>
          <p:cNvPr id="45" name="Text 43"/>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20</a:t>
            </a:r>
            <a:endParaRPr lang="en-US" sz="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A11. Segment and geography mix remain semiconductor-heavy and APAC-heavy</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The mix supports the thesis, but also creates China and memory-cycle sensitivity.</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Text 3"/>
          <p:cNvSpPr/>
          <p:nvPr/>
        </p:nvSpPr>
        <p:spPr>
          <a:xfrm>
            <a:off x="822960" y="1197864"/>
            <a:ext cx="4023360" cy="155448"/>
          </a:xfrm>
          <a:prstGeom prst="rect">
            <a:avLst/>
          </a:prstGeom>
          <a:noFill/>
          <a:ln/>
        </p:spPr>
        <p:txBody>
          <a:bodyPr wrap="square" lIns="0" tIns="0" rIns="0" bIns="0" rtlCol="0" anchor="ctr">
            <a:normAutofit/>
          </a:bodyPr>
          <a:lstStyle/>
          <a:p>
            <a:pPr indent="0" marL="0">
              <a:buNone/>
            </a:pPr>
            <a:r>
              <a:rPr lang="en-US" sz="750" b="1" dirty="0">
                <a:solidFill>
                  <a:srgbClr val="12202F"/>
                </a:solidFill>
              </a:rPr>
              <a:t>Business-segment mix, 2025</a:t>
            </a:r>
            <a:endParaRPr lang="en-US" sz="750" dirty="0"/>
          </a:p>
        </p:txBody>
      </p:sp>
      <p:sp>
        <p:nvSpPr>
          <p:cNvPr id="6" name="Shape 4"/>
          <p:cNvSpPr/>
          <p:nvPr/>
        </p:nvSpPr>
        <p:spPr>
          <a:xfrm>
            <a:off x="822960" y="1417320"/>
            <a:ext cx="3299155" cy="438912"/>
          </a:xfrm>
          <a:prstGeom prst="rect">
            <a:avLst/>
          </a:prstGeom>
          <a:solidFill>
            <a:srgbClr val="2A9D8F"/>
          </a:solidFill>
          <a:ln w="1270">
            <a:solidFill>
              <a:srgbClr val="2A9D8F"/>
            </a:solidFill>
            <a:prstDash val="solid"/>
          </a:ln>
        </p:spPr>
      </p:sp>
      <p:sp>
        <p:nvSpPr>
          <p:cNvPr id="7" name="Shape 5"/>
          <p:cNvSpPr/>
          <p:nvPr/>
        </p:nvSpPr>
        <p:spPr>
          <a:xfrm>
            <a:off x="4122115" y="1417320"/>
            <a:ext cx="724205" cy="438912"/>
          </a:xfrm>
          <a:prstGeom prst="rect">
            <a:avLst/>
          </a:prstGeom>
          <a:solidFill>
            <a:srgbClr val="3B6EA5"/>
          </a:solidFill>
          <a:ln w="1270">
            <a:solidFill>
              <a:srgbClr val="3B6EA5"/>
            </a:solidFill>
            <a:prstDash val="solid"/>
          </a:ln>
        </p:spPr>
      </p:sp>
      <p:sp>
        <p:nvSpPr>
          <p:cNvPr id="8" name="Text 6"/>
          <p:cNvSpPr/>
          <p:nvPr/>
        </p:nvSpPr>
        <p:spPr>
          <a:xfrm>
            <a:off x="822960" y="1920240"/>
            <a:ext cx="4023360" cy="146304"/>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Valves 82%   Global Service 18%</a:t>
            </a:r>
            <a:endParaRPr lang="en-US" sz="540" dirty="0"/>
          </a:p>
        </p:txBody>
      </p:sp>
      <p:sp>
        <p:nvSpPr>
          <p:cNvPr id="9" name="Text 7"/>
          <p:cNvSpPr/>
          <p:nvPr/>
        </p:nvSpPr>
        <p:spPr>
          <a:xfrm>
            <a:off x="822960" y="2295144"/>
            <a:ext cx="4023360" cy="155448"/>
          </a:xfrm>
          <a:prstGeom prst="rect">
            <a:avLst/>
          </a:prstGeom>
          <a:noFill/>
          <a:ln/>
        </p:spPr>
        <p:txBody>
          <a:bodyPr wrap="square" lIns="0" tIns="0" rIns="0" bIns="0" rtlCol="0" anchor="ctr">
            <a:normAutofit/>
          </a:bodyPr>
          <a:lstStyle/>
          <a:p>
            <a:pPr indent="0" marL="0">
              <a:buNone/>
            </a:pPr>
            <a:r>
              <a:rPr lang="en-US" sz="750" b="1" dirty="0">
                <a:solidFill>
                  <a:srgbClr val="12202F"/>
                </a:solidFill>
              </a:rPr>
              <a:t>Market-segment mix, 2025</a:t>
            </a:r>
            <a:endParaRPr lang="en-US" sz="750" dirty="0"/>
          </a:p>
        </p:txBody>
      </p:sp>
      <p:sp>
        <p:nvSpPr>
          <p:cNvPr id="10" name="Shape 8"/>
          <p:cNvSpPr/>
          <p:nvPr/>
        </p:nvSpPr>
        <p:spPr>
          <a:xfrm>
            <a:off x="822960" y="2514600"/>
            <a:ext cx="2695651" cy="438912"/>
          </a:xfrm>
          <a:prstGeom prst="rect">
            <a:avLst/>
          </a:prstGeom>
          <a:solidFill>
            <a:srgbClr val="2A9D8F"/>
          </a:solidFill>
          <a:ln w="1270">
            <a:solidFill>
              <a:srgbClr val="2A9D8F"/>
            </a:solidFill>
            <a:prstDash val="solid"/>
          </a:ln>
        </p:spPr>
      </p:sp>
      <p:sp>
        <p:nvSpPr>
          <p:cNvPr id="11" name="Shape 9"/>
          <p:cNvSpPr/>
          <p:nvPr/>
        </p:nvSpPr>
        <p:spPr>
          <a:xfrm>
            <a:off x="3518611" y="2514600"/>
            <a:ext cx="764438" cy="438912"/>
          </a:xfrm>
          <a:prstGeom prst="rect">
            <a:avLst/>
          </a:prstGeom>
          <a:solidFill>
            <a:srgbClr val="3B6EA5"/>
          </a:solidFill>
          <a:ln w="1270">
            <a:solidFill>
              <a:srgbClr val="3B6EA5"/>
            </a:solidFill>
            <a:prstDash val="solid"/>
          </a:ln>
        </p:spPr>
      </p:sp>
      <p:sp>
        <p:nvSpPr>
          <p:cNvPr id="12" name="Shape 10"/>
          <p:cNvSpPr/>
          <p:nvPr/>
        </p:nvSpPr>
        <p:spPr>
          <a:xfrm>
            <a:off x="4283050" y="2514600"/>
            <a:ext cx="563270" cy="438912"/>
          </a:xfrm>
          <a:prstGeom prst="rect">
            <a:avLst/>
          </a:prstGeom>
          <a:solidFill>
            <a:srgbClr val="64748B"/>
          </a:solidFill>
          <a:ln w="1270">
            <a:solidFill>
              <a:srgbClr val="64748B"/>
            </a:solidFill>
            <a:prstDash val="solid"/>
          </a:ln>
        </p:spPr>
      </p:sp>
      <p:sp>
        <p:nvSpPr>
          <p:cNvPr id="13" name="Text 11"/>
          <p:cNvSpPr/>
          <p:nvPr/>
        </p:nvSpPr>
        <p:spPr>
          <a:xfrm>
            <a:off x="822960" y="3017520"/>
            <a:ext cx="4023360" cy="146304"/>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Semi 67%   Service 19%   Adv. Ind. 14%</a:t>
            </a:r>
            <a:endParaRPr lang="en-US" sz="540" dirty="0"/>
          </a:p>
        </p:txBody>
      </p:sp>
      <p:sp>
        <p:nvSpPr>
          <p:cNvPr id="14" name="Text 12"/>
          <p:cNvSpPr/>
          <p:nvPr/>
        </p:nvSpPr>
        <p:spPr>
          <a:xfrm>
            <a:off x="822960" y="3392424"/>
            <a:ext cx="4023360" cy="155448"/>
          </a:xfrm>
          <a:prstGeom prst="rect">
            <a:avLst/>
          </a:prstGeom>
          <a:noFill/>
          <a:ln/>
        </p:spPr>
        <p:txBody>
          <a:bodyPr wrap="square" lIns="0" tIns="0" rIns="0" bIns="0" rtlCol="0" anchor="ctr">
            <a:normAutofit/>
          </a:bodyPr>
          <a:lstStyle/>
          <a:p>
            <a:pPr indent="0" marL="0">
              <a:buNone/>
            </a:pPr>
            <a:r>
              <a:rPr lang="en-US" sz="750" b="1" dirty="0">
                <a:solidFill>
                  <a:srgbClr val="12202F"/>
                </a:solidFill>
              </a:rPr>
              <a:t>Geography mix, 2025</a:t>
            </a:r>
            <a:endParaRPr lang="en-US" sz="750" dirty="0"/>
          </a:p>
        </p:txBody>
      </p:sp>
      <p:sp>
        <p:nvSpPr>
          <p:cNvPr id="15" name="Shape 13"/>
          <p:cNvSpPr/>
          <p:nvPr/>
        </p:nvSpPr>
        <p:spPr>
          <a:xfrm>
            <a:off x="822960" y="3611880"/>
            <a:ext cx="2937053" cy="438912"/>
          </a:xfrm>
          <a:prstGeom prst="rect">
            <a:avLst/>
          </a:prstGeom>
          <a:solidFill>
            <a:srgbClr val="2A9D8F"/>
          </a:solidFill>
          <a:ln w="1270">
            <a:solidFill>
              <a:srgbClr val="2A9D8F"/>
            </a:solidFill>
            <a:prstDash val="solid"/>
          </a:ln>
        </p:spPr>
      </p:sp>
      <p:sp>
        <p:nvSpPr>
          <p:cNvPr id="16" name="Shape 14"/>
          <p:cNvSpPr/>
          <p:nvPr/>
        </p:nvSpPr>
        <p:spPr>
          <a:xfrm>
            <a:off x="3760013" y="3611880"/>
            <a:ext cx="603504" cy="438912"/>
          </a:xfrm>
          <a:prstGeom prst="rect">
            <a:avLst/>
          </a:prstGeom>
          <a:solidFill>
            <a:srgbClr val="3B6EA5"/>
          </a:solidFill>
          <a:ln w="1270">
            <a:solidFill>
              <a:srgbClr val="3B6EA5"/>
            </a:solidFill>
            <a:prstDash val="solid"/>
          </a:ln>
        </p:spPr>
      </p:sp>
      <p:sp>
        <p:nvSpPr>
          <p:cNvPr id="17" name="Shape 15"/>
          <p:cNvSpPr/>
          <p:nvPr/>
        </p:nvSpPr>
        <p:spPr>
          <a:xfrm>
            <a:off x="4363517" y="3611880"/>
            <a:ext cx="482803" cy="438912"/>
          </a:xfrm>
          <a:prstGeom prst="rect">
            <a:avLst/>
          </a:prstGeom>
          <a:solidFill>
            <a:srgbClr val="64748B"/>
          </a:solidFill>
          <a:ln w="1270">
            <a:solidFill>
              <a:srgbClr val="64748B"/>
            </a:solidFill>
            <a:prstDash val="solid"/>
          </a:ln>
        </p:spPr>
      </p:sp>
      <p:sp>
        <p:nvSpPr>
          <p:cNvPr id="18" name="Text 16"/>
          <p:cNvSpPr/>
          <p:nvPr/>
        </p:nvSpPr>
        <p:spPr>
          <a:xfrm>
            <a:off x="822960" y="4114800"/>
            <a:ext cx="4023360" cy="146304"/>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APAC 73%   Americas 15%   EMEA 12%</a:t>
            </a:r>
            <a:endParaRPr lang="en-US" sz="540" dirty="0"/>
          </a:p>
        </p:txBody>
      </p:sp>
      <p:sp>
        <p:nvSpPr>
          <p:cNvPr id="19" name="Shape 17"/>
          <p:cNvSpPr/>
          <p:nvPr/>
        </p:nvSpPr>
        <p:spPr>
          <a:xfrm>
            <a:off x="5669280" y="3520440"/>
            <a:ext cx="4754880" cy="0"/>
          </a:xfrm>
          <a:prstGeom prst="line">
            <a:avLst/>
          </a:prstGeom>
          <a:noFill/>
          <a:ln w="10160">
            <a:solidFill>
              <a:srgbClr val="D5DEE6"/>
            </a:solidFill>
            <a:prstDash val="solid"/>
          </a:ln>
        </p:spPr>
      </p:sp>
      <p:sp>
        <p:nvSpPr>
          <p:cNvPr id="20" name="Shape 18"/>
          <p:cNvSpPr/>
          <p:nvPr/>
        </p:nvSpPr>
        <p:spPr>
          <a:xfrm>
            <a:off x="5669280" y="2035454"/>
            <a:ext cx="1120140" cy="1484986"/>
          </a:xfrm>
          <a:prstGeom prst="rect">
            <a:avLst/>
          </a:prstGeom>
          <a:solidFill>
            <a:srgbClr val="2A9D8F"/>
          </a:solidFill>
          <a:ln w="2540">
            <a:solidFill>
              <a:srgbClr val="2A9D8F"/>
            </a:solidFill>
            <a:prstDash val="solid"/>
          </a:ln>
        </p:spPr>
      </p:sp>
      <p:sp>
        <p:nvSpPr>
          <p:cNvPr id="21" name="Shape 19"/>
          <p:cNvSpPr/>
          <p:nvPr/>
        </p:nvSpPr>
        <p:spPr>
          <a:xfrm>
            <a:off x="6880860" y="3132734"/>
            <a:ext cx="1120140" cy="387706"/>
          </a:xfrm>
          <a:prstGeom prst="rect">
            <a:avLst/>
          </a:prstGeom>
          <a:solidFill>
            <a:srgbClr val="3B6EA5"/>
          </a:solidFill>
          <a:ln w="2540">
            <a:solidFill>
              <a:srgbClr val="3B6EA5"/>
            </a:solidFill>
            <a:prstDash val="solid"/>
          </a:ln>
        </p:spPr>
      </p:sp>
      <p:sp>
        <p:nvSpPr>
          <p:cNvPr id="22" name="Shape 20"/>
          <p:cNvSpPr/>
          <p:nvPr/>
        </p:nvSpPr>
        <p:spPr>
          <a:xfrm>
            <a:off x="8092440" y="1812341"/>
            <a:ext cx="1120140" cy="1708099"/>
          </a:xfrm>
          <a:prstGeom prst="rect">
            <a:avLst/>
          </a:prstGeom>
          <a:solidFill>
            <a:srgbClr val="64748B"/>
          </a:solidFill>
          <a:ln w="2540">
            <a:solidFill>
              <a:srgbClr val="64748B"/>
            </a:solidFill>
            <a:prstDash val="solid"/>
          </a:ln>
        </p:spPr>
      </p:sp>
      <p:sp>
        <p:nvSpPr>
          <p:cNvPr id="23" name="Shape 21"/>
          <p:cNvSpPr/>
          <p:nvPr/>
        </p:nvSpPr>
        <p:spPr>
          <a:xfrm>
            <a:off x="9304020" y="3187598"/>
            <a:ext cx="1120140" cy="332842"/>
          </a:xfrm>
          <a:prstGeom prst="rect">
            <a:avLst/>
          </a:prstGeom>
          <a:solidFill>
            <a:srgbClr val="64748B"/>
          </a:solidFill>
          <a:ln w="2540">
            <a:solidFill>
              <a:srgbClr val="64748B"/>
            </a:solidFill>
            <a:prstDash val="solid"/>
          </a:ln>
        </p:spPr>
      </p:sp>
      <p:sp>
        <p:nvSpPr>
          <p:cNvPr id="24" name="Text 22"/>
          <p:cNvSpPr/>
          <p:nvPr/>
        </p:nvSpPr>
        <p:spPr>
          <a:xfrm>
            <a:off x="5669280" y="1435608"/>
            <a:ext cx="4754880" cy="182880"/>
          </a:xfrm>
          <a:prstGeom prst="rect">
            <a:avLst/>
          </a:prstGeom>
          <a:noFill/>
          <a:ln/>
        </p:spPr>
        <p:txBody>
          <a:bodyPr wrap="square" lIns="0" tIns="0" rIns="0" bIns="0" rtlCol="0" anchor="ctr">
            <a:normAutofit/>
          </a:bodyPr>
          <a:lstStyle/>
          <a:p>
            <a:pPr indent="0" marL="0">
              <a:buNone/>
            </a:pPr>
            <a:r>
              <a:rPr lang="en-US" sz="750" b="1" dirty="0">
                <a:solidFill>
                  <a:srgbClr val="12202F"/>
                </a:solidFill>
              </a:rPr>
              <a:t>Segment revenue comparison (CHFm)</a:t>
            </a:r>
            <a:endParaRPr lang="en-US" sz="750" dirty="0"/>
          </a:p>
        </p:txBody>
      </p:sp>
      <p:sp>
        <p:nvSpPr>
          <p:cNvPr id="25" name="Text 23"/>
          <p:cNvSpPr/>
          <p:nvPr/>
        </p:nvSpPr>
        <p:spPr>
          <a:xfrm>
            <a:off x="5650992" y="3566160"/>
            <a:ext cx="115671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Valves</a:t>
            </a:r>
            <a:endParaRPr lang="en-US" sz="540" dirty="0"/>
          </a:p>
          <a:p>
            <a:pPr algn="ctr" indent="0" marL="0">
              <a:buNone/>
            </a:pPr>
            <a:r>
              <a:rPr lang="en-US" sz="540" dirty="0">
                <a:solidFill>
                  <a:srgbClr val="64748B"/>
                </a:solidFill>
              </a:rPr>
              <a:t>H1 26</a:t>
            </a:r>
            <a:endParaRPr lang="en-US" sz="540" dirty="0"/>
          </a:p>
        </p:txBody>
      </p:sp>
      <p:sp>
        <p:nvSpPr>
          <p:cNvPr id="26" name="Text 24"/>
          <p:cNvSpPr/>
          <p:nvPr/>
        </p:nvSpPr>
        <p:spPr>
          <a:xfrm>
            <a:off x="6862572" y="3566160"/>
            <a:ext cx="115671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Service</a:t>
            </a:r>
            <a:endParaRPr lang="en-US" sz="540" dirty="0"/>
          </a:p>
          <a:p>
            <a:pPr algn="ctr" indent="0" marL="0">
              <a:buNone/>
            </a:pPr>
            <a:r>
              <a:rPr lang="en-US" sz="540" dirty="0">
                <a:solidFill>
                  <a:srgbClr val="64748B"/>
                </a:solidFill>
              </a:rPr>
              <a:t>H1 26</a:t>
            </a:r>
            <a:endParaRPr lang="en-US" sz="540" dirty="0"/>
          </a:p>
        </p:txBody>
      </p:sp>
      <p:sp>
        <p:nvSpPr>
          <p:cNvPr id="27" name="Text 25"/>
          <p:cNvSpPr/>
          <p:nvPr/>
        </p:nvSpPr>
        <p:spPr>
          <a:xfrm>
            <a:off x="8074152" y="3566160"/>
            <a:ext cx="115671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Valves</a:t>
            </a:r>
            <a:endParaRPr lang="en-US" sz="540" dirty="0"/>
          </a:p>
          <a:p>
            <a:pPr algn="ctr" indent="0" marL="0">
              <a:buNone/>
            </a:pPr>
            <a:r>
              <a:rPr lang="en-US" sz="540" dirty="0">
                <a:solidFill>
                  <a:srgbClr val="64748B"/>
                </a:solidFill>
              </a:rPr>
              <a:t>H1 25</a:t>
            </a:r>
            <a:endParaRPr lang="en-US" sz="540" dirty="0"/>
          </a:p>
        </p:txBody>
      </p:sp>
      <p:sp>
        <p:nvSpPr>
          <p:cNvPr id="28" name="Text 26"/>
          <p:cNvSpPr/>
          <p:nvPr/>
        </p:nvSpPr>
        <p:spPr>
          <a:xfrm>
            <a:off x="9285732" y="3566160"/>
            <a:ext cx="115671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Service</a:t>
            </a:r>
            <a:endParaRPr lang="en-US" sz="540" dirty="0"/>
          </a:p>
          <a:p>
            <a:pPr algn="ctr" indent="0" marL="0">
              <a:buNone/>
            </a:pPr>
            <a:r>
              <a:rPr lang="en-US" sz="540" dirty="0">
                <a:solidFill>
                  <a:srgbClr val="64748B"/>
                </a:solidFill>
              </a:rPr>
              <a:t>H1 25</a:t>
            </a:r>
            <a:endParaRPr lang="en-US" sz="540" dirty="0"/>
          </a:p>
        </p:txBody>
      </p:sp>
      <p:sp>
        <p:nvSpPr>
          <p:cNvPr id="29" name="Text 27"/>
          <p:cNvSpPr/>
          <p:nvPr/>
        </p:nvSpPr>
        <p:spPr>
          <a:xfrm>
            <a:off x="5852160" y="4800600"/>
            <a:ext cx="4572000" cy="502920"/>
          </a:xfrm>
          <a:prstGeom prst="rect">
            <a:avLst/>
          </a:prstGeom>
          <a:solidFill>
            <a:srgbClr val="FFF8EA"/>
          </a:solidFill>
          <a:ln w="10160">
            <a:solidFill>
              <a:srgbClr val="E9C46A"/>
            </a:solidFill>
          </a:ln>
        </p:spPr>
        <p:txBody>
          <a:bodyPr wrap="square" lIns="1016" tIns="1016" rIns="1016" bIns="1016" rtlCol="0" anchor="ctr">
            <a:normAutofit/>
          </a:bodyPr>
          <a:lstStyle/>
          <a:p>
            <a:pPr algn="l" indent="0" marL="0">
              <a:buNone/>
            </a:pPr>
            <a:r>
              <a:rPr lang="en-US" sz="900" dirty="0">
                <a:solidFill>
                  <a:srgbClr val="24313F"/>
                </a:solidFill>
                <a:latin typeface="Aptos" pitchFamily="34" charset="0"/>
                <a:ea typeface="Aptos" pitchFamily="34" charset="-122"/>
                <a:cs typeface="Aptos" pitchFamily="34" charset="-120"/>
              </a:rPr>
              <a:t>Interpretation: service resilience helps, but the pitch remains primarily a leading-edge semi capex call.</a:t>
            </a:r>
            <a:endParaRPr lang="en-US" sz="900" dirty="0"/>
          </a:p>
        </p:txBody>
      </p:sp>
      <p:sp>
        <p:nvSpPr>
          <p:cNvPr id="30" name="Shape 28"/>
          <p:cNvSpPr/>
          <p:nvPr/>
        </p:nvSpPr>
        <p:spPr>
          <a:xfrm>
            <a:off x="411480" y="6510528"/>
            <a:ext cx="11384280" cy="0"/>
          </a:xfrm>
          <a:prstGeom prst="line">
            <a:avLst/>
          </a:prstGeom>
          <a:noFill/>
          <a:ln w="7620">
            <a:solidFill>
              <a:srgbClr val="D5DEE6"/>
            </a:solidFill>
            <a:prstDash val="solid"/>
          </a:ln>
        </p:spPr>
      </p:sp>
      <p:sp>
        <p:nvSpPr>
          <p:cNvPr id="31" name="Text 29"/>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VAT FY2025 results presentation; VAT H1 2026 report.</a:t>
            </a:r>
            <a:endParaRPr lang="en-US" sz="580" dirty="0"/>
          </a:p>
        </p:txBody>
      </p:sp>
      <p:sp>
        <p:nvSpPr>
          <p:cNvPr id="32" name="Text 30"/>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21</a:t>
            </a:r>
            <a:endParaRPr lang="en-US" sz="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A12. Financial profile: high gross margin, high EBITDA margin and strong cash generation</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Cyclicality is visible, but EBITDA margin remained around 30% even in the 2023 downturn.</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Text 3"/>
          <p:cNvSpPr/>
          <p:nvPr/>
        </p:nvSpPr>
        <p:spPr>
          <a:xfrm>
            <a:off x="594360" y="1234440"/>
            <a:ext cx="1325880" cy="347472"/>
          </a:xfrm>
          <a:prstGeom prst="rect">
            <a:avLst/>
          </a:prstGeom>
          <a:solidFill>
            <a:srgbClr val="12202F"/>
          </a:solidFill>
          <a:ln w="10160">
            <a:solidFill>
              <a:srgbClr val="D5DEE6"/>
            </a:solidFill>
          </a:ln>
        </p:spPr>
        <p:txBody>
          <a:bodyPr wrap="square" lIns="381" tIns="381" rIns="381" bIns="381" rtlCol="0" anchor="ctr">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CHFm</a:t>
            </a:r>
            <a:endParaRPr lang="en-US" sz="720" dirty="0"/>
          </a:p>
        </p:txBody>
      </p:sp>
      <p:sp>
        <p:nvSpPr>
          <p:cNvPr id="6" name="Text 4"/>
          <p:cNvSpPr/>
          <p:nvPr/>
        </p:nvSpPr>
        <p:spPr>
          <a:xfrm>
            <a:off x="1920240" y="1234440"/>
            <a:ext cx="1143000" cy="347472"/>
          </a:xfrm>
          <a:prstGeom prst="rect">
            <a:avLst/>
          </a:prstGeom>
          <a:solidFill>
            <a:srgbClr val="12202F"/>
          </a:solidFill>
          <a:ln w="10160">
            <a:solidFill>
              <a:srgbClr val="D5DEE6"/>
            </a:solidFill>
          </a:ln>
        </p:spPr>
        <p:txBody>
          <a:bodyPr wrap="square" lIns="381" tIns="381" rIns="381" bIns="381" rtlCol="0" anchor="ctr">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2021A</a:t>
            </a:r>
            <a:endParaRPr lang="en-US" sz="720" dirty="0"/>
          </a:p>
        </p:txBody>
      </p:sp>
      <p:sp>
        <p:nvSpPr>
          <p:cNvPr id="7" name="Text 5"/>
          <p:cNvSpPr/>
          <p:nvPr/>
        </p:nvSpPr>
        <p:spPr>
          <a:xfrm>
            <a:off x="3063240" y="1234440"/>
            <a:ext cx="1143000" cy="347472"/>
          </a:xfrm>
          <a:prstGeom prst="rect">
            <a:avLst/>
          </a:prstGeom>
          <a:solidFill>
            <a:srgbClr val="12202F"/>
          </a:solidFill>
          <a:ln w="10160">
            <a:solidFill>
              <a:srgbClr val="D5DEE6"/>
            </a:solidFill>
          </a:ln>
        </p:spPr>
        <p:txBody>
          <a:bodyPr wrap="square" lIns="381" tIns="381" rIns="381" bIns="381" rtlCol="0" anchor="ctr">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2022A</a:t>
            </a:r>
            <a:endParaRPr lang="en-US" sz="720" dirty="0"/>
          </a:p>
        </p:txBody>
      </p:sp>
      <p:sp>
        <p:nvSpPr>
          <p:cNvPr id="8" name="Text 6"/>
          <p:cNvSpPr/>
          <p:nvPr/>
        </p:nvSpPr>
        <p:spPr>
          <a:xfrm>
            <a:off x="4206240" y="1234440"/>
            <a:ext cx="1143000" cy="347472"/>
          </a:xfrm>
          <a:prstGeom prst="rect">
            <a:avLst/>
          </a:prstGeom>
          <a:solidFill>
            <a:srgbClr val="12202F"/>
          </a:solidFill>
          <a:ln w="10160">
            <a:solidFill>
              <a:srgbClr val="D5DEE6"/>
            </a:solidFill>
          </a:ln>
        </p:spPr>
        <p:txBody>
          <a:bodyPr wrap="square" lIns="381" tIns="381" rIns="381" bIns="381" rtlCol="0" anchor="ctr">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2023A</a:t>
            </a:r>
            <a:endParaRPr lang="en-US" sz="720" dirty="0"/>
          </a:p>
        </p:txBody>
      </p:sp>
      <p:sp>
        <p:nvSpPr>
          <p:cNvPr id="9" name="Text 7"/>
          <p:cNvSpPr/>
          <p:nvPr/>
        </p:nvSpPr>
        <p:spPr>
          <a:xfrm>
            <a:off x="5349240" y="1234440"/>
            <a:ext cx="1143000" cy="347472"/>
          </a:xfrm>
          <a:prstGeom prst="rect">
            <a:avLst/>
          </a:prstGeom>
          <a:solidFill>
            <a:srgbClr val="12202F"/>
          </a:solidFill>
          <a:ln w="10160">
            <a:solidFill>
              <a:srgbClr val="D5DEE6"/>
            </a:solidFill>
          </a:ln>
        </p:spPr>
        <p:txBody>
          <a:bodyPr wrap="square" lIns="381" tIns="381" rIns="381" bIns="381" rtlCol="0" anchor="ctr">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2024A</a:t>
            </a:r>
            <a:endParaRPr lang="en-US" sz="720" dirty="0"/>
          </a:p>
        </p:txBody>
      </p:sp>
      <p:sp>
        <p:nvSpPr>
          <p:cNvPr id="10" name="Text 8"/>
          <p:cNvSpPr/>
          <p:nvPr/>
        </p:nvSpPr>
        <p:spPr>
          <a:xfrm>
            <a:off x="6492240" y="1234440"/>
            <a:ext cx="1143000" cy="347472"/>
          </a:xfrm>
          <a:prstGeom prst="rect">
            <a:avLst/>
          </a:prstGeom>
          <a:solidFill>
            <a:srgbClr val="12202F"/>
          </a:solidFill>
          <a:ln w="10160">
            <a:solidFill>
              <a:srgbClr val="D5DEE6"/>
            </a:solidFill>
          </a:ln>
        </p:spPr>
        <p:txBody>
          <a:bodyPr wrap="square" lIns="381" tIns="381" rIns="381" bIns="381" rtlCol="0" anchor="ctr">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2025A</a:t>
            </a:r>
            <a:endParaRPr lang="en-US" sz="720" dirty="0"/>
          </a:p>
        </p:txBody>
      </p:sp>
      <p:sp>
        <p:nvSpPr>
          <p:cNvPr id="11" name="Text 9"/>
          <p:cNvSpPr/>
          <p:nvPr/>
        </p:nvSpPr>
        <p:spPr>
          <a:xfrm>
            <a:off x="7635240" y="1234440"/>
            <a:ext cx="1143000" cy="347472"/>
          </a:xfrm>
          <a:prstGeom prst="rect">
            <a:avLst/>
          </a:prstGeom>
          <a:solidFill>
            <a:srgbClr val="12202F"/>
          </a:solidFill>
          <a:ln w="10160">
            <a:solidFill>
              <a:srgbClr val="D5DEE6"/>
            </a:solidFill>
          </a:ln>
        </p:spPr>
        <p:txBody>
          <a:bodyPr wrap="square" lIns="381" tIns="381" rIns="381" bIns="381" rtlCol="0" anchor="ctr">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2026E</a:t>
            </a:r>
            <a:endParaRPr lang="en-US" sz="720" dirty="0"/>
          </a:p>
        </p:txBody>
      </p:sp>
      <p:sp>
        <p:nvSpPr>
          <p:cNvPr id="12" name="Text 10"/>
          <p:cNvSpPr/>
          <p:nvPr/>
        </p:nvSpPr>
        <p:spPr>
          <a:xfrm>
            <a:off x="8778240" y="1234440"/>
            <a:ext cx="1143000" cy="347472"/>
          </a:xfrm>
          <a:prstGeom prst="rect">
            <a:avLst/>
          </a:prstGeom>
          <a:solidFill>
            <a:srgbClr val="12202F"/>
          </a:solidFill>
          <a:ln w="10160">
            <a:solidFill>
              <a:srgbClr val="D5DEE6"/>
            </a:solidFill>
          </a:ln>
        </p:spPr>
        <p:txBody>
          <a:bodyPr wrap="square" lIns="381" tIns="381" rIns="381" bIns="381" rtlCol="0" anchor="ctr">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2027E</a:t>
            </a:r>
            <a:endParaRPr lang="en-US" sz="720" dirty="0"/>
          </a:p>
        </p:txBody>
      </p:sp>
      <p:sp>
        <p:nvSpPr>
          <p:cNvPr id="13" name="Text 11"/>
          <p:cNvSpPr/>
          <p:nvPr/>
        </p:nvSpPr>
        <p:spPr>
          <a:xfrm>
            <a:off x="594360" y="1636776"/>
            <a:ext cx="1325880" cy="347472"/>
          </a:xfrm>
          <a:prstGeom prst="rect">
            <a:avLst/>
          </a:prstGeom>
          <a:solidFill>
            <a:srgbClr val="F1F5F9"/>
          </a:solidFill>
          <a:ln w="10160">
            <a:solidFill>
              <a:srgbClr val="D5DEE6"/>
            </a:solidFill>
          </a:ln>
        </p:spPr>
        <p:txBody>
          <a:bodyPr wrap="square" lIns="381" tIns="381" rIns="381" bIns="381" rtlCol="0" anchor="ctr">
            <a:normAutofit/>
          </a:bodyPr>
          <a:lstStyle/>
          <a:p>
            <a:pPr algn="ctr" indent="0" marL="0">
              <a:buNone/>
            </a:pPr>
            <a:r>
              <a:rPr lang="en-US" sz="720" b="1" dirty="0">
                <a:solidFill>
                  <a:srgbClr val="24313F"/>
                </a:solidFill>
                <a:latin typeface="Aptos" pitchFamily="34" charset="0"/>
                <a:ea typeface="Aptos" pitchFamily="34" charset="-122"/>
                <a:cs typeface="Aptos" pitchFamily="34" charset="-120"/>
              </a:rPr>
              <a:t>Revenue</a:t>
            </a:r>
            <a:endParaRPr lang="en-US" sz="720" dirty="0"/>
          </a:p>
        </p:txBody>
      </p:sp>
      <p:sp>
        <p:nvSpPr>
          <p:cNvPr id="14" name="Text 12"/>
          <p:cNvSpPr/>
          <p:nvPr/>
        </p:nvSpPr>
        <p:spPr>
          <a:xfrm>
            <a:off x="1920240" y="1636776"/>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901</a:t>
            </a:r>
            <a:endParaRPr lang="en-US" sz="720" dirty="0"/>
          </a:p>
        </p:txBody>
      </p:sp>
      <p:sp>
        <p:nvSpPr>
          <p:cNvPr id="15" name="Text 13"/>
          <p:cNvSpPr/>
          <p:nvPr/>
        </p:nvSpPr>
        <p:spPr>
          <a:xfrm>
            <a:off x="3063240" y="1636776"/>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1,146</a:t>
            </a:r>
            <a:endParaRPr lang="en-US" sz="720" dirty="0"/>
          </a:p>
        </p:txBody>
      </p:sp>
      <p:sp>
        <p:nvSpPr>
          <p:cNvPr id="16" name="Text 14"/>
          <p:cNvSpPr/>
          <p:nvPr/>
        </p:nvSpPr>
        <p:spPr>
          <a:xfrm>
            <a:off x="4206240" y="1636776"/>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885</a:t>
            </a:r>
            <a:endParaRPr lang="en-US" sz="720" dirty="0"/>
          </a:p>
        </p:txBody>
      </p:sp>
      <p:sp>
        <p:nvSpPr>
          <p:cNvPr id="17" name="Text 15"/>
          <p:cNvSpPr/>
          <p:nvPr/>
        </p:nvSpPr>
        <p:spPr>
          <a:xfrm>
            <a:off x="5349240" y="1636776"/>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942</a:t>
            </a:r>
            <a:endParaRPr lang="en-US" sz="720" dirty="0"/>
          </a:p>
        </p:txBody>
      </p:sp>
      <p:sp>
        <p:nvSpPr>
          <p:cNvPr id="18" name="Text 16"/>
          <p:cNvSpPr/>
          <p:nvPr/>
        </p:nvSpPr>
        <p:spPr>
          <a:xfrm>
            <a:off x="6492240" y="1636776"/>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1,074</a:t>
            </a:r>
            <a:endParaRPr lang="en-US" sz="720" dirty="0"/>
          </a:p>
        </p:txBody>
      </p:sp>
      <p:sp>
        <p:nvSpPr>
          <p:cNvPr id="19" name="Text 17"/>
          <p:cNvSpPr/>
          <p:nvPr/>
        </p:nvSpPr>
        <p:spPr>
          <a:xfrm>
            <a:off x="7635240" y="1636776"/>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1,326</a:t>
            </a:r>
            <a:endParaRPr lang="en-US" sz="720" dirty="0"/>
          </a:p>
        </p:txBody>
      </p:sp>
      <p:sp>
        <p:nvSpPr>
          <p:cNvPr id="20" name="Text 18"/>
          <p:cNvSpPr/>
          <p:nvPr/>
        </p:nvSpPr>
        <p:spPr>
          <a:xfrm>
            <a:off x="8778240" y="1636776"/>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1,845</a:t>
            </a:r>
            <a:endParaRPr lang="en-US" sz="720" dirty="0"/>
          </a:p>
        </p:txBody>
      </p:sp>
      <p:sp>
        <p:nvSpPr>
          <p:cNvPr id="21" name="Text 19"/>
          <p:cNvSpPr/>
          <p:nvPr/>
        </p:nvSpPr>
        <p:spPr>
          <a:xfrm>
            <a:off x="594360" y="2039112"/>
            <a:ext cx="1325880" cy="347472"/>
          </a:xfrm>
          <a:prstGeom prst="rect">
            <a:avLst/>
          </a:prstGeom>
          <a:solidFill>
            <a:srgbClr val="F1F5F9"/>
          </a:solidFill>
          <a:ln w="10160">
            <a:solidFill>
              <a:srgbClr val="D5DEE6"/>
            </a:solidFill>
          </a:ln>
        </p:spPr>
        <p:txBody>
          <a:bodyPr wrap="square" lIns="381" tIns="381" rIns="381" bIns="381" rtlCol="0" anchor="ctr">
            <a:normAutofit/>
          </a:bodyPr>
          <a:lstStyle/>
          <a:p>
            <a:pPr algn="ctr" indent="0" marL="0">
              <a:buNone/>
            </a:pPr>
            <a:r>
              <a:rPr lang="en-US" sz="720" b="1" dirty="0">
                <a:solidFill>
                  <a:srgbClr val="24313F"/>
                </a:solidFill>
                <a:latin typeface="Aptos" pitchFamily="34" charset="0"/>
                <a:ea typeface="Aptos" pitchFamily="34" charset="-122"/>
                <a:cs typeface="Aptos" pitchFamily="34" charset="-120"/>
              </a:rPr>
              <a:t>EBITDA</a:t>
            </a:r>
            <a:endParaRPr lang="en-US" sz="720" dirty="0"/>
          </a:p>
        </p:txBody>
      </p:sp>
      <p:sp>
        <p:nvSpPr>
          <p:cNvPr id="22" name="Text 20"/>
          <p:cNvSpPr/>
          <p:nvPr/>
        </p:nvSpPr>
        <p:spPr>
          <a:xfrm>
            <a:off x="1920240" y="2039112"/>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308</a:t>
            </a:r>
            <a:endParaRPr lang="en-US" sz="720" dirty="0"/>
          </a:p>
        </p:txBody>
      </p:sp>
      <p:sp>
        <p:nvSpPr>
          <p:cNvPr id="23" name="Text 21"/>
          <p:cNvSpPr/>
          <p:nvPr/>
        </p:nvSpPr>
        <p:spPr>
          <a:xfrm>
            <a:off x="3063240" y="2039112"/>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400</a:t>
            </a:r>
            <a:endParaRPr lang="en-US" sz="720" dirty="0"/>
          </a:p>
        </p:txBody>
      </p:sp>
      <p:sp>
        <p:nvSpPr>
          <p:cNvPr id="24" name="Text 22"/>
          <p:cNvSpPr/>
          <p:nvPr/>
        </p:nvSpPr>
        <p:spPr>
          <a:xfrm>
            <a:off x="4206240" y="2039112"/>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271</a:t>
            </a:r>
            <a:endParaRPr lang="en-US" sz="720" dirty="0"/>
          </a:p>
        </p:txBody>
      </p:sp>
      <p:sp>
        <p:nvSpPr>
          <p:cNvPr id="25" name="Text 23"/>
          <p:cNvSpPr/>
          <p:nvPr/>
        </p:nvSpPr>
        <p:spPr>
          <a:xfrm>
            <a:off x="5349240" y="2039112"/>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294</a:t>
            </a:r>
            <a:endParaRPr lang="en-US" sz="720" dirty="0"/>
          </a:p>
        </p:txBody>
      </p:sp>
      <p:sp>
        <p:nvSpPr>
          <p:cNvPr id="26" name="Text 24"/>
          <p:cNvSpPr/>
          <p:nvPr/>
        </p:nvSpPr>
        <p:spPr>
          <a:xfrm>
            <a:off x="6492240" y="2039112"/>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322</a:t>
            </a:r>
            <a:endParaRPr lang="en-US" sz="720" dirty="0"/>
          </a:p>
        </p:txBody>
      </p:sp>
      <p:sp>
        <p:nvSpPr>
          <p:cNvPr id="27" name="Text 25"/>
          <p:cNvSpPr/>
          <p:nvPr/>
        </p:nvSpPr>
        <p:spPr>
          <a:xfrm>
            <a:off x="7635240" y="2039112"/>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446</a:t>
            </a:r>
            <a:endParaRPr lang="en-US" sz="720" dirty="0"/>
          </a:p>
        </p:txBody>
      </p:sp>
      <p:sp>
        <p:nvSpPr>
          <p:cNvPr id="28" name="Text 26"/>
          <p:cNvSpPr/>
          <p:nvPr/>
        </p:nvSpPr>
        <p:spPr>
          <a:xfrm>
            <a:off x="8778240" y="2039112"/>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676</a:t>
            </a:r>
            <a:endParaRPr lang="en-US" sz="720" dirty="0"/>
          </a:p>
        </p:txBody>
      </p:sp>
      <p:sp>
        <p:nvSpPr>
          <p:cNvPr id="29" name="Text 27"/>
          <p:cNvSpPr/>
          <p:nvPr/>
        </p:nvSpPr>
        <p:spPr>
          <a:xfrm>
            <a:off x="594360" y="2441448"/>
            <a:ext cx="1325880" cy="347472"/>
          </a:xfrm>
          <a:prstGeom prst="rect">
            <a:avLst/>
          </a:prstGeom>
          <a:solidFill>
            <a:srgbClr val="F1F5F9"/>
          </a:solidFill>
          <a:ln w="10160">
            <a:solidFill>
              <a:srgbClr val="D5DEE6"/>
            </a:solidFill>
          </a:ln>
        </p:spPr>
        <p:txBody>
          <a:bodyPr wrap="square" lIns="381" tIns="381" rIns="381" bIns="381" rtlCol="0" anchor="ctr">
            <a:normAutofit/>
          </a:bodyPr>
          <a:lstStyle/>
          <a:p>
            <a:pPr algn="ctr" indent="0" marL="0">
              <a:buNone/>
            </a:pPr>
            <a:r>
              <a:rPr lang="en-US" sz="720" b="1" dirty="0">
                <a:solidFill>
                  <a:srgbClr val="24313F"/>
                </a:solidFill>
                <a:latin typeface="Aptos" pitchFamily="34" charset="0"/>
                <a:ea typeface="Aptos" pitchFamily="34" charset="-122"/>
                <a:cs typeface="Aptos" pitchFamily="34" charset="-120"/>
              </a:rPr>
              <a:t>EBITDA margin</a:t>
            </a:r>
            <a:endParaRPr lang="en-US" sz="720" dirty="0"/>
          </a:p>
        </p:txBody>
      </p:sp>
      <p:sp>
        <p:nvSpPr>
          <p:cNvPr id="30" name="Text 28"/>
          <p:cNvSpPr/>
          <p:nvPr/>
        </p:nvSpPr>
        <p:spPr>
          <a:xfrm>
            <a:off x="1920240" y="2441448"/>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34.2%</a:t>
            </a:r>
            <a:endParaRPr lang="en-US" sz="720" dirty="0"/>
          </a:p>
        </p:txBody>
      </p:sp>
      <p:sp>
        <p:nvSpPr>
          <p:cNvPr id="31" name="Text 29"/>
          <p:cNvSpPr/>
          <p:nvPr/>
        </p:nvSpPr>
        <p:spPr>
          <a:xfrm>
            <a:off x="3063240" y="2441448"/>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35.0%</a:t>
            </a:r>
            <a:endParaRPr lang="en-US" sz="720" dirty="0"/>
          </a:p>
        </p:txBody>
      </p:sp>
      <p:sp>
        <p:nvSpPr>
          <p:cNvPr id="32" name="Text 30"/>
          <p:cNvSpPr/>
          <p:nvPr/>
        </p:nvSpPr>
        <p:spPr>
          <a:xfrm>
            <a:off x="4206240" y="2441448"/>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30.6%</a:t>
            </a:r>
            <a:endParaRPr lang="en-US" sz="720" dirty="0"/>
          </a:p>
        </p:txBody>
      </p:sp>
      <p:sp>
        <p:nvSpPr>
          <p:cNvPr id="33" name="Text 31"/>
          <p:cNvSpPr/>
          <p:nvPr/>
        </p:nvSpPr>
        <p:spPr>
          <a:xfrm>
            <a:off x="5349240" y="2441448"/>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31.2%</a:t>
            </a:r>
            <a:endParaRPr lang="en-US" sz="720" dirty="0"/>
          </a:p>
        </p:txBody>
      </p:sp>
      <p:sp>
        <p:nvSpPr>
          <p:cNvPr id="34" name="Text 32"/>
          <p:cNvSpPr/>
          <p:nvPr/>
        </p:nvSpPr>
        <p:spPr>
          <a:xfrm>
            <a:off x="6492240" y="2441448"/>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30.0%</a:t>
            </a:r>
            <a:endParaRPr lang="en-US" sz="720" dirty="0"/>
          </a:p>
        </p:txBody>
      </p:sp>
      <p:sp>
        <p:nvSpPr>
          <p:cNvPr id="35" name="Text 33"/>
          <p:cNvSpPr/>
          <p:nvPr/>
        </p:nvSpPr>
        <p:spPr>
          <a:xfrm>
            <a:off x="7635240" y="2441448"/>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33.6%</a:t>
            </a:r>
            <a:endParaRPr lang="en-US" sz="720" dirty="0"/>
          </a:p>
        </p:txBody>
      </p:sp>
      <p:sp>
        <p:nvSpPr>
          <p:cNvPr id="36" name="Text 34"/>
          <p:cNvSpPr/>
          <p:nvPr/>
        </p:nvSpPr>
        <p:spPr>
          <a:xfrm>
            <a:off x="8778240" y="2441448"/>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36.7%</a:t>
            </a:r>
            <a:endParaRPr lang="en-US" sz="720" dirty="0"/>
          </a:p>
        </p:txBody>
      </p:sp>
      <p:sp>
        <p:nvSpPr>
          <p:cNvPr id="37" name="Text 35"/>
          <p:cNvSpPr/>
          <p:nvPr/>
        </p:nvSpPr>
        <p:spPr>
          <a:xfrm>
            <a:off x="594360" y="2843784"/>
            <a:ext cx="1325880" cy="347472"/>
          </a:xfrm>
          <a:prstGeom prst="rect">
            <a:avLst/>
          </a:prstGeom>
          <a:solidFill>
            <a:srgbClr val="F1F5F9"/>
          </a:solidFill>
          <a:ln w="10160">
            <a:solidFill>
              <a:srgbClr val="D5DEE6"/>
            </a:solidFill>
          </a:ln>
        </p:spPr>
        <p:txBody>
          <a:bodyPr wrap="square" lIns="381" tIns="381" rIns="381" bIns="381" rtlCol="0" anchor="ctr">
            <a:normAutofit/>
          </a:bodyPr>
          <a:lstStyle/>
          <a:p>
            <a:pPr algn="ctr" indent="0" marL="0">
              <a:buNone/>
            </a:pPr>
            <a:r>
              <a:rPr lang="en-US" sz="720" b="1" dirty="0">
                <a:solidFill>
                  <a:srgbClr val="24313F"/>
                </a:solidFill>
                <a:latin typeface="Aptos" pitchFamily="34" charset="0"/>
                <a:ea typeface="Aptos" pitchFamily="34" charset="-122"/>
                <a:cs typeface="Aptos" pitchFamily="34" charset="-120"/>
              </a:rPr>
              <a:t>Net income</a:t>
            </a:r>
            <a:endParaRPr lang="en-US" sz="720" dirty="0"/>
          </a:p>
        </p:txBody>
      </p:sp>
      <p:sp>
        <p:nvSpPr>
          <p:cNvPr id="38" name="Text 36"/>
          <p:cNvSpPr/>
          <p:nvPr/>
        </p:nvSpPr>
        <p:spPr>
          <a:xfrm>
            <a:off x="1920240" y="2843784"/>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217</a:t>
            </a:r>
            <a:endParaRPr lang="en-US" sz="720" dirty="0"/>
          </a:p>
        </p:txBody>
      </p:sp>
      <p:sp>
        <p:nvSpPr>
          <p:cNvPr id="39" name="Text 37"/>
          <p:cNvSpPr/>
          <p:nvPr/>
        </p:nvSpPr>
        <p:spPr>
          <a:xfrm>
            <a:off x="3063240" y="2843784"/>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307</a:t>
            </a:r>
            <a:endParaRPr lang="en-US" sz="720" dirty="0"/>
          </a:p>
        </p:txBody>
      </p:sp>
      <p:sp>
        <p:nvSpPr>
          <p:cNvPr id="40" name="Text 38"/>
          <p:cNvSpPr/>
          <p:nvPr/>
        </p:nvSpPr>
        <p:spPr>
          <a:xfrm>
            <a:off x="4206240" y="2843784"/>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190</a:t>
            </a:r>
            <a:endParaRPr lang="en-US" sz="720" dirty="0"/>
          </a:p>
        </p:txBody>
      </p:sp>
      <p:sp>
        <p:nvSpPr>
          <p:cNvPr id="41" name="Text 39"/>
          <p:cNvSpPr/>
          <p:nvPr/>
        </p:nvSpPr>
        <p:spPr>
          <a:xfrm>
            <a:off x="5349240" y="2843784"/>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212</a:t>
            </a:r>
            <a:endParaRPr lang="en-US" sz="720" dirty="0"/>
          </a:p>
        </p:txBody>
      </p:sp>
      <p:sp>
        <p:nvSpPr>
          <p:cNvPr id="42" name="Text 40"/>
          <p:cNvSpPr/>
          <p:nvPr/>
        </p:nvSpPr>
        <p:spPr>
          <a:xfrm>
            <a:off x="6492240" y="2843784"/>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214</a:t>
            </a:r>
            <a:endParaRPr lang="en-US" sz="720" dirty="0"/>
          </a:p>
        </p:txBody>
      </p:sp>
      <p:sp>
        <p:nvSpPr>
          <p:cNvPr id="43" name="Text 41"/>
          <p:cNvSpPr/>
          <p:nvPr/>
        </p:nvSpPr>
        <p:spPr>
          <a:xfrm>
            <a:off x="7635240" y="2843784"/>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n.a.</a:t>
            </a:r>
            <a:endParaRPr lang="en-US" sz="720" dirty="0"/>
          </a:p>
        </p:txBody>
      </p:sp>
      <p:sp>
        <p:nvSpPr>
          <p:cNvPr id="44" name="Text 42"/>
          <p:cNvSpPr/>
          <p:nvPr/>
        </p:nvSpPr>
        <p:spPr>
          <a:xfrm>
            <a:off x="8778240" y="2843784"/>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n.a.</a:t>
            </a:r>
            <a:endParaRPr lang="en-US" sz="720" dirty="0"/>
          </a:p>
        </p:txBody>
      </p:sp>
      <p:sp>
        <p:nvSpPr>
          <p:cNvPr id="45" name="Text 43"/>
          <p:cNvSpPr/>
          <p:nvPr/>
        </p:nvSpPr>
        <p:spPr>
          <a:xfrm>
            <a:off x="594360" y="3246120"/>
            <a:ext cx="1325880" cy="347472"/>
          </a:xfrm>
          <a:prstGeom prst="rect">
            <a:avLst/>
          </a:prstGeom>
          <a:solidFill>
            <a:srgbClr val="F1F5F9"/>
          </a:solidFill>
          <a:ln w="10160">
            <a:solidFill>
              <a:srgbClr val="D5DEE6"/>
            </a:solidFill>
          </a:ln>
        </p:spPr>
        <p:txBody>
          <a:bodyPr wrap="square" lIns="381" tIns="381" rIns="381" bIns="381" rtlCol="0" anchor="ctr">
            <a:normAutofit/>
          </a:bodyPr>
          <a:lstStyle/>
          <a:p>
            <a:pPr algn="ctr" indent="0" marL="0">
              <a:buNone/>
            </a:pPr>
            <a:r>
              <a:rPr lang="en-US" sz="720" b="1" dirty="0">
                <a:solidFill>
                  <a:srgbClr val="24313F"/>
                </a:solidFill>
                <a:latin typeface="Aptos" pitchFamily="34" charset="0"/>
                <a:ea typeface="Aptos" pitchFamily="34" charset="-122"/>
                <a:cs typeface="Aptos" pitchFamily="34" charset="-120"/>
              </a:rPr>
              <a:t>EPS (CHF)</a:t>
            </a:r>
            <a:endParaRPr lang="en-US" sz="720" dirty="0"/>
          </a:p>
        </p:txBody>
      </p:sp>
      <p:sp>
        <p:nvSpPr>
          <p:cNvPr id="46" name="Text 44"/>
          <p:cNvSpPr/>
          <p:nvPr/>
        </p:nvSpPr>
        <p:spPr>
          <a:xfrm>
            <a:off x="1920240" y="3246120"/>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7.25</a:t>
            </a:r>
            <a:endParaRPr lang="en-US" sz="720" dirty="0"/>
          </a:p>
        </p:txBody>
      </p:sp>
      <p:sp>
        <p:nvSpPr>
          <p:cNvPr id="47" name="Text 45"/>
          <p:cNvSpPr/>
          <p:nvPr/>
        </p:nvSpPr>
        <p:spPr>
          <a:xfrm>
            <a:off x="3063240" y="3246120"/>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10.25</a:t>
            </a:r>
            <a:endParaRPr lang="en-US" sz="720" dirty="0"/>
          </a:p>
        </p:txBody>
      </p:sp>
      <p:sp>
        <p:nvSpPr>
          <p:cNvPr id="48" name="Text 46"/>
          <p:cNvSpPr/>
          <p:nvPr/>
        </p:nvSpPr>
        <p:spPr>
          <a:xfrm>
            <a:off x="4206240" y="3246120"/>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6.33</a:t>
            </a:r>
            <a:endParaRPr lang="en-US" sz="720" dirty="0"/>
          </a:p>
        </p:txBody>
      </p:sp>
      <p:sp>
        <p:nvSpPr>
          <p:cNvPr id="49" name="Text 47"/>
          <p:cNvSpPr/>
          <p:nvPr/>
        </p:nvSpPr>
        <p:spPr>
          <a:xfrm>
            <a:off x="5349240" y="3246120"/>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7.06</a:t>
            </a:r>
            <a:endParaRPr lang="en-US" sz="720" dirty="0"/>
          </a:p>
        </p:txBody>
      </p:sp>
      <p:sp>
        <p:nvSpPr>
          <p:cNvPr id="50" name="Text 48"/>
          <p:cNvSpPr/>
          <p:nvPr/>
        </p:nvSpPr>
        <p:spPr>
          <a:xfrm>
            <a:off x="6492240" y="3246120"/>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7.15</a:t>
            </a:r>
            <a:endParaRPr lang="en-US" sz="720" dirty="0"/>
          </a:p>
        </p:txBody>
      </p:sp>
      <p:sp>
        <p:nvSpPr>
          <p:cNvPr id="51" name="Text 49"/>
          <p:cNvSpPr/>
          <p:nvPr/>
        </p:nvSpPr>
        <p:spPr>
          <a:xfrm>
            <a:off x="7635240" y="3246120"/>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n.a.</a:t>
            </a:r>
            <a:endParaRPr lang="en-US" sz="720" dirty="0"/>
          </a:p>
        </p:txBody>
      </p:sp>
      <p:sp>
        <p:nvSpPr>
          <p:cNvPr id="52" name="Text 50"/>
          <p:cNvSpPr/>
          <p:nvPr/>
        </p:nvSpPr>
        <p:spPr>
          <a:xfrm>
            <a:off x="8778240" y="3246120"/>
            <a:ext cx="1143000" cy="347472"/>
          </a:xfrm>
          <a:prstGeom prst="rect">
            <a:avLst/>
          </a:prstGeom>
          <a:solidFill>
            <a:srgbClr val="FFFFFF"/>
          </a:solidFill>
          <a:ln w="10160">
            <a:solidFill>
              <a:srgbClr val="D5DEE6"/>
            </a:solidFill>
          </a:ln>
        </p:spPr>
        <p:txBody>
          <a:bodyPr wrap="square" lIns="381" tIns="381" rIns="381" bIns="381" rtlCol="0" anchor="ctr">
            <a:normAutofit/>
          </a:bodyPr>
          <a:lstStyle/>
          <a:p>
            <a:pPr algn="ctr" indent="0" marL="0">
              <a:buNone/>
            </a:pPr>
            <a:r>
              <a:rPr lang="en-US" sz="720" dirty="0">
                <a:solidFill>
                  <a:srgbClr val="24313F"/>
                </a:solidFill>
                <a:latin typeface="Aptos" pitchFamily="34" charset="0"/>
                <a:ea typeface="Aptos" pitchFamily="34" charset="-122"/>
                <a:cs typeface="Aptos" pitchFamily="34" charset="-120"/>
              </a:rPr>
              <a:t>n.a.</a:t>
            </a:r>
            <a:endParaRPr lang="en-US" sz="720" dirty="0"/>
          </a:p>
        </p:txBody>
      </p:sp>
      <p:sp>
        <p:nvSpPr>
          <p:cNvPr id="53" name="Text 51"/>
          <p:cNvSpPr/>
          <p:nvPr/>
        </p:nvSpPr>
        <p:spPr>
          <a:xfrm>
            <a:off x="777240" y="5257800"/>
            <a:ext cx="10058400" cy="457200"/>
          </a:xfrm>
          <a:prstGeom prst="rect">
            <a:avLst/>
          </a:prstGeom>
          <a:solidFill>
            <a:srgbClr val="FFF8EA"/>
          </a:solidFill>
          <a:ln w="10160">
            <a:solidFill>
              <a:srgbClr val="E9C46A"/>
            </a:solidFill>
          </a:ln>
        </p:spPr>
        <p:txBody>
          <a:bodyPr wrap="square" lIns="1016" tIns="1016" rIns="1016" bIns="1016" rtlCol="0" anchor="ctr">
            <a:normAutofit/>
          </a:bodyPr>
          <a:lstStyle/>
          <a:p>
            <a:pPr algn="l" indent="0" marL="0">
              <a:buNone/>
            </a:pPr>
            <a:r>
              <a:rPr lang="en-US" sz="850" dirty="0">
                <a:solidFill>
                  <a:srgbClr val="24313F"/>
                </a:solidFill>
                <a:latin typeface="Aptos" pitchFamily="34" charset="0"/>
                <a:ea typeface="Aptos" pitchFamily="34" charset="-122"/>
                <a:cs typeface="Aptos" pitchFamily="34" charset="-120"/>
              </a:rPr>
              <a:t>2026E/2027E are consensus estimates. Analyst upside case assumes higher 2027 revenue and operating leverage as H1 2026 backlog converts.</a:t>
            </a:r>
            <a:endParaRPr lang="en-US" sz="850" dirty="0"/>
          </a:p>
        </p:txBody>
      </p:sp>
      <p:sp>
        <p:nvSpPr>
          <p:cNvPr id="54" name="Shape 52"/>
          <p:cNvSpPr/>
          <p:nvPr/>
        </p:nvSpPr>
        <p:spPr>
          <a:xfrm>
            <a:off x="411480" y="6510528"/>
            <a:ext cx="11384280" cy="0"/>
          </a:xfrm>
          <a:prstGeom prst="line">
            <a:avLst/>
          </a:prstGeom>
          <a:noFill/>
          <a:ln w="7620">
            <a:solidFill>
              <a:srgbClr val="D5DEE6"/>
            </a:solidFill>
            <a:prstDash val="solid"/>
          </a:ln>
        </p:spPr>
      </p:sp>
      <p:sp>
        <p:nvSpPr>
          <p:cNvPr id="55" name="Text 53"/>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MarketScreener consensus; VAT annual reports; VAT H1 2026 report. CHFm unless stated.</a:t>
            </a:r>
            <a:endParaRPr lang="en-US" sz="580" dirty="0"/>
          </a:p>
        </p:txBody>
      </p:sp>
      <p:sp>
        <p:nvSpPr>
          <p:cNvPr id="56" name="Text 54"/>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22</a:t>
            </a:r>
            <a:endParaRPr lang="en-US" sz="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A13. Forecast assumptions behind the base-case target</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The model assumes backlog conversion and operating leverage, not permanent hyper-growth.</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Text 3"/>
          <p:cNvSpPr/>
          <p:nvPr/>
        </p:nvSpPr>
        <p:spPr>
          <a:xfrm>
            <a:off x="685800" y="1188720"/>
            <a:ext cx="10607040" cy="566928"/>
          </a:xfrm>
          <a:prstGeom prst="rect">
            <a:avLst/>
          </a:prstGeom>
          <a:solidFill>
            <a:srgbClr val="FFFFFF"/>
          </a:solidFill>
          <a:ln w="10160">
            <a:solidFill>
              <a:srgbClr val="D5DEE6"/>
            </a:solidFill>
          </a:ln>
        </p:spPr>
        <p:txBody>
          <a:bodyPr wrap="square" lIns="1016" tIns="1016" rIns="1016" bIns="1016" rtlCol="0" anchor="ctr">
            <a:normAutofit/>
          </a:bodyPr>
          <a:lstStyle/>
          <a:p>
            <a:pPr algn="l" indent="0" marL="0">
              <a:buNone/>
            </a:pPr>
            <a:r>
              <a:rPr lang="en-US" sz="860" dirty="0">
                <a:solidFill>
                  <a:srgbClr val="24313F"/>
                </a:solidFill>
                <a:latin typeface="Aptos" pitchFamily="34" charset="0"/>
                <a:ea typeface="Aptos" pitchFamily="34" charset="-122"/>
                <a:cs typeface="Aptos" pitchFamily="34" charset="-120"/>
              </a:rPr>
              <a:t>Revenue</a:t>
            </a:r>
            <a:endParaRPr lang="en-US" sz="860" dirty="0"/>
          </a:p>
          <a:p>
            <a:pPr algn="l" indent="0" marL="0">
              <a:buNone/>
            </a:pPr>
            <a:r>
              <a:rPr lang="en-US" sz="860" dirty="0">
                <a:solidFill>
                  <a:srgbClr val="24313F"/>
                </a:solidFill>
                <a:latin typeface="Aptos" pitchFamily="34" charset="0"/>
                <a:ea typeface="Aptos" pitchFamily="34" charset="-122"/>
                <a:cs typeface="Aptos" pitchFamily="34" charset="-120"/>
              </a:rPr>
              <a:t>2026E CHF 1.36bn; 2027E CHF 1.95bn vs visible consensus CHF 1.85bn, driven by output catch-up and WFE upgrade.</a:t>
            </a:r>
            <a:endParaRPr lang="en-US" sz="860" dirty="0"/>
          </a:p>
        </p:txBody>
      </p:sp>
      <p:sp>
        <p:nvSpPr>
          <p:cNvPr id="6" name="Text 4"/>
          <p:cNvSpPr/>
          <p:nvPr/>
        </p:nvSpPr>
        <p:spPr>
          <a:xfrm>
            <a:off x="685800" y="1975104"/>
            <a:ext cx="10607040" cy="566928"/>
          </a:xfrm>
          <a:prstGeom prst="rect">
            <a:avLst/>
          </a:prstGeom>
          <a:solidFill>
            <a:srgbClr val="F1F7F6"/>
          </a:solidFill>
          <a:ln w="10160">
            <a:solidFill>
              <a:srgbClr val="2A9D8F"/>
            </a:solidFill>
          </a:ln>
        </p:spPr>
        <p:txBody>
          <a:bodyPr wrap="square" lIns="1016" tIns="1016" rIns="1016" bIns="1016" rtlCol="0" anchor="ctr">
            <a:normAutofit/>
          </a:bodyPr>
          <a:lstStyle/>
          <a:p>
            <a:pPr algn="l" indent="0" marL="0">
              <a:buNone/>
            </a:pPr>
            <a:r>
              <a:rPr lang="en-US" sz="860" dirty="0">
                <a:solidFill>
                  <a:srgbClr val="24313F"/>
                </a:solidFill>
                <a:latin typeface="Aptos" pitchFamily="34" charset="0"/>
                <a:ea typeface="Aptos" pitchFamily="34" charset="-122"/>
                <a:cs typeface="Aptos" pitchFamily="34" charset="-120"/>
              </a:rPr>
              <a:t>EBITDA margin</a:t>
            </a:r>
            <a:endParaRPr lang="en-US" sz="860" dirty="0"/>
          </a:p>
          <a:p>
            <a:pPr algn="l" indent="0" marL="0">
              <a:buNone/>
            </a:pPr>
            <a:r>
              <a:rPr lang="en-US" sz="860" dirty="0">
                <a:solidFill>
                  <a:srgbClr val="24313F"/>
                </a:solidFill>
                <a:latin typeface="Aptos" pitchFamily="34" charset="0"/>
                <a:ea typeface="Aptos" pitchFamily="34" charset="-122"/>
                <a:cs typeface="Aptos" pitchFamily="34" charset="-120"/>
              </a:rPr>
              <a:t>2026E ~33%; 2027E ~36%, below peak-cycle 37%+ but above 2025 as ramp costs normalize.</a:t>
            </a:r>
            <a:endParaRPr lang="en-US" sz="860" dirty="0"/>
          </a:p>
        </p:txBody>
      </p:sp>
      <p:sp>
        <p:nvSpPr>
          <p:cNvPr id="7" name="Text 5"/>
          <p:cNvSpPr/>
          <p:nvPr/>
        </p:nvSpPr>
        <p:spPr>
          <a:xfrm>
            <a:off x="685800" y="2761488"/>
            <a:ext cx="10607040" cy="566928"/>
          </a:xfrm>
          <a:prstGeom prst="rect">
            <a:avLst/>
          </a:prstGeom>
          <a:solidFill>
            <a:srgbClr val="FFFFFF"/>
          </a:solidFill>
          <a:ln w="10160">
            <a:solidFill>
              <a:srgbClr val="D5DEE6"/>
            </a:solidFill>
          </a:ln>
        </p:spPr>
        <p:txBody>
          <a:bodyPr wrap="square" lIns="1016" tIns="1016" rIns="1016" bIns="1016" rtlCol="0" anchor="ctr">
            <a:normAutofit/>
          </a:bodyPr>
          <a:lstStyle/>
          <a:p>
            <a:pPr algn="l" indent="0" marL="0">
              <a:buNone/>
            </a:pPr>
            <a:r>
              <a:rPr lang="en-US" sz="860" dirty="0">
                <a:solidFill>
                  <a:srgbClr val="24313F"/>
                </a:solidFill>
                <a:latin typeface="Aptos" pitchFamily="34" charset="0"/>
                <a:ea typeface="Aptos" pitchFamily="34" charset="-122"/>
                <a:cs typeface="Aptos" pitchFamily="34" charset="-120"/>
              </a:rPr>
              <a:t>Global Service</a:t>
            </a:r>
            <a:endParaRPr lang="en-US" sz="860" dirty="0"/>
          </a:p>
          <a:p>
            <a:pPr algn="l" indent="0" marL="0">
              <a:buNone/>
            </a:pPr>
            <a:r>
              <a:rPr lang="en-US" sz="860" dirty="0">
                <a:solidFill>
                  <a:srgbClr val="24313F"/>
                </a:solidFill>
                <a:latin typeface="Aptos" pitchFamily="34" charset="0"/>
                <a:ea typeface="Aptos" pitchFamily="34" charset="-122"/>
                <a:cs typeface="Aptos" pitchFamily="34" charset="-120"/>
              </a:rPr>
              <a:t>Mid-teens growth supported by high fab utilization, spares, repairs and upgrades.</a:t>
            </a:r>
            <a:endParaRPr lang="en-US" sz="860" dirty="0"/>
          </a:p>
        </p:txBody>
      </p:sp>
      <p:sp>
        <p:nvSpPr>
          <p:cNvPr id="8" name="Text 6"/>
          <p:cNvSpPr/>
          <p:nvPr/>
        </p:nvSpPr>
        <p:spPr>
          <a:xfrm>
            <a:off x="685800" y="3547872"/>
            <a:ext cx="10607040" cy="566928"/>
          </a:xfrm>
          <a:prstGeom prst="rect">
            <a:avLst/>
          </a:prstGeom>
          <a:solidFill>
            <a:srgbClr val="F1F7F6"/>
          </a:solidFill>
          <a:ln w="10160">
            <a:solidFill>
              <a:srgbClr val="2A9D8F"/>
            </a:solidFill>
          </a:ln>
        </p:spPr>
        <p:txBody>
          <a:bodyPr wrap="square" lIns="1016" tIns="1016" rIns="1016" bIns="1016" rtlCol="0" anchor="ctr">
            <a:normAutofit/>
          </a:bodyPr>
          <a:lstStyle/>
          <a:p>
            <a:pPr algn="l" indent="0" marL="0">
              <a:buNone/>
            </a:pPr>
            <a:r>
              <a:rPr lang="en-US" sz="860" dirty="0">
                <a:solidFill>
                  <a:srgbClr val="24313F"/>
                </a:solidFill>
                <a:latin typeface="Aptos" pitchFamily="34" charset="0"/>
                <a:ea typeface="Aptos" pitchFamily="34" charset="-122"/>
                <a:cs typeface="Aptos" pitchFamily="34" charset="-120"/>
              </a:rPr>
              <a:t>Capex / cash</a:t>
            </a:r>
            <a:endParaRPr lang="en-US" sz="860" dirty="0"/>
          </a:p>
          <a:p>
            <a:pPr algn="l" indent="0" marL="0">
              <a:buNone/>
            </a:pPr>
            <a:r>
              <a:rPr lang="en-US" sz="860" dirty="0">
                <a:solidFill>
                  <a:srgbClr val="24313F"/>
                </a:solidFill>
                <a:latin typeface="Aptos" pitchFamily="34" charset="0"/>
                <a:ea typeface="Aptos" pitchFamily="34" charset="-122"/>
                <a:cs typeface="Aptos" pitchFamily="34" charset="-120"/>
              </a:rPr>
              <a:t>Capacity investment remains elevated through ramp; FCF conversion improves after working-capital build normalizes.</a:t>
            </a:r>
            <a:endParaRPr lang="en-US" sz="860" dirty="0"/>
          </a:p>
        </p:txBody>
      </p:sp>
      <p:sp>
        <p:nvSpPr>
          <p:cNvPr id="9" name="Text 7"/>
          <p:cNvSpPr/>
          <p:nvPr/>
        </p:nvSpPr>
        <p:spPr>
          <a:xfrm>
            <a:off x="685800" y="4334256"/>
            <a:ext cx="10607040" cy="566928"/>
          </a:xfrm>
          <a:prstGeom prst="rect">
            <a:avLst/>
          </a:prstGeom>
          <a:solidFill>
            <a:srgbClr val="FFFFFF"/>
          </a:solidFill>
          <a:ln w="10160">
            <a:solidFill>
              <a:srgbClr val="D5DEE6"/>
            </a:solidFill>
          </a:ln>
        </p:spPr>
        <p:txBody>
          <a:bodyPr wrap="square" lIns="1016" tIns="1016" rIns="1016" bIns="1016" rtlCol="0" anchor="ctr">
            <a:normAutofit/>
          </a:bodyPr>
          <a:lstStyle/>
          <a:p>
            <a:pPr algn="l" indent="0" marL="0">
              <a:buNone/>
            </a:pPr>
            <a:r>
              <a:rPr lang="en-US" sz="860" dirty="0">
                <a:solidFill>
                  <a:srgbClr val="24313F"/>
                </a:solidFill>
                <a:latin typeface="Aptos" pitchFamily="34" charset="0"/>
                <a:ea typeface="Aptos" pitchFamily="34" charset="-122"/>
                <a:cs typeface="Aptos" pitchFamily="34" charset="-120"/>
              </a:rPr>
              <a:t>Multiple</a:t>
            </a:r>
            <a:endParaRPr lang="en-US" sz="860" dirty="0"/>
          </a:p>
          <a:p>
            <a:pPr algn="l" indent="0" marL="0">
              <a:buNone/>
            </a:pPr>
            <a:r>
              <a:rPr lang="en-US" sz="860" dirty="0">
                <a:solidFill>
                  <a:srgbClr val="24313F"/>
                </a:solidFill>
                <a:latin typeface="Aptos" pitchFamily="34" charset="0"/>
                <a:ea typeface="Aptos" pitchFamily="34" charset="-122"/>
                <a:cs typeface="Aptos" pitchFamily="34" charset="-120"/>
              </a:rPr>
              <a:t>Base target applies premium 2027E EV/EBITDA, cross-checked against peers and historical premium.</a:t>
            </a:r>
            <a:endParaRPr lang="en-US" sz="860" dirty="0"/>
          </a:p>
        </p:txBody>
      </p:sp>
      <p:sp>
        <p:nvSpPr>
          <p:cNvPr id="10" name="Shape 8"/>
          <p:cNvSpPr/>
          <p:nvPr/>
        </p:nvSpPr>
        <p:spPr>
          <a:xfrm>
            <a:off x="411480" y="6510528"/>
            <a:ext cx="11384280" cy="0"/>
          </a:xfrm>
          <a:prstGeom prst="line">
            <a:avLst/>
          </a:prstGeom>
          <a:noFill/>
          <a:ln w="7620">
            <a:solidFill>
              <a:srgbClr val="D5DEE6"/>
            </a:solidFill>
            <a:prstDash val="solid"/>
          </a:ln>
        </p:spPr>
      </p:sp>
      <p:sp>
        <p:nvSpPr>
          <p:cNvPr id="11" name="Text 9"/>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VAT disclosures; MarketScreener consensus; analyst estimates.</a:t>
            </a:r>
            <a:endParaRPr lang="en-US" sz="580" dirty="0"/>
          </a:p>
        </p:txBody>
      </p:sp>
      <p:sp>
        <p:nvSpPr>
          <p:cNvPr id="12" name="Text 10"/>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23</a:t>
            </a:r>
            <a:endParaRPr lang="en-US" sz="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A14. Valuation cross-check: premium multiple is justified only by upgrade visibility</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VAT should trade at a scarcity premium, but downside is material if the upgrade path stalls.</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Shape 3"/>
          <p:cNvSpPr/>
          <p:nvPr/>
        </p:nvSpPr>
        <p:spPr>
          <a:xfrm>
            <a:off x="777240" y="3291840"/>
            <a:ext cx="5303520" cy="0"/>
          </a:xfrm>
          <a:prstGeom prst="line">
            <a:avLst/>
          </a:prstGeom>
          <a:noFill/>
          <a:ln w="10160">
            <a:solidFill>
              <a:srgbClr val="D5DEE6"/>
            </a:solidFill>
            <a:prstDash val="solid"/>
          </a:ln>
        </p:spPr>
      </p:sp>
      <p:sp>
        <p:nvSpPr>
          <p:cNvPr id="6" name="Shape 4"/>
          <p:cNvSpPr/>
          <p:nvPr/>
        </p:nvSpPr>
        <p:spPr>
          <a:xfrm>
            <a:off x="777240" y="2702705"/>
            <a:ext cx="679269" cy="589135"/>
          </a:xfrm>
          <a:prstGeom prst="rect">
            <a:avLst/>
          </a:prstGeom>
          <a:solidFill>
            <a:srgbClr val="64748B"/>
          </a:solidFill>
          <a:ln w="2540">
            <a:solidFill>
              <a:srgbClr val="64748B"/>
            </a:solidFill>
            <a:prstDash val="solid"/>
          </a:ln>
        </p:spPr>
      </p:sp>
      <p:sp>
        <p:nvSpPr>
          <p:cNvPr id="7" name="Shape 5"/>
          <p:cNvSpPr/>
          <p:nvPr/>
        </p:nvSpPr>
        <p:spPr>
          <a:xfrm>
            <a:off x="1547949" y="2381359"/>
            <a:ext cx="679269" cy="910481"/>
          </a:xfrm>
          <a:prstGeom prst="rect">
            <a:avLst/>
          </a:prstGeom>
          <a:solidFill>
            <a:srgbClr val="64748B"/>
          </a:solidFill>
          <a:ln w="2540">
            <a:solidFill>
              <a:srgbClr val="64748B"/>
            </a:solidFill>
            <a:prstDash val="solid"/>
          </a:ln>
        </p:spPr>
      </p:sp>
      <p:sp>
        <p:nvSpPr>
          <p:cNvPr id="8" name="Shape 6"/>
          <p:cNvSpPr/>
          <p:nvPr/>
        </p:nvSpPr>
        <p:spPr>
          <a:xfrm>
            <a:off x="2318657" y="2327801"/>
            <a:ext cx="679269" cy="964039"/>
          </a:xfrm>
          <a:prstGeom prst="rect">
            <a:avLst/>
          </a:prstGeom>
          <a:solidFill>
            <a:srgbClr val="64748B"/>
          </a:solidFill>
          <a:ln w="2540">
            <a:solidFill>
              <a:srgbClr val="64748B"/>
            </a:solidFill>
            <a:prstDash val="solid"/>
          </a:ln>
        </p:spPr>
      </p:sp>
      <p:sp>
        <p:nvSpPr>
          <p:cNvPr id="9" name="Shape 7"/>
          <p:cNvSpPr/>
          <p:nvPr/>
        </p:nvSpPr>
        <p:spPr>
          <a:xfrm>
            <a:off x="3089366" y="2167128"/>
            <a:ext cx="679269" cy="1124712"/>
          </a:xfrm>
          <a:prstGeom prst="rect">
            <a:avLst/>
          </a:prstGeom>
          <a:solidFill>
            <a:srgbClr val="64748B"/>
          </a:solidFill>
          <a:ln w="2540">
            <a:solidFill>
              <a:srgbClr val="64748B"/>
            </a:solidFill>
            <a:prstDash val="solid"/>
          </a:ln>
        </p:spPr>
      </p:sp>
      <p:sp>
        <p:nvSpPr>
          <p:cNvPr id="10" name="Shape 8"/>
          <p:cNvSpPr/>
          <p:nvPr/>
        </p:nvSpPr>
        <p:spPr>
          <a:xfrm>
            <a:off x="3860074" y="1792224"/>
            <a:ext cx="679269" cy="1499616"/>
          </a:xfrm>
          <a:prstGeom prst="rect">
            <a:avLst/>
          </a:prstGeom>
          <a:solidFill>
            <a:srgbClr val="64748B"/>
          </a:solidFill>
          <a:ln w="2540">
            <a:solidFill>
              <a:srgbClr val="64748B"/>
            </a:solidFill>
            <a:prstDash val="solid"/>
          </a:ln>
        </p:spPr>
      </p:sp>
      <p:sp>
        <p:nvSpPr>
          <p:cNvPr id="11" name="Shape 9"/>
          <p:cNvSpPr/>
          <p:nvPr/>
        </p:nvSpPr>
        <p:spPr>
          <a:xfrm>
            <a:off x="4630783" y="1845782"/>
            <a:ext cx="679269" cy="1446058"/>
          </a:xfrm>
          <a:prstGeom prst="rect">
            <a:avLst/>
          </a:prstGeom>
          <a:solidFill>
            <a:srgbClr val="2A9D8F"/>
          </a:solidFill>
          <a:ln w="2540">
            <a:solidFill>
              <a:srgbClr val="2A9D8F"/>
            </a:solidFill>
            <a:prstDash val="solid"/>
          </a:ln>
        </p:spPr>
      </p:sp>
      <p:sp>
        <p:nvSpPr>
          <p:cNvPr id="12" name="Shape 10"/>
          <p:cNvSpPr/>
          <p:nvPr/>
        </p:nvSpPr>
        <p:spPr>
          <a:xfrm>
            <a:off x="5401491" y="1524435"/>
            <a:ext cx="679269" cy="1767405"/>
          </a:xfrm>
          <a:prstGeom prst="rect">
            <a:avLst/>
          </a:prstGeom>
          <a:solidFill>
            <a:srgbClr val="3B6EA5"/>
          </a:solidFill>
          <a:ln w="2540">
            <a:solidFill>
              <a:srgbClr val="3B6EA5"/>
            </a:solidFill>
            <a:prstDash val="solid"/>
          </a:ln>
        </p:spPr>
      </p:sp>
      <p:sp>
        <p:nvSpPr>
          <p:cNvPr id="13" name="Text 11"/>
          <p:cNvSpPr/>
          <p:nvPr/>
        </p:nvSpPr>
        <p:spPr>
          <a:xfrm>
            <a:off x="777240" y="1161288"/>
            <a:ext cx="5303520" cy="182880"/>
          </a:xfrm>
          <a:prstGeom prst="rect">
            <a:avLst/>
          </a:prstGeom>
          <a:noFill/>
          <a:ln/>
        </p:spPr>
        <p:txBody>
          <a:bodyPr wrap="square" lIns="0" tIns="0" rIns="0" bIns="0" rtlCol="0" anchor="ctr">
            <a:normAutofit/>
          </a:bodyPr>
          <a:lstStyle/>
          <a:p>
            <a:pPr indent="0" marL="0">
              <a:buNone/>
            </a:pPr>
            <a:r>
              <a:rPr lang="en-US" sz="750" b="1" dirty="0">
                <a:solidFill>
                  <a:srgbClr val="12202F"/>
                </a:solidFill>
              </a:rPr>
              <a:t>Illustrative FY27E EV/EBITDA (x)</a:t>
            </a:r>
            <a:endParaRPr lang="en-US" sz="750" dirty="0"/>
          </a:p>
        </p:txBody>
      </p:sp>
      <p:sp>
        <p:nvSpPr>
          <p:cNvPr id="14" name="Text 12"/>
          <p:cNvSpPr/>
          <p:nvPr/>
        </p:nvSpPr>
        <p:spPr>
          <a:xfrm>
            <a:off x="758952" y="3337560"/>
            <a:ext cx="715845"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MKS</a:t>
            </a:r>
            <a:endParaRPr lang="en-US" sz="540" dirty="0"/>
          </a:p>
        </p:txBody>
      </p:sp>
      <p:sp>
        <p:nvSpPr>
          <p:cNvPr id="15" name="Text 13"/>
          <p:cNvSpPr/>
          <p:nvPr/>
        </p:nvSpPr>
        <p:spPr>
          <a:xfrm>
            <a:off x="1529661" y="3337560"/>
            <a:ext cx="715845"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AMAT</a:t>
            </a:r>
            <a:endParaRPr lang="en-US" sz="540" dirty="0"/>
          </a:p>
        </p:txBody>
      </p:sp>
      <p:sp>
        <p:nvSpPr>
          <p:cNvPr id="16" name="Text 14"/>
          <p:cNvSpPr/>
          <p:nvPr/>
        </p:nvSpPr>
        <p:spPr>
          <a:xfrm>
            <a:off x="2300369" y="3337560"/>
            <a:ext cx="715845"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LRCX</a:t>
            </a:r>
            <a:endParaRPr lang="en-US" sz="540" dirty="0"/>
          </a:p>
        </p:txBody>
      </p:sp>
      <p:sp>
        <p:nvSpPr>
          <p:cNvPr id="17" name="Text 15"/>
          <p:cNvSpPr/>
          <p:nvPr/>
        </p:nvSpPr>
        <p:spPr>
          <a:xfrm>
            <a:off x="3071078" y="3337560"/>
            <a:ext cx="715845"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KLAC</a:t>
            </a:r>
            <a:endParaRPr lang="en-US" sz="540" dirty="0"/>
          </a:p>
        </p:txBody>
      </p:sp>
      <p:sp>
        <p:nvSpPr>
          <p:cNvPr id="18" name="Text 16"/>
          <p:cNvSpPr/>
          <p:nvPr/>
        </p:nvSpPr>
        <p:spPr>
          <a:xfrm>
            <a:off x="3841786" y="3337560"/>
            <a:ext cx="715845"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ASML</a:t>
            </a:r>
            <a:endParaRPr lang="en-US" sz="540" dirty="0"/>
          </a:p>
        </p:txBody>
      </p:sp>
      <p:sp>
        <p:nvSpPr>
          <p:cNvPr id="19" name="Text 17"/>
          <p:cNvSpPr/>
          <p:nvPr/>
        </p:nvSpPr>
        <p:spPr>
          <a:xfrm>
            <a:off x="4612495" y="3337560"/>
            <a:ext cx="715845"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VAT</a:t>
            </a:r>
            <a:endParaRPr lang="en-US" sz="540" dirty="0"/>
          </a:p>
          <a:p>
            <a:pPr algn="ctr" indent="0" marL="0">
              <a:buNone/>
            </a:pPr>
            <a:r>
              <a:rPr lang="en-US" sz="540" dirty="0">
                <a:solidFill>
                  <a:srgbClr val="64748B"/>
                </a:solidFill>
              </a:rPr>
              <a:t>cur.</a:t>
            </a:r>
            <a:endParaRPr lang="en-US" sz="540" dirty="0"/>
          </a:p>
        </p:txBody>
      </p:sp>
      <p:sp>
        <p:nvSpPr>
          <p:cNvPr id="20" name="Text 18"/>
          <p:cNvSpPr/>
          <p:nvPr/>
        </p:nvSpPr>
        <p:spPr>
          <a:xfrm>
            <a:off x="5383203" y="3337560"/>
            <a:ext cx="715845"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VAT</a:t>
            </a:r>
            <a:endParaRPr lang="en-US" sz="540" dirty="0"/>
          </a:p>
          <a:p>
            <a:pPr algn="ctr" indent="0" marL="0">
              <a:buNone/>
            </a:pPr>
            <a:r>
              <a:rPr lang="en-US" sz="540" dirty="0">
                <a:solidFill>
                  <a:srgbClr val="64748B"/>
                </a:solidFill>
              </a:rPr>
              <a:t>TP</a:t>
            </a:r>
            <a:endParaRPr lang="en-US" sz="540" dirty="0"/>
          </a:p>
        </p:txBody>
      </p:sp>
      <p:sp>
        <p:nvSpPr>
          <p:cNvPr id="21" name="Shape 19"/>
          <p:cNvSpPr/>
          <p:nvPr/>
        </p:nvSpPr>
        <p:spPr>
          <a:xfrm>
            <a:off x="6720840" y="3291840"/>
            <a:ext cx="3931920" cy="0"/>
          </a:xfrm>
          <a:prstGeom prst="line">
            <a:avLst/>
          </a:prstGeom>
          <a:noFill/>
          <a:ln w="10160">
            <a:solidFill>
              <a:srgbClr val="D5DEE6"/>
            </a:solidFill>
            <a:prstDash val="solid"/>
          </a:ln>
        </p:spPr>
      </p:sp>
      <p:sp>
        <p:nvSpPr>
          <p:cNvPr id="22" name="Shape 20"/>
          <p:cNvSpPr/>
          <p:nvPr/>
        </p:nvSpPr>
        <p:spPr>
          <a:xfrm>
            <a:off x="6720840" y="2364446"/>
            <a:ext cx="1249680" cy="927394"/>
          </a:xfrm>
          <a:prstGeom prst="rect">
            <a:avLst/>
          </a:prstGeom>
          <a:solidFill>
            <a:srgbClr val="B94A48"/>
          </a:solidFill>
          <a:ln w="2540">
            <a:solidFill>
              <a:srgbClr val="B94A48"/>
            </a:solidFill>
            <a:prstDash val="solid"/>
          </a:ln>
        </p:spPr>
      </p:sp>
      <p:sp>
        <p:nvSpPr>
          <p:cNvPr id="23" name="Shape 21"/>
          <p:cNvSpPr/>
          <p:nvPr/>
        </p:nvSpPr>
        <p:spPr>
          <a:xfrm>
            <a:off x="8061960" y="1831688"/>
            <a:ext cx="1249680" cy="1460152"/>
          </a:xfrm>
          <a:prstGeom prst="rect">
            <a:avLst/>
          </a:prstGeom>
          <a:solidFill>
            <a:srgbClr val="2A9D8F"/>
          </a:solidFill>
          <a:ln w="2540">
            <a:solidFill>
              <a:srgbClr val="2A9D8F"/>
            </a:solidFill>
            <a:prstDash val="solid"/>
          </a:ln>
        </p:spPr>
      </p:sp>
      <p:sp>
        <p:nvSpPr>
          <p:cNvPr id="24" name="Shape 22"/>
          <p:cNvSpPr/>
          <p:nvPr/>
        </p:nvSpPr>
        <p:spPr>
          <a:xfrm>
            <a:off x="9403080" y="1515979"/>
            <a:ext cx="1249680" cy="1775861"/>
          </a:xfrm>
          <a:prstGeom prst="rect">
            <a:avLst/>
          </a:prstGeom>
          <a:solidFill>
            <a:srgbClr val="3B6EA5"/>
          </a:solidFill>
          <a:ln w="2540">
            <a:solidFill>
              <a:srgbClr val="3B6EA5"/>
            </a:solidFill>
            <a:prstDash val="solid"/>
          </a:ln>
        </p:spPr>
      </p:sp>
      <p:sp>
        <p:nvSpPr>
          <p:cNvPr id="25" name="Text 23"/>
          <p:cNvSpPr/>
          <p:nvPr/>
        </p:nvSpPr>
        <p:spPr>
          <a:xfrm>
            <a:off x="6720840" y="1161288"/>
            <a:ext cx="3931920" cy="182880"/>
          </a:xfrm>
          <a:prstGeom prst="rect">
            <a:avLst/>
          </a:prstGeom>
          <a:noFill/>
          <a:ln/>
        </p:spPr>
        <p:txBody>
          <a:bodyPr wrap="square" lIns="0" tIns="0" rIns="0" bIns="0" rtlCol="0" anchor="ctr">
            <a:normAutofit/>
          </a:bodyPr>
          <a:lstStyle/>
          <a:p>
            <a:pPr indent="0" marL="0">
              <a:buNone/>
            </a:pPr>
            <a:r>
              <a:rPr lang="en-US" sz="750" b="1" dirty="0">
                <a:solidFill>
                  <a:srgbClr val="12202F"/>
                </a:solidFill>
              </a:rPr>
              <a:t>Scenario target price (CHF/share)</a:t>
            </a:r>
            <a:endParaRPr lang="en-US" sz="750" dirty="0"/>
          </a:p>
        </p:txBody>
      </p:sp>
      <p:sp>
        <p:nvSpPr>
          <p:cNvPr id="26" name="Text 24"/>
          <p:cNvSpPr/>
          <p:nvPr/>
        </p:nvSpPr>
        <p:spPr>
          <a:xfrm>
            <a:off x="6702552" y="3337560"/>
            <a:ext cx="128625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Bear</a:t>
            </a:r>
            <a:endParaRPr lang="en-US" sz="540" dirty="0"/>
          </a:p>
        </p:txBody>
      </p:sp>
      <p:sp>
        <p:nvSpPr>
          <p:cNvPr id="27" name="Text 25"/>
          <p:cNvSpPr/>
          <p:nvPr/>
        </p:nvSpPr>
        <p:spPr>
          <a:xfrm>
            <a:off x="8043672" y="3337560"/>
            <a:ext cx="128625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Base</a:t>
            </a:r>
            <a:endParaRPr lang="en-US" sz="540" dirty="0"/>
          </a:p>
        </p:txBody>
      </p:sp>
      <p:sp>
        <p:nvSpPr>
          <p:cNvPr id="28" name="Text 26"/>
          <p:cNvSpPr/>
          <p:nvPr/>
        </p:nvSpPr>
        <p:spPr>
          <a:xfrm>
            <a:off x="9384792" y="3337560"/>
            <a:ext cx="1286256" cy="210312"/>
          </a:xfrm>
          <a:prstGeom prst="rect">
            <a:avLst/>
          </a:prstGeom>
          <a:noFill/>
          <a:ln/>
        </p:spPr>
        <p:txBody>
          <a:bodyPr wrap="square" lIns="0" tIns="0" rIns="0" bIns="0" rtlCol="0" anchor="ctr">
            <a:normAutofit/>
          </a:bodyPr>
          <a:lstStyle/>
          <a:p>
            <a:pPr algn="ctr" indent="0" marL="0">
              <a:buNone/>
            </a:pPr>
            <a:r>
              <a:rPr lang="en-US" sz="540" dirty="0">
                <a:solidFill>
                  <a:srgbClr val="64748B"/>
                </a:solidFill>
              </a:rPr>
              <a:t>Bull</a:t>
            </a:r>
            <a:endParaRPr lang="en-US" sz="540" dirty="0"/>
          </a:p>
        </p:txBody>
      </p:sp>
      <p:sp>
        <p:nvSpPr>
          <p:cNvPr id="29" name="Text 27"/>
          <p:cNvSpPr/>
          <p:nvPr/>
        </p:nvSpPr>
        <p:spPr>
          <a:xfrm>
            <a:off x="777240" y="4754880"/>
            <a:ext cx="10241280" cy="548640"/>
          </a:xfrm>
          <a:prstGeom prst="rect">
            <a:avLst/>
          </a:prstGeom>
          <a:solidFill>
            <a:srgbClr val="FFF8EA"/>
          </a:solidFill>
          <a:ln w="10160">
            <a:solidFill>
              <a:srgbClr val="E9C46A"/>
            </a:solidFill>
          </a:ln>
        </p:spPr>
        <p:txBody>
          <a:bodyPr wrap="square" lIns="1016" tIns="1016" rIns="1016" bIns="1016" rtlCol="0" anchor="ctr">
            <a:normAutofit/>
          </a:bodyPr>
          <a:lstStyle/>
          <a:p>
            <a:pPr algn="l" indent="0" marL="0">
              <a:buNone/>
            </a:pPr>
            <a:r>
              <a:rPr lang="en-US" sz="880" dirty="0">
                <a:solidFill>
                  <a:srgbClr val="24313F"/>
                </a:solidFill>
                <a:latin typeface="Aptos" pitchFamily="34" charset="0"/>
                <a:ea typeface="Aptos" pitchFamily="34" charset="-122"/>
                <a:cs typeface="Aptos" pitchFamily="34" charset="-120"/>
              </a:rPr>
              <a:t>Sensitivity: every 1x change in FY27E EBITDA multiple is roughly CHF 23/share; every CHF 50m change in FY27E EBITDA is roughly CHF 55/share at 33x.</a:t>
            </a:r>
            <a:endParaRPr lang="en-US" sz="880" dirty="0"/>
          </a:p>
        </p:txBody>
      </p:sp>
      <p:sp>
        <p:nvSpPr>
          <p:cNvPr id="30" name="Shape 28"/>
          <p:cNvSpPr/>
          <p:nvPr/>
        </p:nvSpPr>
        <p:spPr>
          <a:xfrm>
            <a:off x="411480" y="6510528"/>
            <a:ext cx="11384280" cy="0"/>
          </a:xfrm>
          <a:prstGeom prst="line">
            <a:avLst/>
          </a:prstGeom>
          <a:noFill/>
          <a:ln w="7620">
            <a:solidFill>
              <a:srgbClr val="D5DEE6"/>
            </a:solidFill>
            <a:prstDash val="solid"/>
          </a:ln>
        </p:spPr>
      </p:sp>
      <p:sp>
        <p:nvSpPr>
          <p:cNvPr id="31" name="Text 29"/>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MarketScreener / public consensus screens; analyst calculations. Peer valuation is illustrative and should be refreshed before presentation.</a:t>
            </a:r>
            <a:endParaRPr lang="en-US" sz="580" dirty="0"/>
          </a:p>
        </p:txBody>
      </p:sp>
      <p:sp>
        <p:nvSpPr>
          <p:cNvPr id="32" name="Text 30"/>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24</a:t>
            </a:r>
            <a:endParaRPr lang="en-US" sz="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256032"/>
            <a:ext cx="11155680" cy="411480"/>
          </a:xfrm>
          <a:prstGeom prst="rect">
            <a:avLst/>
          </a:prstGeom>
          <a:noFill/>
          <a:ln/>
        </p:spPr>
        <p:txBody>
          <a:bodyPr wrap="square" lIns="0" tIns="0" rIns="0" bIns="0" rtlCol="0" anchor="ctr">
            <a:normAutofit/>
          </a:bodyPr>
          <a:lstStyle/>
          <a:p>
            <a:pPr indent="0" marL="0">
              <a:buNone/>
            </a:pPr>
            <a:r>
              <a:rPr lang="en-US" sz="2000" b="1" dirty="0">
                <a:solidFill>
                  <a:srgbClr val="12202F"/>
                </a:solidFill>
                <a:latin typeface="Aptos Display" pitchFamily="34" charset="0"/>
                <a:ea typeface="Aptos Display" pitchFamily="34" charset="-122"/>
                <a:cs typeface="Aptos Display" pitchFamily="34" charset="-120"/>
              </a:rPr>
              <a:t>A15. Q&amp;A, risk monitoring and unresolved diligence</a:t>
            </a:r>
            <a:endParaRPr lang="en-US" sz="2000" dirty="0"/>
          </a:p>
        </p:txBody>
      </p:sp>
      <p:sp>
        <p:nvSpPr>
          <p:cNvPr id="3" name="Text 1"/>
          <p:cNvSpPr/>
          <p:nvPr/>
        </p:nvSpPr>
        <p:spPr>
          <a:xfrm>
            <a:off x="502920" y="694944"/>
            <a:ext cx="10607040" cy="256032"/>
          </a:xfrm>
          <a:prstGeom prst="rect">
            <a:avLst/>
          </a:prstGeom>
          <a:noFill/>
          <a:ln/>
        </p:spPr>
        <p:txBody>
          <a:bodyPr wrap="square" lIns="0" tIns="0" rIns="0" bIns="0" rtlCol="0" anchor="ctr">
            <a:normAutofit/>
          </a:bodyPr>
          <a:lstStyle/>
          <a:p>
            <a:pPr indent="0" marL="0">
              <a:buNone/>
            </a:pPr>
            <a:r>
              <a:rPr lang="en-US" sz="850" dirty="0">
                <a:solidFill>
                  <a:srgbClr val="64748B"/>
                </a:solidFill>
              </a:rPr>
              <a:t>The Buy case must be actively monitored; a quality business can still be a bad stock at the wrong price.</a:t>
            </a:r>
            <a:endParaRPr lang="en-US" sz="850" dirty="0"/>
          </a:p>
        </p:txBody>
      </p:sp>
      <p:sp>
        <p:nvSpPr>
          <p:cNvPr id="4" name="Shape 2"/>
          <p:cNvSpPr/>
          <p:nvPr/>
        </p:nvSpPr>
        <p:spPr>
          <a:xfrm>
            <a:off x="502920" y="1024128"/>
            <a:ext cx="11155680" cy="0"/>
          </a:xfrm>
          <a:prstGeom prst="line">
            <a:avLst/>
          </a:prstGeom>
          <a:noFill/>
          <a:ln w="7620">
            <a:solidFill>
              <a:srgbClr val="D5DEE6"/>
            </a:solidFill>
            <a:prstDash val="solid"/>
          </a:ln>
        </p:spPr>
      </p:sp>
      <p:sp>
        <p:nvSpPr>
          <p:cNvPr id="5" name="Text 3"/>
          <p:cNvSpPr/>
          <p:nvPr/>
        </p:nvSpPr>
        <p:spPr>
          <a:xfrm>
            <a:off x="685800" y="1234440"/>
            <a:ext cx="3429000" cy="1828800"/>
          </a:xfrm>
          <a:prstGeom prst="rect">
            <a:avLst/>
          </a:prstGeom>
          <a:solidFill>
            <a:srgbClr val="FFFFFF"/>
          </a:solidFill>
          <a:ln w="10160">
            <a:solidFill>
              <a:srgbClr val="D5DEE6"/>
            </a:solidFill>
          </a:ln>
        </p:spPr>
        <p:txBody>
          <a:bodyPr wrap="square" lIns="1270" tIns="1270" rIns="1270" bIns="1270" rtlCol="0" anchor="ctr">
            <a:normAutofit/>
          </a:bodyPr>
          <a:lstStyle/>
          <a:p>
            <a:pPr algn="l" indent="0" marL="0">
              <a:buNone/>
            </a:pPr>
            <a:r>
              <a:rPr lang="en-US" sz="880" dirty="0">
                <a:solidFill>
                  <a:srgbClr val="24313F"/>
                </a:solidFill>
                <a:latin typeface="Aptos" pitchFamily="34" charset="0"/>
                <a:ea typeface="Aptos" pitchFamily="34" charset="-122"/>
                <a:cs typeface="Aptos" pitchFamily="34" charset="-120"/>
              </a:rPr>
              <a:t>Top bear questions</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Are orders double-booked?</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Is China localization a share-loss risk?</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Will capacity ramp dilute margins?</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Why buy VAT versus ASML / Lam / Applied?</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What is already priced in?</a:t>
            </a:r>
            <a:endParaRPr lang="en-US" sz="880" dirty="0"/>
          </a:p>
        </p:txBody>
      </p:sp>
      <p:sp>
        <p:nvSpPr>
          <p:cNvPr id="6" name="Text 4"/>
          <p:cNvSpPr/>
          <p:nvPr/>
        </p:nvSpPr>
        <p:spPr>
          <a:xfrm>
            <a:off x="4434840" y="1234440"/>
            <a:ext cx="3429000" cy="1828800"/>
          </a:xfrm>
          <a:prstGeom prst="rect">
            <a:avLst/>
          </a:prstGeom>
          <a:solidFill>
            <a:srgbClr val="EDF8F6"/>
          </a:solidFill>
          <a:ln w="10160">
            <a:solidFill>
              <a:srgbClr val="2A9D8F"/>
            </a:solidFill>
          </a:ln>
        </p:spPr>
        <p:txBody>
          <a:bodyPr wrap="square" lIns="1270" tIns="1270" rIns="1270" bIns="1270" rtlCol="0" anchor="ctr">
            <a:normAutofit/>
          </a:bodyPr>
          <a:lstStyle/>
          <a:p>
            <a:pPr algn="l" indent="0" marL="0">
              <a:buNone/>
            </a:pPr>
            <a:r>
              <a:rPr lang="en-US" sz="880" dirty="0">
                <a:solidFill>
                  <a:srgbClr val="24313F"/>
                </a:solidFill>
                <a:latin typeface="Aptos" pitchFamily="34" charset="0"/>
                <a:ea typeface="Aptos" pitchFamily="34" charset="-122"/>
                <a:cs typeface="Aptos" pitchFamily="34" charset="-120"/>
              </a:rPr>
              <a:t>Leading indicators</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Book-to-bill and cancellations</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Backlog conversion vs Q3/Q4 sales</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Factory run-rate progress</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Service revenue / fab utilization</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2027 guidance and WFE revisions</a:t>
            </a:r>
            <a:endParaRPr lang="en-US" sz="880" dirty="0"/>
          </a:p>
          <a:p>
            <a:pPr algn="l" indent="0" marL="0">
              <a:buNone/>
            </a:pPr>
            <a:r>
              <a:rPr lang="en-US" sz="880" dirty="0">
                <a:solidFill>
                  <a:srgbClr val="24313F"/>
                </a:solidFill>
                <a:latin typeface="Aptos" pitchFamily="34" charset="0"/>
                <a:ea typeface="Aptos" pitchFamily="34" charset="-122"/>
                <a:cs typeface="Aptos" pitchFamily="34" charset="-120"/>
              </a:rPr>
              <a:t>• EBITDA margin bridge</a:t>
            </a:r>
            <a:endParaRPr lang="en-US" sz="880" dirty="0"/>
          </a:p>
        </p:txBody>
      </p:sp>
      <p:sp>
        <p:nvSpPr>
          <p:cNvPr id="7" name="Text 5"/>
          <p:cNvSpPr/>
          <p:nvPr/>
        </p:nvSpPr>
        <p:spPr>
          <a:xfrm>
            <a:off x="8183880" y="1234440"/>
            <a:ext cx="3108960" cy="1828800"/>
          </a:xfrm>
          <a:prstGeom prst="rect">
            <a:avLst/>
          </a:prstGeom>
          <a:solidFill>
            <a:srgbClr val="FFF8EA"/>
          </a:solidFill>
          <a:ln w="10160">
            <a:solidFill>
              <a:srgbClr val="E9C46A"/>
            </a:solidFill>
          </a:ln>
        </p:spPr>
        <p:txBody>
          <a:bodyPr wrap="square" lIns="1270" tIns="1270" rIns="1270" bIns="1270" rtlCol="0" anchor="ctr">
            <a:normAutofit/>
          </a:bodyPr>
          <a:lstStyle/>
          <a:p>
            <a:pPr algn="l" indent="0" marL="0">
              <a:buNone/>
            </a:pPr>
            <a:r>
              <a:rPr lang="en-US" sz="860" dirty="0">
                <a:solidFill>
                  <a:srgbClr val="24313F"/>
                </a:solidFill>
                <a:latin typeface="Aptos" pitchFamily="34" charset="0"/>
                <a:ea typeface="Aptos" pitchFamily="34" charset="-122"/>
                <a:cs typeface="Aptos" pitchFamily="34" charset="-120"/>
              </a:rPr>
              <a:t>Unresolved diligence</a:t>
            </a:r>
            <a:endParaRPr lang="en-US" sz="860" dirty="0"/>
          </a:p>
          <a:p>
            <a:pPr algn="l" indent="0" marL="0">
              <a:buNone/>
            </a:pPr>
            <a:r>
              <a:rPr lang="en-US" sz="860" dirty="0">
                <a:solidFill>
                  <a:srgbClr val="24313F"/>
                </a:solidFill>
                <a:latin typeface="Aptos" pitchFamily="34" charset="0"/>
                <a:ea typeface="Aptos" pitchFamily="34" charset="-122"/>
                <a:cs typeface="Aptos" pitchFamily="34" charset="-120"/>
              </a:rPr>
              <a:t>• Exact backlog cancellability terms</a:t>
            </a:r>
            <a:endParaRPr lang="en-US" sz="860" dirty="0"/>
          </a:p>
          <a:p>
            <a:pPr algn="l" indent="0" marL="0">
              <a:buNone/>
            </a:pPr>
            <a:r>
              <a:rPr lang="en-US" sz="860" dirty="0">
                <a:solidFill>
                  <a:srgbClr val="24313F"/>
                </a:solidFill>
                <a:latin typeface="Aptos" pitchFamily="34" charset="0"/>
                <a:ea typeface="Aptos" pitchFamily="34" charset="-122"/>
                <a:cs typeface="Aptos" pitchFamily="34" charset="-120"/>
              </a:rPr>
              <a:t>• Customer-level order concentration</a:t>
            </a:r>
            <a:endParaRPr lang="en-US" sz="860" dirty="0"/>
          </a:p>
          <a:p>
            <a:pPr algn="l" indent="0" marL="0">
              <a:buNone/>
            </a:pPr>
            <a:r>
              <a:rPr lang="en-US" sz="860" dirty="0">
                <a:solidFill>
                  <a:srgbClr val="24313F"/>
                </a:solidFill>
                <a:latin typeface="Aptos" pitchFamily="34" charset="0"/>
                <a:ea typeface="Aptos" pitchFamily="34" charset="-122"/>
                <a:cs typeface="Aptos" pitchFamily="34" charset="-120"/>
              </a:rPr>
              <a:t>• Logic / memory / China split within semi orders</a:t>
            </a:r>
            <a:endParaRPr lang="en-US" sz="860" dirty="0"/>
          </a:p>
          <a:p>
            <a:pPr algn="l" indent="0" marL="0">
              <a:buNone/>
            </a:pPr>
            <a:r>
              <a:rPr lang="en-US" sz="860" dirty="0">
                <a:solidFill>
                  <a:srgbClr val="24313F"/>
                </a:solidFill>
                <a:latin typeface="Aptos" pitchFamily="34" charset="0"/>
                <a:ea typeface="Aptos" pitchFamily="34" charset="-122"/>
                <a:cs typeface="Aptos" pitchFamily="34" charset="-120"/>
              </a:rPr>
              <a:t>• Qualification pipeline by OEM</a:t>
            </a:r>
            <a:endParaRPr lang="en-US" sz="860" dirty="0"/>
          </a:p>
          <a:p>
            <a:pPr algn="l" indent="0" marL="0">
              <a:buNone/>
            </a:pPr>
            <a:r>
              <a:rPr lang="en-US" sz="860" dirty="0">
                <a:solidFill>
                  <a:srgbClr val="24313F"/>
                </a:solidFill>
                <a:latin typeface="Aptos" pitchFamily="34" charset="0"/>
                <a:ea typeface="Aptos" pitchFamily="34" charset="-122"/>
                <a:cs typeface="Aptos" pitchFamily="34" charset="-120"/>
              </a:rPr>
              <a:t>• Net pricing versus mix benefit</a:t>
            </a:r>
            <a:endParaRPr lang="en-US" sz="860" dirty="0"/>
          </a:p>
          <a:p>
            <a:pPr algn="l" indent="0" marL="0">
              <a:buNone/>
            </a:pPr>
            <a:r>
              <a:rPr lang="en-US" sz="860" dirty="0">
                <a:solidFill>
                  <a:srgbClr val="24313F"/>
                </a:solidFill>
                <a:latin typeface="Aptos" pitchFamily="34" charset="0"/>
                <a:ea typeface="Aptos" pitchFamily="34" charset="-122"/>
                <a:cs typeface="Aptos" pitchFamily="34" charset="-120"/>
              </a:rPr>
              <a:t>• Romania/Malaysia ramp bottlenecks</a:t>
            </a:r>
            <a:endParaRPr lang="en-US" sz="860" dirty="0"/>
          </a:p>
        </p:txBody>
      </p:sp>
      <p:sp>
        <p:nvSpPr>
          <p:cNvPr id="8" name="Text 6"/>
          <p:cNvSpPr/>
          <p:nvPr/>
        </p:nvSpPr>
        <p:spPr>
          <a:xfrm>
            <a:off x="777240" y="4754880"/>
            <a:ext cx="10241280" cy="548640"/>
          </a:xfrm>
          <a:prstGeom prst="rect">
            <a:avLst/>
          </a:prstGeom>
          <a:solidFill>
            <a:srgbClr val="FFFFFF"/>
          </a:solidFill>
          <a:ln w="10160">
            <a:solidFill>
              <a:srgbClr val="D5DEE6"/>
            </a:solidFill>
          </a:ln>
        </p:spPr>
        <p:txBody>
          <a:bodyPr wrap="square" lIns="1016" tIns="1016" rIns="1016" bIns="1016" rtlCol="0" anchor="ctr">
            <a:normAutofit/>
          </a:bodyPr>
          <a:lstStyle/>
          <a:p>
            <a:pPr algn="ctr" indent="0" marL="0">
              <a:buNone/>
            </a:pPr>
            <a:r>
              <a:rPr lang="en-US" sz="1000" b="1" dirty="0">
                <a:solidFill>
                  <a:srgbClr val="24313F"/>
                </a:solidFill>
                <a:latin typeface="Aptos" pitchFamily="34" charset="0"/>
                <a:ea typeface="Aptos" pitchFamily="34" charset="-122"/>
                <a:cs typeface="Aptos" pitchFamily="34" charset="-120"/>
              </a:rPr>
              <a:t>Full Q&amp;A preparation document is included separately with 25+ hard questions and concise prepared responses.</a:t>
            </a:r>
            <a:endParaRPr lang="en-US" sz="1000" dirty="0"/>
          </a:p>
        </p:txBody>
      </p:sp>
      <p:sp>
        <p:nvSpPr>
          <p:cNvPr id="9" name="Shape 7"/>
          <p:cNvSpPr/>
          <p:nvPr/>
        </p:nvSpPr>
        <p:spPr>
          <a:xfrm>
            <a:off x="411480" y="6510528"/>
            <a:ext cx="11384280" cy="0"/>
          </a:xfrm>
          <a:prstGeom prst="line">
            <a:avLst/>
          </a:prstGeom>
          <a:noFill/>
          <a:ln w="7620">
            <a:solidFill>
              <a:srgbClr val="D5DEE6"/>
            </a:solidFill>
            <a:prstDash val="solid"/>
          </a:ln>
        </p:spPr>
      </p:sp>
      <p:sp>
        <p:nvSpPr>
          <p:cNvPr id="10" name="Text 8"/>
          <p:cNvSpPr/>
          <p:nvPr/>
        </p:nvSpPr>
        <p:spPr>
          <a:xfrm>
            <a:off x="502920" y="6565392"/>
            <a:ext cx="9692640" cy="164592"/>
          </a:xfrm>
          <a:prstGeom prst="rect">
            <a:avLst/>
          </a:prstGeom>
          <a:noFill/>
          <a:ln/>
        </p:spPr>
        <p:txBody>
          <a:bodyPr wrap="square" lIns="0" tIns="0" rIns="0" bIns="0" rtlCol="0" anchor="ctr">
            <a:normAutofit/>
          </a:bodyPr>
          <a:lstStyle/>
          <a:p>
            <a:pPr indent="0" marL="0">
              <a:buNone/>
            </a:pPr>
            <a:r>
              <a:rPr lang="en-US" sz="580" dirty="0">
                <a:solidFill>
                  <a:srgbClr val="64748B"/>
                </a:solidFill>
                <a:latin typeface="Aptos" pitchFamily="34" charset="0"/>
                <a:ea typeface="Aptos" pitchFamily="34" charset="-122"/>
                <a:cs typeface="Aptos" pitchFamily="34" charset="-120"/>
              </a:rPr>
              <a:t>Source: Analyst assessment.</a:t>
            </a:r>
            <a:endParaRPr lang="en-US" sz="580" dirty="0"/>
          </a:p>
        </p:txBody>
      </p:sp>
      <p:sp>
        <p:nvSpPr>
          <p:cNvPr id="11" name="Text 9"/>
          <p:cNvSpPr/>
          <p:nvPr/>
        </p:nvSpPr>
        <p:spPr>
          <a:xfrm>
            <a:off x="11430000" y="6556248"/>
            <a:ext cx="320040" cy="164592"/>
          </a:xfrm>
          <a:prstGeom prst="rect">
            <a:avLst/>
          </a:prstGeom>
          <a:noFill/>
          <a:ln/>
        </p:spPr>
        <p:txBody>
          <a:bodyPr wrap="square" lIns="0" tIns="0" rIns="0" bIns="0" rtlCol="0" anchor="ctr"/>
          <a:lstStyle/>
          <a:p>
            <a:pPr algn="r" indent="0" marL="0">
              <a:buNone/>
            </a:pPr>
            <a:r>
              <a:rPr lang="en-US" sz="600" dirty="0">
                <a:solidFill>
                  <a:srgbClr val="64748B"/>
                </a:solidFill>
              </a:rPr>
              <a:t>25</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VAT Group AG - Stock Pitch</dc:title>
  <dc:subject>VAT Group AG stock pitch</dc:subject>
  <dc:creator>OpenAI</dc:creator>
  <cp:lastModifiedBy>OpenAI</cp:lastModifiedBy>
  <cp:revision>1</cp:revision>
  <dcterms:created xsi:type="dcterms:W3CDTF">2026-08-04T11:25:09Z</dcterms:created>
  <dcterms:modified xsi:type="dcterms:W3CDTF">2026-08-04T11:25:09Z</dcterms:modified>
</cp:coreProperties>
</file>