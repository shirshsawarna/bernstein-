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>
      <p:cViewPr varScale="1">
        <p:scale>
          <a:sx n="103" d="100"/>
          <a:sy n="103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Wockhardt New Drug Discovery / Antibiotic Pipeline, https://www.wockhardt.com/about-us/our-business-verticals/new-drug-discovery/. US FDA Zaynich prescribing information, 2026, https://www.accessdata.fda.gov/drugsatfda_docs/label/2026/220787Orig1s000lbl.pdf. Analyst interpretation based on public company disclosures.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US FDA Zaynich prescribing information, 2026, https://www.accessdata.fda.gov/drugsatfda_docs/label/2026/220787Orig1s000lbl.pdf. Wockhardt management peak-sales commentary reported by Business Standard, https://www.business-standard.com/companies/news/wockhardt-eyes-1-5-bn-peak-sales-from-zaynich-targets-us-launch-by-yr-end-126060101837_1.html. Sales estimates are Bernstein base-case estimates transcribed from the manager-provided exhibit. The ENHANCE-1 primary mMITT population excluded baseline pathogens resistant to meropenem.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D9E9FB7-92A1-4C6C-AA5B-BD85C5406C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99DCE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E983C5-2CCB-4D62-8915-AB2525C2F018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WOCKHARDT  AMR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4BF52-8F58-4EEC-990F-BB34A58288C9}"/>
              </a:ext>
            </a:extLst>
          </p:cNvPr>
          <p:cNvSpPr>
            <a:spLocks noGrp="1"/>
          </p:cNvSpPr>
          <p:nvPr/>
        </p:nvSpPr>
        <p:spPr>
          <a:xfrm>
            <a:off x="11287125" y="6477000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900" b="0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C32014-94A4-4888-9F67-917579B406F3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9239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628"/>
          </a:bodyPr>
          <a:lstStyle/>
          <a:p>
            <a:pPr algn="l">
              <a:lnSpc>
                <a:spcPct val="96000"/>
              </a:lnSpc>
              <a:buNone/>
              <a:defRPr sz="2700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Zaynich validates the platform. Odrate offers the clearest follow-on value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2420C6-31E6-4EA9-9009-BB6E6093A632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581"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Wockhardt has built a credible anti-infective portfolio, but value remains concentrated in one approved US asset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52EE73-B9C2-44A0-A1C6-BFF4735A03DC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19050"/>
          </a:xfrm>
          <a:prstGeom prst="rect">
            <a:avLst/>
          </a:prstGeom>
          <a:solidFill>
            <a:srgbClr val="299DC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ECBA5-FEEB-47F5-BC03-6123325A7782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1571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ASSET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9EB17-E696-4837-A6B8-DF1BA9F1E948}"/>
              </a:ext>
            </a:extLst>
          </p:cNvPr>
          <p:cNvSpPr>
            <a:spLocks noGrp="1"/>
          </p:cNvSpPr>
          <p:nvPr/>
        </p:nvSpPr>
        <p:spPr>
          <a:xfrm>
            <a:off x="2381250" y="2076450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5F0C87-22EE-417E-B567-EF68204AF9F5}"/>
              </a:ext>
            </a:extLst>
          </p:cNvPr>
          <p:cNvSpPr>
            <a:spLocks noGrp="1"/>
          </p:cNvSpPr>
          <p:nvPr/>
        </p:nvSpPr>
        <p:spPr>
          <a:xfrm>
            <a:off x="4286250" y="2076450"/>
            <a:ext cx="3095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PORTFOLIO ROLE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6A26C-CE4A-4D25-AAC8-E548B104F681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Zaynich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E35CDD-97FF-4338-9360-27452C7F79CF}"/>
              </a:ext>
            </a:extLst>
          </p:cNvPr>
          <p:cNvSpPr>
            <a:spLocks noGrp="1"/>
          </p:cNvSpPr>
          <p:nvPr/>
        </p:nvSpPr>
        <p:spPr>
          <a:xfrm>
            <a:off x="2381250" y="2400300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250"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US and India approved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07AC3A-9985-4B09-8B53-B67B18D23A92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3095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Launch anchor and validation of the zidebactam platform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372678-B3D4-4E85-85F4-CF1175B0BACC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6715125" cy="95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9A1367-0A00-4C37-B639-4B5E1695A11E}"/>
              </a:ext>
            </a:extLst>
          </p:cNvPr>
          <p:cNvSpPr>
            <a:spLocks noGrp="1"/>
          </p:cNvSpPr>
          <p:nvPr/>
        </p:nvSpPr>
        <p:spPr>
          <a:xfrm>
            <a:off x="666750" y="3057525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Odrate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2A6857-C50D-4B25-9697-7CF9761BD8C9}"/>
              </a:ext>
            </a:extLst>
          </p:cNvPr>
          <p:cNvSpPr>
            <a:spLocks noGrp="1"/>
          </p:cNvSpPr>
          <p:nvPr/>
        </p:nvSpPr>
        <p:spPr>
          <a:xfrm>
            <a:off x="2381250" y="3076575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Phase 1 completed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ABDD54-AF25-4F43-ACF2-C0DC2A4B9617}"/>
              </a:ext>
            </a:extLst>
          </p:cNvPr>
          <p:cNvSpPr>
            <a:spLocks noGrp="1"/>
          </p:cNvSpPr>
          <p:nvPr/>
        </p:nvSpPr>
        <p:spPr>
          <a:xfrm>
            <a:off x="4286250" y="3057525"/>
            <a:ext cx="3095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Once-daily OPAT profile creates the clearest setting expansion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95EDBD-06FE-4363-92A0-7813664B8BA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6715125" cy="95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9E97C6-E1C9-4B5F-A6E7-B2150A03FDE8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Foviscu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8D93E9-29FD-4BA8-AC7C-FFA7560E6406}"/>
              </a:ext>
            </a:extLst>
          </p:cNvPr>
          <p:cNvSpPr>
            <a:spLocks noGrp="1"/>
          </p:cNvSpPr>
          <p:nvPr/>
        </p:nvSpPr>
        <p:spPr>
          <a:xfrm>
            <a:off x="2381250" y="3752850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Phase 3 completed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867B49-C420-4C91-97C7-9CC981112C6E}"/>
              </a:ext>
            </a:extLst>
          </p:cNvPr>
          <p:cNvSpPr>
            <a:spLocks noGrp="1"/>
          </p:cNvSpPr>
          <p:nvPr/>
        </p:nvSpPr>
        <p:spPr>
          <a:xfrm>
            <a:off x="4286250" y="3733800"/>
            <a:ext cx="3095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Carbapenem-sparing option for higher-volume ESBL infections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BBB9F0-3E1C-4C5C-A592-ADC857934FF4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6715125" cy="95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1141E9-9163-417C-8A22-05FF84936BB1}"/>
              </a:ext>
            </a:extLst>
          </p:cNvPr>
          <p:cNvSpPr>
            <a:spLocks noGrp="1"/>
          </p:cNvSpPr>
          <p:nvPr/>
        </p:nvSpPr>
        <p:spPr>
          <a:xfrm>
            <a:off x="666750" y="4410075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Miqnaf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73CD35-9724-4870-98BC-BE1C7AC466AC}"/>
              </a:ext>
            </a:extLst>
          </p:cNvPr>
          <p:cNvSpPr>
            <a:spLocks noGrp="1"/>
          </p:cNvSpPr>
          <p:nvPr/>
        </p:nvSpPr>
        <p:spPr>
          <a:xfrm>
            <a:off x="2381250" y="4429125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India approved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5268D9-E1EE-4AAD-9F11-0508EF4112C5}"/>
              </a:ext>
            </a:extLst>
          </p:cNvPr>
          <p:cNvSpPr>
            <a:spLocks noGrp="1"/>
          </p:cNvSpPr>
          <p:nvPr/>
        </p:nvSpPr>
        <p:spPr>
          <a:xfrm>
            <a:off x="4286250" y="4410075"/>
            <a:ext cx="3095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Three-day oral CABP regimen with an uncertain global path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647976-4B5D-40CF-AA0B-29DF94F3B4AA}"/>
              </a:ext>
            </a:extLst>
          </p:cNvPr>
          <p:cNvSpPr>
            <a:spLocks noGrp="1"/>
          </p:cNvSpPr>
          <p:nvPr/>
        </p:nvSpPr>
        <p:spPr>
          <a:xfrm>
            <a:off x="666750" y="4943475"/>
            <a:ext cx="6715125" cy="95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2C48D6-7706-4604-A5F5-A4D541DE3F05}"/>
              </a:ext>
            </a:extLst>
          </p:cNvPr>
          <p:cNvSpPr>
            <a:spLocks noGrp="1"/>
          </p:cNvSpPr>
          <p:nvPr/>
        </p:nvSpPr>
        <p:spPr>
          <a:xfrm>
            <a:off x="666750" y="508635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EMROK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62B28E-9350-4F91-874B-5B5A2D0B74B6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India approved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839737-C05D-400D-87A1-91959F07D85C}"/>
              </a:ext>
            </a:extLst>
          </p:cNvPr>
          <p:cNvSpPr>
            <a:spLocks noGrp="1"/>
          </p:cNvSpPr>
          <p:nvPr/>
        </p:nvSpPr>
        <p:spPr>
          <a:xfrm>
            <a:off x="4286250" y="5086350"/>
            <a:ext cx="3095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Anti-MRSA franchise establishes discovery and launch capability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CF3C95-1377-49A7-B84B-B318983C7188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6715125" cy="95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D0E0B3-B47D-4F33-BEA9-CCFE91002407}"/>
              </a:ext>
            </a:extLst>
          </p:cNvPr>
          <p:cNvSpPr>
            <a:spLocks noGrp="1"/>
          </p:cNvSpPr>
          <p:nvPr/>
        </p:nvSpPr>
        <p:spPr>
          <a:xfrm>
            <a:off x="7810500" y="2076450"/>
            <a:ext cx="3714750" cy="4019550"/>
          </a:xfrm>
          <a:prstGeom prst="rect">
            <a:avLst/>
          </a:prstGeom>
          <a:solidFill>
            <a:srgbClr val="F3F9FC"/>
          </a:solidFill>
          <a:ln w="0">
            <a:noFill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0A19BB-6C8E-4092-855E-DFF223B1164F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PORTFOLIO READ-THROUGH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AB240-5419-4B1A-87B0-742CEF658919}"/>
              </a:ext>
            </a:extLst>
          </p:cNvPr>
          <p:cNvSpPr>
            <a:spLocks noGrp="1"/>
          </p:cNvSpPr>
          <p:nvPr/>
        </p:nvSpPr>
        <p:spPr>
          <a:xfrm>
            <a:off x="8096250" y="272415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Value concentration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B73EB2-3585-47AC-987D-7EDD40B12D6C}"/>
              </a:ext>
            </a:extLst>
          </p:cNvPr>
          <p:cNvSpPr>
            <a:spLocks noGrp="1"/>
          </p:cNvSpPr>
          <p:nvPr/>
        </p:nvSpPr>
        <p:spPr>
          <a:xfrm>
            <a:off x="8096250" y="3048000"/>
            <a:ext cx="2952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4966"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Zaynich carries the near-term valuation case. The remaining assets provide optionality rather than visible launch revenue.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496D94-CBD9-4B15-A74B-C9B7635BB988}"/>
              </a:ext>
            </a:extLst>
          </p:cNvPr>
          <p:cNvSpPr>
            <a:spLocks noGrp="1"/>
          </p:cNvSpPr>
          <p:nvPr/>
        </p:nvSpPr>
        <p:spPr>
          <a:xfrm>
            <a:off x="8096250" y="3829050"/>
            <a:ext cx="2952750" cy="95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767BC9-5FC9-467C-B606-3EBBB0C33CC6}"/>
              </a:ext>
            </a:extLst>
          </p:cNvPr>
          <p:cNvSpPr>
            <a:spLocks noGrp="1"/>
          </p:cNvSpPr>
          <p:nvPr/>
        </p:nvSpPr>
        <p:spPr>
          <a:xfrm>
            <a:off x="8096250" y="40386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Platform logic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BAE7CF-ECAA-43FB-BBE1-D2679B1FB3F5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952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Zidebactam spans the inpatient Zaynich regimen and Odrate's once-daily outpatient proposition.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689A8B-4F9B-4D8E-955F-0AAE55BC77A9}"/>
              </a:ext>
            </a:extLst>
          </p:cNvPr>
          <p:cNvSpPr>
            <a:spLocks noGrp="1"/>
          </p:cNvSpPr>
          <p:nvPr/>
        </p:nvSpPr>
        <p:spPr>
          <a:xfrm>
            <a:off x="8096250" y="5143500"/>
            <a:ext cx="2952750" cy="95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A26CEC-B856-4DC2-96C5-08FF40534DD6}"/>
              </a:ext>
            </a:extLst>
          </p:cNvPr>
          <p:cNvSpPr>
            <a:spLocks noGrp="1"/>
          </p:cNvSpPr>
          <p:nvPr/>
        </p:nvSpPr>
        <p:spPr>
          <a:xfrm>
            <a:off x="8096250" y="5334000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Key watch item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E1934C-A143-4B3D-A045-4760BE4ED3DE}"/>
              </a:ext>
            </a:extLst>
          </p:cNvPr>
          <p:cNvSpPr>
            <a:spLocks noGrp="1"/>
          </p:cNvSpPr>
          <p:nvPr/>
        </p:nvSpPr>
        <p:spPr>
          <a:xfrm>
            <a:off x="8096250" y="5572125"/>
            <a:ext cx="2952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A credible US path for Odrate would materially deepen the franchise.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D40FD8-CFE1-49B7-BCE5-E43C43F14501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825" b="0" i="1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1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Selected pipeline status as of 11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4898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AADEB04-B78F-4C59-B3FB-AC9246C8DD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99DCE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BF9B6-4234-4CEB-BA56-136E3D1C956D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WOCKHARDT  AMR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3CF301-3881-4C36-97B6-4EEF6217E08A}"/>
              </a:ext>
            </a:extLst>
          </p:cNvPr>
          <p:cNvSpPr>
            <a:spLocks noGrp="1"/>
          </p:cNvSpPr>
          <p:nvPr/>
        </p:nvSpPr>
        <p:spPr>
          <a:xfrm>
            <a:off x="11287125" y="6477000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900" b="0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4078F-7B84-4227-A7EC-B2F50C649149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1009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628"/>
          </a:bodyPr>
          <a:lstStyle/>
          <a:p>
            <a:pPr algn="l">
              <a:lnSpc>
                <a:spcPct val="96000"/>
              </a:lnSpc>
              <a:buNone/>
              <a:defRPr sz="2700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Zaynich has strong microbiology. Commercial success depends on a focused hospital launch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AEEF4-9253-4F5D-BF2F-053DEBE01654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1009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5331"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The FDA approval removes development risk, while adoption now depends on formulary access, stewardship and diagnostic identification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90A430-6B6F-4E39-8C69-7776E01E9555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19050"/>
          </a:xfrm>
          <a:prstGeom prst="rect">
            <a:avLst/>
          </a:prstGeom>
          <a:solidFill>
            <a:srgbClr val="299DCE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8AE5E-0842-4DD0-AC3A-E23EC991E71A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95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D5F3E-F589-4DA4-AFAF-F89C5FF63789}"/>
              </a:ext>
            </a:extLst>
          </p:cNvPr>
          <p:cNvSpPr>
            <a:spLocks noGrp="1"/>
          </p:cNvSpPr>
          <p:nvPr/>
        </p:nvSpPr>
        <p:spPr>
          <a:xfrm>
            <a:off x="666750" y="260985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Patient and label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5E2B34-CD21-4776-9650-FD2D00B72DC2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2333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Adult cUTI, including pyelonephritis, caused by susceptible Gram-negative organisms. The US label does not provide a blanket CRE or MBL indication.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3E8AD1-20FE-4BB6-8D46-0054F8678573}"/>
              </a:ext>
            </a:extLst>
          </p:cNvPr>
          <p:cNvSpPr>
            <a:spLocks noGrp="1"/>
          </p:cNvSpPr>
          <p:nvPr/>
        </p:nvSpPr>
        <p:spPr>
          <a:xfrm>
            <a:off x="3190875" y="2190750"/>
            <a:ext cx="9525" cy="23336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931ABC-2227-492F-A16B-E28ACE5C830A}"/>
              </a:ext>
            </a:extLst>
          </p:cNvPr>
          <p:cNvSpPr>
            <a:spLocks noGrp="1"/>
          </p:cNvSpPr>
          <p:nvPr/>
        </p:nvSpPr>
        <p:spPr>
          <a:xfrm>
            <a:off x="3381375" y="21907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95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F720AD-B9BD-47E9-8115-EECD7CC65E68}"/>
              </a:ext>
            </a:extLst>
          </p:cNvPr>
          <p:cNvSpPr>
            <a:spLocks noGrp="1"/>
          </p:cNvSpPr>
          <p:nvPr/>
        </p:nvSpPr>
        <p:spPr>
          <a:xfrm>
            <a:off x="3381375" y="260985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Product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E91144-8B85-4877-9FCC-6886E2397926}"/>
              </a:ext>
            </a:extLst>
          </p:cNvPr>
          <p:cNvSpPr>
            <a:spLocks noGrp="1"/>
          </p:cNvSpPr>
          <p:nvPr/>
        </p:nvSpPr>
        <p:spPr>
          <a:xfrm>
            <a:off x="3381375" y="3048000"/>
            <a:ext cx="2333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Cefepime targets PBP3 and zidebactam targets PBP2. The combination retains in-vitro activity against isolates producing KPC, NDM/VIM/IMP and OXA-48-like enzymes.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7046A9-2F95-45DD-8FBC-477B516DDD27}"/>
              </a:ext>
            </a:extLst>
          </p:cNvPr>
          <p:cNvSpPr>
            <a:spLocks noGrp="1"/>
          </p:cNvSpPr>
          <p:nvPr/>
        </p:nvSpPr>
        <p:spPr>
          <a:xfrm>
            <a:off x="5905500" y="2190750"/>
            <a:ext cx="9525" cy="23336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7A7E77-2EB9-43AB-8438-BF7DEF9617A1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95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DB8079-CB58-46C8-92D8-14EC87A026A7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7190CC-A4C8-44BA-A54B-EFC5C7E3A6B5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2333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Composite response reached 89.0% versus 68.4% for meropenem. The 20.6-point difference came mainly from microbiological eradication. Clinical cure differed by 1.9 points.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48F80E-304E-4C75-BC77-83A40167BA75}"/>
              </a:ext>
            </a:extLst>
          </p:cNvPr>
          <p:cNvSpPr>
            <a:spLocks noGrp="1"/>
          </p:cNvSpPr>
          <p:nvPr/>
        </p:nvSpPr>
        <p:spPr>
          <a:xfrm>
            <a:off x="8620125" y="2190750"/>
            <a:ext cx="9525" cy="2333625"/>
          </a:xfrm>
          <a:prstGeom prst="rect">
            <a:avLst/>
          </a:prstGeom>
          <a:solidFill>
            <a:srgbClr val="E8EDF1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AD3B2E-E517-40A3-819D-5B4735238363}"/>
              </a:ext>
            </a:extLst>
          </p:cNvPr>
          <p:cNvSpPr>
            <a:spLocks noGrp="1"/>
          </p:cNvSpPr>
          <p:nvPr/>
        </p:nvSpPr>
        <p:spPr>
          <a:xfrm>
            <a:off x="8810625" y="21907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95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EDCDD9-4C06-42CC-892D-ACE7C5F4A7BD}"/>
              </a:ext>
            </a:extLst>
          </p:cNvPr>
          <p:cNvSpPr>
            <a:spLocks noGrp="1"/>
          </p:cNvSpPr>
          <p:nvPr/>
        </p:nvSpPr>
        <p:spPr>
          <a:xfrm>
            <a:off x="8810625" y="260985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Commercialization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0FDAF0-60E2-41EE-97D5-6BE9AD38C5D7}"/>
              </a:ext>
            </a:extLst>
          </p:cNvPr>
          <p:cNvSpPr>
            <a:spLocks noGrp="1"/>
          </p:cNvSpPr>
          <p:nvPr/>
        </p:nvSpPr>
        <p:spPr>
          <a:xfrm>
            <a:off x="8810625" y="3048000"/>
            <a:ext cx="2333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62536"/>
                </a:solidFill>
                <a:latin typeface="DejaVu Sans"/>
                <a:ea typeface="DejaVu Sans"/>
                <a:cs typeface="DejaVu Sans"/>
              </a:rPr>
              <a:t>A 3g IV dose every eight hours for 7 to 10 days places the launch inside hospital pathways. Formulary access, susceptibility testing and reimbursement will control uptake.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71AFE1-7F7A-4954-B65C-8FE291D90DA2}"/>
              </a:ext>
            </a:extLst>
          </p:cNvPr>
          <p:cNvSpPr>
            <a:spLocks noGrp="1"/>
          </p:cNvSpPr>
          <p:nvPr/>
        </p:nvSpPr>
        <p:spPr>
          <a:xfrm>
            <a:off x="666750" y="4933950"/>
            <a:ext cx="10858500" cy="116205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9795E4-9735-48FB-AF9E-E1120E52468E}"/>
              </a:ext>
            </a:extLst>
          </p:cNvPr>
          <p:cNvSpPr>
            <a:spLocks noGrp="1"/>
          </p:cNvSpPr>
          <p:nvPr/>
        </p:nvSpPr>
        <p:spPr>
          <a:xfrm>
            <a:off x="933450" y="51625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OUR BASE CASE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F10D7A-8C4E-43B1-8CF4-C72AA50C60DE}"/>
              </a:ext>
            </a:extLst>
          </p:cNvPr>
          <p:cNvSpPr>
            <a:spLocks noGrp="1"/>
          </p:cNvSpPr>
          <p:nvPr/>
        </p:nvSpPr>
        <p:spPr>
          <a:xfrm>
            <a:off x="933450" y="542925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$25m FY27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5CD2A1-4692-4FD0-8D2B-4C3B1153EA39}"/>
              </a:ext>
            </a:extLst>
          </p:cNvPr>
          <p:cNvSpPr>
            <a:spLocks noGrp="1"/>
          </p:cNvSpPr>
          <p:nvPr/>
        </p:nvSpPr>
        <p:spPr>
          <a:xfrm>
            <a:off x="3571875" y="51625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FY30E SALES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09D7C2-D6DA-4308-B2DB-07F8B40A9460}"/>
              </a:ext>
            </a:extLst>
          </p:cNvPr>
          <p:cNvSpPr>
            <a:spLocks noGrp="1"/>
          </p:cNvSpPr>
          <p:nvPr/>
        </p:nvSpPr>
        <p:spPr>
          <a:xfrm>
            <a:off x="3571875" y="542925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$300m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59375C-BAB3-4C63-81DF-939EC66ABE1B}"/>
              </a:ext>
            </a:extLst>
          </p:cNvPr>
          <p:cNvSpPr>
            <a:spLocks noGrp="1"/>
          </p:cNvSpPr>
          <p:nvPr/>
        </p:nvSpPr>
        <p:spPr>
          <a:xfrm>
            <a:off x="6172200" y="5162550"/>
            <a:ext cx="25241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299DCE"/>
                </a:solidFill>
                <a:latin typeface="DejaVu Sans"/>
                <a:ea typeface="DejaVu Sans"/>
                <a:cs typeface="DejaVu Sans"/>
              </a:rPr>
              <a:t>MANAGEMENT PEAK AMBITION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BA02DF-CC46-40C7-9D3B-39C4847BA702}"/>
              </a:ext>
            </a:extLst>
          </p:cNvPr>
          <p:cNvSpPr>
            <a:spLocks noGrp="1"/>
          </p:cNvSpPr>
          <p:nvPr/>
        </p:nvSpPr>
        <p:spPr>
          <a:xfrm>
            <a:off x="6172200" y="5429250"/>
            <a:ext cx="2524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$1.5-2.0bn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1557C9-3615-4C68-AE83-1728347D0349}"/>
              </a:ext>
            </a:extLst>
          </p:cNvPr>
          <p:cNvSpPr>
            <a:spLocks noGrp="1"/>
          </p:cNvSpPr>
          <p:nvPr/>
        </p:nvSpPr>
        <p:spPr>
          <a:xfrm>
            <a:off x="8858250" y="5162550"/>
            <a:ext cx="9525" cy="647700"/>
          </a:xfrm>
          <a:prstGeom prst="rect">
            <a:avLst/>
          </a:prstGeom>
          <a:solidFill>
            <a:srgbClr val="416078"/>
          </a:solidFill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957D97-8CD1-47E3-BCE1-B53CA9717775}"/>
              </a:ext>
            </a:extLst>
          </p:cNvPr>
          <p:cNvSpPr>
            <a:spLocks noGrp="1"/>
          </p:cNvSpPr>
          <p:nvPr/>
        </p:nvSpPr>
        <p:spPr>
          <a:xfrm>
            <a:off x="9124950" y="5191125"/>
            <a:ext cx="21145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2533"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Our FY30E forecast reaches only 15-20% of management's peak ambition.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89DF5-8F22-4221-AF5F-E36EFA97F48A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825" b="0" i="1">
                <a:solidFill>
                  <a:srgbClr val="51606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1">
                <a:solidFill>
                  <a:srgbClr val="51606F"/>
                </a:solidFill>
                <a:latin typeface="DejaVu Sans"/>
                <a:ea typeface="DejaVu Sans"/>
                <a:cs typeface="DejaVu Sans"/>
              </a:rPr>
              <a:t>Sales are Bernstein base-case estimates. Management peak-sales ambition reflects public commentary.</a:t>
            </a:r>
          </a:p>
        </p:txBody>
      </p:sp>
    </p:spTree>
    <p:extLst>
      <p:ext uri="{BB962C8B-B14F-4D97-AF65-F5344CB8AC3E}">
        <p14:creationId xmlns:p14="http://schemas.microsoft.com/office/powerpoint/2010/main" val="11064984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Macintosh PowerPoint</Application>
  <DocSecurity>0</DocSecurity>
  <PresentationFormat>Widescreen</PresentationFormat>
  <Paragraphs>56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DejaVu Sans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Shirsh Sawarna</cp:lastModifiedBy>
  <cp:revision>1</cp:revision>
  <dcterms:created xsi:type="dcterms:W3CDTF">2026-09-11T03:20:53Z</dcterms:created>
  <dcterms:modified xsi:type="dcterms:W3CDTF">2026-09-11T03:31:17Z</dcterms:modified>
</cp:coreProperties>
</file>