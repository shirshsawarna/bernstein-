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18872"/>
            <a:ext cx="8138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Zydus US pipeline: regulatory catalyst map (FY27–FY29E)</a:t>
            </a:r>
            <a:endParaRPr lang="en-US" sz="1720" dirty="0"/>
          </a:p>
        </p:txBody>
      </p:sp>
      <p:sp>
        <p:nvSpPr>
          <p:cNvPr id="4" name="Text 2"/>
          <p:cNvSpPr/>
          <p:nvPr/>
        </p:nvSpPr>
        <p:spPr>
          <a:xfrm>
            <a:off x="256032" y="411480"/>
            <a:ext cx="1088136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read-through: near-term catalysts are Saroglitazar + NUFYMCO; FY29 is mainly a Para IV / complex-generic approval cluster, with most launches patent- or exclusivity-gated.</a:t>
            </a:r>
            <a:endParaRPr lang="en-US" sz="770" dirty="0"/>
          </a:p>
        </p:txBody>
      </p:sp>
      <p:sp>
        <p:nvSpPr>
          <p:cNvPr id="5" name="Shape 3"/>
          <p:cNvSpPr/>
          <p:nvPr/>
        </p:nvSpPr>
        <p:spPr>
          <a:xfrm>
            <a:off x="11009376" y="146304"/>
            <a:ext cx="932688" cy="25603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91672" y="187452"/>
            <a:ext cx="777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1-slide view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512064" cy="329184"/>
          </a:xfrm>
          <a:prstGeom prst="rect">
            <a:avLst/>
          </a:prstGeom>
          <a:solidFill>
            <a:srgbClr val="14213D"/>
          </a:solidFill>
          <a:ln w="5715">
            <a:solidFill>
              <a:srgbClr val="1421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42062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0664" y="841248"/>
            <a:ext cx="1920240" cy="329184"/>
          </a:xfrm>
          <a:prstGeom prst="rect">
            <a:avLst/>
          </a:prstGeom>
          <a:solidFill>
            <a:srgbClr val="14213D"/>
          </a:solidFill>
          <a:ln w="5715">
            <a:solidFill>
              <a:srgbClr val="142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Biosimilars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60904" y="841248"/>
            <a:ext cx="1417320" cy="329184"/>
          </a:xfrm>
          <a:prstGeom prst="rect">
            <a:avLst/>
          </a:prstGeom>
          <a:solidFill>
            <a:srgbClr val="14213D"/>
          </a:solidFill>
          <a:ln w="5715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6624" y="914400"/>
            <a:ext cx="1325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078224" y="841248"/>
            <a:ext cx="1325880" cy="329184"/>
          </a:xfrm>
          <a:prstGeom prst="rect">
            <a:avLst/>
          </a:prstGeom>
          <a:solidFill>
            <a:srgbClr val="14213D"/>
          </a:solidFill>
          <a:ln w="5715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3944" y="914400"/>
            <a:ext cx="1234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sBLAs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04104" y="841248"/>
            <a:ext cx="4297680" cy="329184"/>
          </a:xfrm>
          <a:prstGeom prst="rect">
            <a:avLst/>
          </a:prstGeom>
          <a:solidFill>
            <a:srgbClr val="14213D"/>
          </a:solidFill>
          <a:ln w="5715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914400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IV / 505(b)(2)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701784" y="841248"/>
            <a:ext cx="2258568" cy="329184"/>
          </a:xfrm>
          <a:prstGeom prst="rect">
            <a:avLst/>
          </a:prstGeom>
          <a:solidFill>
            <a:srgbClr val="14213D"/>
          </a:solidFill>
          <a:ln w="5715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7504" y="914400"/>
            <a:ext cx="21671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1170432"/>
            <a:ext cx="512064" cy="1298448"/>
          </a:xfrm>
          <a:prstGeom prst="rect">
            <a:avLst/>
          </a:prstGeom>
          <a:solidFill>
            <a:srgbClr val="F2F4F7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211580"/>
            <a:ext cx="42062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0664" y="1170432"/>
            <a:ext cx="1920240" cy="1298448"/>
          </a:xfrm>
          <a:prstGeom prst="rect">
            <a:avLst/>
          </a:prstGeom>
          <a:solidFill>
            <a:srgbClr val="E8F5F2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1211580"/>
            <a:ext cx="182880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NUFYMCO / ranibizumab: BLA approved Dec-25; US rights acquired Dec-25; US launch FY27E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FYB206 / pembrolizumab: clinical package complete; BLA filing FY27E; approval FY28E; launch 2029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2660904" y="1170432"/>
            <a:ext cx="1417320" cy="12984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1211580"/>
            <a:ext cx="132588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ROLVEDON / eflapegrastim: original BLA approved Sep-22; acquired via Assertio in FY27; commercial contribution FY27; no new BLA required</a:t>
            </a:r>
            <a:endParaRPr lang="en-US" sz="580" dirty="0"/>
          </a:p>
        </p:txBody>
      </p:sp>
      <p:sp>
        <p:nvSpPr>
          <p:cNvPr id="25" name="Shape 23"/>
          <p:cNvSpPr/>
          <p:nvPr/>
        </p:nvSpPr>
        <p:spPr>
          <a:xfrm>
            <a:off x="4078224" y="1170432"/>
            <a:ext cx="1325880" cy="12984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3944" y="1211580"/>
            <a:ext cx="123444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None expected in FY27</a:t>
            </a:r>
            <a:endParaRPr lang="en-US" sz="610" dirty="0"/>
          </a:p>
        </p:txBody>
      </p:sp>
      <p:sp>
        <p:nvSpPr>
          <p:cNvPr id="27" name="Shape 25"/>
          <p:cNvSpPr/>
          <p:nvPr/>
        </p:nvSpPr>
        <p:spPr>
          <a:xfrm>
            <a:off x="5404104" y="1170432"/>
            <a:ext cx="4297680" cy="1298448"/>
          </a:xfrm>
          <a:prstGeom prst="rect">
            <a:avLst/>
          </a:prstGeom>
          <a:solidFill>
            <a:srgbClr val="E9F2F8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1211580"/>
            <a:ext cx="420624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RK Pharma supportive-oncology injectable: 505(b)(2) filed Apr-26; approval / launch FY27–28E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Synthon oncology product: 505(b)(2) filed Apr-26; approval / launch FY27–28E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Ozanimod caps: ANDA filed May-24; US rights Sep-25; FDA action FY27–28E; patent-dependent launch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Lurbinectedin: Para IV ANDA filed 2024; FDA action FY27–28E; litigation / settlement-dependent</a:t>
            </a:r>
            <a:endParaRPr lang="en-US" sz="570" dirty="0"/>
          </a:p>
        </p:txBody>
      </p:sp>
      <p:sp>
        <p:nvSpPr>
          <p:cNvPr id="29" name="Shape 27"/>
          <p:cNvSpPr/>
          <p:nvPr/>
        </p:nvSpPr>
        <p:spPr>
          <a:xfrm>
            <a:off x="9701784" y="1170432"/>
            <a:ext cx="2258568" cy="1298448"/>
          </a:xfrm>
          <a:prstGeom prst="rect">
            <a:avLst/>
          </a:prstGeom>
          <a:solidFill>
            <a:srgbClr val="FFF2E3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47504" y="1211580"/>
            <a:ext cx="2167128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Saroglitazar Mg / PBC: NDA filed / accepted 2026; PDUFA 27-Nov-26; planned US launch by Mar-27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28600" y="2468880"/>
            <a:ext cx="512064" cy="987552"/>
          </a:xfrm>
          <a:prstGeom prst="rect">
            <a:avLst/>
          </a:prstGeom>
          <a:solidFill>
            <a:srgbClr val="F2F4F7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510028"/>
            <a:ext cx="420624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FY28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0664" y="2468880"/>
            <a:ext cx="1920240" cy="987552"/>
          </a:xfrm>
          <a:prstGeom prst="rect">
            <a:avLst/>
          </a:prstGeom>
          <a:solidFill>
            <a:srgbClr val="E8F5F2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2510028"/>
            <a:ext cx="182880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FYB206 / pembrolizumab: BLA filing FY27E; FDA approval FY28E; commercial launch expected 2029 after Keytruda exclusivity constraints</a:t>
            </a:r>
            <a:endParaRPr lang="en-US" sz="590" dirty="0"/>
          </a:p>
        </p:txBody>
      </p:sp>
      <p:sp>
        <p:nvSpPr>
          <p:cNvPr id="35" name="Shape 33"/>
          <p:cNvSpPr/>
          <p:nvPr/>
        </p:nvSpPr>
        <p:spPr>
          <a:xfrm>
            <a:off x="2660904" y="2468880"/>
            <a:ext cx="1417320" cy="987552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06624" y="2510028"/>
            <a:ext cx="132588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None publicly identified</a:t>
            </a:r>
            <a:endParaRPr lang="en-US" sz="610" dirty="0"/>
          </a:p>
        </p:txBody>
      </p:sp>
      <p:sp>
        <p:nvSpPr>
          <p:cNvPr id="37" name="Shape 35"/>
          <p:cNvSpPr/>
          <p:nvPr/>
        </p:nvSpPr>
        <p:spPr>
          <a:xfrm>
            <a:off x="4078224" y="2468880"/>
            <a:ext cx="1325880" cy="987552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23944" y="2510028"/>
            <a:ext cx="123444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None publicly identified</a:t>
            </a:r>
            <a:endParaRPr lang="en-US" sz="610" dirty="0"/>
          </a:p>
        </p:txBody>
      </p:sp>
      <p:sp>
        <p:nvSpPr>
          <p:cNvPr id="39" name="Shape 37"/>
          <p:cNvSpPr/>
          <p:nvPr/>
        </p:nvSpPr>
        <p:spPr>
          <a:xfrm>
            <a:off x="5404104" y="2468880"/>
            <a:ext cx="4297680" cy="987552"/>
          </a:xfrm>
          <a:prstGeom prst="rect">
            <a:avLst/>
          </a:prstGeom>
          <a:solidFill>
            <a:srgbClr val="E9F2F8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9824" y="2510028"/>
            <a:ext cx="420624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Ruxolitinib cream / generic Opzelura: Para IV notice Jan-25; FDA / tentative approval FY28E; commercial launch unlikely before Nov-31 absent earlier settlement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Ozanimod / Lurbinectedin: possible approval spillover into FY28; launches remain patent-dependent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9701784" y="2468880"/>
            <a:ext cx="2258568" cy="987552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47504" y="2510028"/>
            <a:ext cx="2167128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named NDA with sufficiently reliable FY28 approval date</a:t>
            </a:r>
            <a:endParaRPr lang="en-US" sz="610" dirty="0"/>
          </a:p>
        </p:txBody>
      </p:sp>
      <p:sp>
        <p:nvSpPr>
          <p:cNvPr id="43" name="Shape 41"/>
          <p:cNvSpPr/>
          <p:nvPr/>
        </p:nvSpPr>
        <p:spPr>
          <a:xfrm>
            <a:off x="228600" y="3456432"/>
            <a:ext cx="512064" cy="2999232"/>
          </a:xfrm>
          <a:prstGeom prst="rect">
            <a:avLst/>
          </a:prstGeom>
          <a:solidFill>
            <a:srgbClr val="F2F4F7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497580"/>
            <a:ext cx="420624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FY29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0664" y="3456432"/>
            <a:ext cx="1920240" cy="2999232"/>
          </a:xfrm>
          <a:prstGeom prst="rect">
            <a:avLst/>
          </a:prstGeom>
          <a:solidFill>
            <a:srgbClr val="E8F5F2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6384" y="3497580"/>
            <a:ext cx="1828800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2nd undisclosed biosimilar ADC: India Phase III authorised FY26; filing FY29E; approval FY30E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FYB206 / pembrolizumab: potential US launch during 2029, subject to approval and exclusivity resolution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2660904" y="3456432"/>
            <a:ext cx="1417320" cy="2999232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06624" y="3497580"/>
            <a:ext cx="1325880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new named BLA expected in FY29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Botensilimab + balstilimab: still clinical; BLA filing beyond FY29</a:t>
            </a:r>
            <a:endParaRPr lang="en-US" sz="590" dirty="0"/>
          </a:p>
        </p:txBody>
      </p:sp>
      <p:sp>
        <p:nvSpPr>
          <p:cNvPr id="49" name="Shape 47"/>
          <p:cNvSpPr/>
          <p:nvPr/>
        </p:nvSpPr>
        <p:spPr>
          <a:xfrm>
            <a:off x="4078224" y="3456432"/>
            <a:ext cx="1325880" cy="2999232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23944" y="3497580"/>
            <a:ext cx="1234440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ROLVEDON / eflapegrastim paediatric extension: Phase II primary completion Oct-27; sBLA filing FY29E; approval FY30E</a:t>
            </a:r>
            <a:endParaRPr lang="en-US" sz="580" dirty="0"/>
          </a:p>
        </p:txBody>
      </p:sp>
      <p:sp>
        <p:nvSpPr>
          <p:cNvPr id="51" name="Shape 49"/>
          <p:cNvSpPr/>
          <p:nvPr/>
        </p:nvSpPr>
        <p:spPr>
          <a:xfrm>
            <a:off x="5404104" y="3456432"/>
            <a:ext cx="4297680" cy="2999232"/>
          </a:xfrm>
          <a:prstGeom prst="rect">
            <a:avLst/>
          </a:prstGeom>
          <a:solidFill>
            <a:srgbClr val="E9F2F8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9824" y="3497580"/>
            <a:ext cx="4206240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1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Viloxazine ER / Qelbree: notice May-25; stay to 2-Oct-28; earliest approval / launch FY29E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Finerenone / Kerendia: notified Sep-25; FDA action FY29E; patent-dependent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Edaravone oral susp. / Radicava ORS: notice Oct-25; FDA action FY29E; patent-dependent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Avacopan / Tavneos: notified Dec-25; action FY29–30E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Vosoritide / Voxzogo; Zanubrutinib / Brukinsa: notified Jan-26; action FY29–30E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Lacosamide ER / Motpoly XR; Cabtreo: notified Feb-26; action FY29–30E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Tacrolimus ER / Envarsus XR: notice 11-Mar-26; action FY29–30E</a:t>
            </a:r>
            <a:endParaRPr lang="en-US" sz="515" dirty="0"/>
          </a:p>
          <a:p>
            <a:pPr algn="l" indent="0" marL="0">
              <a:buNone/>
            </a:pPr>
            <a:r>
              <a:rPr lang="en-US" sz="51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Larotrectinib / Vitrakvi: notified Mar-26; action FY29–30E</a:t>
            </a:r>
            <a:endParaRPr lang="en-US" sz="515" dirty="0"/>
          </a:p>
        </p:txBody>
      </p:sp>
      <p:sp>
        <p:nvSpPr>
          <p:cNvPr id="53" name="Shape 51"/>
          <p:cNvSpPr/>
          <p:nvPr/>
        </p:nvSpPr>
        <p:spPr>
          <a:xfrm>
            <a:off x="9701784" y="3456432"/>
            <a:ext cx="2258568" cy="2999232"/>
          </a:xfrm>
          <a:prstGeom prst="rect">
            <a:avLst/>
          </a:prstGeom>
          <a:solidFill>
            <a:srgbClr val="FFF2E3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47504" y="3497580"/>
            <a:ext cx="2167128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4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Zintrodiazine / ZY-19489: India Phase III authorised; NDA filing FY29E; approval FY30E</a:t>
            </a:r>
            <a:endParaRPr lang="en-US" sz="545" dirty="0"/>
          </a:p>
          <a:p>
            <a:pPr algn="l" indent="0" marL="0">
              <a:buNone/>
            </a:pPr>
            <a:r>
              <a:rPr lang="en-US" sz="54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Desidustat / SCD: US orphan Feb-26; filing FY29–30E; approval beyond FY29</a:t>
            </a:r>
            <a:endParaRPr lang="en-US" sz="545" dirty="0"/>
          </a:p>
          <a:p>
            <a:pPr algn="l" indent="0" marL="0">
              <a:buNone/>
            </a:pPr>
            <a:r>
              <a:rPr lang="en-US" sz="54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Usnoflast: Phase IIb primary completion Mar-28; no FY29 approval; likely FY31+</a:t>
            </a:r>
            <a:endParaRPr lang="en-US" sz="545" dirty="0"/>
          </a:p>
          <a:p>
            <a:pPr algn="l" indent="0" marL="0">
              <a:buNone/>
            </a:pPr>
            <a:r>
              <a:rPr lang="en-US" sz="54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Botensilimab + balstilimab: pivotal Q1-27; interim 2H29; BLA filing beyond FY29</a:t>
            </a:r>
            <a:endParaRPr lang="en-US" sz="545" dirty="0"/>
          </a:p>
        </p:txBody>
      </p:sp>
      <p:sp>
        <p:nvSpPr>
          <p:cNvPr id="55" name="Shape 53"/>
          <p:cNvSpPr/>
          <p:nvPr/>
        </p:nvSpPr>
        <p:spPr>
          <a:xfrm>
            <a:off x="228600" y="6574536"/>
            <a:ext cx="11731752" cy="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6629400"/>
            <a:ext cx="11292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compiled Zydus filing / approval tracker provided by user. Dates are estimates where marked FYxxE; commercial launch often remains patent / settlement / exclusivity dependent.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Zydus US Pipeline Regulatory Catalyst Map FY27-FY29E</dc:title>
  <dc:subject>Zydus US pipeline regulatory catalyst map</dc:subject>
  <dc:creator>OpenAI</dc:creator>
  <cp:lastModifiedBy>OpenAI</cp:lastModifiedBy>
  <cp:revision>1</cp:revision>
  <dcterms:created xsi:type="dcterms:W3CDTF">2026-07-27T10:16:08Z</dcterms:created>
  <dcterms:modified xsi:type="dcterms:W3CDTF">2026-07-27T10:16:08Z</dcterms:modified>
</cp:coreProperties>
</file>